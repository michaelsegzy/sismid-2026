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405" r:id="rId2"/>
    <p:sldId id="569" r:id="rId3"/>
    <p:sldId id="514" r:id="rId4"/>
    <p:sldId id="515" r:id="rId5"/>
    <p:sldId id="560" r:id="rId6"/>
    <p:sldId id="562" r:id="rId7"/>
    <p:sldId id="555" r:id="rId8"/>
    <p:sldId id="458" r:id="rId9"/>
    <p:sldId id="537" r:id="rId10"/>
    <p:sldId id="541" r:id="rId11"/>
    <p:sldId id="542" r:id="rId12"/>
    <p:sldId id="448" r:id="rId13"/>
    <p:sldId id="288" r:id="rId14"/>
    <p:sldId id="427" r:id="rId15"/>
    <p:sldId id="465" r:id="rId16"/>
    <p:sldId id="433" r:id="rId17"/>
    <p:sldId id="449" r:id="rId18"/>
    <p:sldId id="258" r:id="rId19"/>
    <p:sldId id="474" r:id="rId20"/>
    <p:sldId id="564" r:id="rId21"/>
    <p:sldId id="467" r:id="rId22"/>
    <p:sldId id="468" r:id="rId23"/>
    <p:sldId id="470" r:id="rId24"/>
    <p:sldId id="479" r:id="rId25"/>
    <p:sldId id="485" r:id="rId26"/>
    <p:sldId id="486" r:id="rId27"/>
    <p:sldId id="480" r:id="rId28"/>
    <p:sldId id="489" r:id="rId29"/>
    <p:sldId id="487" r:id="rId30"/>
    <p:sldId id="481" r:id="rId31"/>
    <p:sldId id="566" r:id="rId32"/>
    <p:sldId id="482" r:id="rId33"/>
    <p:sldId id="490" r:id="rId34"/>
    <p:sldId id="498" r:id="rId35"/>
    <p:sldId id="567" r:id="rId36"/>
    <p:sldId id="500" r:id="rId37"/>
    <p:sldId id="301" r:id="rId38"/>
    <p:sldId id="501" r:id="rId39"/>
    <p:sldId id="504" r:id="rId40"/>
    <p:sldId id="505" r:id="rId41"/>
    <p:sldId id="507" r:id="rId42"/>
    <p:sldId id="506" r:id="rId43"/>
    <p:sldId id="476" r:id="rId44"/>
    <p:sldId id="512" r:id="rId45"/>
    <p:sldId id="513" r:id="rId46"/>
    <p:sldId id="281" r:id="rId47"/>
    <p:sldId id="440" r:id="rId48"/>
    <p:sldId id="477" r:id="rId49"/>
    <p:sldId id="517" r:id="rId50"/>
    <p:sldId id="530" r:id="rId51"/>
    <p:sldId id="534" r:id="rId52"/>
    <p:sldId id="533" r:id="rId53"/>
    <p:sldId id="536" r:id="rId54"/>
    <p:sldId id="535" r:id="rId55"/>
    <p:sldId id="545" r:id="rId56"/>
    <p:sldId id="546" r:id="rId57"/>
    <p:sldId id="547" r:id="rId58"/>
    <p:sldId id="548" r:id="rId59"/>
    <p:sldId id="550" r:id="rId60"/>
    <p:sldId id="552" r:id="rId61"/>
    <p:sldId id="549"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20629F7-5A47-5B8E-9C4B-3A9098474FDE}" name="Lior Rennert" initials="LR" userId="Lior Rennert"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EC"/>
    <a:srgbClr val="E8F4F8"/>
    <a:srgbClr val="F0ECF8"/>
    <a:srgbClr val="DCEA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B8E52D-444E-411C-9BBF-98649A33AC4D}" v="2" dt="2026-07-20T12:10:50.3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4925" autoAdjust="0"/>
  </p:normalViewPr>
  <p:slideViewPr>
    <p:cSldViewPr snapToGrid="0">
      <p:cViewPr varScale="1">
        <p:scale>
          <a:sx n="70" d="100"/>
          <a:sy n="70" d="100"/>
        </p:scale>
        <p:origin x="1166" y="4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bleic@clemson.edu" userId="43615028507_tp_box_2" providerId="OAuth2" clId="{5F4B9ABB-DEB5-4DC3-A8F9-1752A2D02C85}"/>
    <pc:docChg chg="modSld">
      <pc:chgData name="ambleic@clemson.edu" userId="43615028507_tp_box_2" providerId="OAuth2" clId="{5F4B9ABB-DEB5-4DC3-A8F9-1752A2D02C85}" dt="2026-07-20T13:07:02.226" v="23" actId="20577"/>
      <pc:docMkLst>
        <pc:docMk/>
      </pc:docMkLst>
      <pc:sldChg chg="modNotesTx">
        <pc:chgData name="ambleic@clemson.edu" userId="43615028507_tp_box_2" providerId="OAuth2" clId="{5F4B9ABB-DEB5-4DC3-A8F9-1752A2D02C85}" dt="2026-07-20T13:02:52.533" v="6" actId="5793"/>
        <pc:sldMkLst>
          <pc:docMk/>
          <pc:sldMk cId="154798173" sldId="258"/>
        </pc:sldMkLst>
      </pc:sldChg>
      <pc:sldChg chg="modNotesTx">
        <pc:chgData name="ambleic@clemson.edu" userId="43615028507_tp_box_2" providerId="OAuth2" clId="{5F4B9ABB-DEB5-4DC3-A8F9-1752A2D02C85}" dt="2026-07-20T13:06:47.965" v="19" actId="20577"/>
        <pc:sldMkLst>
          <pc:docMk/>
          <pc:sldMk cId="0" sldId="281"/>
        </pc:sldMkLst>
      </pc:sldChg>
      <pc:sldChg chg="modNotesTx">
        <pc:chgData name="ambleic@clemson.edu" userId="43615028507_tp_box_2" providerId="OAuth2" clId="{5F4B9ABB-DEB5-4DC3-A8F9-1752A2D02C85}" dt="2026-07-20T13:02:40.528" v="3" actId="20577"/>
        <pc:sldMkLst>
          <pc:docMk/>
          <pc:sldMk cId="0" sldId="288"/>
        </pc:sldMkLst>
      </pc:sldChg>
      <pc:sldChg chg="modNotesTx">
        <pc:chgData name="ambleic@clemson.edu" userId="43615028507_tp_box_2" providerId="OAuth2" clId="{5F4B9ABB-DEB5-4DC3-A8F9-1752A2D02C85}" dt="2026-07-20T13:02:44.848" v="4" actId="20577"/>
        <pc:sldMkLst>
          <pc:docMk/>
          <pc:sldMk cId="1796915380" sldId="427"/>
        </pc:sldMkLst>
      </pc:sldChg>
      <pc:sldChg chg="modNotesTx">
        <pc:chgData name="ambleic@clemson.edu" userId="43615028507_tp_box_2" providerId="OAuth2" clId="{5F4B9ABB-DEB5-4DC3-A8F9-1752A2D02C85}" dt="2026-07-20T13:02:32.513" v="2" actId="20577"/>
        <pc:sldMkLst>
          <pc:docMk/>
          <pc:sldMk cId="344204081" sldId="458"/>
        </pc:sldMkLst>
      </pc:sldChg>
      <pc:sldChg chg="modNotesTx">
        <pc:chgData name="ambleic@clemson.edu" userId="43615028507_tp_box_2" providerId="OAuth2" clId="{5F4B9ABB-DEB5-4DC3-A8F9-1752A2D02C85}" dt="2026-07-20T13:02:47.909" v="5" actId="20577"/>
        <pc:sldMkLst>
          <pc:docMk/>
          <pc:sldMk cId="2209786026" sldId="465"/>
        </pc:sldMkLst>
      </pc:sldChg>
      <pc:sldChg chg="modNotesTx">
        <pc:chgData name="ambleic@clemson.edu" userId="43615028507_tp_box_2" providerId="OAuth2" clId="{5F4B9ABB-DEB5-4DC3-A8F9-1752A2D02C85}" dt="2026-07-20T13:05:44.208" v="7" actId="20577"/>
        <pc:sldMkLst>
          <pc:docMk/>
          <pc:sldMk cId="1633541285" sldId="467"/>
        </pc:sldMkLst>
      </pc:sldChg>
      <pc:sldChg chg="modNotesTx">
        <pc:chgData name="ambleic@clemson.edu" userId="43615028507_tp_box_2" providerId="OAuth2" clId="{5F4B9ABB-DEB5-4DC3-A8F9-1752A2D02C85}" dt="2026-07-20T13:05:50.147" v="8" actId="20577"/>
        <pc:sldMkLst>
          <pc:docMk/>
          <pc:sldMk cId="1225217166" sldId="470"/>
        </pc:sldMkLst>
      </pc:sldChg>
      <pc:sldChg chg="modNotesTx">
        <pc:chgData name="ambleic@clemson.edu" userId="43615028507_tp_box_2" providerId="OAuth2" clId="{5F4B9ABB-DEB5-4DC3-A8F9-1752A2D02C85}" dt="2026-07-20T13:06:38.142" v="17" actId="20577"/>
        <pc:sldMkLst>
          <pc:docMk/>
          <pc:sldMk cId="1891136861" sldId="476"/>
        </pc:sldMkLst>
      </pc:sldChg>
      <pc:sldChg chg="modNotesTx">
        <pc:chgData name="ambleic@clemson.edu" userId="43615028507_tp_box_2" providerId="OAuth2" clId="{5F4B9ABB-DEB5-4DC3-A8F9-1752A2D02C85}" dt="2026-07-20T13:06:52.688" v="20" actId="20577"/>
        <pc:sldMkLst>
          <pc:docMk/>
          <pc:sldMk cId="1432922900" sldId="477"/>
        </pc:sldMkLst>
      </pc:sldChg>
      <pc:sldChg chg="modNotesTx">
        <pc:chgData name="ambleic@clemson.edu" userId="43615028507_tp_box_2" providerId="OAuth2" clId="{5F4B9ABB-DEB5-4DC3-A8F9-1752A2D02C85}" dt="2026-07-20T13:06:04.568" v="11" actId="20577"/>
        <pc:sldMkLst>
          <pc:docMk/>
          <pc:sldMk cId="69104533" sldId="481"/>
        </pc:sldMkLst>
      </pc:sldChg>
      <pc:sldChg chg="modNotesTx">
        <pc:chgData name="ambleic@clemson.edu" userId="43615028507_tp_box_2" providerId="OAuth2" clId="{5F4B9ABB-DEB5-4DC3-A8F9-1752A2D02C85}" dt="2026-07-20T13:06:10.970" v="12" actId="20577"/>
        <pc:sldMkLst>
          <pc:docMk/>
          <pc:sldMk cId="4081726563" sldId="482"/>
        </pc:sldMkLst>
      </pc:sldChg>
      <pc:sldChg chg="modNotesTx">
        <pc:chgData name="ambleic@clemson.edu" userId="43615028507_tp_box_2" providerId="OAuth2" clId="{5F4B9ABB-DEB5-4DC3-A8F9-1752A2D02C85}" dt="2026-07-20T13:06:01.825" v="10" actId="20577"/>
        <pc:sldMkLst>
          <pc:docMk/>
          <pc:sldMk cId="3278205824" sldId="487"/>
        </pc:sldMkLst>
      </pc:sldChg>
      <pc:sldChg chg="modNotesTx">
        <pc:chgData name="ambleic@clemson.edu" userId="43615028507_tp_box_2" providerId="OAuth2" clId="{5F4B9ABB-DEB5-4DC3-A8F9-1752A2D02C85}" dt="2026-07-20T13:05:58.333" v="9" actId="20577"/>
        <pc:sldMkLst>
          <pc:docMk/>
          <pc:sldMk cId="485598221" sldId="489"/>
        </pc:sldMkLst>
      </pc:sldChg>
      <pc:sldChg chg="modNotesTx">
        <pc:chgData name="ambleic@clemson.edu" userId="43615028507_tp_box_2" providerId="OAuth2" clId="{5F4B9ABB-DEB5-4DC3-A8F9-1752A2D02C85}" dt="2026-07-20T13:06:13.391" v="13" actId="20577"/>
        <pc:sldMkLst>
          <pc:docMk/>
          <pc:sldMk cId="3063108492" sldId="490"/>
        </pc:sldMkLst>
      </pc:sldChg>
      <pc:sldChg chg="modNotesTx">
        <pc:chgData name="ambleic@clemson.edu" userId="43615028507_tp_box_2" providerId="OAuth2" clId="{5F4B9ABB-DEB5-4DC3-A8F9-1752A2D02C85}" dt="2026-07-20T13:06:15.366" v="14" actId="20577"/>
        <pc:sldMkLst>
          <pc:docMk/>
          <pc:sldMk cId="4135296954" sldId="498"/>
        </pc:sldMkLst>
      </pc:sldChg>
      <pc:sldChg chg="modNotesTx">
        <pc:chgData name="ambleic@clemson.edu" userId="43615028507_tp_box_2" providerId="OAuth2" clId="{5F4B9ABB-DEB5-4DC3-A8F9-1752A2D02C85}" dt="2026-07-20T13:06:27.730" v="16" actId="20577"/>
        <pc:sldMkLst>
          <pc:docMk/>
          <pc:sldMk cId="3011051826" sldId="506"/>
        </pc:sldMkLst>
      </pc:sldChg>
      <pc:sldChg chg="modNotesTx">
        <pc:chgData name="ambleic@clemson.edu" userId="43615028507_tp_box_2" providerId="OAuth2" clId="{5F4B9ABB-DEB5-4DC3-A8F9-1752A2D02C85}" dt="2026-07-20T13:06:42.586" v="18" actId="20577"/>
        <pc:sldMkLst>
          <pc:docMk/>
          <pc:sldMk cId="1741816443" sldId="512"/>
        </pc:sldMkLst>
      </pc:sldChg>
      <pc:sldChg chg="modAnim modNotesTx">
        <pc:chgData name="ambleic@clemson.edu" userId="43615028507_tp_box_2" providerId="OAuth2" clId="{5F4B9ABB-DEB5-4DC3-A8F9-1752A2D02C85}" dt="2026-07-20T13:07:02.226" v="23" actId="20577"/>
        <pc:sldMkLst>
          <pc:docMk/>
          <pc:sldMk cId="3401542821" sldId="535"/>
        </pc:sldMkLst>
      </pc:sldChg>
      <pc:sldChg chg="modNotesTx">
        <pc:chgData name="ambleic@clemson.edu" userId="43615028507_tp_box_2" providerId="OAuth2" clId="{5F4B9ABB-DEB5-4DC3-A8F9-1752A2D02C85}" dt="2026-07-20T13:07:00.248" v="22" actId="20577"/>
        <pc:sldMkLst>
          <pc:docMk/>
          <pc:sldMk cId="1828792420" sldId="536"/>
        </pc:sldMkLst>
      </pc:sldChg>
      <pc:sldChg chg="modAnim">
        <pc:chgData name="ambleic@clemson.edu" userId="43615028507_tp_box_2" providerId="OAuth2" clId="{5F4B9ABB-DEB5-4DC3-A8F9-1752A2D02C85}" dt="2026-07-20T12:10:50.389" v="1"/>
        <pc:sldMkLst>
          <pc:docMk/>
          <pc:sldMk cId="1025345509" sldId="545"/>
        </pc:sldMkLst>
      </pc:sldChg>
      <pc:sldChg chg="modNotesTx">
        <pc:chgData name="ambleic@clemson.edu" userId="43615028507_tp_box_2" providerId="OAuth2" clId="{5F4B9ABB-DEB5-4DC3-A8F9-1752A2D02C85}" dt="2026-07-20T13:06:20.678" v="15" actId="20577"/>
        <pc:sldMkLst>
          <pc:docMk/>
          <pc:sldMk cId="997544631" sldId="5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422984-EFDE-4153-A917-6AF90D5995E8}" type="datetimeFigureOut">
              <a:rPr lang="en-US" smtClean="0"/>
              <a:t>7/21/2026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FB17BE-BED3-4AB9-8286-10A56C371049}" type="slidenum">
              <a:rPr lang="en-US" smtClean="0"/>
              <a:t>‹#›</a:t>
            </a:fld>
            <a:endParaRPr lang="en-US"/>
          </a:p>
        </p:txBody>
      </p:sp>
    </p:spTree>
    <p:extLst>
      <p:ext uri="{BB962C8B-B14F-4D97-AF65-F5344CB8AC3E}">
        <p14:creationId xmlns:p14="http://schemas.microsoft.com/office/powerpoint/2010/main" val="4131094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6FF89-7C27-50AA-441C-F59B25720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7DD59-76F5-730B-E689-371561C0E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A3EFF-722C-7A1B-75C3-5A52FD15A9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77BAB4-EA8A-1015-3FDF-2B2C59D582CC}"/>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121445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9413E-B74C-39CC-A72E-7831F742DA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426EA-727A-970E-133A-F6B2AE79AE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7EABB-B541-36A6-E49A-C571F1ACC2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171D26-A705-542C-97B4-249BF6C46830}"/>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352893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268F7-07E8-7323-7F6A-E039966FC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C6638-B674-A268-8B34-2CB1C7A60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391C4-72C0-AF2B-6E99-E81F196E91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917F67-14ED-DAE9-B476-43ABC3380D3D}"/>
              </a:ext>
            </a:extLst>
          </p:cNvPr>
          <p:cNvSpPr>
            <a:spLocks noGrp="1"/>
          </p:cNvSpPr>
          <p:nvPr>
            <p:ph type="sldNum" sz="quarter" idx="5"/>
          </p:nvPr>
        </p:nvSpPr>
        <p:spPr/>
        <p:txBody>
          <a:bodyPr/>
          <a:lstStyle/>
          <a:p>
            <a:fld id="{D0E60299-BECB-47F9-950E-D077161DE286}" type="slidenum">
              <a:rPr lang="en-US" smtClean="0"/>
              <a:t>5</a:t>
            </a:fld>
            <a:endParaRPr lang="en-US"/>
          </a:p>
        </p:txBody>
      </p:sp>
    </p:spTree>
    <p:extLst>
      <p:ext uri="{BB962C8B-B14F-4D97-AF65-F5344CB8AC3E}">
        <p14:creationId xmlns:p14="http://schemas.microsoft.com/office/powerpoint/2010/main" val="1193534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E60299-BECB-47F9-950E-D077161DE286}" type="slidenum">
              <a:rPr lang="en-US" smtClean="0"/>
              <a:t>6</a:t>
            </a:fld>
            <a:endParaRPr lang="en-US"/>
          </a:p>
        </p:txBody>
      </p:sp>
    </p:spTree>
    <p:extLst>
      <p:ext uri="{BB962C8B-B14F-4D97-AF65-F5344CB8AC3E}">
        <p14:creationId xmlns:p14="http://schemas.microsoft.com/office/powerpoint/2010/main" val="1713951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7</a:t>
            </a:fld>
            <a:endParaRPr lang="en-US"/>
          </a:p>
        </p:txBody>
      </p:sp>
    </p:spTree>
    <p:extLst>
      <p:ext uri="{BB962C8B-B14F-4D97-AF65-F5344CB8AC3E}">
        <p14:creationId xmlns:p14="http://schemas.microsoft.com/office/powerpoint/2010/main" val="1090886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66DAB-09CD-204F-9BD5-CF9C2132C1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347A4B-2330-76DE-76EE-F58F694F26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3C8372-542B-D1E9-2107-990FD6772B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34AEDD-45DF-40B4-69C4-49FA724B31B3}"/>
              </a:ext>
            </a:extLst>
          </p:cNvPr>
          <p:cNvSpPr>
            <a:spLocks noGrp="1"/>
          </p:cNvSpPr>
          <p:nvPr>
            <p:ph type="sldNum" sz="quarter" idx="5"/>
          </p:nvPr>
        </p:nvSpPr>
        <p:spPr/>
        <p:txBody>
          <a:bodyPr/>
          <a:lstStyle/>
          <a:p>
            <a:fld id="{D0E60299-BECB-47F9-950E-D077161DE286}" type="slidenum">
              <a:rPr lang="en-US" smtClean="0"/>
              <a:t>8</a:t>
            </a:fld>
            <a:endParaRPr lang="en-US"/>
          </a:p>
        </p:txBody>
      </p:sp>
    </p:spTree>
    <p:extLst>
      <p:ext uri="{BB962C8B-B14F-4D97-AF65-F5344CB8AC3E}">
        <p14:creationId xmlns:p14="http://schemas.microsoft.com/office/powerpoint/2010/main" val="16543512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9</a:t>
            </a:fld>
            <a:endParaRPr lang="en-US"/>
          </a:p>
        </p:txBody>
      </p:sp>
    </p:spTree>
    <p:extLst>
      <p:ext uri="{BB962C8B-B14F-4D97-AF65-F5344CB8AC3E}">
        <p14:creationId xmlns:p14="http://schemas.microsoft.com/office/powerpoint/2010/main" val="25020248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8A2D7-9737-4252-22CC-F35F23CBE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E4CF43-677D-642E-806A-1D57380BC5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495D95-F2ED-1B57-2FF3-5EA8E9BD33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F8E53D-02A1-D9EF-E308-8E51FD3A95C2}"/>
              </a:ext>
            </a:extLst>
          </p:cNvPr>
          <p:cNvSpPr>
            <a:spLocks noGrp="1"/>
          </p:cNvSpPr>
          <p:nvPr>
            <p:ph type="sldNum" sz="quarter" idx="5"/>
          </p:nvPr>
        </p:nvSpPr>
        <p:spPr/>
        <p:txBody>
          <a:bodyPr/>
          <a:lstStyle/>
          <a:p>
            <a:fld id="{7AFB17BE-BED3-4AB9-8286-10A56C371049}" type="slidenum">
              <a:rPr lang="en-US" smtClean="0"/>
              <a:t>10</a:t>
            </a:fld>
            <a:endParaRPr lang="en-US"/>
          </a:p>
        </p:txBody>
      </p:sp>
    </p:spTree>
    <p:extLst>
      <p:ext uri="{BB962C8B-B14F-4D97-AF65-F5344CB8AC3E}">
        <p14:creationId xmlns:p14="http://schemas.microsoft.com/office/powerpoint/2010/main" val="22692623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0E60299-BECB-47F9-950E-D077161DE286}" type="slidenum">
              <a:rPr lang="en-US" smtClean="0"/>
              <a:t>12</a:t>
            </a:fld>
            <a:endParaRPr lang="en-US"/>
          </a:p>
        </p:txBody>
      </p:sp>
    </p:spTree>
    <p:extLst>
      <p:ext uri="{BB962C8B-B14F-4D97-AF65-F5344CB8AC3E}">
        <p14:creationId xmlns:p14="http://schemas.microsoft.com/office/powerpoint/2010/main" val="792326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14</a:t>
            </a:fld>
            <a:endParaRPr lang="en-US"/>
          </a:p>
        </p:txBody>
      </p:sp>
    </p:spTree>
    <p:extLst>
      <p:ext uri="{BB962C8B-B14F-4D97-AF65-F5344CB8AC3E}">
        <p14:creationId xmlns:p14="http://schemas.microsoft.com/office/powerpoint/2010/main" val="31890733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647BD-D2E4-6A03-79C8-1DB5A4B304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4AC9E7-45EA-E1F6-10B4-37F7DED8C0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D207F9-E8F4-64CE-5C79-8403AE5DB0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5C2757-99E2-0EA5-12FC-02F0DD81F376}"/>
              </a:ext>
            </a:extLst>
          </p:cNvPr>
          <p:cNvSpPr>
            <a:spLocks noGrp="1"/>
          </p:cNvSpPr>
          <p:nvPr>
            <p:ph type="sldNum" sz="quarter" idx="5"/>
          </p:nvPr>
        </p:nvSpPr>
        <p:spPr/>
        <p:txBody>
          <a:bodyPr/>
          <a:lstStyle/>
          <a:p>
            <a:fld id="{7AFB17BE-BED3-4AB9-8286-10A56C371049}" type="slidenum">
              <a:rPr lang="en-US" smtClean="0"/>
              <a:t>15</a:t>
            </a:fld>
            <a:endParaRPr lang="en-US"/>
          </a:p>
        </p:txBody>
      </p:sp>
    </p:spTree>
    <p:extLst>
      <p:ext uri="{BB962C8B-B14F-4D97-AF65-F5344CB8AC3E}">
        <p14:creationId xmlns:p14="http://schemas.microsoft.com/office/powerpoint/2010/main" val="16188218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05646-91BD-04C7-A6A0-D16DF5A4F3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40E91E-B740-718C-3981-AA7FF67D7C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B46760-634A-2FDE-4557-13D4CCB1C45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183157-D4EE-E565-23B8-4438988490EA}"/>
              </a:ext>
            </a:extLst>
          </p:cNvPr>
          <p:cNvSpPr>
            <a:spLocks noGrp="1"/>
          </p:cNvSpPr>
          <p:nvPr>
            <p:ph type="sldNum" sz="quarter" idx="5"/>
          </p:nvPr>
        </p:nvSpPr>
        <p:spPr/>
        <p:txBody>
          <a:bodyPr/>
          <a:lstStyle/>
          <a:p>
            <a:fld id="{D0E60299-BECB-47F9-950E-D077161DE286}" type="slidenum">
              <a:rPr lang="en-US" smtClean="0"/>
              <a:t>16</a:t>
            </a:fld>
            <a:endParaRPr lang="en-US"/>
          </a:p>
        </p:txBody>
      </p:sp>
    </p:spTree>
    <p:extLst>
      <p:ext uri="{BB962C8B-B14F-4D97-AF65-F5344CB8AC3E}">
        <p14:creationId xmlns:p14="http://schemas.microsoft.com/office/powerpoint/2010/main" val="15367859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D3D3C-00B3-29D9-B93C-DFBF58B359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D62C9-9EB5-36E0-B439-A3087A4A5C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5C276-CFF3-48C5-8D03-06F2A43D02B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756E61-D892-3169-258F-A2375F595FFE}"/>
              </a:ext>
            </a:extLst>
          </p:cNvPr>
          <p:cNvSpPr>
            <a:spLocks noGrp="1"/>
          </p:cNvSpPr>
          <p:nvPr>
            <p:ph type="sldNum" sz="quarter" idx="5"/>
          </p:nvPr>
        </p:nvSpPr>
        <p:spPr/>
        <p:txBody>
          <a:bodyPr/>
          <a:lstStyle/>
          <a:p>
            <a:fld id="{D0E60299-BECB-47F9-950E-D077161DE286}" type="slidenum">
              <a:rPr lang="en-US" smtClean="0"/>
              <a:t>17</a:t>
            </a:fld>
            <a:endParaRPr lang="en-US"/>
          </a:p>
        </p:txBody>
      </p:sp>
    </p:spTree>
    <p:extLst>
      <p:ext uri="{BB962C8B-B14F-4D97-AF65-F5344CB8AC3E}">
        <p14:creationId xmlns:p14="http://schemas.microsoft.com/office/powerpoint/2010/main" val="20695411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90000"/>
              </a:lnSpc>
              <a:spcBef>
                <a:spcPts val="1200"/>
              </a:spcBef>
              <a:spcAft>
                <a:spcPts val="200"/>
              </a:spcAft>
              <a:buClr>
                <a:srgbClr val="4A66AC"/>
              </a:buClr>
              <a:buSzPct val="100000"/>
              <a:buFont typeface="Courier New" panose="02070309020205020404" pitchFamily="49" charset="0"/>
              <a:buNone/>
              <a:tabLst/>
              <a:defRPr/>
            </a:pPr>
            <a:endParaRPr lang="en-US" dirty="0"/>
          </a:p>
        </p:txBody>
      </p:sp>
      <p:sp>
        <p:nvSpPr>
          <p:cNvPr id="4" name="Slide Number Placeholder 3"/>
          <p:cNvSpPr>
            <a:spLocks noGrp="1"/>
          </p:cNvSpPr>
          <p:nvPr>
            <p:ph type="sldNum" sz="quarter" idx="5"/>
          </p:nvPr>
        </p:nvSpPr>
        <p:spPr/>
        <p:txBody>
          <a:bodyPr/>
          <a:lstStyle/>
          <a:p>
            <a:fld id="{714AA50D-1954-4E07-B31A-F11C899FC54D}" type="slidenum">
              <a:rPr lang="en-US" smtClean="0"/>
              <a:t>18</a:t>
            </a:fld>
            <a:endParaRPr lang="en-US"/>
          </a:p>
        </p:txBody>
      </p:sp>
    </p:spTree>
    <p:extLst>
      <p:ext uri="{BB962C8B-B14F-4D97-AF65-F5344CB8AC3E}">
        <p14:creationId xmlns:p14="http://schemas.microsoft.com/office/powerpoint/2010/main" val="285992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20</a:t>
            </a:fld>
            <a:endParaRPr lang="en-US"/>
          </a:p>
        </p:txBody>
      </p:sp>
    </p:spTree>
    <p:extLst>
      <p:ext uri="{BB962C8B-B14F-4D97-AF65-F5344CB8AC3E}">
        <p14:creationId xmlns:p14="http://schemas.microsoft.com/office/powerpoint/2010/main" val="7017683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A3324-9D29-ACAB-CCB5-6AA7D29073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FF8A4B-3500-2CF7-80AF-EB6C7C3BFC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3C5947-882F-795A-6F59-7BE11BE297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425B47-0621-1FD9-B4C1-D1F0E573C292}"/>
              </a:ext>
            </a:extLst>
          </p:cNvPr>
          <p:cNvSpPr>
            <a:spLocks noGrp="1"/>
          </p:cNvSpPr>
          <p:nvPr>
            <p:ph type="sldNum" sz="quarter" idx="5"/>
          </p:nvPr>
        </p:nvSpPr>
        <p:spPr/>
        <p:txBody>
          <a:bodyPr/>
          <a:lstStyle/>
          <a:p>
            <a:fld id="{7AFB17BE-BED3-4AB9-8286-10A56C371049}" type="slidenum">
              <a:rPr lang="en-US" smtClean="0"/>
              <a:t>21</a:t>
            </a:fld>
            <a:endParaRPr lang="en-US"/>
          </a:p>
        </p:txBody>
      </p:sp>
    </p:spTree>
    <p:extLst>
      <p:ext uri="{BB962C8B-B14F-4D97-AF65-F5344CB8AC3E}">
        <p14:creationId xmlns:p14="http://schemas.microsoft.com/office/powerpoint/2010/main" val="25726454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76F5C-9A18-DBC1-81C5-3CB01FC21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083D07-C4CC-5E06-8AAE-123D981C8A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EF9FF9-9026-5AF8-D6B6-206A8CAE939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94AF7D4-D757-E084-2C57-FD32BD18D348}"/>
              </a:ext>
            </a:extLst>
          </p:cNvPr>
          <p:cNvSpPr>
            <a:spLocks noGrp="1"/>
          </p:cNvSpPr>
          <p:nvPr>
            <p:ph type="sldNum" sz="quarter" idx="5"/>
          </p:nvPr>
        </p:nvSpPr>
        <p:spPr/>
        <p:txBody>
          <a:bodyPr/>
          <a:lstStyle/>
          <a:p>
            <a:fld id="{D0E60299-BECB-47F9-950E-D077161DE286}" type="slidenum">
              <a:rPr lang="en-US" smtClean="0"/>
              <a:t>22</a:t>
            </a:fld>
            <a:endParaRPr lang="en-US"/>
          </a:p>
        </p:txBody>
      </p:sp>
    </p:spTree>
    <p:extLst>
      <p:ext uri="{BB962C8B-B14F-4D97-AF65-F5344CB8AC3E}">
        <p14:creationId xmlns:p14="http://schemas.microsoft.com/office/powerpoint/2010/main" val="24360358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FAA95-567A-CE4C-0439-F690EC99D8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DB07DB-49CC-C5C3-9E6D-1C9A3C986A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6A5669-1C66-2579-9A2A-4025B3FD66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BEA171-2F9C-A2A5-422F-C3F66516F3B2}"/>
              </a:ext>
            </a:extLst>
          </p:cNvPr>
          <p:cNvSpPr>
            <a:spLocks noGrp="1"/>
          </p:cNvSpPr>
          <p:nvPr>
            <p:ph type="sldNum" sz="quarter" idx="5"/>
          </p:nvPr>
        </p:nvSpPr>
        <p:spPr/>
        <p:txBody>
          <a:bodyPr/>
          <a:lstStyle/>
          <a:p>
            <a:fld id="{D0E60299-BECB-47F9-950E-D077161DE286}" type="slidenum">
              <a:rPr lang="en-US" smtClean="0"/>
              <a:t>23</a:t>
            </a:fld>
            <a:endParaRPr lang="en-US"/>
          </a:p>
        </p:txBody>
      </p:sp>
    </p:spTree>
    <p:extLst>
      <p:ext uri="{BB962C8B-B14F-4D97-AF65-F5344CB8AC3E}">
        <p14:creationId xmlns:p14="http://schemas.microsoft.com/office/powerpoint/2010/main" val="34836603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24</a:t>
            </a:fld>
            <a:endParaRPr lang="en-US"/>
          </a:p>
        </p:txBody>
      </p:sp>
    </p:spTree>
    <p:extLst>
      <p:ext uri="{BB962C8B-B14F-4D97-AF65-F5344CB8AC3E}">
        <p14:creationId xmlns:p14="http://schemas.microsoft.com/office/powerpoint/2010/main" val="13231333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FB17BE-BED3-4AB9-8286-10A56C371049}" type="slidenum">
              <a:rPr lang="en-US" smtClean="0"/>
              <a:t>25</a:t>
            </a:fld>
            <a:endParaRPr lang="en-US"/>
          </a:p>
        </p:txBody>
      </p:sp>
    </p:spTree>
    <p:extLst>
      <p:ext uri="{BB962C8B-B14F-4D97-AF65-F5344CB8AC3E}">
        <p14:creationId xmlns:p14="http://schemas.microsoft.com/office/powerpoint/2010/main" val="11058298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A79B4-74D2-72EC-6554-BD140002CB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049FFC-2BBF-8BBA-A580-801361F48F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A4B99D-0C42-B9D6-048F-F728B65750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AB4501-0B1E-79FC-F942-ECBB4E33AE07}"/>
              </a:ext>
            </a:extLst>
          </p:cNvPr>
          <p:cNvSpPr>
            <a:spLocks noGrp="1"/>
          </p:cNvSpPr>
          <p:nvPr>
            <p:ph type="sldNum" sz="quarter" idx="5"/>
          </p:nvPr>
        </p:nvSpPr>
        <p:spPr/>
        <p:txBody>
          <a:bodyPr/>
          <a:lstStyle/>
          <a:p>
            <a:fld id="{7AFB17BE-BED3-4AB9-8286-10A56C371049}" type="slidenum">
              <a:rPr lang="en-US" smtClean="0"/>
              <a:t>26</a:t>
            </a:fld>
            <a:endParaRPr lang="en-US"/>
          </a:p>
        </p:txBody>
      </p:sp>
    </p:spTree>
    <p:extLst>
      <p:ext uri="{BB962C8B-B14F-4D97-AF65-F5344CB8AC3E}">
        <p14:creationId xmlns:p14="http://schemas.microsoft.com/office/powerpoint/2010/main" val="2646698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27</a:t>
            </a:fld>
            <a:endParaRPr lang="en-US"/>
          </a:p>
        </p:txBody>
      </p:sp>
    </p:spTree>
    <p:extLst>
      <p:ext uri="{BB962C8B-B14F-4D97-AF65-F5344CB8AC3E}">
        <p14:creationId xmlns:p14="http://schemas.microsoft.com/office/powerpoint/2010/main" val="4928221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CAA06-BE13-C24C-291F-7C99AA1CD1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26998F-FAE4-D9D7-0D78-9271868EE1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097819-DEF4-3675-B1BF-0760F37BF7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C70212-0D74-22F9-2897-1E62D42B8816}"/>
              </a:ext>
            </a:extLst>
          </p:cNvPr>
          <p:cNvSpPr>
            <a:spLocks noGrp="1"/>
          </p:cNvSpPr>
          <p:nvPr>
            <p:ph type="sldNum" sz="quarter" idx="5"/>
          </p:nvPr>
        </p:nvSpPr>
        <p:spPr/>
        <p:txBody>
          <a:bodyPr/>
          <a:lstStyle/>
          <a:p>
            <a:fld id="{7AFB17BE-BED3-4AB9-8286-10A56C371049}" type="slidenum">
              <a:rPr lang="en-US" smtClean="0"/>
              <a:t>28</a:t>
            </a:fld>
            <a:endParaRPr lang="en-US"/>
          </a:p>
        </p:txBody>
      </p:sp>
    </p:spTree>
    <p:extLst>
      <p:ext uri="{BB962C8B-B14F-4D97-AF65-F5344CB8AC3E}">
        <p14:creationId xmlns:p14="http://schemas.microsoft.com/office/powerpoint/2010/main" val="1851961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5A68F-CA4F-8CAB-2E24-19C67A55E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6F5F4A-D9BB-84A6-F5A9-62988C7993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C172E2-0F52-74B8-ED00-3BC3771208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8F256D-FAD1-2D3B-C079-4F10473E87F1}"/>
              </a:ext>
            </a:extLst>
          </p:cNvPr>
          <p:cNvSpPr>
            <a:spLocks noGrp="1"/>
          </p:cNvSpPr>
          <p:nvPr>
            <p:ph type="sldNum" sz="quarter" idx="5"/>
          </p:nvPr>
        </p:nvSpPr>
        <p:spPr/>
        <p:txBody>
          <a:bodyPr/>
          <a:lstStyle/>
          <a:p>
            <a:fld id="{D0E60299-BECB-47F9-950E-D077161DE286}" type="slidenum">
              <a:rPr lang="en-US" smtClean="0"/>
              <a:t>29</a:t>
            </a:fld>
            <a:endParaRPr lang="en-US"/>
          </a:p>
        </p:txBody>
      </p:sp>
    </p:spTree>
    <p:extLst>
      <p:ext uri="{BB962C8B-B14F-4D97-AF65-F5344CB8AC3E}">
        <p14:creationId xmlns:p14="http://schemas.microsoft.com/office/powerpoint/2010/main" val="37390626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30</a:t>
            </a:fld>
            <a:endParaRPr lang="en-US"/>
          </a:p>
        </p:txBody>
      </p:sp>
    </p:spTree>
    <p:extLst>
      <p:ext uri="{BB962C8B-B14F-4D97-AF65-F5344CB8AC3E}">
        <p14:creationId xmlns:p14="http://schemas.microsoft.com/office/powerpoint/2010/main" val="3904983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32</a:t>
            </a:fld>
            <a:endParaRPr lang="en-US"/>
          </a:p>
        </p:txBody>
      </p:sp>
    </p:spTree>
    <p:extLst>
      <p:ext uri="{BB962C8B-B14F-4D97-AF65-F5344CB8AC3E}">
        <p14:creationId xmlns:p14="http://schemas.microsoft.com/office/powerpoint/2010/main" val="26188055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2A8ED-A7A6-F1D6-135A-D11FB820B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57BDD-473C-4E29-72E6-5895B23586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325BBA-4ABF-7C0B-EF10-1F34C67761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3D33FD-5BC6-F44F-F04C-F9704E032A2F}"/>
              </a:ext>
            </a:extLst>
          </p:cNvPr>
          <p:cNvSpPr>
            <a:spLocks noGrp="1"/>
          </p:cNvSpPr>
          <p:nvPr>
            <p:ph type="sldNum" sz="quarter" idx="5"/>
          </p:nvPr>
        </p:nvSpPr>
        <p:spPr/>
        <p:txBody>
          <a:bodyPr/>
          <a:lstStyle/>
          <a:p>
            <a:fld id="{7AFB17BE-BED3-4AB9-8286-10A56C371049}" type="slidenum">
              <a:rPr lang="en-US" smtClean="0"/>
              <a:t>33</a:t>
            </a:fld>
            <a:endParaRPr lang="en-US"/>
          </a:p>
        </p:txBody>
      </p:sp>
    </p:spTree>
    <p:extLst>
      <p:ext uri="{BB962C8B-B14F-4D97-AF65-F5344CB8AC3E}">
        <p14:creationId xmlns:p14="http://schemas.microsoft.com/office/powerpoint/2010/main" val="28385478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685B1-3C4D-1CA5-3359-673AAC4FBF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A21625-351E-A12A-7038-F9721A694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281EFA-3CEA-C067-74B8-4BD1748646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97146C-4FB8-4117-1B70-3438C3E8DA21}"/>
              </a:ext>
            </a:extLst>
          </p:cNvPr>
          <p:cNvSpPr>
            <a:spLocks noGrp="1"/>
          </p:cNvSpPr>
          <p:nvPr>
            <p:ph type="sldNum" sz="quarter" idx="5"/>
          </p:nvPr>
        </p:nvSpPr>
        <p:spPr/>
        <p:txBody>
          <a:bodyPr/>
          <a:lstStyle/>
          <a:p>
            <a:fld id="{7AFB17BE-BED3-4AB9-8286-10A56C371049}" type="slidenum">
              <a:rPr lang="en-US" smtClean="0"/>
              <a:t>34</a:t>
            </a:fld>
            <a:endParaRPr lang="en-US"/>
          </a:p>
        </p:txBody>
      </p:sp>
    </p:spTree>
    <p:extLst>
      <p:ext uri="{BB962C8B-B14F-4D97-AF65-F5344CB8AC3E}">
        <p14:creationId xmlns:p14="http://schemas.microsoft.com/office/powerpoint/2010/main" val="806999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5A14A-50EB-6BE5-7B45-E73AF872FA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E85CF-7E5C-70B3-CDC9-F8006ACBF5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967F16-02F8-FA05-7932-3BECFEAAE9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C22344-C631-8910-40CA-9809D5992584}"/>
              </a:ext>
            </a:extLst>
          </p:cNvPr>
          <p:cNvSpPr>
            <a:spLocks noGrp="1"/>
          </p:cNvSpPr>
          <p:nvPr>
            <p:ph type="sldNum" sz="quarter" idx="5"/>
          </p:nvPr>
        </p:nvSpPr>
        <p:spPr/>
        <p:txBody>
          <a:bodyPr/>
          <a:lstStyle/>
          <a:p>
            <a:fld id="{D0E60299-BECB-47F9-950E-D077161DE286}" type="slidenum">
              <a:rPr lang="en-US" smtClean="0"/>
              <a:t>35</a:t>
            </a:fld>
            <a:endParaRPr lang="en-US"/>
          </a:p>
        </p:txBody>
      </p:sp>
    </p:spTree>
    <p:extLst>
      <p:ext uri="{BB962C8B-B14F-4D97-AF65-F5344CB8AC3E}">
        <p14:creationId xmlns:p14="http://schemas.microsoft.com/office/powerpoint/2010/main" val="6154820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40</a:t>
            </a:fld>
            <a:endParaRPr lang="en-US"/>
          </a:p>
        </p:txBody>
      </p:sp>
    </p:spTree>
    <p:extLst>
      <p:ext uri="{BB962C8B-B14F-4D97-AF65-F5344CB8AC3E}">
        <p14:creationId xmlns:p14="http://schemas.microsoft.com/office/powerpoint/2010/main" val="1252433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597A7-2667-7780-2041-DA818A8B83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04A02F-089D-4605-B830-C73324885B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7BC047-D939-51B3-6B16-AD50B2556A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34CED3-72DB-37B0-ED90-40C8D0B8C9C6}"/>
              </a:ext>
            </a:extLst>
          </p:cNvPr>
          <p:cNvSpPr>
            <a:spLocks noGrp="1"/>
          </p:cNvSpPr>
          <p:nvPr>
            <p:ph type="sldNum" sz="quarter" idx="5"/>
          </p:nvPr>
        </p:nvSpPr>
        <p:spPr/>
        <p:txBody>
          <a:bodyPr/>
          <a:lstStyle/>
          <a:p>
            <a:fld id="{D0E60299-BECB-47F9-950E-D077161DE286}" type="slidenum">
              <a:rPr lang="en-US" smtClean="0"/>
              <a:t>42</a:t>
            </a:fld>
            <a:endParaRPr lang="en-US"/>
          </a:p>
        </p:txBody>
      </p:sp>
    </p:spTree>
    <p:extLst>
      <p:ext uri="{BB962C8B-B14F-4D97-AF65-F5344CB8AC3E}">
        <p14:creationId xmlns:p14="http://schemas.microsoft.com/office/powerpoint/2010/main" val="5457024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0E615-074F-9A58-B0E5-F854B7FB9B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28CA46-6E13-C5D5-90A7-FD56C0AE1C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B53538-5F91-0DC5-744D-3D283DB212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90F299-E050-BF5F-6091-038904CBD608}"/>
              </a:ext>
            </a:extLst>
          </p:cNvPr>
          <p:cNvSpPr>
            <a:spLocks noGrp="1"/>
          </p:cNvSpPr>
          <p:nvPr>
            <p:ph type="sldNum" sz="quarter" idx="5"/>
          </p:nvPr>
        </p:nvSpPr>
        <p:spPr/>
        <p:txBody>
          <a:bodyPr/>
          <a:lstStyle/>
          <a:p>
            <a:fld id="{D0E60299-BECB-47F9-950E-D077161DE286}" type="slidenum">
              <a:rPr lang="en-US" smtClean="0"/>
              <a:t>43</a:t>
            </a:fld>
            <a:endParaRPr lang="en-US"/>
          </a:p>
        </p:txBody>
      </p:sp>
    </p:spTree>
    <p:extLst>
      <p:ext uri="{BB962C8B-B14F-4D97-AF65-F5344CB8AC3E}">
        <p14:creationId xmlns:p14="http://schemas.microsoft.com/office/powerpoint/2010/main" val="8881528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44</a:t>
            </a:fld>
            <a:endParaRPr lang="en-US"/>
          </a:p>
        </p:txBody>
      </p:sp>
    </p:spTree>
    <p:extLst>
      <p:ext uri="{BB962C8B-B14F-4D97-AF65-F5344CB8AC3E}">
        <p14:creationId xmlns:p14="http://schemas.microsoft.com/office/powerpoint/2010/main" val="20060907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B72CF-A636-C7E2-DA99-946EEBD94A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808DA2-5D8C-36A3-37DE-C1E8D7D57C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269298-F00D-07CA-0214-994FDD0BFC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8DB2E8-EB52-3664-1249-D3EAC9CFE7E3}"/>
              </a:ext>
            </a:extLst>
          </p:cNvPr>
          <p:cNvSpPr>
            <a:spLocks noGrp="1"/>
          </p:cNvSpPr>
          <p:nvPr>
            <p:ph type="sldNum" sz="quarter" idx="5"/>
          </p:nvPr>
        </p:nvSpPr>
        <p:spPr/>
        <p:txBody>
          <a:bodyPr/>
          <a:lstStyle/>
          <a:p>
            <a:fld id="{D0E60299-BECB-47F9-950E-D077161DE286}" type="slidenum">
              <a:rPr lang="en-US" smtClean="0"/>
              <a:t>47</a:t>
            </a:fld>
            <a:endParaRPr lang="en-US"/>
          </a:p>
        </p:txBody>
      </p:sp>
    </p:spTree>
    <p:extLst>
      <p:ext uri="{BB962C8B-B14F-4D97-AF65-F5344CB8AC3E}">
        <p14:creationId xmlns:p14="http://schemas.microsoft.com/office/powerpoint/2010/main" val="32657106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CB197-E7A4-5C9F-14D2-D13F249E4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72B405-0836-8BB2-67C7-4C59134EF0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ACE5C8-70B5-75D6-3578-CBE7C5D6B0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20E7C3-437F-A862-38DB-60C527E6A036}"/>
              </a:ext>
            </a:extLst>
          </p:cNvPr>
          <p:cNvSpPr>
            <a:spLocks noGrp="1"/>
          </p:cNvSpPr>
          <p:nvPr>
            <p:ph type="sldNum" sz="quarter" idx="5"/>
          </p:nvPr>
        </p:nvSpPr>
        <p:spPr/>
        <p:txBody>
          <a:bodyPr/>
          <a:lstStyle/>
          <a:p>
            <a:fld id="{D0E60299-BECB-47F9-950E-D077161DE286}" type="slidenum">
              <a:rPr lang="en-US" smtClean="0"/>
              <a:t>48</a:t>
            </a:fld>
            <a:endParaRPr lang="en-US"/>
          </a:p>
        </p:txBody>
      </p:sp>
    </p:spTree>
    <p:extLst>
      <p:ext uri="{BB962C8B-B14F-4D97-AF65-F5344CB8AC3E}">
        <p14:creationId xmlns:p14="http://schemas.microsoft.com/office/powerpoint/2010/main" val="12751039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49</a:t>
            </a:fld>
            <a:endParaRPr lang="en-US"/>
          </a:p>
        </p:txBody>
      </p:sp>
    </p:spTree>
    <p:extLst>
      <p:ext uri="{BB962C8B-B14F-4D97-AF65-F5344CB8AC3E}">
        <p14:creationId xmlns:p14="http://schemas.microsoft.com/office/powerpoint/2010/main" val="35613511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52</a:t>
            </a:fld>
            <a:endParaRPr lang="en-US"/>
          </a:p>
        </p:txBody>
      </p:sp>
    </p:spTree>
    <p:extLst>
      <p:ext uri="{BB962C8B-B14F-4D97-AF65-F5344CB8AC3E}">
        <p14:creationId xmlns:p14="http://schemas.microsoft.com/office/powerpoint/2010/main" val="8399145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95CDD-2713-EC28-4B06-D7F26DB42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D66662-14B7-45FC-61C3-46567F2A0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A18E2F-5A38-5450-8F70-60C546FD0B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F92ADE-50FC-0BFC-7DD9-51486FE2890F}"/>
              </a:ext>
            </a:extLst>
          </p:cNvPr>
          <p:cNvSpPr>
            <a:spLocks noGrp="1"/>
          </p:cNvSpPr>
          <p:nvPr>
            <p:ph type="sldNum" sz="quarter" idx="5"/>
          </p:nvPr>
        </p:nvSpPr>
        <p:spPr/>
        <p:txBody>
          <a:bodyPr/>
          <a:lstStyle/>
          <a:p>
            <a:fld id="{7AFB17BE-BED3-4AB9-8286-10A56C371049}" type="slidenum">
              <a:rPr lang="en-US" smtClean="0"/>
              <a:t>53</a:t>
            </a:fld>
            <a:endParaRPr lang="en-US"/>
          </a:p>
        </p:txBody>
      </p:sp>
    </p:spTree>
    <p:extLst>
      <p:ext uri="{BB962C8B-B14F-4D97-AF65-F5344CB8AC3E}">
        <p14:creationId xmlns:p14="http://schemas.microsoft.com/office/powerpoint/2010/main" val="8165122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54</a:t>
            </a:fld>
            <a:endParaRPr lang="en-US"/>
          </a:p>
        </p:txBody>
      </p:sp>
    </p:spTree>
    <p:extLst>
      <p:ext uri="{BB962C8B-B14F-4D97-AF65-F5344CB8AC3E}">
        <p14:creationId xmlns:p14="http://schemas.microsoft.com/office/powerpoint/2010/main" val="33301852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56</a:t>
            </a:fld>
            <a:endParaRPr lang="en-US"/>
          </a:p>
        </p:txBody>
      </p:sp>
    </p:spTree>
    <p:extLst>
      <p:ext uri="{BB962C8B-B14F-4D97-AF65-F5344CB8AC3E}">
        <p14:creationId xmlns:p14="http://schemas.microsoft.com/office/powerpoint/2010/main" val="19167870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58</a:t>
            </a:fld>
            <a:endParaRPr lang="en-US"/>
          </a:p>
        </p:txBody>
      </p:sp>
    </p:spTree>
    <p:extLst>
      <p:ext uri="{BB962C8B-B14F-4D97-AF65-F5344CB8AC3E}">
        <p14:creationId xmlns:p14="http://schemas.microsoft.com/office/powerpoint/2010/main" val="2165798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ABFD8-2CD3-6B78-D051-1B94444261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0919C-9AD0-ADB2-E8D4-95AFCFDCB5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3208C-8182-E9FB-A6DF-8FBC57FE13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957DC1-5ED2-B7E4-937A-2ACDA57CA3AD}"/>
              </a:ext>
            </a:extLst>
          </p:cNvPr>
          <p:cNvSpPr>
            <a:spLocks noGrp="1"/>
          </p:cNvSpPr>
          <p:nvPr>
            <p:ph type="sldNum" sz="quarter" idx="5"/>
          </p:nvPr>
        </p:nvSpPr>
        <p:spPr/>
        <p:txBody>
          <a:bodyPr/>
          <a:lstStyle/>
          <a:p>
            <a:fld id="{7AFB17BE-BED3-4AB9-8286-10A56C371049}" type="slidenum">
              <a:rPr lang="en-US" smtClean="0"/>
              <a:t>59</a:t>
            </a:fld>
            <a:endParaRPr lang="en-US"/>
          </a:p>
        </p:txBody>
      </p:sp>
    </p:spTree>
    <p:extLst>
      <p:ext uri="{BB962C8B-B14F-4D97-AF65-F5344CB8AC3E}">
        <p14:creationId xmlns:p14="http://schemas.microsoft.com/office/powerpoint/2010/main" val="185878678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F3801-29C7-C59E-A229-FA54F05F9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0AB6F3-F57B-AE7E-61AB-AA29F5DC95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B96B65-ABD0-E60A-DAD2-E4439C4E82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52D9E7-2A65-374D-9EFF-14AADFFA50E3}"/>
              </a:ext>
            </a:extLst>
          </p:cNvPr>
          <p:cNvSpPr>
            <a:spLocks noGrp="1"/>
          </p:cNvSpPr>
          <p:nvPr>
            <p:ph type="sldNum" sz="quarter" idx="5"/>
          </p:nvPr>
        </p:nvSpPr>
        <p:spPr/>
        <p:txBody>
          <a:bodyPr/>
          <a:lstStyle/>
          <a:p>
            <a:fld id="{7AFB17BE-BED3-4AB9-8286-10A56C371049}" type="slidenum">
              <a:rPr lang="en-US" smtClean="0"/>
              <a:t>60</a:t>
            </a:fld>
            <a:endParaRPr lang="en-US"/>
          </a:p>
        </p:txBody>
      </p:sp>
    </p:spTree>
    <p:extLst>
      <p:ext uri="{BB962C8B-B14F-4D97-AF65-F5344CB8AC3E}">
        <p14:creationId xmlns:p14="http://schemas.microsoft.com/office/powerpoint/2010/main" val="1740132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D79CF-A2A6-1419-3024-AFCCDB682A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9047B0-DCC0-FF84-E0E1-A09B0544CB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5172DDF-B844-03A1-268C-DE04E049A4E8}"/>
              </a:ext>
            </a:extLst>
          </p:cNvPr>
          <p:cNvSpPr>
            <a:spLocks noGrp="1"/>
          </p:cNvSpPr>
          <p:nvPr>
            <p:ph type="dt" sz="half" idx="10"/>
          </p:nvPr>
        </p:nvSpPr>
        <p:spPr/>
        <p:txBody>
          <a:bodyPr/>
          <a:lstStyle/>
          <a:p>
            <a:fld id="{EB93F1B7-D4E5-4E0E-ABDD-A99B9F776707}" type="datetimeFigureOut">
              <a:rPr lang="en-US" smtClean="0"/>
              <a:t>7/21/2026</a:t>
            </a:fld>
            <a:endParaRPr lang="en-US"/>
          </a:p>
        </p:txBody>
      </p:sp>
      <p:sp>
        <p:nvSpPr>
          <p:cNvPr id="5" name="Footer Placeholder 4">
            <a:extLst>
              <a:ext uri="{FF2B5EF4-FFF2-40B4-BE49-F238E27FC236}">
                <a16:creationId xmlns:a16="http://schemas.microsoft.com/office/drawing/2014/main" id="{89DEBBF4-1BAA-9166-C3BF-BBF1E60E2A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EE046B-6D8E-2385-F6F0-29E2B649CED4}"/>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1107402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9492D-C299-D51B-6958-429DFF9840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DACC9B-78D9-472D-4467-D2FC9F785C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BC2432-3441-AEC7-B2F8-52CE4F305E54}"/>
              </a:ext>
            </a:extLst>
          </p:cNvPr>
          <p:cNvSpPr>
            <a:spLocks noGrp="1"/>
          </p:cNvSpPr>
          <p:nvPr>
            <p:ph type="dt" sz="half" idx="10"/>
          </p:nvPr>
        </p:nvSpPr>
        <p:spPr/>
        <p:txBody>
          <a:bodyPr/>
          <a:lstStyle/>
          <a:p>
            <a:fld id="{EB93F1B7-D4E5-4E0E-ABDD-A99B9F776707}" type="datetimeFigureOut">
              <a:rPr lang="en-US" smtClean="0"/>
              <a:t>7/21/2026</a:t>
            </a:fld>
            <a:endParaRPr lang="en-US"/>
          </a:p>
        </p:txBody>
      </p:sp>
      <p:sp>
        <p:nvSpPr>
          <p:cNvPr id="5" name="Footer Placeholder 4">
            <a:extLst>
              <a:ext uri="{FF2B5EF4-FFF2-40B4-BE49-F238E27FC236}">
                <a16:creationId xmlns:a16="http://schemas.microsoft.com/office/drawing/2014/main" id="{6C7CF96E-3410-5927-274D-74E94AC19C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18C55E-1429-2D0C-0576-D75A06951D93}"/>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1531068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9BEC5-D9F2-D23A-EBFF-EA383FD63B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8595789-CAA2-E01C-7C7D-76830B5153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FB0A82-B9EF-3104-8CB3-C7CFD396A99D}"/>
              </a:ext>
            </a:extLst>
          </p:cNvPr>
          <p:cNvSpPr>
            <a:spLocks noGrp="1"/>
          </p:cNvSpPr>
          <p:nvPr>
            <p:ph type="dt" sz="half" idx="10"/>
          </p:nvPr>
        </p:nvSpPr>
        <p:spPr/>
        <p:txBody>
          <a:bodyPr/>
          <a:lstStyle/>
          <a:p>
            <a:fld id="{EB93F1B7-D4E5-4E0E-ABDD-A99B9F776707}" type="datetimeFigureOut">
              <a:rPr lang="en-US" smtClean="0"/>
              <a:t>7/21/2026</a:t>
            </a:fld>
            <a:endParaRPr lang="en-US"/>
          </a:p>
        </p:txBody>
      </p:sp>
      <p:sp>
        <p:nvSpPr>
          <p:cNvPr id="5" name="Footer Placeholder 4">
            <a:extLst>
              <a:ext uri="{FF2B5EF4-FFF2-40B4-BE49-F238E27FC236}">
                <a16:creationId xmlns:a16="http://schemas.microsoft.com/office/drawing/2014/main" id="{9B6AE857-A7B7-B3EC-ED62-88E9041EA8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89367B-2A62-2EDC-29D4-452234BF6C44}"/>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2979938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6DEE9-618D-2260-D99B-2A4CDC224D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770D4A-A740-017C-58D0-2A5E5D70FD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E09D50-B9DC-41A0-BB90-49F4DFF6C9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383571-C2CB-6E71-E8CC-441C08578D80}"/>
              </a:ext>
            </a:extLst>
          </p:cNvPr>
          <p:cNvSpPr>
            <a:spLocks noGrp="1"/>
          </p:cNvSpPr>
          <p:nvPr>
            <p:ph type="dt" sz="half" idx="10"/>
          </p:nvPr>
        </p:nvSpPr>
        <p:spPr/>
        <p:txBody>
          <a:bodyPr/>
          <a:lstStyle/>
          <a:p>
            <a:fld id="{EB93F1B7-D4E5-4E0E-ABDD-A99B9F776707}" type="datetimeFigureOut">
              <a:rPr lang="en-US" smtClean="0"/>
              <a:t>7/21/2026</a:t>
            </a:fld>
            <a:endParaRPr lang="en-US"/>
          </a:p>
        </p:txBody>
      </p:sp>
      <p:sp>
        <p:nvSpPr>
          <p:cNvPr id="6" name="Footer Placeholder 5">
            <a:extLst>
              <a:ext uri="{FF2B5EF4-FFF2-40B4-BE49-F238E27FC236}">
                <a16:creationId xmlns:a16="http://schemas.microsoft.com/office/drawing/2014/main" id="{AE7F979F-EB21-1E5B-82C7-7BC77610D9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25E938-1708-0F38-C20C-2641908918DB}"/>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2568171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34060-1FFA-38C1-365F-ABE9F11C2A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2CC664C-1FA9-A87D-7D13-8C48C5D955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2BFFD1-AD8C-ED37-D356-11A7270FDB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5A0D20-DE85-847B-5ED0-097B631A8F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5823BD-857D-FC84-BACB-FA01FC71B8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1595E1-94BF-6C17-F50F-12717DA8ECFD}"/>
              </a:ext>
            </a:extLst>
          </p:cNvPr>
          <p:cNvSpPr>
            <a:spLocks noGrp="1"/>
          </p:cNvSpPr>
          <p:nvPr>
            <p:ph type="dt" sz="half" idx="10"/>
          </p:nvPr>
        </p:nvSpPr>
        <p:spPr/>
        <p:txBody>
          <a:bodyPr/>
          <a:lstStyle/>
          <a:p>
            <a:fld id="{EB93F1B7-D4E5-4E0E-ABDD-A99B9F776707}" type="datetimeFigureOut">
              <a:rPr lang="en-US" smtClean="0"/>
              <a:t>7/21/2026</a:t>
            </a:fld>
            <a:endParaRPr lang="en-US"/>
          </a:p>
        </p:txBody>
      </p:sp>
      <p:sp>
        <p:nvSpPr>
          <p:cNvPr id="8" name="Footer Placeholder 7">
            <a:extLst>
              <a:ext uri="{FF2B5EF4-FFF2-40B4-BE49-F238E27FC236}">
                <a16:creationId xmlns:a16="http://schemas.microsoft.com/office/drawing/2014/main" id="{13D2759C-AA74-291B-2317-F99B543B25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20B1987-8FB7-D185-9E0A-C6799DD29B5A}"/>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679010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B5B52-E008-F98B-B254-CFBB680F5E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C9B40C4-5B77-0FB7-2ADD-D941D51EC3E4}"/>
              </a:ext>
            </a:extLst>
          </p:cNvPr>
          <p:cNvSpPr>
            <a:spLocks noGrp="1"/>
          </p:cNvSpPr>
          <p:nvPr>
            <p:ph type="dt" sz="half" idx="10"/>
          </p:nvPr>
        </p:nvSpPr>
        <p:spPr/>
        <p:txBody>
          <a:bodyPr/>
          <a:lstStyle/>
          <a:p>
            <a:fld id="{EB93F1B7-D4E5-4E0E-ABDD-A99B9F776707}" type="datetimeFigureOut">
              <a:rPr lang="en-US" smtClean="0"/>
              <a:t>7/21/2026</a:t>
            </a:fld>
            <a:endParaRPr lang="en-US"/>
          </a:p>
        </p:txBody>
      </p:sp>
      <p:sp>
        <p:nvSpPr>
          <p:cNvPr id="4" name="Footer Placeholder 3">
            <a:extLst>
              <a:ext uri="{FF2B5EF4-FFF2-40B4-BE49-F238E27FC236}">
                <a16:creationId xmlns:a16="http://schemas.microsoft.com/office/drawing/2014/main" id="{C7E9340A-ABDB-07DE-2426-B26780C4E23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64FF3A-EC1D-74C1-9A02-48A8B3266E83}"/>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4227266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241770-BEA7-72BB-4048-A655FCE41F7C}"/>
              </a:ext>
            </a:extLst>
          </p:cNvPr>
          <p:cNvSpPr>
            <a:spLocks noGrp="1"/>
          </p:cNvSpPr>
          <p:nvPr>
            <p:ph type="dt" sz="half" idx="10"/>
          </p:nvPr>
        </p:nvSpPr>
        <p:spPr/>
        <p:txBody>
          <a:bodyPr/>
          <a:lstStyle/>
          <a:p>
            <a:fld id="{EB93F1B7-D4E5-4E0E-ABDD-A99B9F776707}" type="datetimeFigureOut">
              <a:rPr lang="en-US" smtClean="0"/>
              <a:t>7/21/2026</a:t>
            </a:fld>
            <a:endParaRPr lang="en-US"/>
          </a:p>
        </p:txBody>
      </p:sp>
      <p:sp>
        <p:nvSpPr>
          <p:cNvPr id="3" name="Footer Placeholder 2">
            <a:extLst>
              <a:ext uri="{FF2B5EF4-FFF2-40B4-BE49-F238E27FC236}">
                <a16:creationId xmlns:a16="http://schemas.microsoft.com/office/drawing/2014/main" id="{AADD49CF-050E-5E97-9040-29FE3F5333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560CB4-170E-16AC-E957-A5C5D4654998}"/>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610065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086E-D0A9-9E5B-DC07-6D6740E67F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0E83F0-0C35-39A3-408A-90BC4F24F1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BA7732A-2F0A-02B8-CEAC-2B536FAEB4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00FC34-3C2A-0CA7-2303-E0D18B7D0B90}"/>
              </a:ext>
            </a:extLst>
          </p:cNvPr>
          <p:cNvSpPr>
            <a:spLocks noGrp="1"/>
          </p:cNvSpPr>
          <p:nvPr>
            <p:ph type="dt" sz="half" idx="10"/>
          </p:nvPr>
        </p:nvSpPr>
        <p:spPr/>
        <p:txBody>
          <a:bodyPr/>
          <a:lstStyle/>
          <a:p>
            <a:fld id="{EB93F1B7-D4E5-4E0E-ABDD-A99B9F776707}" type="datetimeFigureOut">
              <a:rPr lang="en-US" smtClean="0"/>
              <a:t>7/21/2026</a:t>
            </a:fld>
            <a:endParaRPr lang="en-US"/>
          </a:p>
        </p:txBody>
      </p:sp>
      <p:sp>
        <p:nvSpPr>
          <p:cNvPr id="6" name="Footer Placeholder 5">
            <a:extLst>
              <a:ext uri="{FF2B5EF4-FFF2-40B4-BE49-F238E27FC236}">
                <a16:creationId xmlns:a16="http://schemas.microsoft.com/office/drawing/2014/main" id="{0D51CA84-8F34-9053-A414-4CCCA67B1B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F73147-9B6B-2E56-7D39-EF4E3D4EFE02}"/>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1866419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4C180-17F5-09CB-8052-433FD0B7B2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9E8D1D-527E-9A89-B4FA-C30DD55D10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0FF2330-7754-CDC7-31FB-1AE863BAE7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E73316-7A89-693F-A84F-F3B79826926E}"/>
              </a:ext>
            </a:extLst>
          </p:cNvPr>
          <p:cNvSpPr>
            <a:spLocks noGrp="1"/>
          </p:cNvSpPr>
          <p:nvPr>
            <p:ph type="dt" sz="half" idx="10"/>
          </p:nvPr>
        </p:nvSpPr>
        <p:spPr/>
        <p:txBody>
          <a:bodyPr/>
          <a:lstStyle/>
          <a:p>
            <a:fld id="{EB93F1B7-D4E5-4E0E-ABDD-A99B9F776707}" type="datetimeFigureOut">
              <a:rPr lang="en-US" smtClean="0"/>
              <a:t>7/21/2026</a:t>
            </a:fld>
            <a:endParaRPr lang="en-US"/>
          </a:p>
        </p:txBody>
      </p:sp>
      <p:sp>
        <p:nvSpPr>
          <p:cNvPr id="6" name="Footer Placeholder 5">
            <a:extLst>
              <a:ext uri="{FF2B5EF4-FFF2-40B4-BE49-F238E27FC236}">
                <a16:creationId xmlns:a16="http://schemas.microsoft.com/office/drawing/2014/main" id="{BF05464A-56A4-2A22-3ACF-9F35CF8A2B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97FBD2-1AB3-07F5-6029-DA1CE44FA449}"/>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1564539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0EF9B-C8F6-45E2-2A35-2478F09438C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01EDAF-D969-797E-87A2-BD20124321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2F08CF-6A57-85C3-97B1-B5DED23AFEB8}"/>
              </a:ext>
            </a:extLst>
          </p:cNvPr>
          <p:cNvSpPr>
            <a:spLocks noGrp="1"/>
          </p:cNvSpPr>
          <p:nvPr>
            <p:ph type="dt" sz="half" idx="10"/>
          </p:nvPr>
        </p:nvSpPr>
        <p:spPr/>
        <p:txBody>
          <a:bodyPr/>
          <a:lstStyle/>
          <a:p>
            <a:fld id="{EB93F1B7-D4E5-4E0E-ABDD-A99B9F776707}" type="datetimeFigureOut">
              <a:rPr lang="en-US" smtClean="0"/>
              <a:t>7/21/2026</a:t>
            </a:fld>
            <a:endParaRPr lang="en-US"/>
          </a:p>
        </p:txBody>
      </p:sp>
      <p:sp>
        <p:nvSpPr>
          <p:cNvPr id="5" name="Footer Placeholder 4">
            <a:extLst>
              <a:ext uri="{FF2B5EF4-FFF2-40B4-BE49-F238E27FC236}">
                <a16:creationId xmlns:a16="http://schemas.microsoft.com/office/drawing/2014/main" id="{C2FF6943-90C2-2625-7C1B-E7DDCDD372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D3406C-5DE2-7BDA-B333-77A64BCBC9FC}"/>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2695873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751DC0-D516-394B-D353-934AE36E92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DAE85E-334E-F620-8DDB-68EC3BF70B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D56895-65BE-3365-1049-56B2416A7C4B}"/>
              </a:ext>
            </a:extLst>
          </p:cNvPr>
          <p:cNvSpPr>
            <a:spLocks noGrp="1"/>
          </p:cNvSpPr>
          <p:nvPr>
            <p:ph type="dt" sz="half" idx="10"/>
          </p:nvPr>
        </p:nvSpPr>
        <p:spPr/>
        <p:txBody>
          <a:bodyPr/>
          <a:lstStyle/>
          <a:p>
            <a:fld id="{EB93F1B7-D4E5-4E0E-ABDD-A99B9F776707}" type="datetimeFigureOut">
              <a:rPr lang="en-US" smtClean="0"/>
              <a:t>7/21/2026</a:t>
            </a:fld>
            <a:endParaRPr lang="en-US"/>
          </a:p>
        </p:txBody>
      </p:sp>
      <p:sp>
        <p:nvSpPr>
          <p:cNvPr id="5" name="Footer Placeholder 4">
            <a:extLst>
              <a:ext uri="{FF2B5EF4-FFF2-40B4-BE49-F238E27FC236}">
                <a16:creationId xmlns:a16="http://schemas.microsoft.com/office/drawing/2014/main" id="{6FB2D124-D172-BAC4-E0C5-6FC95466CE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ADE61B-1739-8600-34F5-598556080179}"/>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16860868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7370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BAE1AA-AA4E-09C8-318C-70B38CE918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6C2D71-E39F-57E0-CA6C-24D11A5408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523A13-C141-78E1-CB26-B95EF6C54E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B93F1B7-D4E5-4E0E-ABDD-A99B9F776707}" type="datetimeFigureOut">
              <a:rPr lang="en-US" smtClean="0"/>
              <a:t>7/21/2026</a:t>
            </a:fld>
            <a:endParaRPr lang="en-US"/>
          </a:p>
        </p:txBody>
      </p:sp>
      <p:sp>
        <p:nvSpPr>
          <p:cNvPr id="5" name="Footer Placeholder 4">
            <a:extLst>
              <a:ext uri="{FF2B5EF4-FFF2-40B4-BE49-F238E27FC236}">
                <a16:creationId xmlns:a16="http://schemas.microsoft.com/office/drawing/2014/main" id="{B3EAF066-AF78-7216-67FA-F5C55E20FB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C51144B-7412-60D6-F916-2CDD1461C4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A0392D0-5FE0-4243-8991-F224F429BAD4}" type="slidenum">
              <a:rPr lang="en-US" smtClean="0"/>
              <a:t>‹#›</a:t>
            </a:fld>
            <a:endParaRPr lang="en-US"/>
          </a:p>
        </p:txBody>
      </p:sp>
    </p:spTree>
    <p:extLst>
      <p:ext uri="{BB962C8B-B14F-4D97-AF65-F5344CB8AC3E}">
        <p14:creationId xmlns:p14="http://schemas.microsoft.com/office/powerpoint/2010/main" val="20501752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22B1F-060B-A0DE-C4E6-9E9802E9F610}"/>
              </a:ext>
            </a:extLst>
          </p:cNvPr>
          <p:cNvSpPr>
            <a:spLocks noGrp="1"/>
          </p:cNvSpPr>
          <p:nvPr>
            <p:ph type="ctrTitle"/>
          </p:nvPr>
        </p:nvSpPr>
        <p:spPr/>
        <p:txBody>
          <a:bodyPr>
            <a:normAutofit/>
          </a:bodyPr>
          <a:lstStyle/>
          <a:p>
            <a:r>
              <a:rPr lang="en-US" b="1">
                <a:solidFill>
                  <a:srgbClr val="7030A0"/>
                </a:solidFill>
                <a:latin typeface="Arial" panose="020B0604020202020204" pitchFamily="34" charset="0"/>
                <a:cs typeface="Arial" panose="020B0604020202020204" pitchFamily="34" charset="0"/>
              </a:rPr>
              <a:t>Activity 03: Modeling &amp; Forecasting</a:t>
            </a:r>
          </a:p>
        </p:txBody>
      </p:sp>
      <p:sp>
        <p:nvSpPr>
          <p:cNvPr id="3" name="Subtitle 2">
            <a:extLst>
              <a:ext uri="{FF2B5EF4-FFF2-40B4-BE49-F238E27FC236}">
                <a16:creationId xmlns:a16="http://schemas.microsoft.com/office/drawing/2014/main" id="{39A4178C-AE0F-47AF-7BE9-B86991376138}"/>
              </a:ext>
            </a:extLst>
          </p:cNvPr>
          <p:cNvSpPr>
            <a:spLocks noGrp="1"/>
          </p:cNvSpPr>
          <p:nvPr>
            <p:ph type="subTitle" idx="1"/>
          </p:nvPr>
        </p:nvSpPr>
        <p:spPr>
          <a:xfrm>
            <a:off x="1524000" y="3949129"/>
            <a:ext cx="9144000" cy="1655762"/>
          </a:xfrm>
        </p:spPr>
        <p:txBody>
          <a:bodyPr/>
          <a:lstStyle/>
          <a:p>
            <a:r>
              <a:rPr lang="en-US" dirty="0">
                <a:latin typeface="Arial" panose="020B0604020202020204" pitchFamily="34" charset="0"/>
                <a:cs typeface="Arial" panose="020B0604020202020204" pitchFamily="34" charset="0"/>
              </a:rPr>
              <a:t>SISMID Lab</a:t>
            </a:r>
          </a:p>
          <a:p>
            <a:r>
              <a:rPr lang="en-US" dirty="0">
                <a:latin typeface="Arial" panose="020B0604020202020204" pitchFamily="34" charset="0"/>
                <a:cs typeface="Arial" panose="020B0604020202020204" pitchFamily="34" charset="0"/>
              </a:rPr>
              <a:t>July 22 through July 24, 2026</a:t>
            </a:r>
          </a:p>
          <a:p>
            <a:r>
              <a:rPr lang="en-US" dirty="0">
                <a:latin typeface="Arial" panose="020B0604020202020204" pitchFamily="34" charset="0"/>
                <a:cs typeface="Arial" panose="020B0604020202020204" pitchFamily="34" charset="0"/>
              </a:rPr>
              <a:t>A Human-AI Teaming Approach to Infectious Disease Modeling</a:t>
            </a:r>
          </a:p>
          <a:p>
            <a:endParaRPr lang="en-US" dirty="0"/>
          </a:p>
        </p:txBody>
      </p:sp>
    </p:spTree>
    <p:extLst>
      <p:ext uri="{BB962C8B-B14F-4D97-AF65-F5344CB8AC3E}">
        <p14:creationId xmlns:p14="http://schemas.microsoft.com/office/powerpoint/2010/main" val="3687666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8CFCFA4-6414-D3C2-2637-E4DB7977EB5E}"/>
              </a:ext>
            </a:extLst>
          </p:cNvPr>
          <p:cNvSpPr/>
          <p:nvPr/>
        </p:nvSpPr>
        <p:spPr>
          <a:xfrm>
            <a:off x="914400" y="265296"/>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Lecture Overview</a:t>
            </a:r>
            <a:endParaRPr lang="en-US" sz="4400" dirty="0">
              <a:solidFill>
                <a:srgbClr val="7030A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67FA3C47-38BF-4381-9A13-2A6F8DC32BCE}"/>
              </a:ext>
            </a:extLst>
          </p:cNvPr>
          <p:cNvGraphicFramePr>
            <a:graphicFrameLocks noGrp="1"/>
          </p:cNvGraphicFramePr>
          <p:nvPr>
            <p:extLst>
              <p:ext uri="{D42A27DB-BD31-4B8C-83A1-F6EECF244321}">
                <p14:modId xmlns:p14="http://schemas.microsoft.com/office/powerpoint/2010/main" val="2399970902"/>
              </p:ext>
            </p:extLst>
          </p:nvPr>
        </p:nvGraphicFramePr>
        <p:xfrm>
          <a:off x="833120" y="1493296"/>
          <a:ext cx="10525760" cy="4495800"/>
        </p:xfrm>
        <a:graphic>
          <a:graphicData uri="http://schemas.openxmlformats.org/drawingml/2006/table">
            <a:tbl>
              <a:tblPr firstRow="1" bandRow="1">
                <a:tableStyleId>{5940675A-B579-460E-94D1-54222C63F5DA}</a:tableStyleId>
              </a:tblPr>
              <a:tblGrid>
                <a:gridCol w="5262880">
                  <a:extLst>
                    <a:ext uri="{9D8B030D-6E8A-4147-A177-3AD203B41FA5}">
                      <a16:colId xmlns:a16="http://schemas.microsoft.com/office/drawing/2014/main" val="4229281968"/>
                    </a:ext>
                  </a:extLst>
                </a:gridCol>
                <a:gridCol w="5262880">
                  <a:extLst>
                    <a:ext uri="{9D8B030D-6E8A-4147-A177-3AD203B41FA5}">
                      <a16:colId xmlns:a16="http://schemas.microsoft.com/office/drawing/2014/main" val="1163233261"/>
                    </a:ext>
                  </a:extLst>
                </a:gridCol>
              </a:tblGrid>
              <a:tr h="400000">
                <a:tc>
                  <a:txBody>
                    <a:bodyPr/>
                    <a:lstStyle/>
                    <a:p>
                      <a:pPr algn="ctr"/>
                      <a:r>
                        <a:rPr lang="en-US" sz="2500" b="1" dirty="0">
                          <a:latin typeface="Arial" panose="020B0604020202020204" pitchFamily="34" charset="0"/>
                          <a:cs typeface="Arial" panose="020B0604020202020204" pitchFamily="34" charset="0"/>
                        </a:rPr>
                        <a:t>Topic</a:t>
                      </a:r>
                    </a:p>
                  </a:txBody>
                  <a:tcPr anchor="ctr">
                    <a:solidFill>
                      <a:schemeClr val="bg1">
                        <a:lumMod val="95000"/>
                      </a:schemeClr>
                    </a:solidFill>
                  </a:tcPr>
                </a:tc>
                <a:tc>
                  <a:txBody>
                    <a:bodyPr/>
                    <a:lstStyle/>
                    <a:p>
                      <a:pPr algn="ctr"/>
                      <a:r>
                        <a:rPr lang="en-US" sz="2500" b="1" dirty="0">
                          <a:latin typeface="Arial" panose="020B0604020202020204" pitchFamily="34" charset="0"/>
                          <a:cs typeface="Arial" panose="020B0604020202020204" pitchFamily="34" charset="0"/>
                        </a:rPr>
                        <a:t>Slides</a:t>
                      </a:r>
                    </a:p>
                  </a:txBody>
                  <a:tcPr anchor="ctr">
                    <a:solidFill>
                      <a:schemeClr val="bg1">
                        <a:lumMod val="95000"/>
                      </a:schemeClr>
                    </a:solidFill>
                  </a:tcPr>
                </a:tc>
                <a:extLst>
                  <a:ext uri="{0D108BD9-81ED-4DB2-BD59-A6C34878D82A}">
                    <a16:rowId xmlns:a16="http://schemas.microsoft.com/office/drawing/2014/main" val="10000"/>
                  </a:ext>
                </a:extLst>
              </a:tr>
              <a:tr h="329999">
                <a:tc>
                  <a:txBody>
                    <a:bodyPr/>
                    <a:lstStyle/>
                    <a:p>
                      <a:r>
                        <a:rPr lang="en-US" sz="1800" dirty="0">
                          <a:latin typeface="Arial" panose="020B0604020202020204" pitchFamily="34" charset="0"/>
                          <a:cs typeface="Arial" panose="020B0604020202020204" pitchFamily="34" charset="0"/>
                        </a:rPr>
                        <a:t>1. General Housekeeping</a:t>
                      </a:r>
                    </a:p>
                  </a:txBody>
                  <a:tcPr anchor="ctr"/>
                </a:tc>
                <a:tc>
                  <a:txBody>
                    <a:bodyPr/>
                    <a:lstStyle/>
                    <a:p>
                      <a:pPr algn="ctr"/>
                      <a:r>
                        <a:rPr lang="en-US" sz="1800" dirty="0">
                          <a:latin typeface="Arial" panose="020B0604020202020204" pitchFamily="34" charset="0"/>
                          <a:cs typeface="Arial" panose="020B0604020202020204" pitchFamily="34" charset="0"/>
                        </a:rPr>
                        <a:t>3</a:t>
                      </a:r>
                    </a:p>
                  </a:txBody>
                  <a:tcPr anchor="ctr"/>
                </a:tc>
                <a:extLst>
                  <a:ext uri="{0D108BD9-81ED-4DB2-BD59-A6C34878D82A}">
                    <a16:rowId xmlns:a16="http://schemas.microsoft.com/office/drawing/2014/main" val="10001"/>
                  </a:ext>
                </a:extLst>
              </a:tr>
              <a:tr h="329999">
                <a:tc>
                  <a:txBody>
                    <a:bodyPr/>
                    <a:lstStyle/>
                    <a:p>
                      <a:r>
                        <a:rPr lang="en-US" sz="1800" dirty="0">
                          <a:latin typeface="Arial" panose="020B0604020202020204" pitchFamily="34" charset="0"/>
                          <a:cs typeface="Arial" panose="020B0604020202020204" pitchFamily="34" charset="0"/>
                        </a:rPr>
                        <a:t>2. Lab Timeline</a:t>
                      </a:r>
                    </a:p>
                  </a:txBody>
                  <a:tcPr anchor="ctr"/>
                </a:tc>
                <a:tc>
                  <a:txBody>
                    <a:bodyPr/>
                    <a:lstStyle/>
                    <a:p>
                      <a:pPr algn="ctr"/>
                      <a:r>
                        <a:rPr lang="en-US" sz="1800" dirty="0">
                          <a:latin typeface="Arial" panose="020B0604020202020204" pitchFamily="34" charset="0"/>
                          <a:cs typeface="Arial" panose="020B0604020202020204" pitchFamily="34" charset="0"/>
                        </a:rPr>
                        <a:t>4</a:t>
                      </a:r>
                    </a:p>
                  </a:txBody>
                  <a:tcPr anchor="ctr"/>
                </a:tc>
                <a:extLst>
                  <a:ext uri="{0D108BD9-81ED-4DB2-BD59-A6C34878D82A}">
                    <a16:rowId xmlns:a16="http://schemas.microsoft.com/office/drawing/2014/main" val="10002"/>
                  </a:ext>
                </a:extLst>
              </a:tr>
              <a:tr h="329999">
                <a:tc>
                  <a:txBody>
                    <a:bodyPr/>
                    <a:lstStyle/>
                    <a:p>
                      <a:r>
                        <a:rPr lang="en-US" sz="1800" dirty="0">
                          <a:latin typeface="Arial" panose="020B0604020202020204" pitchFamily="34" charset="0"/>
                          <a:cs typeface="Arial" panose="020B0604020202020204" pitchFamily="34" charset="0"/>
                        </a:rPr>
                        <a:t>3. Task Overviews</a:t>
                      </a:r>
                    </a:p>
                  </a:txBody>
                  <a:tcPr anchor="ctr"/>
                </a:tc>
                <a:tc>
                  <a:txBody>
                    <a:bodyPr/>
                    <a:lstStyle/>
                    <a:p>
                      <a:pPr algn="ctr"/>
                      <a:r>
                        <a:rPr lang="en-US" sz="1800" dirty="0">
                          <a:latin typeface="Arial" panose="020B0604020202020204" pitchFamily="34" charset="0"/>
                          <a:cs typeface="Arial" panose="020B0604020202020204" pitchFamily="34" charset="0"/>
                        </a:rPr>
                        <a:t>5</a:t>
                      </a:r>
                    </a:p>
                  </a:txBody>
                  <a:tcPr anchor="ctr"/>
                </a:tc>
                <a:extLst>
                  <a:ext uri="{0D108BD9-81ED-4DB2-BD59-A6C34878D82A}">
                    <a16:rowId xmlns:a16="http://schemas.microsoft.com/office/drawing/2014/main" val="10003"/>
                  </a:ext>
                </a:extLst>
              </a:tr>
              <a:tr h="329999">
                <a:tc>
                  <a:txBody>
                    <a:bodyPr/>
                    <a:lstStyle/>
                    <a:p>
                      <a:r>
                        <a:rPr lang="en-US" sz="1800" dirty="0">
                          <a:latin typeface="Arial" panose="020B0604020202020204" pitchFamily="34" charset="0"/>
                          <a:cs typeface="Arial" panose="020B0604020202020204" pitchFamily="34" charset="0"/>
                        </a:rPr>
                        <a:t>4. Goal Output</a:t>
                      </a:r>
                    </a:p>
                  </a:txBody>
                  <a:tcPr anchor="ctr"/>
                </a:tc>
                <a:tc>
                  <a:txBody>
                    <a:bodyPr/>
                    <a:lstStyle/>
                    <a:p>
                      <a:pPr algn="ctr"/>
                      <a:r>
                        <a:rPr lang="en-US" sz="1800" dirty="0">
                          <a:latin typeface="Arial" panose="020B0604020202020204" pitchFamily="34" charset="0"/>
                          <a:cs typeface="Arial" panose="020B0604020202020204" pitchFamily="34" charset="0"/>
                        </a:rPr>
                        <a:t>6</a:t>
                      </a:r>
                    </a:p>
                  </a:txBody>
                  <a:tcPr anchor="ctr"/>
                </a:tc>
                <a:extLst>
                  <a:ext uri="{0D108BD9-81ED-4DB2-BD59-A6C34878D82A}">
                    <a16:rowId xmlns:a16="http://schemas.microsoft.com/office/drawing/2014/main" val="10004"/>
                  </a:ext>
                </a:extLst>
              </a:tr>
              <a:tr h="329999">
                <a:tc>
                  <a:txBody>
                    <a:bodyPr/>
                    <a:lstStyle/>
                    <a:p>
                      <a:r>
                        <a:rPr lang="en-US" sz="1800" dirty="0">
                          <a:latin typeface="Arial" panose="020B0604020202020204" pitchFamily="34" charset="0"/>
                          <a:cs typeface="Arial" panose="020B0604020202020204" pitchFamily="34" charset="0"/>
                        </a:rPr>
                        <a:t>5. Joint Instructor and Class Exercise</a:t>
                      </a:r>
                    </a:p>
                  </a:txBody>
                  <a:tcPr anchor="ctr"/>
                </a:tc>
                <a:tc>
                  <a:txBody>
                    <a:bodyPr/>
                    <a:lstStyle/>
                    <a:p>
                      <a:pPr algn="ctr"/>
                      <a:r>
                        <a:rPr lang="en-US" sz="1800" dirty="0">
                          <a:latin typeface="Arial" panose="020B0604020202020204" pitchFamily="34" charset="0"/>
                          <a:cs typeface="Arial" panose="020B0604020202020204" pitchFamily="34" charset="0"/>
                        </a:rPr>
                        <a:t>7</a:t>
                      </a:r>
                    </a:p>
                  </a:txBody>
                  <a:tcPr anchor="ctr"/>
                </a:tc>
                <a:extLst>
                  <a:ext uri="{0D108BD9-81ED-4DB2-BD59-A6C34878D82A}">
                    <a16:rowId xmlns:a16="http://schemas.microsoft.com/office/drawing/2014/main" val="10005"/>
                  </a:ext>
                </a:extLst>
              </a:tr>
              <a:tr h="329999">
                <a:tc>
                  <a:txBody>
                    <a:bodyPr/>
                    <a:lstStyle/>
                    <a:p>
                      <a:r>
                        <a:rPr lang="en-US" sz="1800" dirty="0">
                          <a:latin typeface="Arial" panose="020B0604020202020204" pitchFamily="34" charset="0"/>
                          <a:cs typeface="Arial" panose="020B0604020202020204" pitchFamily="34" charset="0"/>
                        </a:rPr>
                        <a:t>6. Task 0: Set-Up</a:t>
                      </a:r>
                    </a:p>
                  </a:txBody>
                  <a:tcPr anchor="ctr"/>
                </a:tc>
                <a:tc>
                  <a:txBody>
                    <a:bodyPr/>
                    <a:lstStyle/>
                    <a:p>
                      <a:pPr algn="ctr"/>
                      <a:r>
                        <a:rPr lang="en-US" sz="1800" dirty="0">
                          <a:latin typeface="Arial" panose="020B0604020202020204" pitchFamily="34" charset="0"/>
                          <a:cs typeface="Arial" panose="020B0604020202020204" pitchFamily="34" charset="0"/>
                        </a:rPr>
                        <a:t>8–11</a:t>
                      </a:r>
                    </a:p>
                  </a:txBody>
                  <a:tcPr anchor="ctr"/>
                </a:tc>
                <a:extLst>
                  <a:ext uri="{0D108BD9-81ED-4DB2-BD59-A6C34878D82A}">
                    <a16:rowId xmlns:a16="http://schemas.microsoft.com/office/drawing/2014/main" val="10006"/>
                  </a:ext>
                </a:extLst>
              </a:tr>
              <a:tr h="329999">
                <a:tc>
                  <a:txBody>
                    <a:bodyPr/>
                    <a:lstStyle/>
                    <a:p>
                      <a:r>
                        <a:rPr lang="en-US" sz="1800" dirty="0">
                          <a:latin typeface="Arial" panose="020B0604020202020204" pitchFamily="34" charset="0"/>
                          <a:cs typeface="Arial" panose="020B0604020202020204" pitchFamily="34" charset="0"/>
                        </a:rPr>
                        <a:t>7. Task 1: Training and Forecast Period</a:t>
                      </a:r>
                    </a:p>
                  </a:txBody>
                  <a:tcPr anchor="ctr"/>
                </a:tc>
                <a:tc>
                  <a:txBody>
                    <a:bodyPr/>
                    <a:lstStyle/>
                    <a:p>
                      <a:pPr algn="ctr"/>
                      <a:r>
                        <a:rPr lang="en-US" sz="1800" dirty="0">
                          <a:latin typeface="Arial" panose="020B0604020202020204" pitchFamily="34" charset="0"/>
                          <a:cs typeface="Arial" panose="020B0604020202020204" pitchFamily="34" charset="0"/>
                        </a:rPr>
                        <a:t>12–16</a:t>
                      </a:r>
                    </a:p>
                  </a:txBody>
                  <a:tcPr anchor="ctr"/>
                </a:tc>
                <a:extLst>
                  <a:ext uri="{0D108BD9-81ED-4DB2-BD59-A6C34878D82A}">
                    <a16:rowId xmlns:a16="http://schemas.microsoft.com/office/drawing/2014/main" val="10007"/>
                  </a:ext>
                </a:extLst>
              </a:tr>
              <a:tr h="329999">
                <a:tc>
                  <a:txBody>
                    <a:bodyPr/>
                    <a:lstStyle/>
                    <a:p>
                      <a:r>
                        <a:rPr lang="en-US" sz="1800" dirty="0">
                          <a:latin typeface="Arial" panose="020B0604020202020204" pitchFamily="34" charset="0"/>
                          <a:cs typeface="Arial" panose="020B0604020202020204" pitchFamily="34" charset="0"/>
                        </a:rPr>
                        <a:t>8. Task 2: Baseline Model Specification</a:t>
                      </a:r>
                    </a:p>
                  </a:txBody>
                  <a:tcPr anchor="ctr"/>
                </a:tc>
                <a:tc>
                  <a:txBody>
                    <a:bodyPr/>
                    <a:lstStyle/>
                    <a:p>
                      <a:pPr algn="ctr"/>
                      <a:r>
                        <a:rPr lang="en-US" sz="1800" dirty="0">
                          <a:latin typeface="Arial" panose="020B0604020202020204" pitchFamily="34" charset="0"/>
                          <a:cs typeface="Arial" panose="020B0604020202020204" pitchFamily="34" charset="0"/>
                        </a:rPr>
                        <a:t>17–22</a:t>
                      </a:r>
                    </a:p>
                  </a:txBody>
                  <a:tcPr anchor="ctr"/>
                </a:tc>
                <a:extLst>
                  <a:ext uri="{0D108BD9-81ED-4DB2-BD59-A6C34878D82A}">
                    <a16:rowId xmlns:a16="http://schemas.microsoft.com/office/drawing/2014/main" val="10008"/>
                  </a:ext>
                </a:extLst>
              </a:tr>
              <a:tr h="329999">
                <a:tc>
                  <a:txBody>
                    <a:bodyPr/>
                    <a:lstStyle/>
                    <a:p>
                      <a:r>
                        <a:rPr lang="en-US" sz="1800" dirty="0">
                          <a:latin typeface="Arial" panose="020B0604020202020204" pitchFamily="34" charset="0"/>
                          <a:cs typeface="Arial" panose="020B0604020202020204" pitchFamily="34" charset="0"/>
                        </a:rPr>
                        <a:t>9. Task 3: Forecasting</a:t>
                      </a:r>
                    </a:p>
                  </a:txBody>
                  <a:tcPr anchor="ctr"/>
                </a:tc>
                <a:tc>
                  <a:txBody>
                    <a:bodyPr/>
                    <a:lstStyle/>
                    <a:p>
                      <a:pPr algn="ctr"/>
                      <a:r>
                        <a:rPr lang="en-US" sz="1800" dirty="0">
                          <a:latin typeface="Arial" panose="020B0604020202020204" pitchFamily="34" charset="0"/>
                          <a:cs typeface="Arial" panose="020B0604020202020204" pitchFamily="34" charset="0"/>
                        </a:rPr>
                        <a:t>23–42</a:t>
                      </a:r>
                    </a:p>
                  </a:txBody>
                  <a:tcPr anchor="ctr"/>
                </a:tc>
                <a:extLst>
                  <a:ext uri="{0D108BD9-81ED-4DB2-BD59-A6C34878D82A}">
                    <a16:rowId xmlns:a16="http://schemas.microsoft.com/office/drawing/2014/main" val="10009"/>
                  </a:ext>
                </a:extLst>
              </a:tr>
              <a:tr h="329999">
                <a:tc>
                  <a:txBody>
                    <a:bodyPr/>
                    <a:lstStyle/>
                    <a:p>
                      <a:r>
                        <a:rPr lang="en-US" sz="1800" dirty="0">
                          <a:latin typeface="Arial" panose="020B0604020202020204" pitchFamily="34" charset="0"/>
                          <a:cs typeface="Arial" panose="020B0604020202020204" pitchFamily="34" charset="0"/>
                        </a:rPr>
                        <a:t>10. Task 4: Visualization</a:t>
                      </a:r>
                    </a:p>
                  </a:txBody>
                  <a:tcPr anchor="ctr"/>
                </a:tc>
                <a:tc>
                  <a:txBody>
                    <a:bodyPr/>
                    <a:lstStyle/>
                    <a:p>
                      <a:pPr algn="ctr"/>
                      <a:r>
                        <a:rPr lang="en-US" sz="1800" dirty="0">
                          <a:latin typeface="Arial" panose="020B0604020202020204" pitchFamily="34" charset="0"/>
                          <a:cs typeface="Arial" panose="020B0604020202020204" pitchFamily="34" charset="0"/>
                        </a:rPr>
                        <a:t>43–47</a:t>
                      </a:r>
                    </a:p>
                  </a:txBody>
                  <a:tcPr anchor="ctr"/>
                </a:tc>
                <a:extLst>
                  <a:ext uri="{0D108BD9-81ED-4DB2-BD59-A6C34878D82A}">
                    <a16:rowId xmlns:a16="http://schemas.microsoft.com/office/drawing/2014/main" val="10010"/>
                  </a:ext>
                </a:extLst>
              </a:tr>
              <a:tr h="329999">
                <a:tc>
                  <a:txBody>
                    <a:bodyPr/>
                    <a:lstStyle/>
                    <a:p>
                      <a:r>
                        <a:rPr lang="en-US" sz="1800" dirty="0">
                          <a:latin typeface="Arial" panose="020B0604020202020204" pitchFamily="34" charset="0"/>
                          <a:cs typeface="Arial" panose="020B0604020202020204" pitchFamily="34" charset="0"/>
                        </a:rPr>
                        <a:t>11. Task 5: Extensions</a:t>
                      </a:r>
                    </a:p>
                  </a:txBody>
                  <a:tcPr anchor="ctr"/>
                </a:tc>
                <a:tc>
                  <a:txBody>
                    <a:bodyPr/>
                    <a:lstStyle/>
                    <a:p>
                      <a:pPr algn="ctr"/>
                      <a:r>
                        <a:rPr lang="en-US" sz="1800" dirty="0">
                          <a:latin typeface="Arial" panose="020B0604020202020204" pitchFamily="34" charset="0"/>
                          <a:cs typeface="Arial" panose="020B0604020202020204" pitchFamily="34" charset="0"/>
                        </a:rPr>
                        <a:t>48–61</a:t>
                      </a:r>
                    </a:p>
                  </a:txBody>
                  <a:tcPr anchor="ct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970166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F726-9E5F-AB57-6346-7512C1C4766C}"/>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ECF0019-CF23-77D6-BD88-212E5205DAB5}"/>
              </a:ext>
            </a:extLst>
          </p:cNvPr>
          <p:cNvSpPr/>
          <p:nvPr/>
        </p:nvSpPr>
        <p:spPr>
          <a:xfrm>
            <a:off x="3490452" y="1648286"/>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B7EA35B4-F3D9-B1C0-0C84-8C0BA15E8932}"/>
              </a:ext>
            </a:extLst>
          </p:cNvPr>
          <p:cNvSpPr/>
          <p:nvPr/>
        </p:nvSpPr>
        <p:spPr>
          <a:xfrm>
            <a:off x="914400" y="241088"/>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General Housekeeping</a:t>
            </a:r>
            <a:endParaRPr lang="en-US" sz="4400" dirty="0">
              <a:solidFill>
                <a:srgbClr val="7030A0"/>
              </a:solidFill>
              <a:latin typeface="Arial" panose="020B0604020202020204" pitchFamily="34" charset="0"/>
              <a:cs typeface="Arial" panose="020B0604020202020204" pitchFamily="34" charset="0"/>
            </a:endParaRPr>
          </a:p>
        </p:txBody>
      </p:sp>
      <p:pic>
        <p:nvPicPr>
          <p:cNvPr id="9" name="Picture 8" descr="Your Turn Rubber Stamp Royalty Free SVG, Cliparts, Vectors, and Stock  Illustration. Image 68258628.">
            <a:extLst>
              <a:ext uri="{FF2B5EF4-FFF2-40B4-BE49-F238E27FC236}">
                <a16:creationId xmlns:a16="http://schemas.microsoft.com/office/drawing/2014/main" id="{F562BAD3-807E-90DC-48DF-6ED897587C4B}"/>
              </a:ext>
            </a:extLst>
          </p:cNvPr>
          <p:cNvPicPr>
            <a:picLocks noChangeAspect="1"/>
          </p:cNvPicPr>
          <p:nvPr/>
        </p:nvPicPr>
        <p:blipFill>
          <a:blip r:embed="rId3"/>
          <a:stretch>
            <a:fillRect/>
          </a:stretch>
        </p:blipFill>
        <p:spPr>
          <a:xfrm>
            <a:off x="906283" y="4050568"/>
            <a:ext cx="2111552" cy="2111552"/>
          </a:xfrm>
          <a:prstGeom prst="rect">
            <a:avLst/>
          </a:prstGeom>
        </p:spPr>
      </p:pic>
      <p:pic>
        <p:nvPicPr>
          <p:cNvPr id="11" name="Graphic 10" descr="Presentation with pie chart with solid fill">
            <a:extLst>
              <a:ext uri="{FF2B5EF4-FFF2-40B4-BE49-F238E27FC236}">
                <a16:creationId xmlns:a16="http://schemas.microsoft.com/office/drawing/2014/main" id="{62747D9E-0CD4-F48E-D4EB-111C3643B6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4068" y="1522947"/>
            <a:ext cx="2182761" cy="2182761"/>
          </a:xfrm>
          <a:prstGeom prst="rect">
            <a:avLst/>
          </a:prstGeom>
        </p:spPr>
      </p:pic>
      <p:sp>
        <p:nvSpPr>
          <p:cNvPr id="12" name="TextBox 11">
            <a:extLst>
              <a:ext uri="{FF2B5EF4-FFF2-40B4-BE49-F238E27FC236}">
                <a16:creationId xmlns:a16="http://schemas.microsoft.com/office/drawing/2014/main" id="{14345B43-4698-0CF1-9CCC-C922B37C6628}"/>
              </a:ext>
            </a:extLst>
          </p:cNvPr>
          <p:cNvSpPr txBox="1"/>
          <p:nvPr/>
        </p:nvSpPr>
        <p:spPr>
          <a:xfrm>
            <a:off x="3702112" y="1761564"/>
            <a:ext cx="7446534" cy="1631216"/>
          </a:xfrm>
          <a:prstGeom prst="rect">
            <a:avLst/>
          </a:prstGeom>
          <a:noFill/>
        </p:spPr>
        <p:txBody>
          <a:bodyPr wrap="square" rtlCol="0">
            <a:spAutoFit/>
          </a:bodyPr>
          <a:lstStyle/>
          <a:p>
            <a:r>
              <a:rPr lang="en-US" sz="2500" dirty="0">
                <a:latin typeface="Arial" panose="020B0604020202020204" pitchFamily="34" charset="0"/>
                <a:cs typeface="Arial" panose="020B0604020202020204" pitchFamily="34" charset="0"/>
              </a:rPr>
              <a:t>Any slide with this icon contains the </a:t>
            </a:r>
            <a:r>
              <a:rPr lang="en-US" sz="2500" b="1" dirty="0">
                <a:latin typeface="Arial" panose="020B0604020202020204" pitchFamily="34" charset="0"/>
                <a:cs typeface="Arial" panose="020B0604020202020204" pitchFamily="34" charset="0"/>
              </a:rPr>
              <a:t>overview</a:t>
            </a:r>
            <a:r>
              <a:rPr lang="en-US" sz="2500" dirty="0">
                <a:latin typeface="Arial" panose="020B0604020202020204" pitchFamily="34" charset="0"/>
                <a:cs typeface="Arial" panose="020B0604020202020204" pitchFamily="34" charset="0"/>
              </a:rPr>
              <a:t> and </a:t>
            </a:r>
          </a:p>
          <a:p>
            <a:r>
              <a:rPr lang="en-US" sz="2500" b="1" dirty="0">
                <a:latin typeface="Arial" panose="020B0604020202020204" pitchFamily="34" charset="0"/>
                <a:cs typeface="Arial" panose="020B0604020202020204" pitchFamily="34" charset="0"/>
              </a:rPr>
              <a:t>expected outputs</a:t>
            </a:r>
            <a:r>
              <a:rPr lang="en-US" sz="2500" dirty="0">
                <a:latin typeface="Arial" panose="020B0604020202020204" pitchFamily="34" charset="0"/>
                <a:cs typeface="Arial" panose="020B0604020202020204" pitchFamily="34" charset="0"/>
              </a:rPr>
              <a:t> for the included tasks. All outputs listed on these slides should be uploaded to the course GitHub repository for review.</a:t>
            </a:r>
          </a:p>
        </p:txBody>
      </p:sp>
      <p:sp>
        <p:nvSpPr>
          <p:cNvPr id="15" name="Rectangle: Rounded Corners 14">
            <a:extLst>
              <a:ext uri="{FF2B5EF4-FFF2-40B4-BE49-F238E27FC236}">
                <a16:creationId xmlns:a16="http://schemas.microsoft.com/office/drawing/2014/main" id="{78FD0BD9-3A02-3B90-E88E-E7D65070D184}"/>
              </a:ext>
            </a:extLst>
          </p:cNvPr>
          <p:cNvSpPr/>
          <p:nvPr/>
        </p:nvSpPr>
        <p:spPr>
          <a:xfrm>
            <a:off x="3490452" y="4165550"/>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746E982-51E2-2726-1C8C-4712524F1BCB}"/>
              </a:ext>
            </a:extLst>
          </p:cNvPr>
          <p:cNvSpPr txBox="1"/>
          <p:nvPr/>
        </p:nvSpPr>
        <p:spPr>
          <a:xfrm>
            <a:off x="3702111" y="4254038"/>
            <a:ext cx="7573774" cy="1631216"/>
          </a:xfrm>
          <a:prstGeom prst="rect">
            <a:avLst/>
          </a:prstGeom>
          <a:noFill/>
        </p:spPr>
        <p:txBody>
          <a:bodyPr wrap="square" rtlCol="0">
            <a:spAutoFit/>
          </a:bodyPr>
          <a:lstStyle/>
          <a:p>
            <a:r>
              <a:rPr lang="en-US" sz="2500">
                <a:latin typeface="Arial" panose="020B0604020202020204" pitchFamily="34" charset="0"/>
                <a:cs typeface="Arial" panose="020B0604020202020204" pitchFamily="34" charset="0"/>
              </a:rPr>
              <a:t>Any slide with this icon indicates that it is </a:t>
            </a:r>
            <a:r>
              <a:rPr lang="en-US" sz="2500" b="1">
                <a:latin typeface="Arial" panose="020B0604020202020204" pitchFamily="34" charset="0"/>
                <a:cs typeface="Arial" panose="020B0604020202020204" pitchFamily="34" charset="0"/>
              </a:rPr>
              <a:t>time to complete a hands-on activity</a:t>
            </a:r>
            <a:r>
              <a:rPr lang="en-US" sz="2500">
                <a:latin typeface="Arial" panose="020B0604020202020204" pitchFamily="34" charset="0"/>
                <a:cs typeface="Arial" panose="020B0604020202020204" pitchFamily="34" charset="0"/>
              </a:rPr>
              <a:t>. Carefully follow the instructions provided, complete the required task, and verify your results. </a:t>
            </a:r>
          </a:p>
        </p:txBody>
      </p:sp>
    </p:spTree>
    <p:extLst>
      <p:ext uri="{BB962C8B-B14F-4D97-AF65-F5344CB8AC3E}">
        <p14:creationId xmlns:p14="http://schemas.microsoft.com/office/powerpoint/2010/main" val="263152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p:bldP spid="15"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80B55-68AE-8821-5B95-140FD9B77886}"/>
            </a:ext>
          </a:extLst>
        </p:cNvPr>
        <p:cNvGrpSpPr/>
        <p:nvPr/>
      </p:nvGrpSpPr>
      <p:grpSpPr>
        <a:xfrm>
          <a:off x="0" y="0"/>
          <a:ext cx="0" cy="0"/>
          <a:chOff x="0" y="0"/>
          <a:chExt cx="0" cy="0"/>
        </a:xfrm>
      </p:grpSpPr>
      <p:sp>
        <p:nvSpPr>
          <p:cNvPr id="84" name="Shape 33">
            <a:extLst>
              <a:ext uri="{FF2B5EF4-FFF2-40B4-BE49-F238E27FC236}">
                <a16:creationId xmlns:a16="http://schemas.microsoft.com/office/drawing/2014/main" id="{457AC859-6DCC-BE97-86ED-E048D25F6114}"/>
              </a:ext>
            </a:extLst>
          </p:cNvPr>
          <p:cNvSpPr/>
          <p:nvPr/>
        </p:nvSpPr>
        <p:spPr>
          <a:xfrm>
            <a:off x="7292265" y="1551168"/>
            <a:ext cx="3134" cy="587047"/>
          </a:xfrm>
          <a:prstGeom prst="line">
            <a:avLst/>
          </a:prstGeom>
          <a:noFill/>
          <a:ln w="19050">
            <a:solidFill>
              <a:srgbClr val="FF6B35"/>
            </a:solidFill>
            <a:prstDash val="solid"/>
          </a:ln>
        </p:spPr>
        <p:txBody>
          <a:bodyPr/>
          <a:lstStyle/>
          <a:p>
            <a:endParaRPr lang="en-US"/>
          </a:p>
        </p:txBody>
      </p:sp>
      <p:sp>
        <p:nvSpPr>
          <p:cNvPr id="3" name="Shape 1">
            <a:extLst>
              <a:ext uri="{FF2B5EF4-FFF2-40B4-BE49-F238E27FC236}">
                <a16:creationId xmlns:a16="http://schemas.microsoft.com/office/drawing/2014/main" id="{0F907A02-70CC-B6B4-834F-E13C5C0C9F64}"/>
              </a:ext>
            </a:extLst>
          </p:cNvPr>
          <p:cNvSpPr/>
          <p:nvPr/>
        </p:nvSpPr>
        <p:spPr>
          <a:xfrm>
            <a:off x="1549204" y="1844692"/>
            <a:ext cx="9144000" cy="145908"/>
          </a:xfrm>
          <a:prstGeom prst="rect">
            <a:avLst/>
          </a:prstGeom>
          <a:solidFill>
            <a:schemeClr val="accent5">
              <a:lumMod val="20000"/>
              <a:lumOff val="80000"/>
            </a:schemeClr>
          </a:solidFill>
          <a:ln/>
        </p:spPr>
        <p:txBody>
          <a:bodyPr/>
          <a:lstStyle/>
          <a:p>
            <a:endParaRPr lang="en-US"/>
          </a:p>
        </p:txBody>
      </p:sp>
      <p:sp>
        <p:nvSpPr>
          <p:cNvPr id="2" name="Text 0">
            <a:extLst>
              <a:ext uri="{FF2B5EF4-FFF2-40B4-BE49-F238E27FC236}">
                <a16:creationId xmlns:a16="http://schemas.microsoft.com/office/drawing/2014/main" id="{746C188A-C9F6-6784-D3D3-0D7D242B35ED}"/>
              </a:ext>
            </a:extLst>
          </p:cNvPr>
          <p:cNvSpPr/>
          <p:nvPr/>
        </p:nvSpPr>
        <p:spPr>
          <a:xfrm>
            <a:off x="890016" y="280416"/>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Lab Timeline</a:t>
            </a:r>
            <a:endParaRPr lang="en-US" sz="4267" dirty="0">
              <a:solidFill>
                <a:srgbClr val="7030A0"/>
              </a:solidFill>
              <a:latin typeface="Arial" panose="020B0604020202020204" pitchFamily="34" charset="0"/>
              <a:cs typeface="Arial" panose="020B0604020202020204" pitchFamily="34" charset="0"/>
            </a:endParaRPr>
          </a:p>
        </p:txBody>
      </p:sp>
      <p:sp>
        <p:nvSpPr>
          <p:cNvPr id="4" name="Shape 2">
            <a:extLst>
              <a:ext uri="{FF2B5EF4-FFF2-40B4-BE49-F238E27FC236}">
                <a16:creationId xmlns:a16="http://schemas.microsoft.com/office/drawing/2014/main" id="{0CD24C60-8CD2-2C8E-9716-09CAE25048C8}"/>
              </a:ext>
            </a:extLst>
          </p:cNvPr>
          <p:cNvSpPr/>
          <p:nvPr/>
        </p:nvSpPr>
        <p:spPr>
          <a:xfrm>
            <a:off x="2383304" y="1703897"/>
            <a:ext cx="451104" cy="465963"/>
          </a:xfrm>
          <a:prstGeom prst="ellipse">
            <a:avLst/>
          </a:prstGeom>
          <a:solidFill>
            <a:schemeClr val="accent2"/>
          </a:solidFill>
          <a:ln/>
        </p:spPr>
        <p:txBody>
          <a:bodyPr/>
          <a:lstStyle/>
          <a:p>
            <a:endParaRPr lang="en-US"/>
          </a:p>
        </p:txBody>
      </p:sp>
      <p:sp>
        <p:nvSpPr>
          <p:cNvPr id="36" name="Shape 2">
            <a:extLst>
              <a:ext uri="{FF2B5EF4-FFF2-40B4-BE49-F238E27FC236}">
                <a16:creationId xmlns:a16="http://schemas.microsoft.com/office/drawing/2014/main" id="{919A4B9F-A65A-1733-6D2E-588A119EA19C}"/>
              </a:ext>
            </a:extLst>
          </p:cNvPr>
          <p:cNvSpPr/>
          <p:nvPr/>
        </p:nvSpPr>
        <p:spPr>
          <a:xfrm>
            <a:off x="4737916" y="1689580"/>
            <a:ext cx="451104" cy="465963"/>
          </a:xfrm>
          <a:prstGeom prst="ellipse">
            <a:avLst/>
          </a:prstGeom>
          <a:solidFill>
            <a:schemeClr val="accent2"/>
          </a:solidFill>
          <a:ln/>
        </p:spPr>
        <p:txBody>
          <a:bodyPr/>
          <a:lstStyle/>
          <a:p>
            <a:endParaRPr lang="en-US"/>
          </a:p>
        </p:txBody>
      </p:sp>
      <p:sp>
        <p:nvSpPr>
          <p:cNvPr id="62" name="Shape 2">
            <a:extLst>
              <a:ext uri="{FF2B5EF4-FFF2-40B4-BE49-F238E27FC236}">
                <a16:creationId xmlns:a16="http://schemas.microsoft.com/office/drawing/2014/main" id="{E1455AB2-15A8-F5AE-5130-665283EA9BD5}"/>
              </a:ext>
            </a:extLst>
          </p:cNvPr>
          <p:cNvSpPr/>
          <p:nvPr/>
        </p:nvSpPr>
        <p:spPr>
          <a:xfrm>
            <a:off x="7068148" y="1687103"/>
            <a:ext cx="451104" cy="465963"/>
          </a:xfrm>
          <a:prstGeom prst="ellipse">
            <a:avLst/>
          </a:prstGeom>
          <a:solidFill>
            <a:schemeClr val="accent2"/>
          </a:solidFill>
          <a:ln/>
        </p:spPr>
        <p:txBody>
          <a:bodyPr/>
          <a:lstStyle/>
          <a:p>
            <a:endParaRPr lang="en-US"/>
          </a:p>
        </p:txBody>
      </p:sp>
      <p:sp>
        <p:nvSpPr>
          <p:cNvPr id="63" name="Shape 2">
            <a:extLst>
              <a:ext uri="{FF2B5EF4-FFF2-40B4-BE49-F238E27FC236}">
                <a16:creationId xmlns:a16="http://schemas.microsoft.com/office/drawing/2014/main" id="{A9364971-3E90-46A2-2ED2-FDEF5AE837CB}"/>
              </a:ext>
            </a:extLst>
          </p:cNvPr>
          <p:cNvSpPr/>
          <p:nvPr/>
        </p:nvSpPr>
        <p:spPr>
          <a:xfrm>
            <a:off x="9447140" y="1697389"/>
            <a:ext cx="451104" cy="465963"/>
          </a:xfrm>
          <a:prstGeom prst="ellipse">
            <a:avLst/>
          </a:prstGeom>
          <a:solidFill>
            <a:schemeClr val="accent2"/>
          </a:solidFill>
          <a:ln/>
        </p:spPr>
        <p:txBody>
          <a:bodyPr/>
          <a:lstStyle/>
          <a:p>
            <a:endParaRPr lang="en-US"/>
          </a:p>
        </p:txBody>
      </p:sp>
      <p:sp>
        <p:nvSpPr>
          <p:cNvPr id="83" name="Text 32">
            <a:extLst>
              <a:ext uri="{FF2B5EF4-FFF2-40B4-BE49-F238E27FC236}">
                <a16:creationId xmlns:a16="http://schemas.microsoft.com/office/drawing/2014/main" id="{0CC4D98A-E089-7C28-0A6C-876F927952EC}"/>
              </a:ext>
            </a:extLst>
          </p:cNvPr>
          <p:cNvSpPr/>
          <p:nvPr/>
        </p:nvSpPr>
        <p:spPr>
          <a:xfrm>
            <a:off x="6674984" y="1217258"/>
            <a:ext cx="1243964" cy="365760"/>
          </a:xfrm>
          <a:prstGeom prst="rect">
            <a:avLst/>
          </a:prstGeom>
          <a:noFill/>
          <a:ln/>
        </p:spPr>
        <p:txBody>
          <a:bodyPr wrap="square" lIns="0" tIns="0" rIns="0" bIns="0" rtlCol="0" anchor="ctr"/>
          <a:lstStyle/>
          <a:p>
            <a:pPr algn="ctr"/>
            <a:r>
              <a:rPr lang="en-US" sz="1500" b="1" dirty="0">
                <a:solidFill>
                  <a:srgbClr val="FF6B35"/>
                </a:solidFill>
                <a:latin typeface="Arial" panose="020B0604020202020204" pitchFamily="34" charset="0"/>
                <a:ea typeface="Calibri" pitchFamily="34" charset="-122"/>
                <a:cs typeface="Arial" panose="020B0604020202020204" pitchFamily="34" charset="0"/>
              </a:rPr>
              <a:t>We are here</a:t>
            </a:r>
            <a:endParaRPr lang="en-US" sz="1500" dirty="0">
              <a:latin typeface="Arial" panose="020B0604020202020204" pitchFamily="34" charset="0"/>
              <a:cs typeface="Arial" panose="020B0604020202020204" pitchFamily="34" charset="0"/>
            </a:endParaRPr>
          </a:p>
        </p:txBody>
      </p:sp>
      <p:sp>
        <p:nvSpPr>
          <p:cNvPr id="9" name="Shape 3">
            <a:extLst>
              <a:ext uri="{FF2B5EF4-FFF2-40B4-BE49-F238E27FC236}">
                <a16:creationId xmlns:a16="http://schemas.microsoft.com/office/drawing/2014/main" id="{26B49BA8-C354-79A2-945B-978B75512156}"/>
              </a:ext>
            </a:extLst>
          </p:cNvPr>
          <p:cNvSpPr/>
          <p:nvPr/>
        </p:nvSpPr>
        <p:spPr>
          <a:xfrm>
            <a:off x="1603016" y="2394809"/>
            <a:ext cx="2011680" cy="2348421"/>
          </a:xfrm>
          <a:prstGeom prst="rect">
            <a:avLst/>
          </a:prstGeom>
          <a:solidFill>
            <a:srgbClr val="E8F4F8"/>
          </a:solidFill>
          <a:ln>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10" name="Text 4">
            <a:extLst>
              <a:ext uri="{FF2B5EF4-FFF2-40B4-BE49-F238E27FC236}">
                <a16:creationId xmlns:a16="http://schemas.microsoft.com/office/drawing/2014/main" id="{DB31A114-939A-4179-1E5F-E2DC4AD5E50B}"/>
              </a:ext>
            </a:extLst>
          </p:cNvPr>
          <p:cNvSpPr/>
          <p:nvPr/>
        </p:nvSpPr>
        <p:spPr>
          <a:xfrm>
            <a:off x="1700552"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1</a:t>
            </a:r>
            <a:endParaRPr lang="en-US" sz="1467" dirty="0">
              <a:latin typeface="Arial" panose="020B0604020202020204" pitchFamily="34" charset="0"/>
              <a:cs typeface="Arial" panose="020B0604020202020204" pitchFamily="34" charset="0"/>
            </a:endParaRPr>
          </a:p>
        </p:txBody>
      </p:sp>
      <p:sp>
        <p:nvSpPr>
          <p:cNvPr id="11" name="Text 5">
            <a:extLst>
              <a:ext uri="{FF2B5EF4-FFF2-40B4-BE49-F238E27FC236}">
                <a16:creationId xmlns:a16="http://schemas.microsoft.com/office/drawing/2014/main" id="{CB6F49E5-F2BC-E24D-9EAF-6832B079F7E6}"/>
              </a:ext>
            </a:extLst>
          </p:cNvPr>
          <p:cNvSpPr/>
          <p:nvPr/>
        </p:nvSpPr>
        <p:spPr>
          <a:xfrm>
            <a:off x="1700552" y="2931477"/>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Cleaning &amp;</a:t>
            </a:r>
          </a:p>
          <a:p>
            <a:r>
              <a:rPr lang="en-US" sz="1730" b="1" dirty="0">
                <a:solidFill>
                  <a:srgbClr val="0B2545"/>
                </a:solidFill>
                <a:latin typeface="Arial" panose="020B0604020202020204" pitchFamily="34" charset="0"/>
                <a:cs typeface="Arial" panose="020B0604020202020204" pitchFamily="34" charset="0"/>
              </a:rPr>
              <a:t>Visuals</a:t>
            </a:r>
            <a:endParaRPr lang="en-US" sz="1730" dirty="0">
              <a:latin typeface="Arial" panose="020B0604020202020204" pitchFamily="34" charset="0"/>
              <a:cs typeface="Arial" panose="020B0604020202020204" pitchFamily="34" charset="0"/>
            </a:endParaRPr>
          </a:p>
        </p:txBody>
      </p:sp>
      <p:sp>
        <p:nvSpPr>
          <p:cNvPr id="12" name="Shape 6">
            <a:extLst>
              <a:ext uri="{FF2B5EF4-FFF2-40B4-BE49-F238E27FC236}">
                <a16:creationId xmlns:a16="http://schemas.microsoft.com/office/drawing/2014/main" id="{7C3B5751-C997-DA00-49B7-6D30F54EF177}"/>
              </a:ext>
            </a:extLst>
          </p:cNvPr>
          <p:cNvSpPr/>
          <p:nvPr/>
        </p:nvSpPr>
        <p:spPr>
          <a:xfrm>
            <a:off x="1681053" y="3431195"/>
            <a:ext cx="975360" cy="36576"/>
          </a:xfrm>
          <a:prstGeom prst="rect">
            <a:avLst/>
          </a:prstGeom>
          <a:solidFill>
            <a:srgbClr val="13678A"/>
          </a:solidFill>
          <a:ln/>
        </p:spPr>
        <p:txBody>
          <a:bodyPr/>
          <a:lstStyle/>
          <a:p>
            <a:endParaRPr lang="en-US"/>
          </a:p>
        </p:txBody>
      </p:sp>
      <p:sp>
        <p:nvSpPr>
          <p:cNvPr id="13" name="Shape 3">
            <a:extLst>
              <a:ext uri="{FF2B5EF4-FFF2-40B4-BE49-F238E27FC236}">
                <a16:creationId xmlns:a16="http://schemas.microsoft.com/office/drawing/2014/main" id="{C21E81B3-7C7B-AFF3-2CD7-D838E99DBDB8}"/>
              </a:ext>
            </a:extLst>
          </p:cNvPr>
          <p:cNvSpPr/>
          <p:nvPr/>
        </p:nvSpPr>
        <p:spPr>
          <a:xfrm>
            <a:off x="3957628" y="2394809"/>
            <a:ext cx="2011680" cy="2348421"/>
          </a:xfrm>
          <a:prstGeom prst="rect">
            <a:avLst/>
          </a:prstGeom>
          <a:solidFill>
            <a:srgbClr val="DCEAF7"/>
          </a:solidFill>
          <a:ln>
            <a:solidFill>
              <a:srgbClr val="E8F8F0"/>
            </a:solidFill>
          </a:ln>
          <a:effectLst>
            <a:outerShdw blurRad="50800" dist="25400" dir="8100000" algn="bl" rotWithShape="0">
              <a:srgbClr val="000000">
                <a:alpha val="10000"/>
              </a:srgbClr>
            </a:outerShdw>
          </a:effectLst>
        </p:spPr>
        <p:txBody>
          <a:bodyPr/>
          <a:lstStyle/>
          <a:p>
            <a:endParaRPr lang="en-US"/>
          </a:p>
        </p:txBody>
      </p:sp>
      <p:sp>
        <p:nvSpPr>
          <p:cNvPr id="14" name="Text 4">
            <a:extLst>
              <a:ext uri="{FF2B5EF4-FFF2-40B4-BE49-F238E27FC236}">
                <a16:creationId xmlns:a16="http://schemas.microsoft.com/office/drawing/2014/main" id="{6BC8BA95-75D2-7609-33F3-36316F5BAD5E}"/>
              </a:ext>
            </a:extLst>
          </p:cNvPr>
          <p:cNvSpPr/>
          <p:nvPr/>
        </p:nvSpPr>
        <p:spPr>
          <a:xfrm>
            <a:off x="4055164" y="2494284"/>
            <a:ext cx="1828800" cy="365760"/>
          </a:xfrm>
          <a:prstGeom prst="rect">
            <a:avLst/>
          </a:prstGeom>
          <a:noFill/>
          <a:ln/>
        </p:spPr>
        <p:txBody>
          <a:bodyPr wrap="square" lIns="0" tIns="0" rIns="0" bIns="0" rtlCol="0" anchor="ctr"/>
          <a:lstStyle/>
          <a:p>
            <a:r>
              <a:rPr lang="en-US" sz="1467" b="1" dirty="0">
                <a:solidFill>
                  <a:srgbClr val="13678A"/>
                </a:solidFill>
                <a:latin typeface="Trebuchet MS" pitchFamily="34" charset="0"/>
                <a:ea typeface="Trebuchet MS" pitchFamily="34" charset="-122"/>
                <a:cs typeface="Trebuchet MS" pitchFamily="34" charset="-120"/>
              </a:rPr>
              <a:t>Activity 2</a:t>
            </a:r>
            <a:endParaRPr lang="en-US" sz="1467" dirty="0"/>
          </a:p>
        </p:txBody>
      </p:sp>
      <p:sp>
        <p:nvSpPr>
          <p:cNvPr id="15" name="Text 5">
            <a:extLst>
              <a:ext uri="{FF2B5EF4-FFF2-40B4-BE49-F238E27FC236}">
                <a16:creationId xmlns:a16="http://schemas.microsoft.com/office/drawing/2014/main" id="{3CE34AAD-E68C-14CB-418A-0DC41D057032}"/>
              </a:ext>
            </a:extLst>
          </p:cNvPr>
          <p:cNvSpPr/>
          <p:nvPr/>
        </p:nvSpPr>
        <p:spPr>
          <a:xfrm>
            <a:off x="4055164" y="2882490"/>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a:t>
            </a:r>
          </a:p>
          <a:p>
            <a:r>
              <a:rPr lang="en-US" sz="1730" b="1" dirty="0">
                <a:solidFill>
                  <a:srgbClr val="0B2545"/>
                </a:solidFill>
                <a:latin typeface="Arial" panose="020B0604020202020204" pitchFamily="34" charset="0"/>
                <a:ea typeface="Trebuchet MS" pitchFamily="34" charset="-122"/>
                <a:cs typeface="Arial" panose="020B0604020202020204" pitchFamily="34" charset="0"/>
              </a:rPr>
              <a:t>Exploration</a:t>
            </a:r>
            <a:endParaRPr lang="en-US" sz="1730" dirty="0">
              <a:latin typeface="Arial" panose="020B0604020202020204" pitchFamily="34" charset="0"/>
              <a:cs typeface="Arial" panose="020B0604020202020204" pitchFamily="34" charset="0"/>
            </a:endParaRPr>
          </a:p>
        </p:txBody>
      </p:sp>
      <p:sp>
        <p:nvSpPr>
          <p:cNvPr id="16" name="Shape 6">
            <a:extLst>
              <a:ext uri="{FF2B5EF4-FFF2-40B4-BE49-F238E27FC236}">
                <a16:creationId xmlns:a16="http://schemas.microsoft.com/office/drawing/2014/main" id="{7CD335F5-09E1-FAFB-3E6E-7C6C53666821}"/>
              </a:ext>
            </a:extLst>
          </p:cNvPr>
          <p:cNvSpPr/>
          <p:nvPr/>
        </p:nvSpPr>
        <p:spPr>
          <a:xfrm>
            <a:off x="4055164" y="3410621"/>
            <a:ext cx="975360" cy="36576"/>
          </a:xfrm>
          <a:prstGeom prst="rect">
            <a:avLst/>
          </a:prstGeom>
          <a:solidFill>
            <a:srgbClr val="13678A"/>
          </a:solidFill>
          <a:ln/>
        </p:spPr>
        <p:txBody>
          <a:bodyPr/>
          <a:lstStyle/>
          <a:p>
            <a:endParaRPr lang="en-US"/>
          </a:p>
        </p:txBody>
      </p:sp>
      <p:sp>
        <p:nvSpPr>
          <p:cNvPr id="17" name="Shape 3">
            <a:extLst>
              <a:ext uri="{FF2B5EF4-FFF2-40B4-BE49-F238E27FC236}">
                <a16:creationId xmlns:a16="http://schemas.microsoft.com/office/drawing/2014/main" id="{DB19830D-A4CA-FDF7-0E67-B7080F99E228}"/>
              </a:ext>
            </a:extLst>
          </p:cNvPr>
          <p:cNvSpPr/>
          <p:nvPr/>
        </p:nvSpPr>
        <p:spPr>
          <a:xfrm>
            <a:off x="6312240" y="2394809"/>
            <a:ext cx="2011680" cy="2348421"/>
          </a:xfrm>
          <a:prstGeom prst="rect">
            <a:avLst/>
          </a:prstGeom>
          <a:solidFill>
            <a:srgbClr val="F0ECF8"/>
          </a:solidFill>
          <a:ln/>
          <a:effectLst>
            <a:outerShdw blurRad="50800" dist="25400" dir="8100000" algn="bl" rotWithShape="0">
              <a:srgbClr val="000000">
                <a:alpha val="10000"/>
              </a:srgbClr>
            </a:outerShdw>
          </a:effectLst>
        </p:spPr>
        <p:txBody>
          <a:bodyPr/>
          <a:lstStyle/>
          <a:p>
            <a:endParaRPr lang="en-US"/>
          </a:p>
        </p:txBody>
      </p:sp>
      <p:sp>
        <p:nvSpPr>
          <p:cNvPr id="18" name="Text 4">
            <a:extLst>
              <a:ext uri="{FF2B5EF4-FFF2-40B4-BE49-F238E27FC236}">
                <a16:creationId xmlns:a16="http://schemas.microsoft.com/office/drawing/2014/main" id="{7024C291-1FB2-2AB6-8B79-44EB66FCE1DC}"/>
              </a:ext>
            </a:extLst>
          </p:cNvPr>
          <p:cNvSpPr/>
          <p:nvPr/>
        </p:nvSpPr>
        <p:spPr>
          <a:xfrm>
            <a:off x="6403616"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3</a:t>
            </a:r>
            <a:endParaRPr lang="en-US" sz="1467" dirty="0">
              <a:latin typeface="Arial" panose="020B0604020202020204" pitchFamily="34" charset="0"/>
              <a:cs typeface="Arial" panose="020B0604020202020204" pitchFamily="34" charset="0"/>
            </a:endParaRPr>
          </a:p>
        </p:txBody>
      </p:sp>
      <p:sp>
        <p:nvSpPr>
          <p:cNvPr id="19" name="Shape 6">
            <a:extLst>
              <a:ext uri="{FF2B5EF4-FFF2-40B4-BE49-F238E27FC236}">
                <a16:creationId xmlns:a16="http://schemas.microsoft.com/office/drawing/2014/main" id="{7CEAD20A-334B-DDA6-7DBB-C3D7AF597E88}"/>
              </a:ext>
            </a:extLst>
          </p:cNvPr>
          <p:cNvSpPr/>
          <p:nvPr/>
        </p:nvSpPr>
        <p:spPr>
          <a:xfrm>
            <a:off x="6409776" y="3416337"/>
            <a:ext cx="975360" cy="36576"/>
          </a:xfrm>
          <a:prstGeom prst="rect">
            <a:avLst/>
          </a:prstGeom>
          <a:solidFill>
            <a:srgbClr val="13678A"/>
          </a:solidFill>
          <a:ln/>
        </p:spPr>
        <p:txBody>
          <a:bodyPr/>
          <a:lstStyle/>
          <a:p>
            <a:endParaRPr lang="en-US"/>
          </a:p>
        </p:txBody>
      </p:sp>
      <p:sp>
        <p:nvSpPr>
          <p:cNvPr id="20" name="Shape 3">
            <a:extLst>
              <a:ext uri="{FF2B5EF4-FFF2-40B4-BE49-F238E27FC236}">
                <a16:creationId xmlns:a16="http://schemas.microsoft.com/office/drawing/2014/main" id="{8297AF3D-B736-2285-27DF-0F8C5325A858}"/>
              </a:ext>
            </a:extLst>
          </p:cNvPr>
          <p:cNvSpPr/>
          <p:nvPr/>
        </p:nvSpPr>
        <p:spPr>
          <a:xfrm>
            <a:off x="8680596" y="2381921"/>
            <a:ext cx="2011680" cy="2371422"/>
          </a:xfrm>
          <a:prstGeom prst="rect">
            <a:avLst/>
          </a:prstGeom>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21" name="Text 4">
            <a:extLst>
              <a:ext uri="{FF2B5EF4-FFF2-40B4-BE49-F238E27FC236}">
                <a16:creationId xmlns:a16="http://schemas.microsoft.com/office/drawing/2014/main" id="{78B73C53-56DB-B616-D1AE-7682F4C83ED2}"/>
              </a:ext>
            </a:extLst>
          </p:cNvPr>
          <p:cNvSpPr/>
          <p:nvPr/>
        </p:nvSpPr>
        <p:spPr>
          <a:xfrm>
            <a:off x="8764388" y="2473169"/>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4</a:t>
            </a:r>
            <a:endParaRPr lang="en-US" sz="1467" dirty="0">
              <a:latin typeface="Arial" panose="020B0604020202020204" pitchFamily="34" charset="0"/>
              <a:cs typeface="Arial" panose="020B0604020202020204" pitchFamily="34" charset="0"/>
            </a:endParaRPr>
          </a:p>
        </p:txBody>
      </p:sp>
      <p:sp>
        <p:nvSpPr>
          <p:cNvPr id="22" name="Text 5">
            <a:extLst>
              <a:ext uri="{FF2B5EF4-FFF2-40B4-BE49-F238E27FC236}">
                <a16:creationId xmlns:a16="http://schemas.microsoft.com/office/drawing/2014/main" id="{550C5788-ECB9-E56B-F9F9-E56A33CF52A2}"/>
              </a:ext>
            </a:extLst>
          </p:cNvPr>
          <p:cNvSpPr/>
          <p:nvPr/>
        </p:nvSpPr>
        <p:spPr>
          <a:xfrm>
            <a:off x="6417425" y="2874601"/>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Modeling &amp; Forecasting</a:t>
            </a:r>
          </a:p>
        </p:txBody>
      </p:sp>
      <p:sp>
        <p:nvSpPr>
          <p:cNvPr id="23" name="Shape 6">
            <a:extLst>
              <a:ext uri="{FF2B5EF4-FFF2-40B4-BE49-F238E27FC236}">
                <a16:creationId xmlns:a16="http://schemas.microsoft.com/office/drawing/2014/main" id="{7F67E240-E41D-8771-9712-C5A3940355B9}"/>
              </a:ext>
            </a:extLst>
          </p:cNvPr>
          <p:cNvSpPr/>
          <p:nvPr/>
        </p:nvSpPr>
        <p:spPr>
          <a:xfrm>
            <a:off x="8764388" y="3410621"/>
            <a:ext cx="975360" cy="36576"/>
          </a:xfrm>
          <a:prstGeom prst="rect">
            <a:avLst/>
          </a:prstGeom>
          <a:solidFill>
            <a:srgbClr val="13678A"/>
          </a:solidFill>
          <a:ln/>
        </p:spPr>
        <p:txBody>
          <a:bodyPr/>
          <a:lstStyle/>
          <a:p>
            <a:endParaRPr lang="en-US"/>
          </a:p>
        </p:txBody>
      </p:sp>
      <p:sp>
        <p:nvSpPr>
          <p:cNvPr id="24" name="Text 5">
            <a:extLst>
              <a:ext uri="{FF2B5EF4-FFF2-40B4-BE49-F238E27FC236}">
                <a16:creationId xmlns:a16="http://schemas.microsoft.com/office/drawing/2014/main" id="{70203F5E-D982-3547-75C3-120ACCC2476E}"/>
              </a:ext>
            </a:extLst>
          </p:cNvPr>
          <p:cNvSpPr/>
          <p:nvPr/>
        </p:nvSpPr>
        <p:spPr>
          <a:xfrm>
            <a:off x="8779188" y="2883540"/>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Evaluation</a:t>
            </a:r>
            <a:endParaRPr lang="en-US" sz="1733" dirty="0">
              <a:latin typeface="Arial" panose="020B0604020202020204" pitchFamily="34" charset="0"/>
              <a:cs typeface="Arial" panose="020B0604020202020204" pitchFamily="34" charset="0"/>
            </a:endParaRPr>
          </a:p>
        </p:txBody>
      </p:sp>
      <p:cxnSp>
        <p:nvCxnSpPr>
          <p:cNvPr id="25" name="Connector: Elbow 24">
            <a:extLst>
              <a:ext uri="{FF2B5EF4-FFF2-40B4-BE49-F238E27FC236}">
                <a16:creationId xmlns:a16="http://schemas.microsoft.com/office/drawing/2014/main" id="{E4C0F420-C2BD-E340-AFA6-2A3710880024}"/>
              </a:ext>
            </a:extLst>
          </p:cNvPr>
          <p:cNvCxnSpPr>
            <a:cxnSpLocks/>
            <a:stCxn id="20" idx="2"/>
            <a:endCxn id="17" idx="2"/>
          </p:cNvCxnSpPr>
          <p:nvPr/>
        </p:nvCxnSpPr>
        <p:spPr>
          <a:xfrm rot="5400000" flipH="1">
            <a:off x="8497201" y="3564109"/>
            <a:ext cx="10113" cy="2368356"/>
          </a:xfrm>
          <a:prstGeom prst="bentConnector3">
            <a:avLst>
              <a:gd name="adj1" fmla="val -6927222"/>
            </a:avLst>
          </a:prstGeom>
          <a:ln w="76200">
            <a:solidFill>
              <a:schemeClr val="accent5">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6" name="Shape 2">
            <a:extLst>
              <a:ext uri="{FF2B5EF4-FFF2-40B4-BE49-F238E27FC236}">
                <a16:creationId xmlns:a16="http://schemas.microsoft.com/office/drawing/2014/main" id="{F7F5A57B-CEF8-1AE1-110A-11E02D32F4D8}"/>
              </a:ext>
            </a:extLst>
          </p:cNvPr>
          <p:cNvSpPr/>
          <p:nvPr/>
        </p:nvSpPr>
        <p:spPr>
          <a:xfrm>
            <a:off x="8276705" y="5218471"/>
            <a:ext cx="451104" cy="465963"/>
          </a:xfrm>
          <a:prstGeom prst="ellipse">
            <a:avLst/>
          </a:prstGeom>
          <a:solidFill>
            <a:schemeClr val="accent2"/>
          </a:solidFill>
          <a:ln/>
        </p:spPr>
        <p:txBody>
          <a:bodyPr/>
          <a:lstStyle/>
          <a:p>
            <a:endParaRPr lang="en-US"/>
          </a:p>
        </p:txBody>
      </p:sp>
      <p:sp>
        <p:nvSpPr>
          <p:cNvPr id="27" name="Text 4">
            <a:extLst>
              <a:ext uri="{FF2B5EF4-FFF2-40B4-BE49-F238E27FC236}">
                <a16:creationId xmlns:a16="http://schemas.microsoft.com/office/drawing/2014/main" id="{1B0207FA-97BD-2917-EBDF-A708BDBBCF75}"/>
              </a:ext>
            </a:extLst>
          </p:cNvPr>
          <p:cNvSpPr/>
          <p:nvPr/>
        </p:nvSpPr>
        <p:spPr>
          <a:xfrm>
            <a:off x="6976678" y="5829099"/>
            <a:ext cx="3289851" cy="365760"/>
          </a:xfrm>
          <a:prstGeom prst="rect">
            <a:avLst/>
          </a:prstGeom>
          <a:solidFill>
            <a:schemeClr val="bg1"/>
          </a:solidFill>
          <a:ln/>
        </p:spPr>
        <p:txBody>
          <a:bodyPr wrap="square" lIns="0" tIns="0" rIns="0" bIns="0" rtlCol="0" anchor="ctr"/>
          <a:lstStyle/>
          <a:p>
            <a:pPr algn="ctr"/>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a:t>
            </a:r>
            <a:r>
              <a:rPr lang="en-US" sz="1467" b="1">
                <a:solidFill>
                  <a:srgbClr val="13678A"/>
                </a:solidFill>
                <a:latin typeface="Arial" panose="020B0604020202020204" pitchFamily="34" charset="0"/>
                <a:ea typeface="Trebuchet MS" pitchFamily="34" charset="-122"/>
                <a:cs typeface="Arial" panose="020B0604020202020204" pitchFamily="34" charset="0"/>
              </a:rPr>
              <a:t>5 </a:t>
            </a:r>
            <a:r>
              <a:rPr lang="en-US" sz="1730" b="1">
                <a:latin typeface="Arial" panose="020B0604020202020204" pitchFamily="34" charset="0"/>
                <a:ea typeface="Trebuchet MS" pitchFamily="34" charset="-122"/>
                <a:cs typeface="Arial" panose="020B0604020202020204" pitchFamily="34" charset="0"/>
              </a:rPr>
              <a:t>Refinement</a:t>
            </a:r>
            <a:endParaRPr lang="en-US" sz="1730" b="1" dirty="0">
              <a:latin typeface="Arial" panose="020B0604020202020204" pitchFamily="34" charset="0"/>
              <a:ea typeface="Trebuchet MS" pitchFamily="34" charset="-122"/>
              <a:cs typeface="Arial" panose="020B0604020202020204" pitchFamily="34" charset="0"/>
            </a:endParaRPr>
          </a:p>
        </p:txBody>
      </p:sp>
    </p:spTree>
    <p:extLst>
      <p:ext uri="{BB962C8B-B14F-4D97-AF65-F5344CB8AC3E}">
        <p14:creationId xmlns:p14="http://schemas.microsoft.com/office/powerpoint/2010/main" val="1264614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AD024-0750-4088-A4B4-64B562257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904A8-1BC0-BEF9-D316-657EC87DADA4}"/>
              </a:ext>
            </a:extLst>
          </p:cNvPr>
          <p:cNvSpPr>
            <a:spLocks noGrp="1"/>
          </p:cNvSpPr>
          <p:nvPr>
            <p:ph type="title"/>
          </p:nvPr>
        </p:nvSpPr>
        <p:spPr>
          <a:xfrm>
            <a:off x="838199" y="38516"/>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Task Overviews</a:t>
            </a:r>
            <a:endParaRPr lang="en-US" dirty="0"/>
          </a:p>
        </p:txBody>
      </p:sp>
      <p:graphicFrame>
        <p:nvGraphicFramePr>
          <p:cNvPr id="7" name="Table 6">
            <a:extLst>
              <a:ext uri="{FF2B5EF4-FFF2-40B4-BE49-F238E27FC236}">
                <a16:creationId xmlns:a16="http://schemas.microsoft.com/office/drawing/2014/main" id="{739EE78A-44FA-685D-EC14-5A698DE5A063}"/>
              </a:ext>
            </a:extLst>
          </p:cNvPr>
          <p:cNvGraphicFramePr>
            <a:graphicFrameLocks noGrp="1"/>
          </p:cNvGraphicFramePr>
          <p:nvPr>
            <p:extLst>
              <p:ext uri="{D42A27DB-BD31-4B8C-83A1-F6EECF244321}">
                <p14:modId xmlns:p14="http://schemas.microsoft.com/office/powerpoint/2010/main" val="442504405"/>
              </p:ext>
            </p:extLst>
          </p:nvPr>
        </p:nvGraphicFramePr>
        <p:xfrm>
          <a:off x="472439" y="1342046"/>
          <a:ext cx="11247121" cy="5337654"/>
        </p:xfrm>
        <a:graphic>
          <a:graphicData uri="http://schemas.openxmlformats.org/drawingml/2006/table">
            <a:tbl>
              <a:tblPr firstRow="1" bandRow="1">
                <a:tableStyleId>{5940675A-B579-460E-94D1-54222C63F5DA}</a:tableStyleId>
              </a:tblPr>
              <a:tblGrid>
                <a:gridCol w="2800350">
                  <a:extLst>
                    <a:ext uri="{9D8B030D-6E8A-4147-A177-3AD203B41FA5}">
                      <a16:colId xmlns:a16="http://schemas.microsoft.com/office/drawing/2014/main" val="20000"/>
                    </a:ext>
                  </a:extLst>
                </a:gridCol>
                <a:gridCol w="8446771">
                  <a:extLst>
                    <a:ext uri="{9D8B030D-6E8A-4147-A177-3AD203B41FA5}">
                      <a16:colId xmlns:a16="http://schemas.microsoft.com/office/drawing/2014/main" val="20001"/>
                    </a:ext>
                  </a:extLst>
                </a:gridCol>
              </a:tblGrid>
              <a:tr h="517374">
                <a:tc>
                  <a:txBody>
                    <a:bodyPr/>
                    <a:lstStyle/>
                    <a:p>
                      <a:pPr algn="ctr"/>
                      <a:r>
                        <a:rPr lang="en-US" sz="2000" b="1" dirty="0">
                          <a:latin typeface="Arial" panose="020B0604020202020204" pitchFamily="34" charset="0"/>
                          <a:cs typeface="Arial" panose="020B0604020202020204" pitchFamily="34" charset="0"/>
                        </a:rPr>
                        <a:t>Task</a:t>
                      </a:r>
                    </a:p>
                  </a:txBody>
                  <a:tcPr anchor="ctr">
                    <a:solidFill>
                      <a:schemeClr val="bg1">
                        <a:lumMod val="95000"/>
                      </a:schemeClr>
                    </a:solidFill>
                  </a:tcPr>
                </a:tc>
                <a:tc>
                  <a:txBody>
                    <a:bodyPr/>
                    <a:lstStyle/>
                    <a:p>
                      <a:pPr algn="ctr"/>
                      <a:r>
                        <a:rPr lang="en-US" sz="20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702150">
                <a:tc>
                  <a:txBody>
                    <a:bodyPr/>
                    <a:lstStyle/>
                    <a:p>
                      <a:pPr algn="ctr"/>
                      <a:r>
                        <a:rPr lang="en-US" sz="2000" b="1" dirty="0">
                          <a:solidFill>
                            <a:schemeClr val="accent2"/>
                          </a:solidFill>
                          <a:latin typeface="Arial" panose="020B0604020202020204" pitchFamily="34" charset="0"/>
                          <a:cs typeface="Arial" panose="020B0604020202020204" pitchFamily="34" charset="0"/>
                        </a:rPr>
                        <a:t>Task 0: </a:t>
                      </a:r>
                      <a:r>
                        <a:rPr lang="en-US" sz="2000" dirty="0">
                          <a:latin typeface="Arial" panose="020B0604020202020204" pitchFamily="34" charset="0"/>
                          <a:cs typeface="Arial" panose="020B0604020202020204" pitchFamily="34" charset="0"/>
                        </a:rPr>
                        <a:t>Set-Up</a:t>
                      </a:r>
                    </a:p>
                  </a:txBody>
                  <a:tcPr anchor="ctr"/>
                </a:tc>
                <a:tc>
                  <a:txBody>
                    <a:bodyPr/>
                    <a:lstStyle/>
                    <a:p>
                      <a:pPr algn="l"/>
                      <a:r>
                        <a:rPr lang="en-US" sz="2000" dirty="0">
                          <a:latin typeface="Arial" panose="020B0604020202020204" pitchFamily="34" charset="0"/>
                          <a:cs typeface="Arial" panose="020B0604020202020204" pitchFamily="34" charset="0"/>
                        </a:rPr>
                        <a:t>Set up the environment and load and validate the input data.</a:t>
                      </a:r>
                    </a:p>
                  </a:txBody>
                  <a:tcPr anchor="ctr"/>
                </a:tc>
                <a:extLst>
                  <a:ext uri="{0D108BD9-81ED-4DB2-BD59-A6C34878D82A}">
                    <a16:rowId xmlns:a16="http://schemas.microsoft.com/office/drawing/2014/main" val="10001"/>
                  </a:ext>
                </a:extLst>
              </a:tr>
              <a:tr h="702150">
                <a:tc>
                  <a:txBody>
                    <a:bodyPr/>
                    <a:lstStyle/>
                    <a:p>
                      <a:pPr algn="ctr"/>
                      <a:r>
                        <a:rPr lang="en-US" sz="2000" b="1" dirty="0">
                          <a:solidFill>
                            <a:schemeClr val="accent2"/>
                          </a:solidFill>
                          <a:latin typeface="Arial" panose="020B0604020202020204" pitchFamily="34" charset="0"/>
                          <a:cs typeface="Arial" panose="020B0604020202020204" pitchFamily="34" charset="0"/>
                        </a:rPr>
                        <a:t>Task 1: </a:t>
                      </a:r>
                      <a:r>
                        <a:rPr lang="en-US" sz="2000" dirty="0">
                          <a:latin typeface="Arial" panose="020B0604020202020204" pitchFamily="34" charset="0"/>
                          <a:cs typeface="Arial" panose="020B0604020202020204" pitchFamily="34" charset="0"/>
                        </a:rPr>
                        <a:t>Specifying the Training and Forecast Period</a:t>
                      </a:r>
                    </a:p>
                  </a:txBody>
                  <a:tcPr anchor="ctr"/>
                </a:tc>
                <a:tc>
                  <a:txBody>
                    <a:bodyPr/>
                    <a:lstStyle/>
                    <a:p>
                      <a:pPr algn="l"/>
                      <a:r>
                        <a:rPr lang="en-US" sz="2000" dirty="0">
                          <a:latin typeface="Arial" panose="020B0604020202020204" pitchFamily="34" charset="0"/>
                          <a:cs typeface="Arial" panose="020B0604020202020204" pitchFamily="34" charset="0"/>
                        </a:rPr>
                        <a:t>Define the training and testing periods and set up an expanding window so each forecast trains on all data available up to that week.</a:t>
                      </a:r>
                    </a:p>
                  </a:txBody>
                  <a:tcPr anchor="ctr"/>
                </a:tc>
                <a:extLst>
                  <a:ext uri="{0D108BD9-81ED-4DB2-BD59-A6C34878D82A}">
                    <a16:rowId xmlns:a16="http://schemas.microsoft.com/office/drawing/2014/main" val="10002"/>
                  </a:ext>
                </a:extLst>
              </a:tr>
              <a:tr h="702150">
                <a:tc>
                  <a:txBody>
                    <a:bodyPr/>
                    <a:lstStyle/>
                    <a:p>
                      <a:pPr algn="ctr"/>
                      <a:r>
                        <a:rPr lang="en-US" sz="2000" b="1" dirty="0">
                          <a:solidFill>
                            <a:schemeClr val="accent2"/>
                          </a:solidFill>
                          <a:latin typeface="Arial" panose="020B0604020202020204" pitchFamily="34" charset="0"/>
                          <a:cs typeface="Arial" panose="020B0604020202020204" pitchFamily="34" charset="0"/>
                        </a:rPr>
                        <a:t>Task 2: </a:t>
                      </a:r>
                      <a:r>
                        <a:rPr lang="en-US" sz="2000" dirty="0">
                          <a:latin typeface="Arial" panose="020B0604020202020204" pitchFamily="34" charset="0"/>
                          <a:cs typeface="Arial" panose="020B0604020202020204" pitchFamily="34" charset="0"/>
                        </a:rPr>
                        <a:t>Baseline Model Specification</a:t>
                      </a:r>
                    </a:p>
                  </a:txBody>
                  <a:tcPr anchor="ctr"/>
                </a:tc>
                <a:tc>
                  <a:txBody>
                    <a:bodyPr/>
                    <a:lstStyle/>
                    <a:p>
                      <a:pPr algn="l"/>
                      <a:r>
                        <a:rPr lang="en-US" sz="2000" dirty="0">
                          <a:latin typeface="Arial" panose="020B0604020202020204" pitchFamily="34" charset="0"/>
                          <a:cs typeface="Arial" panose="020B0604020202020204" pitchFamily="34" charset="0"/>
                        </a:rPr>
                        <a:t>Specify a baseline ARIMA (Auto Regressive Integrated Moving Average) model and write the model specification rules for the AI to follow.</a:t>
                      </a:r>
                    </a:p>
                  </a:txBody>
                  <a:tcPr anchor="ctr"/>
                </a:tc>
                <a:extLst>
                  <a:ext uri="{0D108BD9-81ED-4DB2-BD59-A6C34878D82A}">
                    <a16:rowId xmlns:a16="http://schemas.microsoft.com/office/drawing/2014/main" val="10003"/>
                  </a:ext>
                </a:extLst>
              </a:tr>
              <a:tr h="702150">
                <a:tc>
                  <a:txBody>
                    <a:bodyPr/>
                    <a:lstStyle/>
                    <a:p>
                      <a:pPr algn="ctr"/>
                      <a:r>
                        <a:rPr lang="en-US" sz="2000" b="1" dirty="0">
                          <a:solidFill>
                            <a:schemeClr val="accent2"/>
                          </a:solidFill>
                          <a:latin typeface="Arial" panose="020B0604020202020204" pitchFamily="34" charset="0"/>
                          <a:cs typeface="Arial" panose="020B0604020202020204" pitchFamily="34" charset="0"/>
                        </a:rPr>
                        <a:t>Task 3: </a:t>
                      </a:r>
                      <a:r>
                        <a:rPr lang="en-US" sz="2000" dirty="0">
                          <a:latin typeface="Arial" panose="020B0604020202020204" pitchFamily="34" charset="0"/>
                          <a:cs typeface="Arial" panose="020B0604020202020204" pitchFamily="34" charset="0"/>
                        </a:rPr>
                        <a:t>Forecasting</a:t>
                      </a:r>
                    </a:p>
                  </a:txBody>
                  <a:tcPr anchor="ctr"/>
                </a:tc>
                <a:tc>
                  <a:txBody>
                    <a:bodyPr/>
                    <a:lstStyle/>
                    <a:p>
                      <a:pPr algn="l"/>
                      <a:r>
                        <a:rPr lang="en-US" sz="2000" dirty="0">
                          <a:latin typeface="Arial" panose="020B0604020202020204" pitchFamily="34" charset="0"/>
                          <a:cs typeface="Arial" panose="020B0604020202020204" pitchFamily="34" charset="0"/>
                        </a:rPr>
                        <a:t>Generate forecasts from the reference date and target end dates, extract the median and 95% prediction interval bounds, and prepare the output in FluSight format.</a:t>
                      </a:r>
                    </a:p>
                  </a:txBody>
                  <a:tcPr anchor="ctr"/>
                </a:tc>
                <a:extLst>
                  <a:ext uri="{0D108BD9-81ED-4DB2-BD59-A6C34878D82A}">
                    <a16:rowId xmlns:a16="http://schemas.microsoft.com/office/drawing/2014/main" val="10004"/>
                  </a:ext>
                </a:extLst>
              </a:tr>
              <a:tr h="702150">
                <a:tc>
                  <a:txBody>
                    <a:bodyPr/>
                    <a:lstStyle/>
                    <a:p>
                      <a:pPr algn="ctr"/>
                      <a:r>
                        <a:rPr lang="en-US" sz="2000" b="1" dirty="0">
                          <a:solidFill>
                            <a:schemeClr val="accent2"/>
                          </a:solidFill>
                          <a:latin typeface="Arial" panose="020B0604020202020204" pitchFamily="34" charset="0"/>
                          <a:cs typeface="Arial" panose="020B0604020202020204" pitchFamily="34" charset="0"/>
                        </a:rPr>
                        <a:t>Task 4: </a:t>
                      </a:r>
                      <a:r>
                        <a:rPr lang="en-US" sz="2000" dirty="0">
                          <a:latin typeface="Arial" panose="020B0604020202020204" pitchFamily="34" charset="0"/>
                          <a:cs typeface="Arial" panose="020B0604020202020204" pitchFamily="34" charset="0"/>
                        </a:rPr>
                        <a:t>Visualization</a:t>
                      </a:r>
                    </a:p>
                  </a:txBody>
                  <a:tcPr anchor="ctr"/>
                </a:tc>
                <a:tc>
                  <a:txBody>
                    <a:bodyPr/>
                    <a:lstStyle/>
                    <a:p>
                      <a:pPr algn="l"/>
                      <a:r>
                        <a:rPr lang="en-US" sz="2000" dirty="0">
                          <a:latin typeface="Arial" panose="020B0604020202020204" pitchFamily="34" charset="0"/>
                          <a:cs typeface="Arial" panose="020B0604020202020204" pitchFamily="34" charset="0"/>
                        </a:rPr>
                        <a:t>Visualize the forecast results and write the visualization rules that define how the plots should look.</a:t>
                      </a:r>
                    </a:p>
                  </a:txBody>
                  <a:tcPr anchor="ctr"/>
                </a:tc>
                <a:extLst>
                  <a:ext uri="{0D108BD9-81ED-4DB2-BD59-A6C34878D82A}">
                    <a16:rowId xmlns:a16="http://schemas.microsoft.com/office/drawing/2014/main" val="10005"/>
                  </a:ext>
                </a:extLst>
              </a:tr>
              <a:tr h="702150">
                <a:tc>
                  <a:txBody>
                    <a:bodyPr/>
                    <a:lstStyle/>
                    <a:p>
                      <a:pPr algn="ctr"/>
                      <a:r>
                        <a:rPr lang="en-US" sz="2000" b="1" dirty="0">
                          <a:solidFill>
                            <a:schemeClr val="accent2"/>
                          </a:solidFill>
                          <a:latin typeface="Arial" panose="020B0604020202020204" pitchFamily="34" charset="0"/>
                          <a:cs typeface="Arial" panose="020B0604020202020204" pitchFamily="34" charset="0"/>
                        </a:rPr>
                        <a:t>Task 5: </a:t>
                      </a:r>
                      <a:r>
                        <a:rPr lang="en-US" sz="2000" dirty="0">
                          <a:latin typeface="Arial" panose="020B0604020202020204" pitchFamily="34" charset="0"/>
                          <a:cs typeface="Arial" panose="020B0604020202020204" pitchFamily="34" charset="0"/>
                        </a:rPr>
                        <a:t>Extensions</a:t>
                      </a:r>
                    </a:p>
                  </a:txBody>
                  <a:tcPr anchor="ctr"/>
                </a:tc>
                <a:tc>
                  <a:txBody>
                    <a:bodyPr/>
                    <a:lstStyle/>
                    <a:p>
                      <a:pPr algn="l"/>
                      <a:r>
                        <a:rPr lang="en-US" sz="2000" dirty="0">
                          <a:latin typeface="Arial" panose="020B0604020202020204" pitchFamily="34" charset="0"/>
                          <a:cs typeface="Arial" panose="020B0604020202020204" pitchFamily="34" charset="0"/>
                        </a:rPr>
                        <a:t>Expand to the full FluSight format by adding the 2- and 3-week-ahead forecasts and iterating on the prompt.</a:t>
                      </a:r>
                    </a:p>
                  </a:txBody>
                  <a:tcPr anchor="ctr"/>
                </a:tc>
                <a:extLst>
                  <a:ext uri="{0D108BD9-81ED-4DB2-BD59-A6C34878D82A}">
                    <a16:rowId xmlns:a16="http://schemas.microsoft.com/office/drawing/2014/main" val="10006"/>
                  </a:ext>
                </a:extLst>
              </a:tr>
            </a:tbl>
          </a:graphicData>
        </a:graphic>
      </p:graphicFrame>
      <p:pic>
        <p:nvPicPr>
          <p:cNvPr id="3" name="Graphic 2" descr="Presentation with pie chart with solid fill">
            <a:extLst>
              <a:ext uri="{FF2B5EF4-FFF2-40B4-BE49-F238E27FC236}">
                <a16:creationId xmlns:a16="http://schemas.microsoft.com/office/drawing/2014/main" id="{7ADB0E6B-AEF9-C0F2-3B56-FC08E8CE6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37669" y="178300"/>
            <a:ext cx="1009031" cy="1009031"/>
          </a:xfrm>
          <a:prstGeom prst="rect">
            <a:avLst/>
          </a:prstGeom>
        </p:spPr>
      </p:pic>
    </p:spTree>
    <p:extLst>
      <p:ext uri="{BB962C8B-B14F-4D97-AF65-F5344CB8AC3E}">
        <p14:creationId xmlns:p14="http://schemas.microsoft.com/office/powerpoint/2010/main" val="511962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00C1-BD6A-D367-BE03-DC02A6210404}"/>
              </a:ext>
            </a:extLst>
          </p:cNvPr>
          <p:cNvSpPr>
            <a:spLocks noGrp="1"/>
          </p:cNvSpPr>
          <p:nvPr>
            <p:ph type="title"/>
          </p:nvPr>
        </p:nvSpPr>
        <p:spPr>
          <a:xfrm>
            <a:off x="838200" y="-4413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Goal Output</a:t>
            </a:r>
            <a:endParaRPr lang="en-US" dirty="0"/>
          </a:p>
        </p:txBody>
      </p:sp>
      <p:sp>
        <p:nvSpPr>
          <p:cNvPr id="4" name="TextBox 3">
            <a:extLst>
              <a:ext uri="{FF2B5EF4-FFF2-40B4-BE49-F238E27FC236}">
                <a16:creationId xmlns:a16="http://schemas.microsoft.com/office/drawing/2014/main" id="{4A03D021-3291-F8EE-43B3-C66F6EC7F58D}"/>
              </a:ext>
            </a:extLst>
          </p:cNvPr>
          <p:cNvSpPr txBox="1"/>
          <p:nvPr/>
        </p:nvSpPr>
        <p:spPr>
          <a:xfrm>
            <a:off x="838200" y="1529385"/>
            <a:ext cx="10515600" cy="1656868"/>
          </a:xfrm>
          <a:prstGeom prst="rect">
            <a:avLst/>
          </a:prstGeom>
          <a:noFill/>
        </p:spPr>
        <p:txBody>
          <a:bodyPr wrap="square" rtlCol="0">
            <a:noAutofit/>
          </a:bodyPr>
          <a:lstStyle/>
          <a:p>
            <a:pPr algn="ctr"/>
            <a:r>
              <a:rPr lang="en-US" sz="2300" dirty="0">
                <a:latin typeface="Arial" panose="020B0604020202020204" pitchFamily="34" charset="0"/>
                <a:cs typeface="Arial" panose="020B0604020202020204" pitchFamily="34" charset="0"/>
              </a:rPr>
              <a:t>From this activity you should produce two outputs: a </a:t>
            </a:r>
            <a:r>
              <a:rPr lang="en-US" sz="2300" b="1" dirty="0">
                <a:solidFill>
                  <a:schemeClr val="accent2"/>
                </a:solidFill>
                <a:latin typeface="Arial" panose="020B0604020202020204" pitchFamily="34" charset="0"/>
                <a:cs typeface="Arial" panose="020B0604020202020204" pitchFamily="34" charset="0"/>
              </a:rPr>
              <a:t>FluSight-format forecast file</a:t>
            </a:r>
            <a:r>
              <a:rPr lang="en-US" sz="2300" dirty="0">
                <a:latin typeface="Arial" panose="020B0604020202020204" pitchFamily="34" charset="0"/>
                <a:cs typeface="Arial" panose="020B0604020202020204" pitchFamily="34" charset="0"/>
              </a:rPr>
              <a:t> and a </a:t>
            </a:r>
            <a:r>
              <a:rPr lang="en-US" sz="2300" b="1" dirty="0">
                <a:solidFill>
                  <a:schemeClr val="accent2"/>
                </a:solidFill>
                <a:latin typeface="Arial" panose="020B0604020202020204" pitchFamily="34" charset="0"/>
                <a:cs typeface="Arial" panose="020B0604020202020204" pitchFamily="34" charset="0"/>
              </a:rPr>
              <a:t>forecast figure</a:t>
            </a:r>
            <a:r>
              <a:rPr lang="en-US" sz="2300" dirty="0">
                <a:latin typeface="Arial" panose="020B0604020202020204" pitchFamily="34" charset="0"/>
                <a:cs typeface="Arial" panose="020B0604020202020204" pitchFamily="34" charset="0"/>
              </a:rPr>
              <a:t>. An AI agent generates them from the cleaned weekly admissions data, guided by the rules you write in rules.md.</a:t>
            </a:r>
          </a:p>
        </p:txBody>
      </p:sp>
      <p:graphicFrame>
        <p:nvGraphicFramePr>
          <p:cNvPr id="7" name="Table 6"/>
          <p:cNvGraphicFramePr>
            <a:graphicFrameLocks noGrp="1"/>
          </p:cNvGraphicFramePr>
          <p:nvPr>
            <p:extLst>
              <p:ext uri="{D42A27DB-BD31-4B8C-83A1-F6EECF244321}">
                <p14:modId xmlns:p14="http://schemas.microsoft.com/office/powerpoint/2010/main" val="891657878"/>
              </p:ext>
            </p:extLst>
          </p:nvPr>
        </p:nvGraphicFramePr>
        <p:xfrm>
          <a:off x="774700" y="3186253"/>
          <a:ext cx="10642600" cy="2438400"/>
        </p:xfrm>
        <a:graphic>
          <a:graphicData uri="http://schemas.openxmlformats.org/drawingml/2006/table">
            <a:tbl>
              <a:tblPr firstRow="1" bandRow="1">
                <a:tableStyleId>{5940675A-B579-460E-94D1-54222C63F5DA}</a:tableStyleId>
              </a:tblPr>
              <a:tblGrid>
                <a:gridCol w="3995912">
                  <a:extLst>
                    <a:ext uri="{9D8B030D-6E8A-4147-A177-3AD203B41FA5}">
                      <a16:colId xmlns:a16="http://schemas.microsoft.com/office/drawing/2014/main" val="20000"/>
                    </a:ext>
                  </a:extLst>
                </a:gridCol>
                <a:gridCol w="6646688">
                  <a:extLst>
                    <a:ext uri="{9D8B030D-6E8A-4147-A177-3AD203B41FA5}">
                      <a16:colId xmlns:a16="http://schemas.microsoft.com/office/drawing/2014/main" val="20001"/>
                    </a:ext>
                  </a:extLst>
                </a:gridCol>
              </a:tblGrid>
              <a:tr h="422714">
                <a:tc>
                  <a:txBody>
                    <a:bodyPr/>
                    <a:lstStyle/>
                    <a:p>
                      <a:pPr algn="ctr"/>
                      <a:r>
                        <a:rPr lang="en-US" sz="2200" b="1" dirty="0">
                          <a:latin typeface="Arial" panose="020B0604020202020204" pitchFamily="34" charset="0"/>
                          <a:cs typeface="Arial" panose="020B0604020202020204" pitchFamily="34" charset="0"/>
                        </a:rPr>
                        <a:t>Activity Output</a:t>
                      </a:r>
                    </a:p>
                  </a:txBody>
                  <a:tcPr anchor="ctr">
                    <a:solidFill>
                      <a:schemeClr val="bg1">
                        <a:lumMod val="95000"/>
                      </a:schemeClr>
                    </a:solidFill>
                  </a:tcPr>
                </a:tc>
                <a:tc>
                  <a:txBody>
                    <a:bodyPr/>
                    <a:lstStyle/>
                    <a:p>
                      <a:pPr algn="ctr"/>
                      <a:r>
                        <a:rPr lang="en-US" sz="22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900000">
                <a:tc>
                  <a:txBody>
                    <a:bodyPr/>
                    <a:lstStyle/>
                    <a:p>
                      <a:pPr algn="ctr"/>
                      <a:r>
                        <a:rPr lang="en-US" sz="2000" b="1" dirty="0">
                          <a:solidFill>
                            <a:schemeClr val="accent2"/>
                          </a:solidFill>
                          <a:latin typeface="Arial" panose="020B0604020202020204" pitchFamily="34" charset="0"/>
                          <a:cs typeface="Arial" panose="020B0604020202020204" pitchFamily="34" charset="0"/>
                        </a:rPr>
                        <a:t>flusight_forecasts.csv</a:t>
                      </a:r>
                    </a:p>
                  </a:txBody>
                  <a:tcPr anchor="ctr"/>
                </a:tc>
                <a:tc>
                  <a:txBody>
                    <a:bodyPr/>
                    <a:lstStyle/>
                    <a:p>
                      <a:pPr algn="ctr"/>
                      <a:r>
                        <a:rPr lang="en-US" sz="2000" dirty="0">
                          <a:latin typeface="Arial" panose="020B0604020202020204" pitchFamily="34" charset="0"/>
                          <a:cs typeface="Arial" panose="020B0604020202020204" pitchFamily="34" charset="0"/>
                        </a:rPr>
                        <a:t>A FluSight-format forecast file with 1-, 2-, and 3-week-ahead quantile forecasts (median and prediction interval bounds) for U.S. influenza admissions.</a:t>
                      </a:r>
                    </a:p>
                  </a:txBody>
                  <a:tcPr anchor="ctr"/>
                </a:tc>
                <a:extLst>
                  <a:ext uri="{0D108BD9-81ED-4DB2-BD59-A6C34878D82A}">
                    <a16:rowId xmlns:a16="http://schemas.microsoft.com/office/drawing/2014/main" val="10001"/>
                  </a:ext>
                </a:extLst>
              </a:tr>
              <a:tr h="900000">
                <a:tc>
                  <a:txBody>
                    <a:bodyPr/>
                    <a:lstStyle/>
                    <a:p>
                      <a:pPr algn="ctr"/>
                      <a:r>
                        <a:rPr lang="en-US" sz="2000" b="1" kern="1200" dirty="0">
                          <a:solidFill>
                            <a:schemeClr val="accent2"/>
                          </a:solidFill>
                          <a:effectLst/>
                          <a:latin typeface="Arial" panose="020B0604020202020204" pitchFamily="34" charset="0"/>
                          <a:cs typeface="Arial" panose="020B0604020202020204" pitchFamily="34" charset="0"/>
                        </a:rPr>
                        <a:t>forecast_vs_observed.png</a:t>
                      </a:r>
                      <a:endParaRPr lang="en-US" sz="2000" b="1" dirty="0">
                        <a:solidFill>
                          <a:schemeClr val="accent2"/>
                        </a:solidFill>
                        <a:latin typeface="Arial" panose="020B0604020202020204" pitchFamily="34" charset="0"/>
                        <a:cs typeface="Arial" panose="020B0604020202020204" pitchFamily="34" charset="0"/>
                      </a:endParaRPr>
                    </a:p>
                  </a:txBody>
                  <a:tcPr anchor="ctr"/>
                </a:tc>
                <a:tc>
                  <a:txBody>
                    <a:bodyPr/>
                    <a:lstStyle/>
                    <a:p>
                      <a:pPr algn="ctr"/>
                      <a:r>
                        <a:rPr lang="en-US" sz="2000" dirty="0">
                          <a:latin typeface="Arial" panose="020B0604020202020204" pitchFamily="34" charset="0"/>
                          <a:cs typeface="Arial" panose="020B0604020202020204" pitchFamily="34" charset="0"/>
                        </a:rPr>
                        <a:t>A plot of the forecast showing the median and 95% prediction interval against the observed weekly admissions data.</a:t>
                      </a:r>
                    </a:p>
                  </a:txBody>
                  <a:tcPr anchor="ctr"/>
                </a:tc>
                <a:extLst>
                  <a:ext uri="{0D108BD9-81ED-4DB2-BD59-A6C34878D82A}">
                    <a16:rowId xmlns:a16="http://schemas.microsoft.com/office/drawing/2014/main" val="10002"/>
                  </a:ext>
                </a:extLst>
              </a:tr>
            </a:tbl>
          </a:graphicData>
        </a:graphic>
      </p:graphicFrame>
      <p:pic>
        <p:nvPicPr>
          <p:cNvPr id="3" name="Graphic 2" descr="Presentation with pie chart with solid fill">
            <a:extLst>
              <a:ext uri="{FF2B5EF4-FFF2-40B4-BE49-F238E27FC236}">
                <a16:creationId xmlns:a16="http://schemas.microsoft.com/office/drawing/2014/main" id="{7CC0AF3F-5972-9E6A-4E9A-DB5BBB0F27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0505" y="79845"/>
            <a:ext cx="1009031" cy="1009031"/>
          </a:xfrm>
          <a:prstGeom prst="rect">
            <a:avLst/>
          </a:prstGeom>
        </p:spPr>
      </p:pic>
    </p:spTree>
    <p:extLst>
      <p:ext uri="{BB962C8B-B14F-4D97-AF65-F5344CB8AC3E}">
        <p14:creationId xmlns:p14="http://schemas.microsoft.com/office/powerpoint/2010/main" val="367310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83D345-4AB2-4617-887D-3FF30FFECA8A}"/>
              </a:ext>
            </a:extLst>
          </p:cNvPr>
          <p:cNvSpPr txBox="1"/>
          <p:nvPr/>
        </p:nvSpPr>
        <p:spPr>
          <a:xfrm>
            <a:off x="838200" y="152400"/>
            <a:ext cx="10515600" cy="762000"/>
          </a:xfrm>
          <a:prstGeom prst="rect">
            <a:avLst/>
          </a:prstGeom>
          <a:noFill/>
        </p:spPr>
        <p:txBody>
          <a:bodyPr vertOverflow="overflow" vert="horz" wrap="square" rtlCol="0" anchor="ctr" anchorCtr="0">
            <a:spAutoFit/>
          </a:bodyPr>
          <a:lstStyle/>
          <a:p>
            <a:pPr algn="ctr"/>
            <a:r>
              <a:rPr lang="en-US" sz="4400" b="1" dirty="0">
                <a:solidFill>
                  <a:srgbClr val="7030A0"/>
                </a:solidFill>
                <a:latin typeface="Arial"/>
                <a:cs typeface="Arial"/>
              </a:rPr>
              <a:t>A Joint Instructor and Class Exercise</a:t>
            </a:r>
          </a:p>
        </p:txBody>
      </p:sp>
      <p:sp>
        <p:nvSpPr>
          <p:cNvPr id="4" name="TextBox 3">
            <a:extLst>
              <a:ext uri="{FF2B5EF4-FFF2-40B4-BE49-F238E27FC236}">
                <a16:creationId xmlns:a16="http://schemas.microsoft.com/office/drawing/2014/main" id="{278CFBCC-4F23-4D70-904D-61FD32A098B9}"/>
              </a:ext>
            </a:extLst>
          </p:cNvPr>
          <p:cNvSpPr txBox="1"/>
          <p:nvPr/>
        </p:nvSpPr>
        <p:spPr>
          <a:xfrm>
            <a:off x="1219200" y="1218184"/>
            <a:ext cx="9753600" cy="861774"/>
          </a:xfrm>
          <a:prstGeom prst="rect">
            <a:avLst/>
          </a:prstGeom>
          <a:noFill/>
        </p:spPr>
        <p:txBody>
          <a:bodyPr vertOverflow="overflow" vert="horz" wrap="square" rtlCol="0" anchor="t" anchorCtr="0">
            <a:spAutoFit/>
          </a:bodyPr>
          <a:lstStyle/>
          <a:p>
            <a:pPr algn="ctr"/>
            <a:r>
              <a:rPr lang="en-US" sz="2500" dirty="0">
                <a:solidFill>
                  <a:srgbClr val="404040"/>
                </a:solidFill>
                <a:latin typeface="Arial"/>
                <a:cs typeface="Arial"/>
              </a:rPr>
              <a:t>We tackle the prompts together, live. Then, we will trade ideas back and forth, refining the rules until the AI produces what we want.</a:t>
            </a:r>
          </a:p>
        </p:txBody>
      </p:sp>
      <p:sp>
        <p:nvSpPr>
          <p:cNvPr id="5" name="Rectangle: Rounded Corners 4">
            <a:extLst>
              <a:ext uri="{FF2B5EF4-FFF2-40B4-BE49-F238E27FC236}">
                <a16:creationId xmlns:a16="http://schemas.microsoft.com/office/drawing/2014/main" id="{CF4FDD86-B6A2-4874-8977-35D60EAEA271}"/>
              </a:ext>
            </a:extLst>
          </p:cNvPr>
          <p:cNvSpPr/>
          <p:nvPr/>
        </p:nvSpPr>
        <p:spPr>
          <a:xfrm>
            <a:off x="462280" y="2506980"/>
            <a:ext cx="4023360" cy="2651760"/>
          </a:xfrm>
          <a:prstGeom prst="roundRect">
            <a:avLst/>
          </a:prstGeom>
          <a:solidFill>
            <a:srgbClr val="FFFFFF"/>
          </a:solidFill>
          <a:ln w="28575" cap="flat" cmpd="sng" algn="ctr">
            <a:solidFill>
              <a:srgbClr val="7030A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Rounded Corners 5">
            <a:extLst>
              <a:ext uri="{FF2B5EF4-FFF2-40B4-BE49-F238E27FC236}">
                <a16:creationId xmlns:a16="http://schemas.microsoft.com/office/drawing/2014/main" id="{AF72AC25-DAB0-4DF1-B4E1-52A32D91289F}"/>
              </a:ext>
            </a:extLst>
          </p:cNvPr>
          <p:cNvSpPr/>
          <p:nvPr/>
        </p:nvSpPr>
        <p:spPr>
          <a:xfrm>
            <a:off x="7706360" y="2509520"/>
            <a:ext cx="4023360" cy="2651760"/>
          </a:xfrm>
          <a:prstGeom prst="roundRect">
            <a:avLst/>
          </a:prstGeom>
          <a:solidFill>
            <a:srgbClr val="FFFFFF"/>
          </a:solidFill>
          <a:ln w="28575"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chemeClr val="accent2"/>
              </a:solidFill>
            </a:endParaRPr>
          </a:p>
        </p:txBody>
      </p:sp>
      <p:sp>
        <p:nvSpPr>
          <p:cNvPr id="7" name="TextBox 6">
            <a:extLst>
              <a:ext uri="{FF2B5EF4-FFF2-40B4-BE49-F238E27FC236}">
                <a16:creationId xmlns:a16="http://schemas.microsoft.com/office/drawing/2014/main" id="{D5870BCE-E0D3-4261-AA9C-641CEF7EC1C7}"/>
              </a:ext>
            </a:extLst>
          </p:cNvPr>
          <p:cNvSpPr txBox="1"/>
          <p:nvPr/>
        </p:nvSpPr>
        <p:spPr>
          <a:xfrm>
            <a:off x="772160" y="2905760"/>
            <a:ext cx="3403600" cy="508000"/>
          </a:xfrm>
          <a:prstGeom prst="rect">
            <a:avLst/>
          </a:prstGeom>
          <a:noFill/>
        </p:spPr>
        <p:txBody>
          <a:bodyPr vertOverflow="overflow" vert="horz" wrap="square" rtlCol="0" anchor="t" anchorCtr="0">
            <a:noAutofit/>
          </a:bodyPr>
          <a:lstStyle/>
          <a:p>
            <a:pPr algn="ctr"/>
            <a:r>
              <a:rPr lang="en-US" sz="2600" b="1" dirty="0">
                <a:solidFill>
                  <a:srgbClr val="7030A0"/>
                </a:solidFill>
                <a:latin typeface="Arial"/>
                <a:cs typeface="Arial"/>
              </a:rPr>
              <a:t>Instructor</a:t>
            </a:r>
          </a:p>
        </p:txBody>
      </p:sp>
      <p:sp>
        <p:nvSpPr>
          <p:cNvPr id="8" name="TextBox 7">
            <a:extLst>
              <a:ext uri="{FF2B5EF4-FFF2-40B4-BE49-F238E27FC236}">
                <a16:creationId xmlns:a16="http://schemas.microsoft.com/office/drawing/2014/main" id="{5CC243BB-998A-4FF0-9ED6-2734E5D5E67A}"/>
              </a:ext>
            </a:extLst>
          </p:cNvPr>
          <p:cNvSpPr txBox="1"/>
          <p:nvPr/>
        </p:nvSpPr>
        <p:spPr>
          <a:xfrm>
            <a:off x="8016240" y="2893060"/>
            <a:ext cx="3403600" cy="508000"/>
          </a:xfrm>
          <a:prstGeom prst="rect">
            <a:avLst/>
          </a:prstGeom>
          <a:noFill/>
          <a:ln>
            <a:solidFill>
              <a:schemeClr val="bg1"/>
            </a:solidFill>
          </a:ln>
        </p:spPr>
        <p:txBody>
          <a:bodyPr vertOverflow="overflow" vert="horz" wrap="square" rtlCol="0" anchor="t" anchorCtr="0">
            <a:noAutofit/>
          </a:bodyPr>
          <a:lstStyle/>
          <a:p>
            <a:pPr algn="ctr"/>
            <a:r>
              <a:rPr lang="en-US" sz="2600" b="1" dirty="0">
                <a:solidFill>
                  <a:schemeClr val="accent2"/>
                </a:solidFill>
                <a:latin typeface="Arial"/>
                <a:cs typeface="Arial"/>
              </a:rPr>
              <a:t>Class</a:t>
            </a:r>
          </a:p>
        </p:txBody>
      </p:sp>
      <p:sp>
        <p:nvSpPr>
          <p:cNvPr id="9" name="TextBox 8">
            <a:extLst>
              <a:ext uri="{FF2B5EF4-FFF2-40B4-BE49-F238E27FC236}">
                <a16:creationId xmlns:a16="http://schemas.microsoft.com/office/drawing/2014/main" id="{A6F0BC55-F25B-42D1-ABA0-1A22600F94E5}"/>
              </a:ext>
            </a:extLst>
          </p:cNvPr>
          <p:cNvSpPr txBox="1"/>
          <p:nvPr/>
        </p:nvSpPr>
        <p:spPr>
          <a:xfrm>
            <a:off x="822960" y="3515360"/>
            <a:ext cx="3302000" cy="1168400"/>
          </a:xfrm>
          <a:prstGeom prst="rect">
            <a:avLst/>
          </a:prstGeom>
          <a:noFill/>
        </p:spPr>
        <p:txBody>
          <a:bodyPr vertOverflow="overflow" vert="horz" wrap="square" rtlCol="0" anchor="t" anchorCtr="0">
            <a:noAutofit/>
          </a:bodyPr>
          <a:lstStyle/>
          <a:p>
            <a:pPr algn="ctr"/>
            <a:r>
              <a:rPr lang="en-US" sz="2500" dirty="0">
                <a:solidFill>
                  <a:srgbClr val="404040"/>
                </a:solidFill>
                <a:latin typeface="Arial"/>
                <a:cs typeface="Arial"/>
              </a:rPr>
              <a:t>Poses a prompt, works through it live, and thinks out loud.</a:t>
            </a:r>
          </a:p>
        </p:txBody>
      </p:sp>
      <p:sp>
        <p:nvSpPr>
          <p:cNvPr id="10" name="TextBox 9">
            <a:extLst>
              <a:ext uri="{FF2B5EF4-FFF2-40B4-BE49-F238E27FC236}">
                <a16:creationId xmlns:a16="http://schemas.microsoft.com/office/drawing/2014/main" id="{1EA9125A-88D7-41E6-8C4F-485A78D7F937}"/>
              </a:ext>
            </a:extLst>
          </p:cNvPr>
          <p:cNvSpPr txBox="1"/>
          <p:nvPr/>
        </p:nvSpPr>
        <p:spPr>
          <a:xfrm>
            <a:off x="8067040" y="3535680"/>
            <a:ext cx="3302000" cy="1168400"/>
          </a:xfrm>
          <a:prstGeom prst="rect">
            <a:avLst/>
          </a:prstGeom>
          <a:noFill/>
        </p:spPr>
        <p:txBody>
          <a:bodyPr vertOverflow="overflow" vert="horz" wrap="square" rtlCol="0" anchor="t" anchorCtr="0">
            <a:noAutofit/>
          </a:bodyPr>
          <a:lstStyle/>
          <a:p>
            <a:pPr algn="ctr"/>
            <a:r>
              <a:rPr lang="en-US" sz="2500" dirty="0">
                <a:solidFill>
                  <a:srgbClr val="404040"/>
                </a:solidFill>
                <a:latin typeface="Arial"/>
                <a:cs typeface="Arial"/>
              </a:rPr>
              <a:t>Suggests rules, asks questions, and points out what to fix.</a:t>
            </a:r>
          </a:p>
        </p:txBody>
      </p:sp>
      <p:sp>
        <p:nvSpPr>
          <p:cNvPr id="11" name="Arrow: Right 10">
            <a:extLst>
              <a:ext uri="{FF2B5EF4-FFF2-40B4-BE49-F238E27FC236}">
                <a16:creationId xmlns:a16="http://schemas.microsoft.com/office/drawing/2014/main" id="{FB6AF0B6-5E93-4CB6-BD06-39891FA94AF5}"/>
              </a:ext>
            </a:extLst>
          </p:cNvPr>
          <p:cNvSpPr/>
          <p:nvPr/>
        </p:nvSpPr>
        <p:spPr>
          <a:xfrm>
            <a:off x="4795520" y="3312159"/>
            <a:ext cx="2600960" cy="586315"/>
          </a:xfrm>
          <a:prstGeom prst="rightArrow">
            <a:avLst/>
          </a:prstGeom>
          <a:solidFill>
            <a:srgbClr val="7030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2000"/>
          </a:p>
        </p:txBody>
      </p:sp>
      <p:sp>
        <p:nvSpPr>
          <p:cNvPr id="12" name="Arrow: Left 11">
            <a:extLst>
              <a:ext uri="{FF2B5EF4-FFF2-40B4-BE49-F238E27FC236}">
                <a16:creationId xmlns:a16="http://schemas.microsoft.com/office/drawing/2014/main" id="{B56BD2BF-291A-4D29-B62C-400951B072F2}"/>
              </a:ext>
            </a:extLst>
          </p:cNvPr>
          <p:cNvSpPr/>
          <p:nvPr/>
        </p:nvSpPr>
        <p:spPr>
          <a:xfrm>
            <a:off x="4795520" y="4045039"/>
            <a:ext cx="2600960" cy="585216"/>
          </a:xfrm>
          <a:prstGeom prst="leftArrow">
            <a:avLst/>
          </a:prstGeom>
          <a:solidFill>
            <a:schemeClr val="accent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2000"/>
          </a:p>
        </p:txBody>
      </p:sp>
      <p:sp>
        <p:nvSpPr>
          <p:cNvPr id="13" name="TextBox 12">
            <a:extLst>
              <a:ext uri="{FF2B5EF4-FFF2-40B4-BE49-F238E27FC236}">
                <a16:creationId xmlns:a16="http://schemas.microsoft.com/office/drawing/2014/main" id="{BA30015A-5389-4DD5-9182-82ACE48A88CF}"/>
              </a:ext>
            </a:extLst>
          </p:cNvPr>
          <p:cNvSpPr txBox="1"/>
          <p:nvPr/>
        </p:nvSpPr>
        <p:spPr>
          <a:xfrm>
            <a:off x="4811719" y="3052127"/>
            <a:ext cx="2263761" cy="400110"/>
          </a:xfrm>
          <a:prstGeom prst="rect">
            <a:avLst/>
          </a:prstGeom>
          <a:noFill/>
        </p:spPr>
        <p:txBody>
          <a:bodyPr vertOverflow="overflow" vert="horz" wrap="none" rtlCol="0" anchor="ctr" anchorCtr="0">
            <a:spAutoFit/>
          </a:bodyPr>
          <a:lstStyle/>
          <a:p>
            <a:pPr algn="l"/>
            <a:r>
              <a:rPr lang="en-US" sz="2000" i="1" dirty="0">
                <a:solidFill>
                  <a:srgbClr val="7030A0"/>
                </a:solidFill>
                <a:latin typeface="Arial"/>
                <a:cs typeface="Arial"/>
              </a:rPr>
              <a:t>Prompt and Demo</a:t>
            </a:r>
          </a:p>
        </p:txBody>
      </p:sp>
      <p:sp>
        <p:nvSpPr>
          <p:cNvPr id="14" name="TextBox 13">
            <a:extLst>
              <a:ext uri="{FF2B5EF4-FFF2-40B4-BE49-F238E27FC236}">
                <a16:creationId xmlns:a16="http://schemas.microsoft.com/office/drawing/2014/main" id="{975058A0-B511-47FA-AD9C-9974CF3269C4}"/>
              </a:ext>
            </a:extLst>
          </p:cNvPr>
          <p:cNvSpPr txBox="1"/>
          <p:nvPr/>
        </p:nvSpPr>
        <p:spPr>
          <a:xfrm>
            <a:off x="4991352" y="4504025"/>
            <a:ext cx="2534668" cy="400110"/>
          </a:xfrm>
          <a:prstGeom prst="rect">
            <a:avLst/>
          </a:prstGeom>
          <a:noFill/>
        </p:spPr>
        <p:txBody>
          <a:bodyPr vertOverflow="overflow" vert="horz" wrap="none" rtlCol="0" anchor="ctr" anchorCtr="0">
            <a:spAutoFit/>
          </a:bodyPr>
          <a:lstStyle/>
          <a:p>
            <a:pPr algn="l"/>
            <a:r>
              <a:rPr lang="en-US" sz="2000" i="1" dirty="0">
                <a:solidFill>
                  <a:schemeClr val="accent2"/>
                </a:solidFill>
                <a:latin typeface="Arial"/>
                <a:cs typeface="Arial"/>
              </a:rPr>
              <a:t>Ideas and Questions</a:t>
            </a:r>
          </a:p>
        </p:txBody>
      </p:sp>
      <p:sp>
        <p:nvSpPr>
          <p:cNvPr id="15" name="TextBox 14">
            <a:extLst>
              <a:ext uri="{FF2B5EF4-FFF2-40B4-BE49-F238E27FC236}">
                <a16:creationId xmlns:a16="http://schemas.microsoft.com/office/drawing/2014/main" id="{7F4CE7B3-8523-485E-A709-15546E960F44}"/>
              </a:ext>
            </a:extLst>
          </p:cNvPr>
          <p:cNvSpPr txBox="1"/>
          <p:nvPr/>
        </p:nvSpPr>
        <p:spPr>
          <a:xfrm>
            <a:off x="1219200" y="5639062"/>
            <a:ext cx="9753600" cy="861774"/>
          </a:xfrm>
          <a:prstGeom prst="rect">
            <a:avLst/>
          </a:prstGeom>
          <a:noFill/>
        </p:spPr>
        <p:txBody>
          <a:bodyPr vertOverflow="overflow" vert="horz" wrap="square" rtlCol="0" anchor="ctr" anchorCtr="0">
            <a:spAutoFit/>
          </a:bodyPr>
          <a:lstStyle/>
          <a:p>
            <a:pPr algn="ctr"/>
            <a:r>
              <a:rPr lang="en-US" sz="2500" dirty="0">
                <a:solidFill>
                  <a:schemeClr val="tx1">
                    <a:lumMod val="75000"/>
                    <a:lumOff val="25000"/>
                  </a:schemeClr>
                </a:solidFill>
                <a:latin typeface="Arial"/>
                <a:cs typeface="Arial"/>
              </a:rPr>
              <a:t>We keep this back and forth going until the output looks right, then you try it on your own.</a:t>
            </a:r>
          </a:p>
        </p:txBody>
      </p:sp>
    </p:spTree>
    <p:extLst>
      <p:ext uri="{BB962C8B-B14F-4D97-AF65-F5344CB8AC3E}">
        <p14:creationId xmlns:p14="http://schemas.microsoft.com/office/powerpoint/2010/main" val="938676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animBg="1"/>
      <p:bldP spid="9" grpId="0"/>
      <p:bldP spid="10" grpId="0"/>
      <p:bldP spid="11" grpId="0" animBg="1"/>
      <p:bldP spid="12" grpId="0" animBg="1"/>
      <p:bldP spid="13" grpId="0"/>
      <p:bldP spid="14"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BDCD5-706F-53C8-2F9C-AB2C54A95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57D3B7-1771-E07E-4FD8-20DCD357643C}"/>
              </a:ext>
            </a:extLst>
          </p:cNvPr>
          <p:cNvSpPr>
            <a:spLocks noGrp="1"/>
          </p:cNvSpPr>
          <p:nvPr>
            <p:ph type="title"/>
          </p:nvPr>
        </p:nvSpPr>
        <p:spPr>
          <a:xfrm>
            <a:off x="838200" y="276621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Task 0: </a:t>
            </a:r>
            <a:r>
              <a:rPr lang="en-US" b="1" dirty="0">
                <a:solidFill>
                  <a:srgbClr val="7030A0"/>
                </a:solidFill>
                <a:latin typeface="Arial" panose="020B0604020202020204" pitchFamily="34" charset="0"/>
                <a:ea typeface="Calibri" pitchFamily="34" charset="-122"/>
                <a:cs typeface="Arial" panose="020B0604020202020204" pitchFamily="34" charset="0"/>
              </a:rPr>
              <a:t>Set-Up</a:t>
            </a:r>
            <a:endParaRPr lang="en-US" b="1"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204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08D63-1263-9374-27DC-5B014B49E47E}"/>
              </a:ext>
            </a:extLst>
          </p:cNvPr>
          <p:cNvSpPr>
            <a:spLocks noGrp="1"/>
          </p:cNvSpPr>
          <p:nvPr>
            <p:ph type="title"/>
          </p:nvPr>
        </p:nvSpPr>
        <p:spPr>
          <a:xfrm>
            <a:off x="838200" y="88312"/>
            <a:ext cx="10515600" cy="1325563"/>
          </a:xfrm>
        </p:spPr>
        <p:txBody>
          <a:bodyPr/>
          <a:lstStyle/>
          <a:p>
            <a:pPr algn="ctr"/>
            <a:r>
              <a:rPr lang="en-US" b="1" dirty="0">
                <a:solidFill>
                  <a:srgbClr val="7030A0"/>
                </a:solidFill>
                <a:latin typeface="Courier New" panose="02070309020205020404" pitchFamily="49" charset="0"/>
                <a:cs typeface="Courier New" panose="02070309020205020404" pitchFamily="49" charset="0"/>
              </a:rPr>
              <a:t># Forecasting</a:t>
            </a:r>
          </a:p>
        </p:txBody>
      </p:sp>
      <p:sp>
        <p:nvSpPr>
          <p:cNvPr id="3" name="Content Placeholder 2">
            <a:extLst>
              <a:ext uri="{FF2B5EF4-FFF2-40B4-BE49-F238E27FC236}">
                <a16:creationId xmlns:a16="http://schemas.microsoft.com/office/drawing/2014/main" id="{57A5B94D-D4FB-574F-1BA3-C2F95A92CDCB}"/>
              </a:ext>
            </a:extLst>
          </p:cNvPr>
          <p:cNvSpPr>
            <a:spLocks noGrp="1"/>
          </p:cNvSpPr>
          <p:nvPr>
            <p:ph idx="1"/>
          </p:nvPr>
        </p:nvSpPr>
        <p:spPr>
          <a:xfrm>
            <a:off x="838200" y="1728024"/>
            <a:ext cx="10515600" cy="1796144"/>
          </a:xfrm>
        </p:spPr>
        <p:txBody>
          <a:bodyPr>
            <a:normAutofit/>
          </a:bodyPr>
          <a:lstStyle/>
          <a:p>
            <a:r>
              <a:rPr lang="en-US" sz="2100" dirty="0">
                <a:latin typeface="Arial" panose="020B0604020202020204" pitchFamily="34" charset="0"/>
                <a:cs typeface="Arial" panose="020B0604020202020204" pitchFamily="34" charset="0"/>
              </a:rPr>
              <a:t>We first need to put rule(s) in place to </a:t>
            </a:r>
            <a:r>
              <a:rPr lang="en-US" sz="2100" b="1" dirty="0">
                <a:solidFill>
                  <a:schemeClr val="accent2"/>
                </a:solidFill>
                <a:latin typeface="Arial" panose="020B0604020202020204" pitchFamily="34" charset="0"/>
                <a:cs typeface="Arial" panose="020B0604020202020204" pitchFamily="34" charset="0"/>
              </a:rPr>
              <a:t>create</a:t>
            </a:r>
            <a:r>
              <a:rPr lang="en-US" sz="2100" dirty="0">
                <a:latin typeface="Arial" panose="020B0604020202020204" pitchFamily="34" charset="0"/>
                <a:cs typeface="Arial" panose="020B0604020202020204" pitchFamily="34" charset="0"/>
              </a:rPr>
              <a:t> and </a:t>
            </a:r>
            <a:r>
              <a:rPr lang="en-US" sz="2100" b="1" dirty="0">
                <a:solidFill>
                  <a:schemeClr val="accent2"/>
                </a:solidFill>
                <a:latin typeface="Arial" panose="020B0604020202020204" pitchFamily="34" charset="0"/>
                <a:cs typeface="Arial" panose="020B0604020202020204" pitchFamily="34" charset="0"/>
              </a:rPr>
              <a:t>save</a:t>
            </a:r>
            <a:r>
              <a:rPr lang="en-US" sz="2100" dirty="0">
                <a:latin typeface="Arial" panose="020B0604020202020204" pitchFamily="34" charset="0"/>
                <a:cs typeface="Arial" panose="020B0604020202020204" pitchFamily="34" charset="0"/>
              </a:rPr>
              <a:t> the R script. As this is an important piece to set-up the rest of what we will do for this activity, this code will sit at the </a:t>
            </a:r>
            <a:r>
              <a:rPr lang="en-US" sz="2100" b="1" dirty="0">
                <a:solidFill>
                  <a:schemeClr val="accent2"/>
                </a:solidFill>
                <a:latin typeface="Arial" panose="020B0604020202020204" pitchFamily="34" charset="0"/>
                <a:cs typeface="Arial" panose="020B0604020202020204" pitchFamily="34" charset="0"/>
              </a:rPr>
              <a:t>very top </a:t>
            </a:r>
            <a:r>
              <a:rPr lang="en-US" sz="2100" dirty="0">
                <a:latin typeface="Arial" panose="020B0604020202020204" pitchFamily="34" charset="0"/>
                <a:cs typeface="Arial" panose="020B0604020202020204" pitchFamily="34" charset="0"/>
              </a:rPr>
              <a:t>of our rules. </a:t>
            </a:r>
            <a:r>
              <a:rPr lang="en-US" sz="2100" b="1" dirty="0">
                <a:solidFill>
                  <a:schemeClr val="accent2"/>
                </a:solidFill>
                <a:latin typeface="Arial" panose="020B0604020202020204" pitchFamily="34" charset="0"/>
                <a:cs typeface="Arial" panose="020B0604020202020204" pitchFamily="34" charset="0"/>
              </a:rPr>
              <a:t>Add this rule</a:t>
            </a:r>
            <a:r>
              <a:rPr lang="en-US" sz="2100" dirty="0">
                <a:latin typeface="Arial" panose="020B0604020202020204" pitchFamily="34" charset="0"/>
                <a:cs typeface="Arial" panose="020B0604020202020204" pitchFamily="34" charset="0"/>
              </a:rPr>
              <a:t> under the </a:t>
            </a:r>
            <a:r>
              <a:rPr lang="en-US" sz="2100" dirty="0">
                <a:latin typeface="Courier New" panose="02070309020205020404" pitchFamily="49" charset="0"/>
                <a:cs typeface="Courier New" panose="02070309020205020404" pitchFamily="49" charset="0"/>
              </a:rPr>
              <a:t># Forecasting</a:t>
            </a:r>
            <a:r>
              <a:rPr lang="en-US" sz="2100" dirty="0">
                <a:latin typeface="Arial" panose="020B0604020202020204" pitchFamily="34" charset="0"/>
                <a:cs typeface="Arial" panose="020B0604020202020204" pitchFamily="34" charset="0"/>
              </a:rPr>
              <a:t> header: </a:t>
            </a:r>
          </a:p>
          <a:p>
            <a:pPr marL="0" indent="0">
              <a:buNone/>
            </a:pPr>
            <a:endParaRPr lang="en-US" dirty="0"/>
          </a:p>
        </p:txBody>
      </p:sp>
      <p:sp>
        <p:nvSpPr>
          <p:cNvPr id="6" name="Rectangle: Rounded Corners 5">
            <a:extLst>
              <a:ext uri="{FF2B5EF4-FFF2-40B4-BE49-F238E27FC236}">
                <a16:creationId xmlns:a16="http://schemas.microsoft.com/office/drawing/2014/main" id="{ECB1163C-1147-A175-C303-40DB449292AB}"/>
              </a:ext>
            </a:extLst>
          </p:cNvPr>
          <p:cNvSpPr/>
          <p:nvPr/>
        </p:nvSpPr>
        <p:spPr>
          <a:xfrm>
            <a:off x="957942" y="2919138"/>
            <a:ext cx="10395858" cy="1192246"/>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 name="TextBox 4">
            <a:extLst>
              <a:ext uri="{FF2B5EF4-FFF2-40B4-BE49-F238E27FC236}">
                <a16:creationId xmlns:a16="http://schemas.microsoft.com/office/drawing/2014/main" id="{C4D44D0C-8E4D-B816-39CC-59F21DA5B55D}"/>
              </a:ext>
            </a:extLst>
          </p:cNvPr>
          <p:cNvSpPr txBox="1"/>
          <p:nvPr/>
        </p:nvSpPr>
        <p:spPr>
          <a:xfrm>
            <a:off x="1148442" y="3040021"/>
            <a:ext cx="10205358" cy="861774"/>
          </a:xfrm>
          <a:prstGeom prst="rect">
            <a:avLst/>
          </a:prstGeom>
          <a:noFill/>
        </p:spPr>
        <p:txBody>
          <a:bodyPr wrap="square">
            <a:spAutoFit/>
          </a:bodyPr>
          <a:lstStyle/>
          <a:p>
            <a:pPr marL="0" indent="0">
              <a:spcBef>
                <a:spcPts val="600"/>
              </a:spcBef>
              <a:spcAft>
                <a:spcPts val="1200"/>
              </a:spcAft>
              <a:buNone/>
            </a:pPr>
            <a:r>
              <a:rPr lang="en-US" sz="2000" dirty="0">
                <a:latin typeface="Courier New" panose="02070309020205020404" pitchFamily="49" charset="0"/>
                <a:cs typeface="Courier New" panose="02070309020205020404" pitchFamily="49" charset="0"/>
              </a:rPr>
              <a:t>Save all code in this section to the following output script:</a:t>
            </a:r>
          </a:p>
          <a:p>
            <a:pPr marL="0" indent="0">
              <a:buNone/>
            </a:pPr>
            <a:r>
              <a:rPr lang="en-US" sz="2000" b="1" dirty="0">
                <a:latin typeface="Courier New" panose="02070309020205020404" pitchFamily="49" charset="0"/>
                <a:cs typeface="Courier New" panose="02070309020205020404" pitchFamily="49" charset="0"/>
              </a:rPr>
              <a:t>**Output folder:**</a:t>
            </a:r>
            <a:r>
              <a:rPr lang="en-US" sz="2000" dirty="0">
                <a:latin typeface="Courier New" panose="02070309020205020404" pitchFamily="49" charset="0"/>
                <a:cs typeface="Courier New" panose="02070309020205020404" pitchFamily="49" charset="0"/>
              </a:rPr>
              <a:t> `output/scripts/03_forecast.R`</a:t>
            </a:r>
          </a:p>
        </p:txBody>
      </p:sp>
      <p:sp>
        <p:nvSpPr>
          <p:cNvPr id="7" name="Content Placeholder 2">
            <a:extLst>
              <a:ext uri="{FF2B5EF4-FFF2-40B4-BE49-F238E27FC236}">
                <a16:creationId xmlns:a16="http://schemas.microsoft.com/office/drawing/2014/main" id="{EDEED2D5-50F1-9C59-0149-5F606291553F}"/>
              </a:ext>
            </a:extLst>
          </p:cNvPr>
          <p:cNvSpPr txBox="1">
            <a:spLocks/>
          </p:cNvSpPr>
          <p:nvPr/>
        </p:nvSpPr>
        <p:spPr>
          <a:xfrm>
            <a:off x="838200" y="4404426"/>
            <a:ext cx="10515600" cy="17961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latin typeface="Arial" panose="020B0604020202020204" pitchFamily="34" charset="0"/>
                <a:cs typeface="Arial" panose="020B0604020202020204" pitchFamily="34" charset="0"/>
              </a:rPr>
              <a:t>The output folder </a:t>
            </a:r>
            <a:r>
              <a:rPr lang="en-US" sz="2100" b="1" dirty="0">
                <a:solidFill>
                  <a:schemeClr val="accent2"/>
                </a:solidFill>
                <a:latin typeface="Arial" panose="020B0604020202020204" pitchFamily="34" charset="0"/>
                <a:cs typeface="Arial" panose="020B0604020202020204" pitchFamily="34" charset="0"/>
              </a:rPr>
              <a:t>may not yet exist</a:t>
            </a:r>
            <a:r>
              <a:rPr lang="en-US" sz="2100" dirty="0">
                <a:latin typeface="Arial" panose="020B0604020202020204" pitchFamily="34" charset="0"/>
                <a:cs typeface="Arial" panose="020B0604020202020204" pitchFamily="34" charset="0"/>
              </a:rPr>
              <a:t> in your working directory; we can put a rule in place to guard against this: </a:t>
            </a:r>
          </a:p>
          <a:p>
            <a:pPr marL="0" indent="0">
              <a:buFont typeface="Arial" panose="020B0604020202020204" pitchFamily="34" charset="0"/>
              <a:buNone/>
            </a:pPr>
            <a:endParaRPr lang="en-US" dirty="0"/>
          </a:p>
        </p:txBody>
      </p:sp>
      <p:pic>
        <p:nvPicPr>
          <p:cNvPr id="8" name="Picture 7" descr="Your Turn Rubber Stamp Royalty Free SVG, Cliparts, Vectors, and Stock  Illustration. Image 68258628.">
            <a:extLst>
              <a:ext uri="{FF2B5EF4-FFF2-40B4-BE49-F238E27FC236}">
                <a16:creationId xmlns:a16="http://schemas.microsoft.com/office/drawing/2014/main" id="{79707A1C-E5FC-8BF0-120F-9E123968AED8}"/>
              </a:ext>
            </a:extLst>
          </p:cNvPr>
          <p:cNvPicPr>
            <a:picLocks noChangeAspect="1"/>
          </p:cNvPicPr>
          <p:nvPr/>
        </p:nvPicPr>
        <p:blipFill>
          <a:blip r:embed="rId3"/>
          <a:stretch>
            <a:fillRect/>
          </a:stretch>
        </p:blipFill>
        <p:spPr>
          <a:xfrm>
            <a:off x="2364970" y="85323"/>
            <a:ext cx="1325564" cy="1325564"/>
          </a:xfrm>
          <a:prstGeom prst="rect">
            <a:avLst/>
          </a:prstGeom>
        </p:spPr>
      </p:pic>
      <p:sp>
        <p:nvSpPr>
          <p:cNvPr id="9" name="Rectangle: Rounded Corners 8">
            <a:extLst>
              <a:ext uri="{FF2B5EF4-FFF2-40B4-BE49-F238E27FC236}">
                <a16:creationId xmlns:a16="http://schemas.microsoft.com/office/drawing/2014/main" id="{F740363E-BE26-2852-855A-DCCC3184F48B}"/>
              </a:ext>
            </a:extLst>
          </p:cNvPr>
          <p:cNvSpPr/>
          <p:nvPr/>
        </p:nvSpPr>
        <p:spPr>
          <a:xfrm>
            <a:off x="957942" y="5335156"/>
            <a:ext cx="10395858" cy="898072"/>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0" name="TextBox 9">
            <a:extLst>
              <a:ext uri="{FF2B5EF4-FFF2-40B4-BE49-F238E27FC236}">
                <a16:creationId xmlns:a16="http://schemas.microsoft.com/office/drawing/2014/main" id="{D3088A06-8A4C-B2FF-39BA-ED2F23FB9C59}"/>
              </a:ext>
            </a:extLst>
          </p:cNvPr>
          <p:cNvSpPr txBox="1"/>
          <p:nvPr/>
        </p:nvSpPr>
        <p:spPr>
          <a:xfrm>
            <a:off x="1148442" y="5423381"/>
            <a:ext cx="10205358" cy="707886"/>
          </a:xfrm>
          <a:prstGeom prst="rect">
            <a:avLst/>
          </a:prstGeom>
          <a:noFill/>
        </p:spPr>
        <p:txBody>
          <a:bodyPr wrap="square">
            <a:spAutoFit/>
          </a:bodyPr>
          <a:lstStyle/>
          <a:p>
            <a:r>
              <a:rPr lang="en-US" sz="2000" dirty="0">
                <a:latin typeface="Courier New" panose="02070309020205020404" pitchFamily="49" charset="0"/>
                <a:cs typeface="Courier New" panose="02070309020205020404" pitchFamily="49" charset="0"/>
              </a:rPr>
              <a:t>If the folder pathway is not present, create the folder pathway prior to saving the script.</a:t>
            </a:r>
          </a:p>
        </p:txBody>
      </p:sp>
    </p:spTree>
    <p:extLst>
      <p:ext uri="{BB962C8B-B14F-4D97-AF65-F5344CB8AC3E}">
        <p14:creationId xmlns:p14="http://schemas.microsoft.com/office/powerpoint/2010/main" val="255772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p:bldP spid="7" grpId="0"/>
      <p:bldP spid="9" grpId="0" animBg="1"/>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3DA3E-3ECA-956E-1B14-95700CFCEF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633BBD-DCAA-FA5B-D724-6BC6D2AE49B2}"/>
              </a:ext>
            </a:extLst>
          </p:cNvPr>
          <p:cNvSpPr>
            <a:spLocks noGrp="1"/>
          </p:cNvSpPr>
          <p:nvPr>
            <p:ph type="title"/>
          </p:nvPr>
        </p:nvSpPr>
        <p:spPr>
          <a:xfrm>
            <a:off x="838200" y="88312"/>
            <a:ext cx="10515600" cy="1325563"/>
          </a:xfrm>
        </p:spPr>
        <p:txBody>
          <a:bodyPr/>
          <a:lstStyle/>
          <a:p>
            <a:pPr algn="ctr"/>
            <a:r>
              <a:rPr lang="en-US" b="1" dirty="0">
                <a:solidFill>
                  <a:srgbClr val="7030A0"/>
                </a:solidFill>
                <a:latin typeface="Courier New" panose="02070309020205020404" pitchFamily="49" charset="0"/>
                <a:cs typeface="Courier New" panose="02070309020205020404" pitchFamily="49" charset="0"/>
              </a:rPr>
              <a:t>## 1. Input Data</a:t>
            </a:r>
          </a:p>
        </p:txBody>
      </p:sp>
      <p:sp>
        <p:nvSpPr>
          <p:cNvPr id="3" name="Content Placeholder 2">
            <a:extLst>
              <a:ext uri="{FF2B5EF4-FFF2-40B4-BE49-F238E27FC236}">
                <a16:creationId xmlns:a16="http://schemas.microsoft.com/office/drawing/2014/main" id="{5646E0C7-D325-7DF2-B22A-CC2D55C38EF6}"/>
              </a:ext>
            </a:extLst>
          </p:cNvPr>
          <p:cNvSpPr>
            <a:spLocks noGrp="1"/>
          </p:cNvSpPr>
          <p:nvPr>
            <p:ph idx="1"/>
          </p:nvPr>
        </p:nvSpPr>
        <p:spPr>
          <a:xfrm>
            <a:off x="838200" y="1728024"/>
            <a:ext cx="10515600" cy="2843976"/>
          </a:xfrm>
        </p:spPr>
        <p:txBody>
          <a:bodyPr>
            <a:noAutofit/>
          </a:bodyPr>
          <a:lstStyle/>
          <a:p>
            <a:r>
              <a:rPr lang="en-US" sz="2500" dirty="0">
                <a:latin typeface="Arial" panose="020B0604020202020204" pitchFamily="34" charset="0"/>
                <a:cs typeface="Arial" panose="020B0604020202020204" pitchFamily="34" charset="0"/>
              </a:rPr>
              <a:t>Next, we need to provide details related to what data we want to work with throughout the script (i.e., data we created in the previous activities). </a:t>
            </a:r>
          </a:p>
          <a:p>
            <a:r>
              <a:rPr lang="en-US" sz="2500" dirty="0">
                <a:latin typeface="Arial" panose="020B0604020202020204" pitchFamily="34" charset="0"/>
                <a:cs typeface="Arial" panose="020B0604020202020204" pitchFamily="34" charset="0"/>
              </a:rPr>
              <a:t>To do so, all we need to do is give the AI the </a:t>
            </a:r>
            <a:r>
              <a:rPr lang="en-US" sz="2500" b="1" dirty="0">
                <a:solidFill>
                  <a:schemeClr val="accent2"/>
                </a:solidFill>
                <a:latin typeface="Arial" panose="020B0604020202020204" pitchFamily="34" charset="0"/>
                <a:cs typeface="Arial" panose="020B0604020202020204" pitchFamily="34" charset="0"/>
              </a:rPr>
              <a:t>file path </a:t>
            </a:r>
            <a:r>
              <a:rPr lang="en-US" sz="2500" dirty="0">
                <a:latin typeface="Arial" panose="020B0604020202020204" pitchFamily="34" charset="0"/>
                <a:cs typeface="Arial" panose="020B0604020202020204" pitchFamily="34" charset="0"/>
              </a:rPr>
              <a:t>to the data. This ensures that the exact file we want is used as the remainder of the script is created.</a:t>
            </a:r>
          </a:p>
          <a:p>
            <a:r>
              <a:rPr lang="en-US" sz="2500" dirty="0">
                <a:latin typeface="Arial" panose="020B0604020202020204" pitchFamily="34" charset="0"/>
                <a:cs typeface="Arial" panose="020B0604020202020204" pitchFamily="34" charset="0"/>
              </a:rPr>
              <a:t>First, </a:t>
            </a:r>
            <a:r>
              <a:rPr lang="en-US" sz="2500" b="1" dirty="0">
                <a:solidFill>
                  <a:schemeClr val="accent2"/>
                </a:solidFill>
                <a:latin typeface="Arial" panose="020B0604020202020204" pitchFamily="34" charset="0"/>
                <a:cs typeface="Arial" panose="020B0604020202020204" pitchFamily="34" charset="0"/>
              </a:rPr>
              <a:t>add</a:t>
            </a:r>
            <a:r>
              <a:rPr lang="en-US" sz="2500" dirty="0">
                <a:latin typeface="Arial" panose="020B0604020202020204" pitchFamily="34" charset="0"/>
                <a:cs typeface="Arial" panose="020B0604020202020204" pitchFamily="34" charset="0"/>
              </a:rPr>
              <a:t> the </a:t>
            </a:r>
            <a:r>
              <a:rPr lang="en-US" sz="2500" dirty="0">
                <a:latin typeface="Courier New" panose="02070309020205020404" pitchFamily="49" charset="0"/>
                <a:cs typeface="Courier New" panose="02070309020205020404" pitchFamily="49" charset="0"/>
              </a:rPr>
              <a:t>1. Input Data</a:t>
            </a:r>
            <a:r>
              <a:rPr lang="en-US" sz="2500" dirty="0">
                <a:latin typeface="Arial" panose="020B0604020202020204" pitchFamily="34" charset="0"/>
                <a:cs typeface="Arial" panose="020B0604020202020204" pitchFamily="34" charset="0"/>
              </a:rPr>
              <a:t> header under </a:t>
            </a:r>
            <a:r>
              <a:rPr lang="en-US" sz="2500" dirty="0">
                <a:latin typeface="Courier New" panose="02070309020205020404" pitchFamily="49" charset="0"/>
                <a:cs typeface="Courier New" panose="02070309020205020404" pitchFamily="49" charset="0"/>
              </a:rPr>
              <a:t># Forecasting</a:t>
            </a:r>
            <a:r>
              <a:rPr lang="en-US" sz="2500" dirty="0">
                <a:latin typeface="Arial" panose="020B0604020202020204" pitchFamily="34" charset="0"/>
                <a:cs typeface="Arial" panose="020B0604020202020204" pitchFamily="34" charset="0"/>
              </a:rPr>
              <a:t>. Then, </a:t>
            </a:r>
            <a:r>
              <a:rPr lang="en-US" sz="2500" b="1" dirty="0">
                <a:solidFill>
                  <a:schemeClr val="accent2"/>
                </a:solidFill>
                <a:latin typeface="Arial" panose="020B0604020202020204" pitchFamily="34" charset="0"/>
                <a:cs typeface="Arial" panose="020B0604020202020204" pitchFamily="34" charset="0"/>
              </a:rPr>
              <a:t>copy</a:t>
            </a:r>
            <a:r>
              <a:rPr lang="en-US" sz="2500" dirty="0">
                <a:latin typeface="Arial" panose="020B0604020202020204" pitchFamily="34" charset="0"/>
                <a:cs typeface="Arial" panose="020B0604020202020204" pitchFamily="34" charset="0"/>
              </a:rPr>
              <a:t> over the following rule:</a:t>
            </a:r>
            <a:endParaRPr lang="en-US" sz="2500" dirty="0"/>
          </a:p>
        </p:txBody>
      </p:sp>
      <p:sp>
        <p:nvSpPr>
          <p:cNvPr id="6" name="Rectangle: Rounded Corners 5">
            <a:extLst>
              <a:ext uri="{FF2B5EF4-FFF2-40B4-BE49-F238E27FC236}">
                <a16:creationId xmlns:a16="http://schemas.microsoft.com/office/drawing/2014/main" id="{47F4C1FE-354C-B382-FD1F-16F811BF6D6F}"/>
              </a:ext>
            </a:extLst>
          </p:cNvPr>
          <p:cNvSpPr/>
          <p:nvPr/>
        </p:nvSpPr>
        <p:spPr>
          <a:xfrm>
            <a:off x="838200" y="5118057"/>
            <a:ext cx="10395858" cy="1000285"/>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 name="TextBox 4">
            <a:extLst>
              <a:ext uri="{FF2B5EF4-FFF2-40B4-BE49-F238E27FC236}">
                <a16:creationId xmlns:a16="http://schemas.microsoft.com/office/drawing/2014/main" id="{25CE7715-67B6-BA46-D00D-49A44A50F6AD}"/>
              </a:ext>
            </a:extLst>
          </p:cNvPr>
          <p:cNvSpPr txBox="1"/>
          <p:nvPr/>
        </p:nvSpPr>
        <p:spPr>
          <a:xfrm>
            <a:off x="933450" y="5271598"/>
            <a:ext cx="10205358" cy="707886"/>
          </a:xfrm>
          <a:prstGeom prst="rect">
            <a:avLst/>
          </a:prstGeom>
          <a:noFill/>
        </p:spPr>
        <p:txBody>
          <a:bodyPr wrap="square">
            <a:spAutoFit/>
          </a:bodyPr>
          <a:lstStyle/>
          <a:p>
            <a:pPr>
              <a:spcBef>
                <a:spcPts val="600"/>
              </a:spcBef>
              <a:spcAft>
                <a:spcPts val="1200"/>
              </a:spcAft>
            </a:pPr>
            <a:r>
              <a:rPr lang="en-US" sz="2000" dirty="0">
                <a:latin typeface="Courier New" panose="02070309020205020404" pitchFamily="49" charset="0"/>
                <a:cs typeface="Courier New" panose="02070309020205020404" pitchFamily="49" charset="0"/>
              </a:rPr>
              <a:t>Read in the input data set from `output/data/01_cleaning/cleaned_flu_admissions.csv`. </a:t>
            </a:r>
          </a:p>
        </p:txBody>
      </p:sp>
      <p:pic>
        <p:nvPicPr>
          <p:cNvPr id="8" name="Picture 7" descr="Your Turn Rubber Stamp Royalty Free SVG, Cliparts, Vectors, and Stock  Illustration. Image 68258628.">
            <a:extLst>
              <a:ext uri="{FF2B5EF4-FFF2-40B4-BE49-F238E27FC236}">
                <a16:creationId xmlns:a16="http://schemas.microsoft.com/office/drawing/2014/main" id="{E3DC5CC4-86BE-8A94-F991-96C4607BA17C}"/>
              </a:ext>
            </a:extLst>
          </p:cNvPr>
          <p:cNvPicPr>
            <a:picLocks noChangeAspect="1"/>
          </p:cNvPicPr>
          <p:nvPr/>
        </p:nvPicPr>
        <p:blipFill>
          <a:blip r:embed="rId3"/>
          <a:stretch>
            <a:fillRect/>
          </a:stretch>
        </p:blipFill>
        <p:spPr>
          <a:xfrm>
            <a:off x="1857696" y="88312"/>
            <a:ext cx="1325564" cy="1325564"/>
          </a:xfrm>
          <a:prstGeom prst="rect">
            <a:avLst/>
          </a:prstGeom>
        </p:spPr>
      </p:pic>
    </p:spTree>
    <p:extLst>
      <p:ext uri="{BB962C8B-B14F-4D97-AF65-F5344CB8AC3E}">
        <p14:creationId xmlns:p14="http://schemas.microsoft.com/office/powerpoint/2010/main" val="744857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44F8605F-242C-12FB-8746-65BCB76F6305}"/>
              </a:ext>
            </a:extLst>
          </p:cNvPr>
          <p:cNvSpPr/>
          <p:nvPr/>
        </p:nvSpPr>
        <p:spPr>
          <a:xfrm>
            <a:off x="838200" y="2959898"/>
            <a:ext cx="10395858" cy="3811015"/>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 name="Content Placeholder 2">
            <a:extLst>
              <a:ext uri="{FF2B5EF4-FFF2-40B4-BE49-F238E27FC236}">
                <a16:creationId xmlns:a16="http://schemas.microsoft.com/office/drawing/2014/main" id="{4C8ADE9C-D6A7-3FB4-0762-7F13398A8030}"/>
              </a:ext>
            </a:extLst>
          </p:cNvPr>
          <p:cNvSpPr txBox="1">
            <a:spLocks/>
          </p:cNvSpPr>
          <p:nvPr/>
        </p:nvSpPr>
        <p:spPr>
          <a:xfrm>
            <a:off x="838200" y="1432658"/>
            <a:ext cx="10515600" cy="17961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latin typeface="Arial" panose="020B0604020202020204" pitchFamily="34" charset="0"/>
                <a:cs typeface="Arial" panose="020B0604020202020204" pitchFamily="34" charset="0"/>
              </a:rPr>
              <a:t>AI is </a:t>
            </a:r>
            <a:r>
              <a:rPr lang="en-US" sz="2100" b="1" dirty="0">
                <a:solidFill>
                  <a:schemeClr val="accent2"/>
                </a:solidFill>
                <a:latin typeface="Arial" panose="020B0604020202020204" pitchFamily="34" charset="0"/>
                <a:cs typeface="Arial" panose="020B0604020202020204" pitchFamily="34" charset="0"/>
              </a:rPr>
              <a:t>not perfect </a:t>
            </a:r>
            <a:r>
              <a:rPr lang="en-US" sz="2100" dirty="0">
                <a:latin typeface="Arial" panose="020B0604020202020204" pitchFamily="34" charset="0"/>
                <a:cs typeface="Arial" panose="020B0604020202020204" pitchFamily="34" charset="0"/>
              </a:rPr>
              <a:t>by any means, so we want to build in some validations and error messages to help us catch any mistakes that might occur (e.g., file structure, parsing issues, etc.). </a:t>
            </a:r>
          </a:p>
          <a:p>
            <a:r>
              <a:rPr lang="en-US" sz="2100" dirty="0">
                <a:latin typeface="Arial" panose="020B0604020202020204" pitchFamily="34" charset="0"/>
                <a:cs typeface="Arial" panose="020B0604020202020204" pitchFamily="34" charset="0"/>
              </a:rPr>
              <a:t>Under the input rule, </a:t>
            </a:r>
            <a:r>
              <a:rPr lang="en-US" sz="2100" b="1" dirty="0">
                <a:solidFill>
                  <a:schemeClr val="accent2"/>
                </a:solidFill>
                <a:latin typeface="Arial" panose="020B0604020202020204" pitchFamily="34" charset="0"/>
                <a:cs typeface="Arial" panose="020B0604020202020204" pitchFamily="34" charset="0"/>
              </a:rPr>
              <a:t>include</a:t>
            </a:r>
            <a:r>
              <a:rPr lang="en-US" sz="2100" dirty="0">
                <a:latin typeface="Arial" panose="020B0604020202020204" pitchFamily="34" charset="0"/>
                <a:cs typeface="Arial" panose="020B0604020202020204" pitchFamily="34" charset="0"/>
              </a:rPr>
              <a:t> the following validations rules: </a:t>
            </a:r>
          </a:p>
          <a:p>
            <a:pPr marL="0" indent="0">
              <a:buFont typeface="Arial" panose="020B0604020202020204" pitchFamily="34" charset="0"/>
              <a:buNone/>
            </a:pPr>
            <a:endParaRPr lang="en-US" dirty="0"/>
          </a:p>
        </p:txBody>
      </p:sp>
      <p:sp>
        <p:nvSpPr>
          <p:cNvPr id="5" name="TextBox 4">
            <a:extLst>
              <a:ext uri="{FF2B5EF4-FFF2-40B4-BE49-F238E27FC236}">
                <a16:creationId xmlns:a16="http://schemas.microsoft.com/office/drawing/2014/main" id="{AB30E44D-53BE-BA15-5005-2F030651F45E}"/>
              </a:ext>
            </a:extLst>
          </p:cNvPr>
          <p:cNvSpPr txBox="1"/>
          <p:nvPr/>
        </p:nvSpPr>
        <p:spPr>
          <a:xfrm>
            <a:off x="1079046" y="3143193"/>
            <a:ext cx="10033908" cy="3477875"/>
          </a:xfrm>
          <a:prstGeom prst="rect">
            <a:avLst/>
          </a:prstGeom>
          <a:noFill/>
        </p:spPr>
        <p:txBody>
          <a:bodyPr wrap="square">
            <a:spAutoFit/>
          </a:bodyPr>
          <a:lstStyle/>
          <a:p>
            <a:r>
              <a:rPr lang="en-US" sz="2000" dirty="0">
                <a:latin typeface="Courier New" panose="02070309020205020404" pitchFamily="49" charset="0"/>
                <a:cs typeface="Courier New" panose="02070309020205020404" pitchFamily="49" charset="0"/>
              </a:rPr>
              <a:t>Ensure the column names and column types/formats match the following:</a:t>
            </a:r>
          </a:p>
          <a:p>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 `week`: Date column, YYYY-MM-DD</a:t>
            </a:r>
          </a:p>
          <a:p>
            <a:r>
              <a:rPr lang="en-US" sz="2000" dirty="0">
                <a:latin typeface="Courier New" panose="02070309020205020404" pitchFamily="49" charset="0"/>
                <a:cs typeface="Courier New" panose="02070309020205020404" pitchFamily="49" charset="0"/>
              </a:rPr>
              <a:t>- `location`: Character; all values should be "US"</a:t>
            </a:r>
          </a:p>
          <a:p>
            <a:r>
              <a:rPr lang="en-US" sz="2000" dirty="0">
                <a:latin typeface="Courier New" panose="02070309020205020404" pitchFamily="49" charset="0"/>
                <a:cs typeface="Courier New" panose="02070309020205020404" pitchFamily="49" charset="0"/>
              </a:rPr>
              <a:t>- `value`: Numeric</a:t>
            </a:r>
          </a:p>
          <a:p>
            <a:r>
              <a:rPr lang="en-US" sz="2000" dirty="0">
                <a:latin typeface="Courier New" panose="02070309020205020404" pitchFamily="49" charset="0"/>
                <a:cs typeface="Courier New" panose="02070309020205020404" pitchFamily="49" charset="0"/>
              </a:rPr>
              <a:t>If any columns have violations please first try to parse to the correct format, and then notify the user. If any columns can not be parsed, please return the following error:</a:t>
            </a:r>
          </a:p>
          <a:p>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'The {column} could not be parsed.'</a:t>
            </a:r>
          </a:p>
        </p:txBody>
      </p:sp>
      <p:pic>
        <p:nvPicPr>
          <p:cNvPr id="6" name="Picture 5" descr="Your Turn Rubber Stamp Royalty Free SVG, Cliparts, Vectors, and Stock  Illustration. Image 68258628.">
            <a:extLst>
              <a:ext uri="{FF2B5EF4-FFF2-40B4-BE49-F238E27FC236}">
                <a16:creationId xmlns:a16="http://schemas.microsoft.com/office/drawing/2014/main" id="{8F418565-3A59-BA5B-9AEF-EE72B4F6F73A}"/>
              </a:ext>
            </a:extLst>
          </p:cNvPr>
          <p:cNvPicPr>
            <a:picLocks noChangeAspect="1"/>
          </p:cNvPicPr>
          <p:nvPr/>
        </p:nvPicPr>
        <p:blipFill>
          <a:blip r:embed="rId2"/>
          <a:stretch>
            <a:fillRect/>
          </a:stretch>
        </p:blipFill>
        <p:spPr>
          <a:xfrm>
            <a:off x="1816211" y="76201"/>
            <a:ext cx="1188246" cy="1188246"/>
          </a:xfrm>
          <a:prstGeom prst="rect">
            <a:avLst/>
          </a:prstGeom>
        </p:spPr>
      </p:pic>
      <p:sp>
        <p:nvSpPr>
          <p:cNvPr id="7" name="Title 1">
            <a:extLst>
              <a:ext uri="{FF2B5EF4-FFF2-40B4-BE49-F238E27FC236}">
                <a16:creationId xmlns:a16="http://schemas.microsoft.com/office/drawing/2014/main" id="{1A7064AC-F600-0FF8-7F45-976340D1A8AA}"/>
              </a:ext>
            </a:extLst>
          </p:cNvPr>
          <p:cNvSpPr>
            <a:spLocks noGrp="1"/>
          </p:cNvSpPr>
          <p:nvPr>
            <p:ph type="title"/>
          </p:nvPr>
        </p:nvSpPr>
        <p:spPr>
          <a:xfrm>
            <a:off x="838200" y="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Input Data Validations</a:t>
            </a:r>
          </a:p>
        </p:txBody>
      </p:sp>
    </p:spTree>
    <p:extLst>
      <p:ext uri="{BB962C8B-B14F-4D97-AF65-F5344CB8AC3E}">
        <p14:creationId xmlns:p14="http://schemas.microsoft.com/office/powerpoint/2010/main" val="3555764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8ECCA-25B1-E611-92FB-430CABB6D9E4}"/>
              </a:ext>
            </a:extLst>
          </p:cNvPr>
          <p:cNvSpPr>
            <a:spLocks noGrp="1"/>
          </p:cNvSpPr>
          <p:nvPr>
            <p:ph type="title"/>
          </p:nvPr>
        </p:nvSpPr>
        <p:spPr>
          <a:xfrm>
            <a:off x="838200" y="2766219"/>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Task 1: </a:t>
            </a:r>
            <a:r>
              <a:rPr lang="en-US" b="1">
                <a:solidFill>
                  <a:srgbClr val="7030A0"/>
                </a:solidFill>
                <a:latin typeface="Arial" panose="020B0604020202020204" pitchFamily="34" charset="0"/>
                <a:ea typeface="Calibri" pitchFamily="34" charset="-122"/>
                <a:cs typeface="Arial" panose="020B0604020202020204" pitchFamily="34" charset="0"/>
              </a:rPr>
              <a:t>Specifying the Training and Forecast Period </a:t>
            </a:r>
            <a:endParaRPr lang="en-US" b="1">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15252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729996" y="268224"/>
            <a:ext cx="10732008" cy="853440"/>
          </a:xfrm>
          <a:prstGeom prst="rect">
            <a:avLst/>
          </a:prstGeom>
          <a:noFill/>
          <a:ln/>
        </p:spPr>
        <p:txBody>
          <a:bodyPr wrap="square" lIns="0" tIns="0" rIns="0" bIns="0" rtlCol="0" anchor="ctr"/>
          <a:lstStyle/>
          <a:p>
            <a:pPr algn="ctr"/>
            <a:r>
              <a:rPr lang="en-US" sz="3800" b="1" dirty="0">
                <a:solidFill>
                  <a:srgbClr val="7030A0"/>
                </a:solidFill>
                <a:latin typeface="Arial" panose="020B0604020202020204" pitchFamily="34" charset="0"/>
                <a:cs typeface="Arial" panose="020B0604020202020204" pitchFamily="34" charset="0"/>
              </a:rPr>
              <a:t>The Plan: Training &amp; Testing Periods</a:t>
            </a:r>
          </a:p>
        </p:txBody>
      </p:sp>
      <p:sp>
        <p:nvSpPr>
          <p:cNvPr id="90" name="conn"/>
          <p:cNvSpPr/>
          <p:nvPr/>
        </p:nvSpPr>
        <p:spPr>
          <a:xfrm flipV="1">
            <a:off x="5484805" y="3493732"/>
            <a:ext cx="1182226" cy="0"/>
          </a:xfrm>
          <a:prstGeom prst="line">
            <a:avLst/>
          </a:prstGeom>
          <a:noFill/>
          <a:ln w="76200" cap="rnd">
            <a:solidFill>
              <a:srgbClr val="E97132"/>
            </a:solidFill>
            <a:prstDash val="solid"/>
            <a:tailEnd type="triangle" w="med" len="med"/>
          </a:ln>
        </p:spPr>
        <p:txBody>
          <a:bodyPr/>
          <a:lstStyle/>
          <a:p>
            <a:endParaRPr lang="en-US"/>
          </a:p>
        </p:txBody>
      </p:sp>
      <p:sp>
        <p:nvSpPr>
          <p:cNvPr id="100" name="card"/>
          <p:cNvSpPr/>
          <p:nvPr/>
        </p:nvSpPr>
        <p:spPr>
          <a:xfrm>
            <a:off x="660546" y="1685575"/>
            <a:ext cx="4824258" cy="3630742"/>
          </a:xfrm>
          <a:prstGeom prst="roundRect">
            <a:avLst>
              <a:gd name="adj" fmla="val 6000"/>
            </a:avLst>
          </a:prstGeom>
          <a:solidFill>
            <a:srgbClr val="E8F4F8"/>
          </a:solidFill>
          <a:ln>
            <a:solidFill>
              <a:srgbClr val="E8F4F8"/>
            </a:solidFill>
          </a:ln>
          <a:effectLst>
            <a:outerShdw blurRad="50800" dist="25400" dir="8100000" algn="bl" rotWithShape="0">
              <a:srgbClr val="000000">
                <a:alpha val="10000"/>
              </a:srgbClr>
            </a:outerShdw>
          </a:effectLst>
        </p:spPr>
        <p:txBody>
          <a:bodyPr/>
          <a:lstStyle/>
          <a:p>
            <a:endParaRPr lang="en-US"/>
          </a:p>
        </p:txBody>
      </p:sp>
      <p:sp>
        <p:nvSpPr>
          <p:cNvPr id="101" name="tb"/>
          <p:cNvSpPr txBox="1"/>
          <p:nvPr/>
        </p:nvSpPr>
        <p:spPr>
          <a:xfrm>
            <a:off x="898449" y="1915575"/>
            <a:ext cx="4348452" cy="2921119"/>
          </a:xfrm>
          <a:prstGeom prst="rect">
            <a:avLst/>
          </a:prstGeom>
          <a:noFill/>
          <a:ln/>
        </p:spPr>
        <p:txBody>
          <a:bodyPr wrap="square" lIns="0" tIns="0" rIns="0" bIns="0" rtlCol="0" anchor="t"/>
          <a:lstStyle/>
          <a:p>
            <a:pPr algn="l"/>
            <a:r>
              <a:rPr lang="en-US" sz="2500" b="1" dirty="0">
                <a:solidFill>
                  <a:srgbClr val="13678A"/>
                </a:solidFill>
                <a:latin typeface="Arial" panose="020B0604020202020204" pitchFamily="34" charset="0"/>
                <a:cs typeface="Arial" panose="020B0604020202020204" pitchFamily="34" charset="0"/>
              </a:rPr>
              <a:t>TRAINING PERIOD</a:t>
            </a:r>
          </a:p>
          <a:p>
            <a:pPr algn="l"/>
            <a:endParaRPr lang="en-US" sz="2000" b="1" dirty="0">
              <a:solidFill>
                <a:srgbClr val="13678A"/>
              </a:solidFill>
              <a:latin typeface="Arial" panose="020B0604020202020204" pitchFamily="34" charset="0"/>
              <a:cs typeface="Arial" panose="020B0604020202020204" pitchFamily="34" charset="0"/>
            </a:endParaRPr>
          </a:p>
          <a:p>
            <a:pPr algn="l">
              <a:lnSpc>
                <a:spcPts val="2100"/>
              </a:lnSpc>
            </a:pPr>
            <a:r>
              <a:rPr lang="en-US" sz="2500" b="1" dirty="0">
                <a:solidFill>
                  <a:srgbClr val="0B2545"/>
                </a:solidFill>
                <a:latin typeface="Arial" panose="020B0604020202020204" pitchFamily="34" charset="0"/>
                <a:cs typeface="Arial" panose="020B0604020202020204" pitchFamily="34" charset="0"/>
              </a:rPr>
              <a:t>Seasons before 2025-2026</a:t>
            </a:r>
          </a:p>
          <a:p>
            <a:pPr algn="l"/>
            <a:endParaRPr lang="en-US" sz="2000" b="1" dirty="0">
              <a:solidFill>
                <a:srgbClr val="0B2545"/>
              </a:solidFill>
              <a:latin typeface="Arial" panose="020B0604020202020204" pitchFamily="34" charset="0"/>
              <a:cs typeface="Arial" panose="020B0604020202020204" pitchFamily="34" charset="0"/>
            </a:endParaRPr>
          </a:p>
          <a:p>
            <a:pPr algn="l">
              <a:spcAft>
                <a:spcPts val="600"/>
              </a:spcAft>
            </a:pPr>
            <a:r>
              <a:rPr lang="en-US" sz="2000" dirty="0">
                <a:solidFill>
                  <a:srgbClr val="334155"/>
                </a:solidFill>
                <a:latin typeface="Arial" panose="020B0604020202020204" pitchFamily="34" charset="0"/>
                <a:cs typeface="Arial" panose="020B0604020202020204" pitchFamily="34" charset="0"/>
              </a:rPr>
              <a:t>Fit the model on </a:t>
            </a:r>
            <a:r>
              <a:rPr lang="en-US" sz="2000" b="1" dirty="0">
                <a:solidFill>
                  <a:schemeClr val="accent2"/>
                </a:solidFill>
                <a:latin typeface="Arial" panose="020B0604020202020204" pitchFamily="34" charset="0"/>
                <a:cs typeface="Arial" panose="020B0604020202020204" pitchFamily="34" charset="0"/>
              </a:rPr>
              <a:t>all observed weeks</a:t>
            </a:r>
            <a:r>
              <a:rPr lang="en-US" sz="2000" dirty="0">
                <a:solidFill>
                  <a:srgbClr val="334155"/>
                </a:solidFill>
                <a:latin typeface="Arial" panose="020B0604020202020204" pitchFamily="34" charset="0"/>
                <a:cs typeface="Arial" panose="020B0604020202020204" pitchFamily="34" charset="0"/>
              </a:rPr>
              <a:t> strictly before the first week of the testing period present in the data. Use these rows as the fixed initial training set; subsequent forecasts will use an </a:t>
            </a:r>
            <a:r>
              <a:rPr lang="en-US" sz="2000" b="1" dirty="0">
                <a:solidFill>
                  <a:schemeClr val="accent2"/>
                </a:solidFill>
                <a:latin typeface="Arial" panose="020B0604020202020204" pitchFamily="34" charset="0"/>
                <a:cs typeface="Arial" panose="020B0604020202020204" pitchFamily="34" charset="0"/>
              </a:rPr>
              <a:t>‘expanding window’. </a:t>
            </a:r>
          </a:p>
        </p:txBody>
      </p:sp>
      <p:sp>
        <p:nvSpPr>
          <p:cNvPr id="104" name="card"/>
          <p:cNvSpPr/>
          <p:nvPr/>
        </p:nvSpPr>
        <p:spPr>
          <a:xfrm>
            <a:off x="6667031" y="1685575"/>
            <a:ext cx="4837176" cy="3616317"/>
          </a:xfrm>
          <a:prstGeom prst="roundRect">
            <a:avLst>
              <a:gd name="adj" fmla="val 6000"/>
            </a:avLst>
          </a:prstGeom>
          <a:solidFill>
            <a:srgbClr val="DCEAF7"/>
          </a:solidFill>
          <a:ln>
            <a:solidFill>
              <a:srgbClr val="DCEAF7"/>
            </a:solidFill>
          </a:ln>
          <a:effectLst>
            <a:outerShdw blurRad="50800" dist="25400" dir="8100000" algn="bl" rotWithShape="0">
              <a:srgbClr val="000000">
                <a:alpha val="10000"/>
              </a:srgbClr>
            </a:outerShdw>
          </a:effectLst>
        </p:spPr>
        <p:txBody>
          <a:bodyPr/>
          <a:lstStyle/>
          <a:p>
            <a:endParaRPr lang="en-US"/>
          </a:p>
        </p:txBody>
      </p:sp>
      <p:sp>
        <p:nvSpPr>
          <p:cNvPr id="160" name="card"/>
          <p:cNvSpPr/>
          <p:nvPr/>
        </p:nvSpPr>
        <p:spPr>
          <a:xfrm>
            <a:off x="660546" y="5745544"/>
            <a:ext cx="10843661" cy="741189"/>
          </a:xfrm>
          <a:prstGeom prst="rect">
            <a:avLst/>
          </a:prstGeom>
          <a:solidFill>
            <a:srgbClr val="EAEAEA"/>
          </a:solidFill>
          <a:ln>
            <a:solidFill>
              <a:srgbClr val="EAEAEA"/>
            </a:solidFill>
          </a:ln>
        </p:spPr>
        <p:txBody>
          <a:bodyPr/>
          <a:lstStyle/>
          <a:p>
            <a:endParaRPr lang="en-US"/>
          </a:p>
        </p:txBody>
      </p:sp>
      <p:sp>
        <p:nvSpPr>
          <p:cNvPr id="161" name="tb"/>
          <p:cNvSpPr txBox="1"/>
          <p:nvPr/>
        </p:nvSpPr>
        <p:spPr>
          <a:xfrm>
            <a:off x="611454" y="5859072"/>
            <a:ext cx="10920000" cy="560000"/>
          </a:xfrm>
          <a:prstGeom prst="rect">
            <a:avLst/>
          </a:prstGeom>
          <a:noFill/>
          <a:ln/>
        </p:spPr>
        <p:txBody>
          <a:bodyPr wrap="square" lIns="0" tIns="0" rIns="0" bIns="0" rtlCol="0" anchor="ctr"/>
          <a:lstStyle/>
          <a:p>
            <a:pPr algn="ctr"/>
            <a:r>
              <a:rPr lang="en-US" sz="2000" b="1">
                <a:solidFill>
                  <a:srgbClr val="334155"/>
                </a:solidFill>
                <a:latin typeface="Arial" panose="020B0604020202020204" pitchFamily="34" charset="0"/>
                <a:cs typeface="Arial" panose="020B0604020202020204" pitchFamily="34" charset="0"/>
              </a:rPr>
              <a:t>Forecasting Horizon: </a:t>
            </a:r>
            <a:r>
              <a:rPr lang="en-US" sz="2000">
                <a:solidFill>
                  <a:srgbClr val="334155"/>
                </a:solidFill>
                <a:latin typeface="Arial" panose="020B0604020202020204" pitchFamily="34" charset="0"/>
                <a:cs typeface="Arial" panose="020B0604020202020204" pitchFamily="34" charset="0"/>
              </a:rPr>
              <a:t>1-Week Ahead (</a:t>
            </a:r>
            <a:r>
              <a:rPr lang="en-US" sz="2000">
                <a:solidFill>
                  <a:srgbClr val="334155"/>
                </a:solidFill>
                <a:latin typeface="Courier New" panose="02070309020205020404" pitchFamily="49" charset="0"/>
                <a:cs typeface="Courier New" panose="02070309020205020404" pitchFamily="49" charset="0"/>
              </a:rPr>
              <a:t>horizon = 1</a:t>
            </a:r>
            <a:r>
              <a:rPr lang="en-US" sz="2000">
                <a:solidFill>
                  <a:srgbClr val="334155"/>
                </a:solidFill>
                <a:latin typeface="Arial" panose="020B0604020202020204" pitchFamily="34" charset="0"/>
                <a:cs typeface="Arial" panose="020B0604020202020204" pitchFamily="34" charset="0"/>
              </a:rPr>
              <a:t>)</a:t>
            </a:r>
          </a:p>
        </p:txBody>
      </p:sp>
      <p:sp>
        <p:nvSpPr>
          <p:cNvPr id="3" name="tb">
            <a:extLst>
              <a:ext uri="{FF2B5EF4-FFF2-40B4-BE49-F238E27FC236}">
                <a16:creationId xmlns:a16="http://schemas.microsoft.com/office/drawing/2014/main" id="{43820E31-E313-B6C7-52F3-A16E2D571C0E}"/>
              </a:ext>
            </a:extLst>
          </p:cNvPr>
          <p:cNvSpPr txBox="1"/>
          <p:nvPr/>
        </p:nvSpPr>
        <p:spPr>
          <a:xfrm>
            <a:off x="6911393" y="1915575"/>
            <a:ext cx="4348452" cy="3113626"/>
          </a:xfrm>
          <a:prstGeom prst="rect">
            <a:avLst/>
          </a:prstGeom>
          <a:noFill/>
          <a:ln/>
        </p:spPr>
        <p:txBody>
          <a:bodyPr wrap="square" lIns="0" tIns="0" rIns="0" bIns="0" rtlCol="0" anchor="t"/>
          <a:lstStyle/>
          <a:p>
            <a:pPr algn="l"/>
            <a:r>
              <a:rPr lang="en-US" sz="2500" b="1" dirty="0">
                <a:solidFill>
                  <a:srgbClr val="13678A"/>
                </a:solidFill>
                <a:latin typeface="Arial" panose="020B0604020202020204" pitchFamily="34" charset="0"/>
                <a:cs typeface="Arial" panose="020B0604020202020204" pitchFamily="34" charset="0"/>
              </a:rPr>
              <a:t>TESTING PERIOD (Rolling)</a:t>
            </a:r>
          </a:p>
          <a:p>
            <a:pPr algn="l"/>
            <a:endParaRPr lang="en-US" sz="2000" b="1" dirty="0">
              <a:solidFill>
                <a:srgbClr val="13678A"/>
              </a:solidFill>
              <a:latin typeface="Arial" panose="020B0604020202020204" pitchFamily="34" charset="0"/>
              <a:cs typeface="Arial" panose="020B0604020202020204" pitchFamily="34" charset="0"/>
            </a:endParaRPr>
          </a:p>
          <a:p>
            <a:pPr algn="l">
              <a:lnSpc>
                <a:spcPts val="2100"/>
              </a:lnSpc>
            </a:pPr>
            <a:r>
              <a:rPr lang="en-US" sz="2500" b="1" dirty="0">
                <a:solidFill>
                  <a:srgbClr val="0B2545"/>
                </a:solidFill>
                <a:latin typeface="Arial" panose="020B0604020202020204" pitchFamily="34" charset="0"/>
                <a:cs typeface="Arial" panose="020B0604020202020204" pitchFamily="34" charset="0"/>
              </a:rPr>
              <a:t>2025-2026 Season</a:t>
            </a:r>
          </a:p>
          <a:p>
            <a:pPr algn="l"/>
            <a:endParaRPr lang="en-US" sz="2000" b="1" dirty="0">
              <a:solidFill>
                <a:srgbClr val="0B2545"/>
              </a:solidFill>
              <a:latin typeface="Arial" panose="020B0604020202020204" pitchFamily="34" charset="0"/>
              <a:cs typeface="Arial" panose="020B0604020202020204" pitchFamily="34" charset="0"/>
            </a:endParaRPr>
          </a:p>
          <a:p>
            <a:pPr algn="l">
              <a:spcAft>
                <a:spcPts val="600"/>
              </a:spcAft>
            </a:pPr>
            <a:r>
              <a:rPr lang="en-US" sz="2000" dirty="0">
                <a:solidFill>
                  <a:srgbClr val="334155"/>
                </a:solidFill>
                <a:latin typeface="Arial" panose="020B0604020202020204" pitchFamily="34" charset="0"/>
                <a:cs typeface="Arial" panose="020B0604020202020204" pitchFamily="34" charset="0"/>
              </a:rPr>
              <a:t>Use the defined </a:t>
            </a:r>
            <a:r>
              <a:rPr lang="en-US" sz="2000" b="1" dirty="0">
                <a:solidFill>
                  <a:schemeClr val="accent2"/>
                </a:solidFill>
                <a:latin typeface="Arial" panose="020B0604020202020204" pitchFamily="34" charset="0"/>
                <a:cs typeface="Arial" panose="020B0604020202020204" pitchFamily="34" charset="0"/>
              </a:rPr>
              <a:t>2025-2026 season </a:t>
            </a:r>
            <a:r>
              <a:rPr lang="en-US" sz="2000" dirty="0">
                <a:solidFill>
                  <a:srgbClr val="334155"/>
                </a:solidFill>
                <a:latin typeface="Arial" panose="020B0604020202020204" pitchFamily="34" charset="0"/>
                <a:cs typeface="Arial" panose="020B0604020202020204" pitchFamily="34" charset="0"/>
              </a:rPr>
              <a:t>(See Previous Slides) as the testing period.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100" grpId="0" animBg="1"/>
      <p:bldP spid="101" grpId="0" animBg="1"/>
      <p:bldP spid="104" grpId="0" animBg="1"/>
      <p:bldP spid="160" grpId="0" animBg="1"/>
      <p:bldP spid="161" grpId="0" animBg="1"/>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3BD836-B389-CB45-FE1E-B82F9B043A2B}"/>
              </a:ext>
            </a:extLst>
          </p:cNvPr>
          <p:cNvSpPr txBox="1"/>
          <p:nvPr/>
        </p:nvSpPr>
        <p:spPr>
          <a:xfrm>
            <a:off x="1710642" y="1375782"/>
            <a:ext cx="8770716" cy="4662815"/>
          </a:xfrm>
          <a:prstGeom prst="rect">
            <a:avLst/>
          </a:prstGeom>
          <a:noFill/>
        </p:spPr>
        <p:txBody>
          <a:bodyPr wrap="square">
            <a:spAutoFit/>
          </a:bodyPr>
          <a:lstStyle/>
          <a:p>
            <a:pPr algn="ctr"/>
            <a:r>
              <a:rPr lang="en-US" sz="3300" b="0" kern="1200" dirty="0">
                <a:solidFill>
                  <a:schemeClr val="tx1"/>
                </a:solidFill>
                <a:effectLst/>
                <a:latin typeface="Arial" panose="020B0604020202020204" pitchFamily="34" charset="0"/>
                <a:cs typeface="Arial" panose="020B0604020202020204" pitchFamily="34" charset="0"/>
              </a:rPr>
              <a:t>Forecasts are produced with an </a:t>
            </a:r>
            <a:r>
              <a:rPr lang="en-US" sz="3300" b="1" kern="1200" dirty="0">
                <a:solidFill>
                  <a:schemeClr val="accent2"/>
                </a:solidFill>
                <a:effectLst/>
                <a:latin typeface="Arial" panose="020B0604020202020204" pitchFamily="34" charset="0"/>
                <a:cs typeface="Arial" panose="020B0604020202020204" pitchFamily="34" charset="0"/>
              </a:rPr>
              <a:t>expanding window</a:t>
            </a:r>
            <a:r>
              <a:rPr lang="en-US" sz="3300" b="0" kern="1200" dirty="0">
                <a:solidFill>
                  <a:schemeClr val="tx1"/>
                </a:solidFill>
                <a:effectLst/>
                <a:latin typeface="Arial" panose="020B0604020202020204" pitchFamily="34" charset="0"/>
                <a:cs typeface="Arial" panose="020B0604020202020204" pitchFamily="34" charset="0"/>
              </a:rPr>
              <a:t>. For each target week in the testing period, the model is refit on all observed weeks that fall strictly before that target week. The initial training data is the set of weeks strictly before the first testing-week present in the data; as each test week becomes observed it is added to the fitting window for subsequent targets.</a:t>
            </a:r>
          </a:p>
        </p:txBody>
      </p:sp>
      <p:sp>
        <p:nvSpPr>
          <p:cNvPr id="4" name="Text 0">
            <a:extLst>
              <a:ext uri="{FF2B5EF4-FFF2-40B4-BE49-F238E27FC236}">
                <a16:creationId xmlns:a16="http://schemas.microsoft.com/office/drawing/2014/main" id="{2B009971-765A-4CFF-AC0C-2902A734F976}"/>
              </a:ext>
            </a:extLst>
          </p:cNvPr>
          <p:cNvSpPr/>
          <p:nvPr/>
        </p:nvSpPr>
        <p:spPr>
          <a:xfrm>
            <a:off x="914400" y="169244"/>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Expanding Window</a:t>
            </a:r>
            <a:endParaRPr lang="en-US" sz="400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6915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53954-47E7-99DD-2BAA-577B609DE257}"/>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0A4AE0F1-CFDC-148A-7505-43DF2C281ABB}"/>
              </a:ext>
            </a:extLst>
          </p:cNvPr>
          <p:cNvSpPr/>
          <p:nvPr/>
        </p:nvSpPr>
        <p:spPr>
          <a:xfrm>
            <a:off x="914400" y="5769136"/>
            <a:ext cx="10363200" cy="740779"/>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B962CC97-EAFE-96A6-27B9-9FBB6B2FC6F8}"/>
              </a:ext>
            </a:extLst>
          </p:cNvPr>
          <p:cNvSpPr/>
          <p:nvPr/>
        </p:nvSpPr>
        <p:spPr>
          <a:xfrm>
            <a:off x="914400" y="4659553"/>
            <a:ext cx="10363200" cy="740779"/>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0">
            <a:extLst>
              <a:ext uri="{FF2B5EF4-FFF2-40B4-BE49-F238E27FC236}">
                <a16:creationId xmlns:a16="http://schemas.microsoft.com/office/drawing/2014/main" id="{8206C448-755B-4BF5-49AD-87753333E296}"/>
              </a:ext>
            </a:extLst>
          </p:cNvPr>
          <p:cNvSpPr/>
          <p:nvPr/>
        </p:nvSpPr>
        <p:spPr>
          <a:xfrm>
            <a:off x="914400" y="134519"/>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Adding in Diagnostics (a.k.a. Checks)</a:t>
            </a:r>
            <a:endParaRPr lang="en-US" sz="4000">
              <a:solidFill>
                <a:srgbClr val="7030A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93DFB0EA-23E7-1CCE-209E-939AE468B382}"/>
              </a:ext>
            </a:extLst>
          </p:cNvPr>
          <p:cNvSpPr txBox="1"/>
          <p:nvPr/>
        </p:nvSpPr>
        <p:spPr>
          <a:xfrm>
            <a:off x="914400" y="1280722"/>
            <a:ext cx="10363200" cy="1246495"/>
          </a:xfrm>
          <a:prstGeom prst="rect">
            <a:avLst/>
          </a:prstGeom>
          <a:noFill/>
        </p:spPr>
        <p:txBody>
          <a:bodyPr wrap="square">
            <a:spAutoFit/>
          </a:bodyPr>
          <a:lstStyle/>
          <a:p>
            <a:pPr algn="ctr"/>
            <a:r>
              <a:rPr lang="en-US" sz="2500" dirty="0">
                <a:latin typeface="Arial" panose="020B0604020202020204" pitchFamily="34" charset="0"/>
                <a:cs typeface="Arial" panose="020B0604020202020204" pitchFamily="34" charset="0"/>
              </a:rPr>
              <a:t>As we build this out, it's important that we include </a:t>
            </a:r>
            <a:r>
              <a:rPr lang="en-US" sz="2500" b="1" dirty="0">
                <a:solidFill>
                  <a:schemeClr val="accent2"/>
                </a:solidFill>
                <a:latin typeface="Arial" panose="020B0604020202020204" pitchFamily="34" charset="0"/>
                <a:cs typeface="Arial" panose="020B0604020202020204" pitchFamily="34" charset="0"/>
              </a:rPr>
              <a:t>code checks </a:t>
            </a:r>
            <a:r>
              <a:rPr lang="en-US" sz="2500" dirty="0">
                <a:latin typeface="Arial" panose="020B0604020202020204" pitchFamily="34" charset="0"/>
                <a:cs typeface="Arial" panose="020B0604020202020204" pitchFamily="34" charset="0"/>
              </a:rPr>
              <a:t>along the way to ensure that things we specified in the rules.md are being interpreted by the AI as we intended. </a:t>
            </a:r>
          </a:p>
        </p:txBody>
      </p:sp>
      <p:sp>
        <p:nvSpPr>
          <p:cNvPr id="18" name="Rectangle: Rounded Corners 17">
            <a:extLst>
              <a:ext uri="{FF2B5EF4-FFF2-40B4-BE49-F238E27FC236}">
                <a16:creationId xmlns:a16="http://schemas.microsoft.com/office/drawing/2014/main" id="{C4DA350D-A3B4-775E-1CA2-2AEB71A8F2BE}"/>
              </a:ext>
            </a:extLst>
          </p:cNvPr>
          <p:cNvSpPr/>
          <p:nvPr/>
        </p:nvSpPr>
        <p:spPr>
          <a:xfrm>
            <a:off x="914400" y="3523525"/>
            <a:ext cx="10363200" cy="740779"/>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1254531-7BE9-E309-1276-46F6AB99EFB3}"/>
              </a:ext>
            </a:extLst>
          </p:cNvPr>
          <p:cNvSpPr txBox="1"/>
          <p:nvPr/>
        </p:nvSpPr>
        <p:spPr>
          <a:xfrm>
            <a:off x="914400" y="2720628"/>
            <a:ext cx="10363200" cy="477054"/>
          </a:xfrm>
          <a:prstGeom prst="rect">
            <a:avLst/>
          </a:prstGeom>
          <a:noFill/>
        </p:spPr>
        <p:txBody>
          <a:bodyPr wrap="square">
            <a:spAutoFit/>
          </a:bodyPr>
          <a:lstStyle/>
          <a:p>
            <a:r>
              <a:rPr lang="en-US" sz="2500" b="1" dirty="0">
                <a:latin typeface="Arial" panose="020B0604020202020204" pitchFamily="34" charset="0"/>
                <a:cs typeface="Arial" panose="020B0604020202020204" pitchFamily="34" charset="0"/>
              </a:rPr>
              <a:t>Some Examples: </a:t>
            </a:r>
          </a:p>
        </p:txBody>
      </p:sp>
      <p:sp>
        <p:nvSpPr>
          <p:cNvPr id="14" name="TextBox 13">
            <a:extLst>
              <a:ext uri="{FF2B5EF4-FFF2-40B4-BE49-F238E27FC236}">
                <a16:creationId xmlns:a16="http://schemas.microsoft.com/office/drawing/2014/main" id="{F0A9F22D-0A46-F093-7005-368B3220F656}"/>
              </a:ext>
            </a:extLst>
          </p:cNvPr>
          <p:cNvSpPr txBox="1"/>
          <p:nvPr/>
        </p:nvSpPr>
        <p:spPr>
          <a:xfrm>
            <a:off x="1080063" y="3695220"/>
            <a:ext cx="10031874" cy="400110"/>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the `Training Period` start date and rolling window end dates. </a:t>
            </a:r>
          </a:p>
        </p:txBody>
      </p:sp>
      <p:sp>
        <p:nvSpPr>
          <p:cNvPr id="15" name="TextBox 14">
            <a:extLst>
              <a:ext uri="{FF2B5EF4-FFF2-40B4-BE49-F238E27FC236}">
                <a16:creationId xmlns:a16="http://schemas.microsoft.com/office/drawing/2014/main" id="{6245D1BA-97DD-AF95-0458-C10ABF9648AC}"/>
              </a:ext>
            </a:extLst>
          </p:cNvPr>
          <p:cNvSpPr txBox="1"/>
          <p:nvPr/>
        </p:nvSpPr>
        <p:spPr>
          <a:xfrm>
            <a:off x="1080063" y="4829887"/>
            <a:ext cx="10031874" cy="400110"/>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the `Testing Period` start date, and each forecast date. </a:t>
            </a:r>
          </a:p>
        </p:txBody>
      </p:sp>
      <p:sp>
        <p:nvSpPr>
          <p:cNvPr id="17" name="TextBox 16">
            <a:extLst>
              <a:ext uri="{FF2B5EF4-FFF2-40B4-BE49-F238E27FC236}">
                <a16:creationId xmlns:a16="http://schemas.microsoft.com/office/drawing/2014/main" id="{FC8DB623-FE28-BC79-9114-B5EEE4FF8AE8}"/>
              </a:ext>
            </a:extLst>
          </p:cNvPr>
          <p:cNvSpPr txBox="1"/>
          <p:nvPr/>
        </p:nvSpPr>
        <p:spPr>
          <a:xfrm>
            <a:off x="1519901" y="5939470"/>
            <a:ext cx="9152198" cy="400110"/>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the specified forecasting horizon that will be used. </a:t>
            </a:r>
          </a:p>
        </p:txBody>
      </p:sp>
    </p:spTree>
    <p:extLst>
      <p:ext uri="{BB962C8B-B14F-4D97-AF65-F5344CB8AC3E}">
        <p14:creationId xmlns:p14="http://schemas.microsoft.com/office/powerpoint/2010/main" val="2209786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8" grpId="0" animBg="1"/>
      <p:bldP spid="11" grpId="0"/>
      <p:bldP spid="14" grpId="0"/>
      <p:bldP spid="15" grpId="0"/>
      <p:bldP spid="1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C0B28-49BA-FCF7-DEA0-38B924406A5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0838894-502B-4D76-B39E-7CB7AF448D38}"/>
              </a:ext>
            </a:extLst>
          </p:cNvPr>
          <p:cNvSpPr/>
          <p:nvPr/>
        </p:nvSpPr>
        <p:spPr>
          <a:xfrm>
            <a:off x="914400" y="99794"/>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B7A5B421-68D9-A656-7E06-46532A3047F0}"/>
              </a:ext>
            </a:extLst>
          </p:cNvPr>
          <p:cNvSpPr/>
          <p:nvPr/>
        </p:nvSpPr>
        <p:spPr>
          <a:xfrm>
            <a:off x="1061194" y="236060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F2B5E074-DE3B-4EC5-E777-8BD5C452731F}"/>
              </a:ext>
            </a:extLst>
          </p:cNvPr>
          <p:cNvSpPr/>
          <p:nvPr/>
        </p:nvSpPr>
        <p:spPr>
          <a:xfrm>
            <a:off x="1061194" y="236060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5" name="Text 4">
            <a:extLst>
              <a:ext uri="{FF2B5EF4-FFF2-40B4-BE49-F238E27FC236}">
                <a16:creationId xmlns:a16="http://schemas.microsoft.com/office/drawing/2014/main" id="{C74EC806-0E32-3193-EF8C-7DB452B56D0D}"/>
              </a:ext>
            </a:extLst>
          </p:cNvPr>
          <p:cNvSpPr/>
          <p:nvPr/>
        </p:nvSpPr>
        <p:spPr>
          <a:xfrm>
            <a:off x="1858754" y="2387601"/>
            <a:ext cx="9144000" cy="607709"/>
          </a:xfrm>
          <a:prstGeom prst="rect">
            <a:avLst/>
          </a:prstGeom>
          <a:noFill/>
          <a:ln/>
        </p:spPr>
        <p:txBody>
          <a:bodyPr wrap="square" lIns="0" tIns="0" rIns="0" bIns="0" rtlCol="0" anchor="ctr"/>
          <a:lstStyle/>
          <a:p>
            <a:pPr defTabSz="1219170"/>
            <a:r>
              <a:rPr lang="en-US" sz="2500" b="1" dirty="0">
                <a:solidFill>
                  <a:schemeClr val="accent2"/>
                </a:solidFill>
                <a:latin typeface="Arial" panose="020B0604020202020204" pitchFamily="34" charset="0"/>
                <a:ea typeface="Calibri" pitchFamily="34" charset="-122"/>
                <a:cs typeface="Arial" panose="020B0604020202020204" pitchFamily="34" charset="0"/>
              </a:rPr>
              <a:t>Create</a:t>
            </a:r>
            <a:r>
              <a:rPr lang="en-US" sz="2500" dirty="0">
                <a:latin typeface="Arial" panose="020B0604020202020204" pitchFamily="34" charset="0"/>
                <a:ea typeface="Calibri" pitchFamily="34" charset="-122"/>
                <a:cs typeface="Arial" panose="020B0604020202020204" pitchFamily="34" charset="0"/>
              </a:rPr>
              <a:t> the </a:t>
            </a:r>
            <a:r>
              <a:rPr lang="en-US" sz="2500" dirty="0">
                <a:latin typeface="Courier New" panose="02070309020205020404" pitchFamily="49" charset="0"/>
                <a:ea typeface="Calibri" pitchFamily="34" charset="-122"/>
                <a:cs typeface="Courier New" panose="02070309020205020404" pitchFamily="49" charset="0"/>
              </a:rPr>
              <a:t>## 3. Training and Testing Periods </a:t>
            </a:r>
            <a:r>
              <a:rPr lang="en-US" sz="2500" dirty="0">
                <a:latin typeface="Arial" panose="020B0604020202020204" pitchFamily="34" charset="0"/>
                <a:ea typeface="Calibri" pitchFamily="34" charset="-122"/>
                <a:cs typeface="Arial" panose="020B0604020202020204" pitchFamily="34" charset="0"/>
              </a:rPr>
              <a:t>section header in rules.md.</a:t>
            </a:r>
            <a:endParaRPr lang="en-US" sz="2500" dirty="0">
              <a:latin typeface="Arial" panose="020B0604020202020204" pitchFamily="34" charset="0"/>
              <a:cs typeface="Arial" panose="020B0604020202020204" pitchFamily="34" charset="0"/>
            </a:endParaRPr>
          </a:p>
        </p:txBody>
      </p:sp>
      <p:sp>
        <p:nvSpPr>
          <p:cNvPr id="6" name="Shape 5">
            <a:extLst>
              <a:ext uri="{FF2B5EF4-FFF2-40B4-BE49-F238E27FC236}">
                <a16:creationId xmlns:a16="http://schemas.microsoft.com/office/drawing/2014/main" id="{27145EC7-9C0E-FB4C-91A6-E1AAB23F6215}"/>
              </a:ext>
            </a:extLst>
          </p:cNvPr>
          <p:cNvSpPr/>
          <p:nvPr/>
        </p:nvSpPr>
        <p:spPr>
          <a:xfrm>
            <a:off x="1061194" y="3673543"/>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82736F46-3433-3962-92B6-F79EA621DE55}"/>
              </a:ext>
            </a:extLst>
          </p:cNvPr>
          <p:cNvSpPr/>
          <p:nvPr/>
        </p:nvSpPr>
        <p:spPr>
          <a:xfrm>
            <a:off x="1061194" y="3673543"/>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50F23612-84FC-DDBB-E5E8-5286CABF54C9}"/>
              </a:ext>
            </a:extLst>
          </p:cNvPr>
          <p:cNvSpPr/>
          <p:nvPr/>
        </p:nvSpPr>
        <p:spPr>
          <a:xfrm>
            <a:off x="1858754" y="3376806"/>
            <a:ext cx="9144000" cy="1272150"/>
          </a:xfrm>
          <a:prstGeom prst="rect">
            <a:avLst/>
          </a:prstGeom>
          <a:noFill/>
          <a:ln/>
        </p:spPr>
        <p:txBody>
          <a:bodyPr wrap="square" lIns="0" tIns="0" rIns="0" bIns="0" rtlCol="0" anchor="ctr"/>
          <a:lstStyle/>
          <a:p>
            <a:pPr defTabSz="1219170"/>
            <a:r>
              <a:rPr lang="en-US" sz="2500" b="1" dirty="0">
                <a:solidFill>
                  <a:schemeClr val="accent2"/>
                </a:solidFill>
                <a:latin typeface="Arial" panose="020B0604020202020204" pitchFamily="34" charset="0"/>
                <a:ea typeface="Calibri" pitchFamily="34" charset="-122"/>
                <a:cs typeface="Arial" panose="020B0604020202020204" pitchFamily="34" charset="0"/>
              </a:rPr>
              <a:t>Write detailed rules</a:t>
            </a:r>
            <a:r>
              <a:rPr lang="en-US" sz="2500" dirty="0">
                <a:latin typeface="Arial" panose="020B0604020202020204" pitchFamily="34" charset="0"/>
                <a:ea typeface="Calibri" pitchFamily="34" charset="-122"/>
                <a:cs typeface="Arial" panose="020B0604020202020204" pitchFamily="34" charset="0"/>
              </a:rPr>
              <a:t> to specify the training and testing period information; including the ‘</a:t>
            </a:r>
            <a:r>
              <a:rPr lang="en-US" sz="2500" b="1" dirty="0">
                <a:solidFill>
                  <a:schemeClr val="accent2"/>
                </a:solidFill>
                <a:latin typeface="Arial" panose="020B0604020202020204" pitchFamily="34" charset="0"/>
                <a:ea typeface="Calibri" pitchFamily="34" charset="-122"/>
                <a:cs typeface="Arial" panose="020B0604020202020204" pitchFamily="34" charset="0"/>
              </a:rPr>
              <a:t>expanding window</a:t>
            </a:r>
            <a:r>
              <a:rPr lang="en-US" sz="2500" dirty="0">
                <a:latin typeface="Arial" panose="020B0604020202020204" pitchFamily="34" charset="0"/>
                <a:ea typeface="Calibri" pitchFamily="34" charset="-122"/>
                <a:cs typeface="Arial" panose="020B0604020202020204" pitchFamily="34" charset="0"/>
              </a:rPr>
              <a:t>’ set up (we will do this </a:t>
            </a:r>
            <a:r>
              <a:rPr lang="en-US" sz="2500" b="1" u="sng" dirty="0">
                <a:solidFill>
                  <a:schemeClr val="accent2"/>
                </a:solidFill>
                <a:latin typeface="Arial" panose="020B0604020202020204" pitchFamily="34" charset="0"/>
                <a:ea typeface="Calibri" pitchFamily="34" charset="-122"/>
                <a:cs typeface="Arial" panose="020B0604020202020204" pitchFamily="34" charset="0"/>
              </a:rPr>
              <a:t>together</a:t>
            </a:r>
            <a:r>
              <a:rPr lang="en-US" sz="2500" dirty="0">
                <a:latin typeface="Arial" panose="020B0604020202020204" pitchFamily="34" charset="0"/>
                <a:ea typeface="Calibri" pitchFamily="34" charset="-122"/>
                <a:cs typeface="Arial" panose="020B0604020202020204" pitchFamily="34" charset="0"/>
              </a:rPr>
              <a:t>). </a:t>
            </a:r>
            <a:endParaRPr lang="en-US" sz="2500" dirty="0">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1542E53A-56BF-758D-20AD-5190372A7AC3}"/>
              </a:ext>
            </a:extLst>
          </p:cNvPr>
          <p:cNvSpPr/>
          <p:nvPr/>
        </p:nvSpPr>
        <p:spPr>
          <a:xfrm>
            <a:off x="1061194" y="4852246"/>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0" name="Text 9">
            <a:extLst>
              <a:ext uri="{FF2B5EF4-FFF2-40B4-BE49-F238E27FC236}">
                <a16:creationId xmlns:a16="http://schemas.microsoft.com/office/drawing/2014/main" id="{D1B3C3A7-18C4-0146-48A9-80581D2045BC}"/>
              </a:ext>
            </a:extLst>
          </p:cNvPr>
          <p:cNvSpPr/>
          <p:nvPr/>
        </p:nvSpPr>
        <p:spPr>
          <a:xfrm>
            <a:off x="1061194" y="4852246"/>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3</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2" name="Shape 11">
            <a:extLst>
              <a:ext uri="{FF2B5EF4-FFF2-40B4-BE49-F238E27FC236}">
                <a16:creationId xmlns:a16="http://schemas.microsoft.com/office/drawing/2014/main" id="{2C859B04-130D-289F-0F71-DCD0C462032D}"/>
              </a:ext>
            </a:extLst>
          </p:cNvPr>
          <p:cNvSpPr/>
          <p:nvPr/>
        </p:nvSpPr>
        <p:spPr>
          <a:xfrm>
            <a:off x="1061194" y="584564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12">
            <a:extLst>
              <a:ext uri="{FF2B5EF4-FFF2-40B4-BE49-F238E27FC236}">
                <a16:creationId xmlns:a16="http://schemas.microsoft.com/office/drawing/2014/main" id="{54023CCA-87D9-FF31-B8F1-DB6D87F70A7E}"/>
              </a:ext>
            </a:extLst>
          </p:cNvPr>
          <p:cNvSpPr/>
          <p:nvPr/>
        </p:nvSpPr>
        <p:spPr>
          <a:xfrm>
            <a:off x="1061194" y="584564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4</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4" name="Text 13">
            <a:extLst>
              <a:ext uri="{FF2B5EF4-FFF2-40B4-BE49-F238E27FC236}">
                <a16:creationId xmlns:a16="http://schemas.microsoft.com/office/drawing/2014/main" id="{7B6CA545-5518-EB58-5847-5A14FACE54FB}"/>
              </a:ext>
            </a:extLst>
          </p:cNvPr>
          <p:cNvSpPr/>
          <p:nvPr/>
        </p:nvSpPr>
        <p:spPr>
          <a:xfrm>
            <a:off x="1858754" y="5747475"/>
            <a:ext cx="9914146" cy="836423"/>
          </a:xfrm>
          <a:prstGeom prst="rect">
            <a:avLst/>
          </a:prstGeom>
          <a:noFill/>
          <a:ln/>
        </p:spPr>
        <p:txBody>
          <a:bodyPr wrap="square" lIns="0" tIns="0" rIns="0" bIns="0" rtlCol="0" anchor="ctr"/>
          <a:lstStyle/>
          <a:p>
            <a:pPr lvl="0" defTabSz="1219170">
              <a:defRPr/>
            </a:pP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sz="25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agents.md</a:t>
            </a:r>
            <a:r>
              <a:rPr kumimoji="0" lang="en-US" sz="2500" b="0" i="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 </a:t>
            </a: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(or your</a:t>
            </a:r>
            <a:r>
              <a:rPr kumimoji="0" lang="en-US" sz="2500" b="0" i="0" u="none" strike="noStrike" kern="1200" cap="none" spc="0" normalizeH="0" noProof="0" dirty="0">
                <a:ln>
                  <a:noFill/>
                </a:ln>
                <a:effectLst/>
                <a:uLnTx/>
                <a:uFillTx/>
                <a:latin typeface="Arial" panose="020B0604020202020204" pitchFamily="34" charset="0"/>
                <a:ea typeface="Calibri" pitchFamily="34" charset="-122"/>
                <a:cs typeface="Arial" panose="020B0604020202020204" pitchFamily="34" charset="0"/>
              </a:rPr>
              <a:t> preferred AI) </a:t>
            </a: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a:t>
            </a:r>
            <a:r>
              <a:rPr kumimoji="0" lang="en-US" sz="2500" b="1" i="0"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generate </a:t>
            </a:r>
            <a:r>
              <a:rPr kumimoji="0" lang="en-US" sz="25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output/scripts/03_forecast.R</a:t>
            </a:r>
            <a:r>
              <a:rPr lang="en-US" sz="2500" b="1" dirty="0">
                <a:latin typeface="Arial" panose="020B0604020202020204" pitchFamily="34" charset="0"/>
                <a:cs typeface="Arial" panose="020B0604020202020204" pitchFamily="34" charset="0"/>
              </a:rPr>
              <a:t>. </a:t>
            </a:r>
            <a:r>
              <a:rPr lang="en-US" sz="2500" dirty="0">
                <a:latin typeface="Arial" panose="020B0604020202020204" pitchFamily="34" charset="0"/>
                <a:cs typeface="Arial" panose="020B0604020202020204" pitchFamily="34" charset="0"/>
              </a:rPr>
              <a:t>Run the script and check the output.</a:t>
            </a:r>
            <a:endParaRPr kumimoji="0" lang="en-US" sz="250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ACE608AF-BF88-F5CD-D84C-1E48DEB0E4BD}"/>
              </a:ext>
            </a:extLst>
          </p:cNvPr>
          <p:cNvSpPr/>
          <p:nvPr/>
        </p:nvSpPr>
        <p:spPr>
          <a:xfrm>
            <a:off x="800100" y="1099603"/>
            <a:ext cx="10591800" cy="1006898"/>
          </a:xfrm>
          <a:prstGeom prst="roundRect">
            <a:avLst/>
          </a:prstGeom>
          <a:solidFill>
            <a:schemeClr val="bg1">
              <a:lumMod val="95000"/>
            </a:schemeClr>
          </a:solidFill>
          <a:ln/>
        </p:spPr>
        <p:txBody>
          <a:bodyPr wrap="square" lIns="0" tIns="0" rIns="0" bIns="0" rtlCol="0" anchor="ctr"/>
          <a:lstStyle/>
          <a:p>
            <a:pPr algn="ctr" defTabSz="1219170"/>
            <a:r>
              <a:rPr lang="en-US" sz="2500" dirty="0">
                <a:solidFill>
                  <a:srgbClr val="334155"/>
                </a:solidFill>
                <a:latin typeface="Arial" panose="020B0604020202020204" pitchFamily="34" charset="0"/>
                <a:ea typeface="Calibri" pitchFamily="34" charset="-122"/>
                <a:cs typeface="Arial" panose="020B0604020202020204" pitchFamily="34" charset="0"/>
              </a:rPr>
              <a:t>We will work through the following steps </a:t>
            </a:r>
            <a:r>
              <a:rPr lang="en-US" sz="2500" b="1" u="sng" dirty="0">
                <a:solidFill>
                  <a:schemeClr val="accent2"/>
                </a:solidFill>
                <a:latin typeface="Arial" panose="020B0604020202020204" pitchFamily="34" charset="0"/>
                <a:ea typeface="Calibri" pitchFamily="34" charset="-122"/>
                <a:cs typeface="Arial" panose="020B0604020202020204" pitchFamily="34" charset="0"/>
              </a:rPr>
              <a:t>together</a:t>
            </a:r>
            <a:r>
              <a:rPr lang="en-US" sz="2500" dirty="0">
                <a:solidFill>
                  <a:srgbClr val="334155"/>
                </a:solidFill>
                <a:latin typeface="Arial" panose="020B0604020202020204" pitchFamily="34" charset="0"/>
                <a:ea typeface="Calibri" pitchFamily="34" charset="-122"/>
                <a:cs typeface="Arial" panose="020B0604020202020204" pitchFamily="34" charset="0"/>
              </a:rPr>
              <a:t> to add the next section to our rules.md document. </a:t>
            </a:r>
            <a:endParaRPr lang="en-US" sz="2500" dirty="0">
              <a:solidFill>
                <a:prstClr val="black"/>
              </a:solidFill>
              <a:latin typeface="Arial" panose="020B0604020202020204" pitchFamily="34" charset="0"/>
              <a:cs typeface="Arial" panose="020B0604020202020204" pitchFamily="34" charset="0"/>
            </a:endParaRPr>
          </a:p>
        </p:txBody>
      </p:sp>
      <p:sp>
        <p:nvSpPr>
          <p:cNvPr id="18" name="Text 13">
            <a:extLst>
              <a:ext uri="{FF2B5EF4-FFF2-40B4-BE49-F238E27FC236}">
                <a16:creationId xmlns:a16="http://schemas.microsoft.com/office/drawing/2014/main" id="{1574B12E-6FDE-AD97-13CE-75AF10C27361}"/>
              </a:ext>
            </a:extLst>
          </p:cNvPr>
          <p:cNvSpPr/>
          <p:nvPr/>
        </p:nvSpPr>
        <p:spPr>
          <a:xfrm>
            <a:off x="1858754" y="4958926"/>
            <a:ext cx="9509760" cy="426720"/>
          </a:xfrm>
          <a:prstGeom prst="rect">
            <a:avLst/>
          </a:prstGeom>
          <a:noFill/>
          <a:ln/>
        </p:spPr>
        <p:txBody>
          <a:bodyPr wrap="square" lIns="0" tIns="0" rIns="0" bIns="0" rtlCol="0" anchor="ctr"/>
          <a:lstStyle/>
          <a:p>
            <a:pPr defTabSz="1219170"/>
            <a:r>
              <a:rPr lang="en-US" sz="2500" dirty="0">
                <a:latin typeface="Arial" panose="020B0604020202020204" pitchFamily="34" charset="0"/>
                <a:ea typeface="Calibri" pitchFamily="34" charset="-122"/>
                <a:cs typeface="Arial" panose="020B0604020202020204" pitchFamily="34" charset="0"/>
              </a:rPr>
              <a:t>Regenerate </a:t>
            </a:r>
            <a:r>
              <a:rPr lang="en-US" sz="2500" b="1" dirty="0">
                <a:solidFill>
                  <a:schemeClr val="accent2"/>
                </a:solidFill>
                <a:latin typeface="Arial" panose="020B0604020202020204" pitchFamily="34" charset="0"/>
                <a:ea typeface="Calibri" pitchFamily="34" charset="-122"/>
                <a:cs typeface="Arial" panose="020B0604020202020204" pitchFamily="34" charset="0"/>
              </a:rPr>
              <a:t>agents.md</a:t>
            </a:r>
            <a:r>
              <a:rPr lang="en-US" sz="2500" dirty="0">
                <a:solidFill>
                  <a:schemeClr val="accent2"/>
                </a:solidFill>
                <a:latin typeface="Arial" panose="020B0604020202020204" pitchFamily="34" charset="0"/>
                <a:ea typeface="Calibri" pitchFamily="34" charset="-122"/>
                <a:cs typeface="Arial" panose="020B0604020202020204" pitchFamily="34" charset="0"/>
              </a:rPr>
              <a:t> </a:t>
            </a:r>
            <a:r>
              <a:rPr lang="en-US" sz="2500" dirty="0">
                <a:latin typeface="Arial" panose="020B0604020202020204" pitchFamily="34" charset="0"/>
                <a:ea typeface="Calibri" pitchFamily="34" charset="-122"/>
                <a:cs typeface="Arial" panose="020B0604020202020204" pitchFamily="34" charset="0"/>
              </a:rPr>
              <a:t>from your updated rules document</a:t>
            </a:r>
            <a:endParaRPr lang="en-US" sz="2500" dirty="0">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CC3076B0-2162-2ECA-1CF8-F0B98FEB8EAA}"/>
              </a:ext>
            </a:extLst>
          </p:cNvPr>
          <p:cNvPicPr>
            <a:picLocks noChangeAspect="1"/>
          </p:cNvPicPr>
          <p:nvPr/>
        </p:nvPicPr>
        <p:blipFill>
          <a:blip r:embed="rId3"/>
          <a:stretch>
            <a:fillRect/>
          </a:stretch>
        </p:blipFill>
        <p:spPr>
          <a:xfrm>
            <a:off x="2663312" y="49858"/>
            <a:ext cx="981703" cy="981703"/>
          </a:xfrm>
          <a:prstGeom prst="rect">
            <a:avLst/>
          </a:prstGeom>
        </p:spPr>
      </p:pic>
    </p:spTree>
    <p:extLst>
      <p:ext uri="{BB962C8B-B14F-4D97-AF65-F5344CB8AC3E}">
        <p14:creationId xmlns:p14="http://schemas.microsoft.com/office/powerpoint/2010/main" val="3675561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2" grpId="0" animBg="1"/>
      <p:bldP spid="13" grpId="0" animBg="1"/>
      <p:bldP spid="14" grpId="0" animBg="1"/>
      <p:bldP spid="1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1FA03-94C8-059A-8F41-74A27DD62B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CF8E84-451B-22DB-6EE8-0BD6E3BB32D4}"/>
              </a:ext>
            </a:extLst>
          </p:cNvPr>
          <p:cNvSpPr>
            <a:spLocks noGrp="1"/>
          </p:cNvSpPr>
          <p:nvPr>
            <p:ph type="title"/>
          </p:nvPr>
        </p:nvSpPr>
        <p:spPr>
          <a:xfrm>
            <a:off x="838200" y="2766219"/>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Task 2: Baseline </a:t>
            </a:r>
            <a:r>
              <a:rPr lang="en-US" b="1">
                <a:solidFill>
                  <a:srgbClr val="7030A0"/>
                </a:solidFill>
                <a:latin typeface="Arial" panose="020B0604020202020204" pitchFamily="34" charset="0"/>
                <a:ea typeface="Calibri" pitchFamily="34" charset="-122"/>
                <a:cs typeface="Arial" panose="020B0604020202020204" pitchFamily="34" charset="0"/>
              </a:rPr>
              <a:t>Model Specification</a:t>
            </a:r>
            <a:endParaRPr lang="en-US" b="1">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4134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08589B1-119F-703A-5D50-038A1CF3B214}"/>
              </a:ext>
            </a:extLst>
          </p:cNvPr>
          <p:cNvSpPr/>
          <p:nvPr/>
        </p:nvSpPr>
        <p:spPr>
          <a:xfrm>
            <a:off x="878541" y="3656432"/>
            <a:ext cx="3092824" cy="2099931"/>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EC7F0D07-9924-2CBF-42D5-32B3A36E0136}"/>
              </a:ext>
            </a:extLst>
          </p:cNvPr>
          <p:cNvSpPr/>
          <p:nvPr/>
        </p:nvSpPr>
        <p:spPr>
          <a:xfrm>
            <a:off x="772085" y="1931567"/>
            <a:ext cx="10647830" cy="144364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653BE3-8EEB-D8BF-B207-C0FE32A87FFB}"/>
              </a:ext>
            </a:extLst>
          </p:cNvPr>
          <p:cNvSpPr>
            <a:spLocks noGrp="1"/>
          </p:cNvSpPr>
          <p:nvPr>
            <p:ph type="title"/>
          </p:nvPr>
        </p:nvSpPr>
        <p:spPr/>
        <p:txBody>
          <a:bodyPr/>
          <a:lstStyle/>
          <a:p>
            <a:pPr algn="ctr"/>
            <a:r>
              <a:rPr lang="en-US" b="1" u="sng">
                <a:solidFill>
                  <a:srgbClr val="7030A0"/>
                </a:solidFill>
                <a:latin typeface="Arial" panose="020B0604020202020204" pitchFamily="34" charset="0"/>
                <a:cs typeface="Arial" panose="020B0604020202020204" pitchFamily="34" charset="0"/>
              </a:rPr>
              <a:t>A</a:t>
            </a:r>
            <a:r>
              <a:rPr lang="en-US" b="1">
                <a:solidFill>
                  <a:srgbClr val="7030A0"/>
                </a:solidFill>
                <a:latin typeface="Arial" panose="020B0604020202020204" pitchFamily="34" charset="0"/>
                <a:cs typeface="Arial" panose="020B0604020202020204" pitchFamily="34" charset="0"/>
              </a:rPr>
              <a:t>uto </a:t>
            </a:r>
            <a:r>
              <a:rPr lang="en-US" b="1" u="sng">
                <a:solidFill>
                  <a:srgbClr val="7030A0"/>
                </a:solidFill>
                <a:latin typeface="Arial" panose="020B0604020202020204" pitchFamily="34" charset="0"/>
                <a:cs typeface="Arial" panose="020B0604020202020204" pitchFamily="34" charset="0"/>
              </a:rPr>
              <a:t>R</a:t>
            </a:r>
            <a:r>
              <a:rPr lang="en-US" b="1">
                <a:solidFill>
                  <a:srgbClr val="7030A0"/>
                </a:solidFill>
                <a:latin typeface="Arial" panose="020B0604020202020204" pitchFamily="34" charset="0"/>
                <a:cs typeface="Arial" panose="020B0604020202020204" pitchFamily="34" charset="0"/>
              </a:rPr>
              <a:t>egressive </a:t>
            </a:r>
            <a:r>
              <a:rPr lang="en-US" b="1" u="sng">
                <a:solidFill>
                  <a:srgbClr val="7030A0"/>
                </a:solidFill>
                <a:latin typeface="Arial" panose="020B0604020202020204" pitchFamily="34" charset="0"/>
                <a:cs typeface="Arial" panose="020B0604020202020204" pitchFamily="34" charset="0"/>
              </a:rPr>
              <a:t>I</a:t>
            </a:r>
            <a:r>
              <a:rPr lang="en-US" b="1">
                <a:solidFill>
                  <a:srgbClr val="7030A0"/>
                </a:solidFill>
                <a:latin typeface="Arial" panose="020B0604020202020204" pitchFamily="34" charset="0"/>
                <a:cs typeface="Arial" panose="020B0604020202020204" pitchFamily="34" charset="0"/>
              </a:rPr>
              <a:t>ntegrated </a:t>
            </a:r>
            <a:r>
              <a:rPr lang="en-US" b="1" u="sng">
                <a:solidFill>
                  <a:srgbClr val="7030A0"/>
                </a:solidFill>
                <a:latin typeface="Arial" panose="020B0604020202020204" pitchFamily="34" charset="0"/>
                <a:cs typeface="Arial" panose="020B0604020202020204" pitchFamily="34" charset="0"/>
              </a:rPr>
              <a:t>M</a:t>
            </a:r>
            <a:r>
              <a:rPr lang="en-US" b="1">
                <a:solidFill>
                  <a:srgbClr val="7030A0"/>
                </a:solidFill>
                <a:latin typeface="Arial" panose="020B0604020202020204" pitchFamily="34" charset="0"/>
                <a:cs typeface="Arial" panose="020B0604020202020204" pitchFamily="34" charset="0"/>
              </a:rPr>
              <a:t>oving </a:t>
            </a:r>
            <a:r>
              <a:rPr lang="en-US" b="1" u="sng">
                <a:solidFill>
                  <a:srgbClr val="7030A0"/>
                </a:solidFill>
                <a:latin typeface="Arial" panose="020B0604020202020204" pitchFamily="34" charset="0"/>
                <a:cs typeface="Arial" panose="020B0604020202020204" pitchFamily="34" charset="0"/>
              </a:rPr>
              <a:t>A</a:t>
            </a:r>
            <a:r>
              <a:rPr lang="en-US" b="1">
                <a:solidFill>
                  <a:srgbClr val="7030A0"/>
                </a:solidFill>
                <a:latin typeface="Arial" panose="020B0604020202020204" pitchFamily="34" charset="0"/>
                <a:cs typeface="Arial" panose="020B0604020202020204" pitchFamily="34" charset="0"/>
              </a:rPr>
              <a:t>verage (ARIMA)</a:t>
            </a:r>
            <a:endParaRPr lang="en-US"/>
          </a:p>
        </p:txBody>
      </p:sp>
      <p:sp>
        <p:nvSpPr>
          <p:cNvPr id="6" name="TextBox 5">
            <a:extLst>
              <a:ext uri="{FF2B5EF4-FFF2-40B4-BE49-F238E27FC236}">
                <a16:creationId xmlns:a16="http://schemas.microsoft.com/office/drawing/2014/main" id="{D78E7C75-D964-1146-B83F-5F79DD8B5B91}"/>
              </a:ext>
            </a:extLst>
          </p:cNvPr>
          <p:cNvSpPr txBox="1"/>
          <p:nvPr/>
        </p:nvSpPr>
        <p:spPr>
          <a:xfrm>
            <a:off x="838200" y="2111187"/>
            <a:ext cx="10515600" cy="1154162"/>
          </a:xfrm>
          <a:prstGeom prst="rect">
            <a:avLst/>
          </a:prstGeom>
          <a:noFill/>
        </p:spPr>
        <p:txBody>
          <a:bodyPr wrap="square" rtlCol="0">
            <a:spAutoFit/>
          </a:bodyPr>
          <a:lstStyle/>
          <a:p>
            <a:pPr algn="ctr"/>
            <a:r>
              <a:rPr lang="en-US" sz="2300">
                <a:latin typeface="Arial" panose="020B0604020202020204" pitchFamily="34" charset="0"/>
                <a:cs typeface="Arial" panose="020B0604020202020204" pitchFamily="34" charset="0"/>
              </a:rPr>
              <a:t>A group of models that uses a time series' </a:t>
            </a:r>
            <a:r>
              <a:rPr lang="en-US" sz="2300" b="1">
                <a:latin typeface="Arial" panose="020B0604020202020204" pitchFamily="34" charset="0"/>
                <a:cs typeface="Arial" panose="020B0604020202020204" pitchFamily="34" charset="0"/>
              </a:rPr>
              <a:t>past values</a:t>
            </a:r>
            <a:r>
              <a:rPr lang="en-US" sz="2300">
                <a:latin typeface="Arial" panose="020B0604020202020204" pitchFamily="34" charset="0"/>
                <a:cs typeface="Arial" panose="020B0604020202020204" pitchFamily="34" charset="0"/>
              </a:rPr>
              <a:t> and </a:t>
            </a:r>
            <a:r>
              <a:rPr lang="en-US" sz="2300" b="1">
                <a:latin typeface="Arial" panose="020B0604020202020204" pitchFamily="34" charset="0"/>
                <a:cs typeface="Arial" panose="020B0604020202020204" pitchFamily="34" charset="0"/>
              </a:rPr>
              <a:t>past forecast errors </a:t>
            </a:r>
            <a:r>
              <a:rPr lang="en-US" sz="2300">
                <a:latin typeface="Arial" panose="020B0604020202020204" pitchFamily="34" charset="0"/>
                <a:cs typeface="Arial" panose="020B0604020202020204" pitchFamily="34" charset="0"/>
              </a:rPr>
              <a:t>to explain the current values of the series, with the goal of producing forecasts.</a:t>
            </a:r>
          </a:p>
        </p:txBody>
      </p:sp>
      <p:sp>
        <p:nvSpPr>
          <p:cNvPr id="8" name="TextBox 7">
            <a:extLst>
              <a:ext uri="{FF2B5EF4-FFF2-40B4-BE49-F238E27FC236}">
                <a16:creationId xmlns:a16="http://schemas.microsoft.com/office/drawing/2014/main" id="{35D49BBF-F1AA-901B-24F1-7B8F02AA7938}"/>
              </a:ext>
            </a:extLst>
          </p:cNvPr>
          <p:cNvSpPr txBox="1"/>
          <p:nvPr/>
        </p:nvSpPr>
        <p:spPr>
          <a:xfrm>
            <a:off x="838200" y="3722646"/>
            <a:ext cx="3209365" cy="1400383"/>
          </a:xfrm>
          <a:prstGeom prst="rect">
            <a:avLst/>
          </a:prstGeom>
          <a:noFill/>
        </p:spPr>
        <p:txBody>
          <a:bodyPr wrap="square" rtlCol="0">
            <a:spAutoFit/>
          </a:bodyPr>
          <a:lstStyle/>
          <a:p>
            <a:pPr algn="ctr">
              <a:spcAft>
                <a:spcPts val="600"/>
              </a:spcAft>
            </a:pPr>
            <a:r>
              <a:rPr lang="en-US" sz="2000" b="1">
                <a:solidFill>
                  <a:schemeClr val="accent2"/>
                </a:solidFill>
                <a:latin typeface="Arial" panose="020B0604020202020204" pitchFamily="34" charset="0"/>
                <a:cs typeface="Arial" panose="020B0604020202020204" pitchFamily="34" charset="0"/>
              </a:rPr>
              <a:t>AR Model (</a:t>
            </a:r>
            <a:r>
              <a:rPr lang="en-US" sz="2000" b="1" i="1">
                <a:solidFill>
                  <a:schemeClr val="accent2"/>
                </a:solidFill>
                <a:latin typeface="Arial" panose="020B0604020202020204" pitchFamily="34" charset="0"/>
                <a:cs typeface="Arial" panose="020B0604020202020204" pitchFamily="34" charset="0"/>
              </a:rPr>
              <a:t>p</a:t>
            </a:r>
            <a:r>
              <a:rPr lang="en-US" sz="2000" b="1">
                <a:solidFill>
                  <a:schemeClr val="accent2"/>
                </a:solidFill>
                <a:latin typeface="Arial" panose="020B0604020202020204" pitchFamily="34" charset="0"/>
                <a:cs typeface="Arial" panose="020B0604020202020204" pitchFamily="34" charset="0"/>
              </a:rPr>
              <a:t>)</a:t>
            </a:r>
          </a:p>
          <a:p>
            <a:pPr algn="ctr"/>
            <a:r>
              <a:rPr lang="en-US" sz="2000">
                <a:latin typeface="Arial" panose="020B0604020202020204" pitchFamily="34" charset="0"/>
                <a:cs typeface="Arial" panose="020B0604020202020204" pitchFamily="34" charset="0"/>
              </a:rPr>
              <a:t> Uses the series' own recent values to predict what comes next</a:t>
            </a:r>
          </a:p>
        </p:txBody>
      </p:sp>
      <p:sp>
        <p:nvSpPr>
          <p:cNvPr id="10" name="TextBox 9">
            <a:extLst>
              <a:ext uri="{FF2B5EF4-FFF2-40B4-BE49-F238E27FC236}">
                <a16:creationId xmlns:a16="http://schemas.microsoft.com/office/drawing/2014/main" id="{B0010B6E-ACAF-F857-CE8F-9439D7CC1F98}"/>
              </a:ext>
            </a:extLst>
          </p:cNvPr>
          <p:cNvSpPr txBox="1"/>
          <p:nvPr/>
        </p:nvSpPr>
        <p:spPr>
          <a:xfrm>
            <a:off x="8275544" y="3722646"/>
            <a:ext cx="2961715" cy="1708160"/>
          </a:xfrm>
          <a:prstGeom prst="rect">
            <a:avLst/>
          </a:prstGeom>
          <a:noFill/>
        </p:spPr>
        <p:txBody>
          <a:bodyPr wrap="square">
            <a:spAutoFit/>
          </a:bodyPr>
          <a:lstStyle/>
          <a:p>
            <a:pPr algn="ctr">
              <a:spcAft>
                <a:spcPts val="600"/>
              </a:spcAft>
            </a:pPr>
            <a:r>
              <a:rPr lang="en-US" sz="2000" b="1">
                <a:solidFill>
                  <a:schemeClr val="accent2"/>
                </a:solidFill>
                <a:latin typeface="Arial" panose="020B0604020202020204" pitchFamily="34" charset="0"/>
                <a:cs typeface="Arial" panose="020B0604020202020204" pitchFamily="34" charset="0"/>
              </a:rPr>
              <a:t>MA Model (</a:t>
            </a:r>
            <a:r>
              <a:rPr lang="en-US" sz="2000" b="1" i="1">
                <a:solidFill>
                  <a:schemeClr val="accent2"/>
                </a:solidFill>
                <a:latin typeface="Arial" panose="020B0604020202020204" pitchFamily="34" charset="0"/>
                <a:cs typeface="Arial" panose="020B0604020202020204" pitchFamily="34" charset="0"/>
              </a:rPr>
              <a:t>q</a:t>
            </a:r>
            <a:r>
              <a:rPr lang="en-US" sz="2000" b="1">
                <a:solidFill>
                  <a:schemeClr val="accent2"/>
                </a:solidFill>
                <a:latin typeface="Arial" panose="020B0604020202020204" pitchFamily="34" charset="0"/>
                <a:cs typeface="Arial" panose="020B0604020202020204" pitchFamily="34" charset="0"/>
              </a:rPr>
              <a:t>)</a:t>
            </a:r>
          </a:p>
          <a:p>
            <a:pPr algn="ctr"/>
            <a:r>
              <a:rPr lang="en-US" sz="2000">
                <a:latin typeface="Arial" panose="020B0604020202020204" pitchFamily="34" charset="0"/>
                <a:cs typeface="Arial" panose="020B0604020202020204" pitchFamily="34" charset="0"/>
              </a:rPr>
              <a:t>Uses its own recent misses (how far off past predictions were) to predict what comes next</a:t>
            </a:r>
          </a:p>
        </p:txBody>
      </p:sp>
      <p:sp>
        <p:nvSpPr>
          <p:cNvPr id="12" name="TextBox 11">
            <a:extLst>
              <a:ext uri="{FF2B5EF4-FFF2-40B4-BE49-F238E27FC236}">
                <a16:creationId xmlns:a16="http://schemas.microsoft.com/office/drawing/2014/main" id="{9283C882-7697-8DB4-379F-06FFD076E521}"/>
              </a:ext>
            </a:extLst>
          </p:cNvPr>
          <p:cNvSpPr txBox="1"/>
          <p:nvPr/>
        </p:nvSpPr>
        <p:spPr>
          <a:xfrm>
            <a:off x="4445418" y="3722646"/>
            <a:ext cx="3354952" cy="2015936"/>
          </a:xfrm>
          <a:prstGeom prst="rect">
            <a:avLst/>
          </a:prstGeom>
          <a:noFill/>
        </p:spPr>
        <p:txBody>
          <a:bodyPr wrap="square">
            <a:spAutoFit/>
          </a:bodyPr>
          <a:lstStyle/>
          <a:p>
            <a:pPr algn="ctr">
              <a:spcAft>
                <a:spcPts val="600"/>
              </a:spcAft>
            </a:pPr>
            <a:r>
              <a:rPr lang="en-US" sz="2000" b="1">
                <a:solidFill>
                  <a:schemeClr val="accent2"/>
                </a:solidFill>
                <a:latin typeface="Arial" panose="020B0604020202020204" pitchFamily="34" charset="0"/>
                <a:cs typeface="Arial" panose="020B0604020202020204" pitchFamily="34" charset="0"/>
              </a:rPr>
              <a:t>Integrated (</a:t>
            </a:r>
            <a:r>
              <a:rPr lang="en-US" sz="2000" b="1" i="1">
                <a:solidFill>
                  <a:schemeClr val="accent2"/>
                </a:solidFill>
                <a:latin typeface="Arial" panose="020B0604020202020204" pitchFamily="34" charset="0"/>
                <a:cs typeface="Arial" panose="020B0604020202020204" pitchFamily="34" charset="0"/>
              </a:rPr>
              <a:t>d</a:t>
            </a:r>
            <a:r>
              <a:rPr lang="en-US" sz="2000" b="1">
                <a:solidFill>
                  <a:schemeClr val="accent2"/>
                </a:solidFill>
                <a:latin typeface="Arial" panose="020B0604020202020204" pitchFamily="34" charset="0"/>
                <a:cs typeface="Arial" panose="020B0604020202020204" pitchFamily="34" charset="0"/>
              </a:rPr>
              <a:t>)</a:t>
            </a:r>
          </a:p>
          <a:p>
            <a:pPr algn="ctr"/>
            <a:r>
              <a:rPr lang="en-US" sz="2000">
                <a:latin typeface="Arial" panose="020B0604020202020204" pitchFamily="34" charset="0"/>
                <a:cs typeface="Arial" panose="020B0604020202020204" pitchFamily="34" charset="0"/>
              </a:rPr>
              <a:t>Used to make the time series stationary (stable over time), by subtracting the previous observation from the current one</a:t>
            </a:r>
          </a:p>
        </p:txBody>
      </p:sp>
      <p:sp>
        <p:nvSpPr>
          <p:cNvPr id="15" name="Rectangle 14">
            <a:extLst>
              <a:ext uri="{FF2B5EF4-FFF2-40B4-BE49-F238E27FC236}">
                <a16:creationId xmlns:a16="http://schemas.microsoft.com/office/drawing/2014/main" id="{FC4FD7AF-DADF-C8B8-BE3D-EE939E1BC359}"/>
              </a:ext>
            </a:extLst>
          </p:cNvPr>
          <p:cNvSpPr/>
          <p:nvPr/>
        </p:nvSpPr>
        <p:spPr>
          <a:xfrm>
            <a:off x="4561959" y="3653754"/>
            <a:ext cx="3092824" cy="2099931"/>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56C60DA-122B-F3B3-CE34-15701684F7DA}"/>
              </a:ext>
            </a:extLst>
          </p:cNvPr>
          <p:cNvSpPr/>
          <p:nvPr/>
        </p:nvSpPr>
        <p:spPr>
          <a:xfrm>
            <a:off x="8211670" y="3653753"/>
            <a:ext cx="3092824" cy="2099931"/>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6CC1E030-B2E8-9F84-FB38-C78E3071FC71}"/>
              </a:ext>
            </a:extLst>
          </p:cNvPr>
          <p:cNvCxnSpPr>
            <a:cxnSpLocks/>
            <a:endCxn id="15" idx="1"/>
          </p:cNvCxnSpPr>
          <p:nvPr/>
        </p:nvCxnSpPr>
        <p:spPr>
          <a:xfrm>
            <a:off x="3971365" y="4703720"/>
            <a:ext cx="590594" cy="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4A6574C7-9239-7B9B-B31E-C007A6B585BE}"/>
              </a:ext>
            </a:extLst>
          </p:cNvPr>
          <p:cNvCxnSpPr>
            <a:cxnSpLocks/>
          </p:cNvCxnSpPr>
          <p:nvPr/>
        </p:nvCxnSpPr>
        <p:spPr>
          <a:xfrm>
            <a:off x="7644609" y="4718896"/>
            <a:ext cx="590594" cy="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CB7011C9-0294-82D1-5972-A3C96ECE40C4}"/>
              </a:ext>
            </a:extLst>
          </p:cNvPr>
          <p:cNvSpPr txBox="1"/>
          <p:nvPr/>
        </p:nvSpPr>
        <p:spPr>
          <a:xfrm>
            <a:off x="766526" y="5934503"/>
            <a:ext cx="10647829" cy="830997"/>
          </a:xfrm>
          <a:prstGeom prst="rect">
            <a:avLst/>
          </a:prstGeom>
          <a:noFill/>
        </p:spPr>
        <p:txBody>
          <a:bodyPr wrap="square">
            <a:spAutoFit/>
          </a:bodyPr>
          <a:lstStyle/>
          <a:p>
            <a:pPr algn="ctr"/>
            <a:r>
              <a:rPr lang="en-US" sz="2300" b="1">
                <a:latin typeface="Arial" panose="020B0604020202020204" pitchFamily="34" charset="0"/>
                <a:cs typeface="Arial" panose="020B0604020202020204" pitchFamily="34" charset="0"/>
              </a:rPr>
              <a:t>Assumes:</a:t>
            </a:r>
            <a:r>
              <a:rPr lang="en-US" sz="2300">
                <a:latin typeface="Arial" panose="020B0604020202020204" pitchFamily="34" charset="0"/>
                <a:cs typeface="Arial" panose="020B0604020202020204" pitchFamily="34" charset="0"/>
              </a:rPr>
              <a:t> The series is stationary after differencing (stable mean and variance over time).</a:t>
            </a:r>
          </a:p>
        </p:txBody>
      </p:sp>
    </p:spTree>
    <p:extLst>
      <p:ext uri="{BB962C8B-B14F-4D97-AF65-F5344CB8AC3E}">
        <p14:creationId xmlns:p14="http://schemas.microsoft.com/office/powerpoint/2010/main" val="154798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8" grpId="0"/>
      <p:bldP spid="10" grpId="0"/>
      <p:bldP spid="12" grpId="0"/>
      <p:bldP spid="15" grpId="0" animBg="1"/>
      <p:bldP spid="17" grpId="0" animBg="1"/>
      <p:bldP spid="2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14AF7E2-2642-07AE-D4F7-9351C62548CA}"/>
              </a:ext>
            </a:extLst>
          </p:cNvPr>
          <p:cNvSpPr>
            <a:spLocks noGrp="1"/>
          </p:cNvSpPr>
          <p:nvPr>
            <p:ph type="title"/>
          </p:nvPr>
        </p:nvSpPr>
        <p:spPr>
          <a:xfrm>
            <a:off x="838200" y="2766219"/>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Model Specification Rules</a:t>
            </a:r>
          </a:p>
        </p:txBody>
      </p:sp>
    </p:spTree>
    <p:extLst>
      <p:ext uri="{BB962C8B-B14F-4D97-AF65-F5344CB8AC3E}">
        <p14:creationId xmlns:p14="http://schemas.microsoft.com/office/powerpoint/2010/main" val="21501464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12D95-8EEC-B9AC-1636-5A3DA28E7B4C}"/>
              </a:ext>
            </a:extLst>
          </p:cNvPr>
          <p:cNvSpPr>
            <a:spLocks noGrp="1"/>
          </p:cNvSpPr>
          <p:nvPr>
            <p:ph type="title"/>
          </p:nvPr>
        </p:nvSpPr>
        <p:spPr>
          <a:xfrm>
            <a:off x="838200" y="-11176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Rules for Model Specification </a:t>
            </a:r>
          </a:p>
        </p:txBody>
      </p:sp>
      <p:pic>
        <p:nvPicPr>
          <p:cNvPr id="5" name="Picture 4">
            <a:extLst>
              <a:ext uri="{FF2B5EF4-FFF2-40B4-BE49-F238E27FC236}">
                <a16:creationId xmlns:a16="http://schemas.microsoft.com/office/drawing/2014/main" id="{2C80937F-3896-E5BA-C351-C2EC7AFFA94A}"/>
              </a:ext>
            </a:extLst>
          </p:cNvPr>
          <p:cNvPicPr>
            <a:picLocks noChangeAspect="1"/>
          </p:cNvPicPr>
          <p:nvPr/>
        </p:nvPicPr>
        <p:blipFill>
          <a:blip r:embed="rId3"/>
          <a:srcRect t="4280"/>
          <a:stretch>
            <a:fillRect/>
          </a:stretch>
        </p:blipFill>
        <p:spPr>
          <a:xfrm>
            <a:off x="648507" y="1007165"/>
            <a:ext cx="10894986" cy="5667955"/>
          </a:xfrm>
          <a:prstGeom prst="rect">
            <a:avLst/>
          </a:prstGeom>
        </p:spPr>
      </p:pic>
    </p:spTree>
    <p:extLst>
      <p:ext uri="{BB962C8B-B14F-4D97-AF65-F5344CB8AC3E}">
        <p14:creationId xmlns:p14="http://schemas.microsoft.com/office/powerpoint/2010/main" val="26857296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92AAF-3B15-A845-420D-B99DCD75FB09}"/>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F4AD7DF5-269A-1B06-8DD8-44EE9875B63D}"/>
              </a:ext>
            </a:extLst>
          </p:cNvPr>
          <p:cNvSpPr/>
          <p:nvPr/>
        </p:nvSpPr>
        <p:spPr>
          <a:xfrm>
            <a:off x="914400" y="5803281"/>
            <a:ext cx="10363200" cy="861773"/>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410B18CE-5F3D-F1C0-7C73-117CE38B3B4D}"/>
              </a:ext>
            </a:extLst>
          </p:cNvPr>
          <p:cNvSpPr/>
          <p:nvPr/>
        </p:nvSpPr>
        <p:spPr>
          <a:xfrm>
            <a:off x="914400" y="4630825"/>
            <a:ext cx="10363200" cy="972142"/>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0">
            <a:extLst>
              <a:ext uri="{FF2B5EF4-FFF2-40B4-BE49-F238E27FC236}">
                <a16:creationId xmlns:a16="http://schemas.microsoft.com/office/drawing/2014/main" id="{C8916AEE-4F60-3EAE-CB80-A075207A60B2}"/>
              </a:ext>
            </a:extLst>
          </p:cNvPr>
          <p:cNvSpPr/>
          <p:nvPr/>
        </p:nvSpPr>
        <p:spPr>
          <a:xfrm>
            <a:off x="914400" y="134519"/>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Adding in Diagnostics (a.k.a. Checks)</a:t>
            </a:r>
            <a:endParaRPr lang="en-US" sz="4000">
              <a:solidFill>
                <a:srgbClr val="7030A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5CBC187-7D3E-CC7D-BC3E-5837AB974C60}"/>
              </a:ext>
            </a:extLst>
          </p:cNvPr>
          <p:cNvSpPr txBox="1"/>
          <p:nvPr/>
        </p:nvSpPr>
        <p:spPr>
          <a:xfrm>
            <a:off x="914400" y="1280722"/>
            <a:ext cx="10363200" cy="1246495"/>
          </a:xfrm>
          <a:prstGeom prst="rect">
            <a:avLst/>
          </a:prstGeom>
          <a:noFill/>
        </p:spPr>
        <p:txBody>
          <a:bodyPr wrap="square">
            <a:spAutoFit/>
          </a:bodyPr>
          <a:lstStyle/>
          <a:p>
            <a:pPr algn="ctr"/>
            <a:r>
              <a:rPr lang="en-US" sz="2500">
                <a:latin typeface="Arial" panose="020B0604020202020204" pitchFamily="34" charset="0"/>
                <a:cs typeface="Arial" panose="020B0604020202020204" pitchFamily="34" charset="0"/>
              </a:rPr>
              <a:t>As we build this out, it's important that we include </a:t>
            </a:r>
            <a:r>
              <a:rPr lang="en-US" sz="2500" b="1">
                <a:latin typeface="Arial" panose="020B0604020202020204" pitchFamily="34" charset="0"/>
                <a:cs typeface="Arial" panose="020B0604020202020204" pitchFamily="34" charset="0"/>
              </a:rPr>
              <a:t>code checks</a:t>
            </a:r>
            <a:r>
              <a:rPr lang="en-US" sz="2500">
                <a:latin typeface="Arial" panose="020B0604020202020204" pitchFamily="34" charset="0"/>
                <a:cs typeface="Arial" panose="020B0604020202020204" pitchFamily="34" charset="0"/>
              </a:rPr>
              <a:t> along the way to ensure that things we specified in the rules.md are being interpreted by the AI as we intended. </a:t>
            </a:r>
          </a:p>
        </p:txBody>
      </p:sp>
      <p:sp>
        <p:nvSpPr>
          <p:cNvPr id="18" name="Rectangle: Rounded Corners 17">
            <a:extLst>
              <a:ext uri="{FF2B5EF4-FFF2-40B4-BE49-F238E27FC236}">
                <a16:creationId xmlns:a16="http://schemas.microsoft.com/office/drawing/2014/main" id="{2FF06871-A6E9-21FB-546C-6B2DF4BBB074}"/>
              </a:ext>
            </a:extLst>
          </p:cNvPr>
          <p:cNvSpPr/>
          <p:nvPr/>
        </p:nvSpPr>
        <p:spPr>
          <a:xfrm>
            <a:off x="914400" y="3350998"/>
            <a:ext cx="10363200" cy="1078444"/>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5BE620B-7E99-F145-FE9E-B1762B161C36}"/>
              </a:ext>
            </a:extLst>
          </p:cNvPr>
          <p:cNvSpPr txBox="1"/>
          <p:nvPr/>
        </p:nvSpPr>
        <p:spPr>
          <a:xfrm>
            <a:off x="914400" y="2646930"/>
            <a:ext cx="10363200" cy="477054"/>
          </a:xfrm>
          <a:prstGeom prst="rect">
            <a:avLst/>
          </a:prstGeom>
          <a:noFill/>
        </p:spPr>
        <p:txBody>
          <a:bodyPr wrap="square">
            <a:spAutoFit/>
          </a:bodyPr>
          <a:lstStyle/>
          <a:p>
            <a:r>
              <a:rPr lang="en-US" sz="2500" b="1" dirty="0">
                <a:latin typeface="Arial" panose="020B0604020202020204" pitchFamily="34" charset="0"/>
                <a:cs typeface="Arial" panose="020B0604020202020204" pitchFamily="34" charset="0"/>
              </a:rPr>
              <a:t>Some Examples: </a:t>
            </a:r>
          </a:p>
        </p:txBody>
      </p:sp>
      <p:sp>
        <p:nvSpPr>
          <p:cNvPr id="14" name="TextBox 13">
            <a:extLst>
              <a:ext uri="{FF2B5EF4-FFF2-40B4-BE49-F238E27FC236}">
                <a16:creationId xmlns:a16="http://schemas.microsoft.com/office/drawing/2014/main" id="{30939597-CB6D-854F-F79A-CA74CA5EEBB3}"/>
              </a:ext>
            </a:extLst>
          </p:cNvPr>
          <p:cNvSpPr txBox="1"/>
          <p:nvPr/>
        </p:nvSpPr>
        <p:spPr>
          <a:xfrm>
            <a:off x="1080063" y="3558779"/>
            <a:ext cx="10031874" cy="707886"/>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confirmation that the training window is sorted ascending by `week` with no missing or duplicate weeks.</a:t>
            </a:r>
          </a:p>
        </p:txBody>
      </p:sp>
      <p:sp>
        <p:nvSpPr>
          <p:cNvPr id="15" name="TextBox 14">
            <a:extLst>
              <a:ext uri="{FF2B5EF4-FFF2-40B4-BE49-F238E27FC236}">
                <a16:creationId xmlns:a16="http://schemas.microsoft.com/office/drawing/2014/main" id="{60336F16-8F51-987B-B9D4-AAA2F45A6BB7}"/>
              </a:ext>
            </a:extLst>
          </p:cNvPr>
          <p:cNvSpPr txBox="1"/>
          <p:nvPr/>
        </p:nvSpPr>
        <p:spPr>
          <a:xfrm>
            <a:off x="1080063" y="4801159"/>
            <a:ext cx="10031874" cy="707886"/>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confirmation that the `week` index is evenly spaced (no skipped weeks); halt if this fails.</a:t>
            </a:r>
          </a:p>
        </p:txBody>
      </p:sp>
      <p:sp>
        <p:nvSpPr>
          <p:cNvPr id="17" name="TextBox 16">
            <a:extLst>
              <a:ext uri="{FF2B5EF4-FFF2-40B4-BE49-F238E27FC236}">
                <a16:creationId xmlns:a16="http://schemas.microsoft.com/office/drawing/2014/main" id="{5A0607A9-DF41-D9FC-62D7-F0AEC7E440A1}"/>
              </a:ext>
            </a:extLst>
          </p:cNvPr>
          <p:cNvSpPr txBox="1"/>
          <p:nvPr/>
        </p:nvSpPr>
        <p:spPr>
          <a:xfrm>
            <a:off x="1519901" y="5910742"/>
            <a:ext cx="9152198" cy="707886"/>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 </a:t>
            </a:r>
            <a:r>
              <a:rPr lang="en-US" sz="2000">
                <a:latin typeface="Arial" panose="020B0604020202020204" pitchFamily="34" charset="0"/>
                <a:cs typeface="Arial" panose="020B0604020202020204" pitchFamily="34" charset="0"/>
              </a:rPr>
              <a:t>Print the `(p, d, q)` order that `</a:t>
            </a:r>
            <a:r>
              <a:rPr lang="en-US" sz="2000" err="1">
                <a:latin typeface="Arial" panose="020B0604020202020204" pitchFamily="34" charset="0"/>
                <a:cs typeface="Arial" panose="020B0604020202020204" pitchFamily="34" charset="0"/>
              </a:rPr>
              <a:t>auto.arima</a:t>
            </a:r>
            <a:r>
              <a:rPr lang="en-US" sz="2000">
                <a:latin typeface="Arial" panose="020B0604020202020204" pitchFamily="34" charset="0"/>
                <a:cs typeface="Arial" panose="020B0604020202020204" pitchFamily="34" charset="0"/>
              </a:rPr>
              <a:t>()` selected at each refit step.</a:t>
            </a:r>
          </a:p>
        </p:txBody>
      </p:sp>
    </p:spTree>
    <p:extLst>
      <p:ext uri="{BB962C8B-B14F-4D97-AF65-F5344CB8AC3E}">
        <p14:creationId xmlns:p14="http://schemas.microsoft.com/office/powerpoint/2010/main" val="1633541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8" grpId="0" animBg="1"/>
      <p:bldP spid="11" grpId="0"/>
      <p:bldP spid="14" grpId="0"/>
      <p:bldP spid="15" grpId="0"/>
      <p:bldP spid="1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F05F0-988F-C956-ACFE-36BB49875E1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3FB8ED1-1D76-7423-C9F2-4204ED0B5836}"/>
              </a:ext>
            </a:extLst>
          </p:cNvPr>
          <p:cNvSpPr/>
          <p:nvPr/>
        </p:nvSpPr>
        <p:spPr>
          <a:xfrm>
            <a:off x="914400" y="99794"/>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88C56837-3DF7-7263-244D-F8C899ABED78}"/>
              </a:ext>
            </a:extLst>
          </p:cNvPr>
          <p:cNvSpPr/>
          <p:nvPr/>
        </p:nvSpPr>
        <p:spPr>
          <a:xfrm>
            <a:off x="1061194" y="255547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E10DC7DC-611E-7532-1E0D-A27908D84F04}"/>
              </a:ext>
            </a:extLst>
          </p:cNvPr>
          <p:cNvSpPr/>
          <p:nvPr/>
        </p:nvSpPr>
        <p:spPr>
          <a:xfrm>
            <a:off x="1061194" y="255547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5" name="Text 4">
            <a:extLst>
              <a:ext uri="{FF2B5EF4-FFF2-40B4-BE49-F238E27FC236}">
                <a16:creationId xmlns:a16="http://schemas.microsoft.com/office/drawing/2014/main" id="{A6FE9C12-60D0-3972-6888-52E77B720A1E}"/>
              </a:ext>
            </a:extLst>
          </p:cNvPr>
          <p:cNvSpPr/>
          <p:nvPr/>
        </p:nvSpPr>
        <p:spPr>
          <a:xfrm>
            <a:off x="1858754" y="2582471"/>
            <a:ext cx="9144000" cy="607709"/>
          </a:xfrm>
          <a:prstGeom prst="rect">
            <a:avLst/>
          </a:prstGeom>
          <a:noFill/>
          <a:ln/>
        </p:spPr>
        <p:txBody>
          <a:bodyPr wrap="square" lIns="0" tIns="0" rIns="0" bIns="0" rtlCol="0" anchor="ctr"/>
          <a:lstStyle/>
          <a:p>
            <a:pPr defTabSz="1219170"/>
            <a:r>
              <a:rPr lang="en-US" sz="2500" b="1" dirty="0">
                <a:solidFill>
                  <a:schemeClr val="accent2"/>
                </a:solidFill>
                <a:latin typeface="Arial" panose="020B0604020202020204" pitchFamily="34" charset="0"/>
                <a:ea typeface="Calibri" pitchFamily="34" charset="-122"/>
                <a:cs typeface="Arial" panose="020B0604020202020204" pitchFamily="34" charset="0"/>
              </a:rPr>
              <a:t>Create</a:t>
            </a:r>
            <a:r>
              <a:rPr lang="en-US" sz="2500" dirty="0">
                <a:latin typeface="Arial" panose="020B0604020202020204" pitchFamily="34" charset="0"/>
                <a:ea typeface="Calibri" pitchFamily="34" charset="-122"/>
                <a:cs typeface="Arial" panose="020B0604020202020204" pitchFamily="34" charset="0"/>
              </a:rPr>
              <a:t> the </a:t>
            </a:r>
            <a:r>
              <a:rPr lang="en-US" sz="2500" dirty="0">
                <a:latin typeface="Courier New" panose="02070309020205020404" pitchFamily="49" charset="0"/>
                <a:ea typeface="Calibri" pitchFamily="34" charset="-122"/>
                <a:cs typeface="Courier New" panose="02070309020205020404" pitchFamily="49" charset="0"/>
              </a:rPr>
              <a:t>## 4. </a:t>
            </a:r>
            <a:r>
              <a:rPr lang="en-US" sz="2500" dirty="0">
                <a:latin typeface="Courier New" panose="02070309020205020404" pitchFamily="49" charset="0"/>
                <a:cs typeface="Courier New" panose="02070309020205020404" pitchFamily="49" charset="0"/>
              </a:rPr>
              <a:t>Model Specification </a:t>
            </a:r>
            <a:r>
              <a:rPr lang="en-US" sz="2500" b="1" dirty="0">
                <a:solidFill>
                  <a:schemeClr val="accent2"/>
                </a:solidFill>
                <a:latin typeface="Arial" panose="020B0604020202020204" pitchFamily="34" charset="0"/>
                <a:ea typeface="Calibri" pitchFamily="34" charset="-122"/>
                <a:cs typeface="Arial" panose="020B0604020202020204" pitchFamily="34" charset="0"/>
              </a:rPr>
              <a:t>section header </a:t>
            </a:r>
            <a:r>
              <a:rPr lang="en-US" sz="2500" dirty="0">
                <a:latin typeface="Arial" panose="020B0604020202020204" pitchFamily="34" charset="0"/>
                <a:ea typeface="Calibri" pitchFamily="34" charset="-122"/>
                <a:cs typeface="Arial" panose="020B0604020202020204" pitchFamily="34" charset="0"/>
              </a:rPr>
              <a:t>in rules.md.</a:t>
            </a:r>
            <a:endParaRPr lang="en-US" sz="2500" dirty="0">
              <a:latin typeface="Arial" panose="020B0604020202020204" pitchFamily="34" charset="0"/>
              <a:cs typeface="Arial" panose="020B0604020202020204" pitchFamily="34" charset="0"/>
            </a:endParaRPr>
          </a:p>
        </p:txBody>
      </p:sp>
      <p:sp>
        <p:nvSpPr>
          <p:cNvPr id="6" name="Shape 5">
            <a:extLst>
              <a:ext uri="{FF2B5EF4-FFF2-40B4-BE49-F238E27FC236}">
                <a16:creationId xmlns:a16="http://schemas.microsoft.com/office/drawing/2014/main" id="{ADE9C393-8D10-FE19-4B56-322885181485}"/>
              </a:ext>
            </a:extLst>
          </p:cNvPr>
          <p:cNvSpPr/>
          <p:nvPr/>
        </p:nvSpPr>
        <p:spPr>
          <a:xfrm>
            <a:off x="1061194" y="3643563"/>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7F9BD857-BA84-C11D-F32A-07051A647BB5}"/>
              </a:ext>
            </a:extLst>
          </p:cNvPr>
          <p:cNvSpPr/>
          <p:nvPr/>
        </p:nvSpPr>
        <p:spPr>
          <a:xfrm>
            <a:off x="1061194" y="3643563"/>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92938122-D479-0A36-B3BE-8B4086758EEE}"/>
              </a:ext>
            </a:extLst>
          </p:cNvPr>
          <p:cNvSpPr/>
          <p:nvPr/>
        </p:nvSpPr>
        <p:spPr>
          <a:xfrm>
            <a:off x="1858754" y="3346826"/>
            <a:ext cx="9144000" cy="1272150"/>
          </a:xfrm>
          <a:prstGeom prst="rect">
            <a:avLst/>
          </a:prstGeom>
          <a:noFill/>
          <a:ln/>
        </p:spPr>
        <p:txBody>
          <a:bodyPr wrap="square" lIns="0" tIns="0" rIns="0" bIns="0" rtlCol="0" anchor="ctr"/>
          <a:lstStyle/>
          <a:p>
            <a:pPr defTabSz="1219170"/>
            <a:r>
              <a:rPr lang="en-US" sz="2500" b="1" dirty="0">
                <a:solidFill>
                  <a:schemeClr val="accent2"/>
                </a:solidFill>
                <a:latin typeface="Arial" panose="020B0604020202020204" pitchFamily="34" charset="0"/>
                <a:ea typeface="Calibri" pitchFamily="34" charset="-122"/>
                <a:cs typeface="Arial" panose="020B0604020202020204" pitchFamily="34" charset="0"/>
              </a:rPr>
              <a:t>Write detailed rules</a:t>
            </a:r>
            <a:r>
              <a:rPr lang="en-US" sz="2500" dirty="0">
                <a:latin typeface="Arial" panose="020B0604020202020204" pitchFamily="34" charset="0"/>
                <a:ea typeface="Calibri" pitchFamily="34" charset="-122"/>
                <a:cs typeface="Arial" panose="020B0604020202020204" pitchFamily="34" charset="0"/>
              </a:rPr>
              <a:t> to fit the model using the expanding window approach and put the checks into place (we will do this </a:t>
            </a:r>
            <a:r>
              <a:rPr lang="en-US" sz="2500" b="1" u="sng" dirty="0">
                <a:solidFill>
                  <a:schemeClr val="accent2"/>
                </a:solidFill>
                <a:latin typeface="Arial" panose="020B0604020202020204" pitchFamily="34" charset="0"/>
                <a:ea typeface="Calibri" pitchFamily="34" charset="-122"/>
                <a:cs typeface="Arial" panose="020B0604020202020204" pitchFamily="34" charset="0"/>
              </a:rPr>
              <a:t>together</a:t>
            </a:r>
            <a:r>
              <a:rPr lang="en-US" sz="2500" dirty="0">
                <a:latin typeface="Arial" panose="020B0604020202020204" pitchFamily="34" charset="0"/>
                <a:ea typeface="Calibri" pitchFamily="34" charset="-122"/>
                <a:cs typeface="Arial" panose="020B0604020202020204" pitchFamily="34" charset="0"/>
              </a:rPr>
              <a:t>). </a:t>
            </a:r>
            <a:endParaRPr lang="en-US" sz="2500" dirty="0">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4A33B472-B40C-9373-BC7B-750540BA9722}"/>
              </a:ext>
            </a:extLst>
          </p:cNvPr>
          <p:cNvSpPr/>
          <p:nvPr/>
        </p:nvSpPr>
        <p:spPr>
          <a:xfrm>
            <a:off x="1061194" y="4717336"/>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0" name="Text 9">
            <a:extLst>
              <a:ext uri="{FF2B5EF4-FFF2-40B4-BE49-F238E27FC236}">
                <a16:creationId xmlns:a16="http://schemas.microsoft.com/office/drawing/2014/main" id="{71D583B3-C336-DA8B-88C5-894413F9F978}"/>
              </a:ext>
            </a:extLst>
          </p:cNvPr>
          <p:cNvSpPr/>
          <p:nvPr/>
        </p:nvSpPr>
        <p:spPr>
          <a:xfrm>
            <a:off x="1061194" y="4717336"/>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3</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2" name="Shape 11">
            <a:extLst>
              <a:ext uri="{FF2B5EF4-FFF2-40B4-BE49-F238E27FC236}">
                <a16:creationId xmlns:a16="http://schemas.microsoft.com/office/drawing/2014/main" id="{E1F9A2D6-A353-8075-592E-702652DE952D}"/>
              </a:ext>
            </a:extLst>
          </p:cNvPr>
          <p:cNvSpPr/>
          <p:nvPr/>
        </p:nvSpPr>
        <p:spPr>
          <a:xfrm>
            <a:off x="1061194" y="575570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12">
            <a:extLst>
              <a:ext uri="{FF2B5EF4-FFF2-40B4-BE49-F238E27FC236}">
                <a16:creationId xmlns:a16="http://schemas.microsoft.com/office/drawing/2014/main" id="{5C41C54A-EC12-B568-573D-DA1C7E43E3F6}"/>
              </a:ext>
            </a:extLst>
          </p:cNvPr>
          <p:cNvSpPr/>
          <p:nvPr/>
        </p:nvSpPr>
        <p:spPr>
          <a:xfrm>
            <a:off x="1061194" y="575570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4</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4" name="Text 13">
            <a:extLst>
              <a:ext uri="{FF2B5EF4-FFF2-40B4-BE49-F238E27FC236}">
                <a16:creationId xmlns:a16="http://schemas.microsoft.com/office/drawing/2014/main" id="{B0F48C97-4061-DA24-C161-4A21C8A287FE}"/>
              </a:ext>
            </a:extLst>
          </p:cNvPr>
          <p:cNvSpPr/>
          <p:nvPr/>
        </p:nvSpPr>
        <p:spPr>
          <a:xfrm>
            <a:off x="1858754" y="5657535"/>
            <a:ext cx="9914146" cy="836423"/>
          </a:xfrm>
          <a:prstGeom prst="rect">
            <a:avLst/>
          </a:prstGeom>
          <a:noFill/>
          <a:ln/>
        </p:spPr>
        <p:txBody>
          <a:bodyPr wrap="square" lIns="0" tIns="0" rIns="0" bIns="0" rtlCol="0" anchor="ctr"/>
          <a:lstStyle/>
          <a:p>
            <a:pPr lvl="0" defTabSz="1219170">
              <a:defRPr/>
            </a:pP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sz="25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agents.md</a:t>
            </a:r>
            <a:r>
              <a:rPr kumimoji="0" lang="en-US" sz="2500" b="0" i="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 </a:t>
            </a: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a:t>
            </a:r>
            <a:r>
              <a:rPr kumimoji="0" lang="en-US" sz="2500" b="0" i="0"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 </a:t>
            </a: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and Copilot</a:t>
            </a:r>
            <a:r>
              <a:rPr lang="en-US" sz="2500" dirty="0">
                <a:latin typeface="Arial" panose="020B0604020202020204" pitchFamily="34" charset="0"/>
                <a:ea typeface="Calibri" pitchFamily="34" charset="-122"/>
                <a:cs typeface="Arial" panose="020B0604020202020204" pitchFamily="34" charset="0"/>
              </a:rPr>
              <a:t> (or your preferred AI)</a:t>
            </a: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to generate </a:t>
            </a:r>
            <a:r>
              <a:rPr kumimoji="0" lang="en-US" sz="25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output/scripts/03_forecast.R</a:t>
            </a:r>
            <a:r>
              <a:rPr lang="en-US" sz="2500" b="1" dirty="0">
                <a:latin typeface="Arial" panose="020B0604020202020204" pitchFamily="34" charset="0"/>
                <a:cs typeface="Arial" panose="020B0604020202020204" pitchFamily="34" charset="0"/>
              </a:rPr>
              <a:t>. </a:t>
            </a:r>
            <a:r>
              <a:rPr lang="en-US" sz="2500" dirty="0">
                <a:latin typeface="Arial" panose="020B0604020202020204" pitchFamily="34" charset="0"/>
                <a:cs typeface="Arial" panose="020B0604020202020204" pitchFamily="34" charset="0"/>
              </a:rPr>
              <a:t>Run the script and check the output.</a:t>
            </a:r>
            <a:endParaRPr kumimoji="0" lang="en-US" sz="250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CECB80F1-E93A-8BA8-1B3F-871CBEF37678}"/>
              </a:ext>
            </a:extLst>
          </p:cNvPr>
          <p:cNvSpPr/>
          <p:nvPr/>
        </p:nvSpPr>
        <p:spPr>
          <a:xfrm>
            <a:off x="800100" y="1174553"/>
            <a:ext cx="10591800" cy="1006898"/>
          </a:xfrm>
          <a:prstGeom prst="roundRect">
            <a:avLst/>
          </a:prstGeom>
          <a:solidFill>
            <a:schemeClr val="bg1">
              <a:lumMod val="95000"/>
            </a:schemeClr>
          </a:solidFill>
          <a:ln/>
        </p:spPr>
        <p:txBody>
          <a:bodyPr wrap="square" lIns="0" tIns="0" rIns="0" bIns="0" rtlCol="0" anchor="ctr"/>
          <a:lstStyle/>
          <a:p>
            <a:pPr algn="ctr" defTabSz="1219170"/>
            <a:r>
              <a:rPr lang="en-US" sz="2500">
                <a:solidFill>
                  <a:srgbClr val="334155"/>
                </a:solidFill>
                <a:latin typeface="Arial" panose="020B0604020202020204" pitchFamily="34" charset="0"/>
                <a:ea typeface="Calibri" pitchFamily="34" charset="-122"/>
                <a:cs typeface="Arial" panose="020B0604020202020204" pitchFamily="34" charset="0"/>
              </a:rPr>
              <a:t>We will work through the following steps </a:t>
            </a:r>
            <a:r>
              <a:rPr lang="en-US" sz="2500" b="1" u="sng">
                <a:solidFill>
                  <a:srgbClr val="334155"/>
                </a:solidFill>
                <a:latin typeface="Arial" panose="020B0604020202020204" pitchFamily="34" charset="0"/>
                <a:ea typeface="Calibri" pitchFamily="34" charset="-122"/>
                <a:cs typeface="Arial" panose="020B0604020202020204" pitchFamily="34" charset="0"/>
              </a:rPr>
              <a:t>together</a:t>
            </a:r>
            <a:r>
              <a:rPr lang="en-US" sz="2500">
                <a:solidFill>
                  <a:srgbClr val="334155"/>
                </a:solidFill>
                <a:latin typeface="Arial" panose="020B0604020202020204" pitchFamily="34" charset="0"/>
                <a:ea typeface="Calibri" pitchFamily="34" charset="-122"/>
                <a:cs typeface="Arial" panose="020B0604020202020204" pitchFamily="34" charset="0"/>
              </a:rPr>
              <a:t> to add the next section to our </a:t>
            </a:r>
            <a:r>
              <a:rPr lang="en-US" sz="2500" b="1">
                <a:solidFill>
                  <a:srgbClr val="334155"/>
                </a:solidFill>
                <a:latin typeface="Arial" panose="020B0604020202020204" pitchFamily="34" charset="0"/>
                <a:ea typeface="Calibri" pitchFamily="34" charset="-122"/>
                <a:cs typeface="Arial" panose="020B0604020202020204" pitchFamily="34" charset="0"/>
              </a:rPr>
              <a:t>rules.md</a:t>
            </a:r>
            <a:r>
              <a:rPr lang="en-US" sz="2500">
                <a:solidFill>
                  <a:srgbClr val="334155"/>
                </a:solidFill>
                <a:latin typeface="Arial" panose="020B0604020202020204" pitchFamily="34" charset="0"/>
                <a:ea typeface="Calibri" pitchFamily="34" charset="-122"/>
                <a:cs typeface="Arial" panose="020B0604020202020204" pitchFamily="34" charset="0"/>
              </a:rPr>
              <a:t> document. </a:t>
            </a:r>
            <a:endParaRPr lang="en-US" sz="2500">
              <a:solidFill>
                <a:prstClr val="black"/>
              </a:solidFill>
              <a:latin typeface="Arial" panose="020B0604020202020204" pitchFamily="34" charset="0"/>
              <a:cs typeface="Arial" panose="020B0604020202020204" pitchFamily="34" charset="0"/>
            </a:endParaRPr>
          </a:p>
        </p:txBody>
      </p:sp>
      <p:sp>
        <p:nvSpPr>
          <p:cNvPr id="18" name="Text 13">
            <a:extLst>
              <a:ext uri="{FF2B5EF4-FFF2-40B4-BE49-F238E27FC236}">
                <a16:creationId xmlns:a16="http://schemas.microsoft.com/office/drawing/2014/main" id="{77588462-654B-7B88-F421-8246A9A018F9}"/>
              </a:ext>
            </a:extLst>
          </p:cNvPr>
          <p:cNvSpPr/>
          <p:nvPr/>
        </p:nvSpPr>
        <p:spPr>
          <a:xfrm>
            <a:off x="1858754" y="4824016"/>
            <a:ext cx="9509760" cy="426720"/>
          </a:xfrm>
          <a:prstGeom prst="rect">
            <a:avLst/>
          </a:prstGeom>
          <a:noFill/>
          <a:ln/>
        </p:spPr>
        <p:txBody>
          <a:bodyPr wrap="square" lIns="0" tIns="0" rIns="0" bIns="0" rtlCol="0" anchor="ctr"/>
          <a:lstStyle/>
          <a:p>
            <a:pPr defTabSz="1219170"/>
            <a:r>
              <a:rPr lang="en-US" sz="2500" dirty="0">
                <a:latin typeface="Arial" panose="020B0604020202020204" pitchFamily="34" charset="0"/>
                <a:ea typeface="Calibri" pitchFamily="34" charset="-122"/>
                <a:cs typeface="Arial" panose="020B0604020202020204" pitchFamily="34" charset="0"/>
              </a:rPr>
              <a:t>Regenerate </a:t>
            </a:r>
            <a:r>
              <a:rPr lang="en-US" sz="2500" b="1" dirty="0">
                <a:solidFill>
                  <a:schemeClr val="accent2"/>
                </a:solidFill>
                <a:latin typeface="Arial" panose="020B0604020202020204" pitchFamily="34" charset="0"/>
                <a:ea typeface="Calibri" pitchFamily="34" charset="-122"/>
                <a:cs typeface="Arial" panose="020B0604020202020204" pitchFamily="34" charset="0"/>
              </a:rPr>
              <a:t>agents.md</a:t>
            </a:r>
            <a:r>
              <a:rPr lang="en-US" sz="2500" dirty="0">
                <a:latin typeface="Arial" panose="020B0604020202020204" pitchFamily="34" charset="0"/>
                <a:ea typeface="Calibri" pitchFamily="34" charset="-122"/>
                <a:cs typeface="Arial" panose="020B0604020202020204" pitchFamily="34" charset="0"/>
              </a:rPr>
              <a:t> from your updated rules document</a:t>
            </a:r>
            <a:endParaRPr lang="en-US" sz="2500" dirty="0">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2ED3FCFC-79A2-DA57-7738-9EA32C099D14}"/>
              </a:ext>
            </a:extLst>
          </p:cNvPr>
          <p:cNvPicPr>
            <a:picLocks noChangeAspect="1"/>
          </p:cNvPicPr>
          <p:nvPr/>
        </p:nvPicPr>
        <p:blipFill>
          <a:blip r:embed="rId3"/>
          <a:stretch>
            <a:fillRect/>
          </a:stretch>
        </p:blipFill>
        <p:spPr>
          <a:xfrm>
            <a:off x="2663312" y="49858"/>
            <a:ext cx="981703" cy="981703"/>
          </a:xfrm>
          <a:prstGeom prst="rect">
            <a:avLst/>
          </a:prstGeom>
        </p:spPr>
      </p:pic>
    </p:spTree>
    <p:extLst>
      <p:ext uri="{BB962C8B-B14F-4D97-AF65-F5344CB8AC3E}">
        <p14:creationId xmlns:p14="http://schemas.microsoft.com/office/powerpoint/2010/main" val="3940040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2" grpId="0" animBg="1"/>
      <p:bldP spid="13" grpId="0" animBg="1"/>
      <p:bldP spid="14" grpId="0" animBg="1"/>
      <p:bldP spid="1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6AD83-18B7-FCA3-2A2A-0E0B794DEF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545201-6CB0-63DB-D67E-586EB9B1A928}"/>
              </a:ext>
            </a:extLst>
          </p:cNvPr>
          <p:cNvSpPr>
            <a:spLocks noGrp="1"/>
          </p:cNvSpPr>
          <p:nvPr>
            <p:ph type="title"/>
          </p:nvPr>
        </p:nvSpPr>
        <p:spPr>
          <a:xfrm>
            <a:off x="838200" y="2766219"/>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Task 3: Forecasting </a:t>
            </a:r>
          </a:p>
        </p:txBody>
      </p:sp>
    </p:spTree>
    <p:extLst>
      <p:ext uri="{BB962C8B-B14F-4D97-AF65-F5344CB8AC3E}">
        <p14:creationId xmlns:p14="http://schemas.microsoft.com/office/powerpoint/2010/main" val="1225217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8BF21-A8B3-0F6C-A745-5B8E5A1FCE7E}"/>
              </a:ext>
            </a:extLst>
          </p:cNvPr>
          <p:cNvSpPr>
            <a:spLocks noGrp="1"/>
          </p:cNvSpPr>
          <p:nvPr>
            <p:ph type="title"/>
          </p:nvPr>
        </p:nvSpPr>
        <p:spPr>
          <a:xfrm>
            <a:off x="838200" y="109217"/>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What does our data look like? </a:t>
            </a: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E6414431-37AE-A694-1140-05D760330A50}"/>
                  </a:ext>
                </a:extLst>
              </p:cNvPr>
              <p:cNvGraphicFramePr>
                <a:graphicFrameLocks noGrp="1"/>
              </p:cNvGraphicFramePr>
              <p:nvPr>
                <p:extLst>
                  <p:ext uri="{D42A27DB-BD31-4B8C-83A1-F6EECF244321}">
                    <p14:modId xmlns:p14="http://schemas.microsoft.com/office/powerpoint/2010/main" val="1505581293"/>
                  </p:ext>
                </p:extLst>
              </p:nvPr>
            </p:nvGraphicFramePr>
            <p:xfrm>
              <a:off x="2032000" y="1491225"/>
              <a:ext cx="8127999" cy="330708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2607244339"/>
                        </a:ext>
                      </a:extLst>
                    </a:gridCol>
                    <a:gridCol w="2709333">
                      <a:extLst>
                        <a:ext uri="{9D8B030D-6E8A-4147-A177-3AD203B41FA5}">
                          <a16:colId xmlns:a16="http://schemas.microsoft.com/office/drawing/2014/main" val="3045878484"/>
                        </a:ext>
                      </a:extLst>
                    </a:gridCol>
                    <a:gridCol w="2709333">
                      <a:extLst>
                        <a:ext uri="{9D8B030D-6E8A-4147-A177-3AD203B41FA5}">
                          <a16:colId xmlns:a16="http://schemas.microsoft.com/office/drawing/2014/main" val="1289213098"/>
                        </a:ext>
                      </a:extLst>
                    </a:gridCol>
                  </a:tblGrid>
                  <a:tr h="370840">
                    <a:tc>
                      <a:txBody>
                        <a:bodyPr/>
                        <a:lstStyle/>
                        <a:p>
                          <a:pPr algn="ctr"/>
                          <a:r>
                            <a:rPr lang="en-US" sz="2500" b="1" dirty="0">
                              <a:latin typeface="Arial" panose="020B0604020202020204" pitchFamily="34" charset="0"/>
                              <a:cs typeface="Arial" panose="020B0604020202020204" pitchFamily="34" charset="0"/>
                            </a:rPr>
                            <a:t>week</a:t>
                          </a:r>
                        </a:p>
                      </a:txBody>
                      <a:tcPr>
                        <a:solidFill>
                          <a:srgbClr val="FFF4EC"/>
                        </a:solidFill>
                      </a:tcPr>
                    </a:tc>
                    <a:tc>
                      <a:txBody>
                        <a:bodyPr/>
                        <a:lstStyle/>
                        <a:p>
                          <a:pPr algn="ctr"/>
                          <a:r>
                            <a:rPr lang="en-US" sz="2500" b="1">
                              <a:latin typeface="Arial" panose="020B0604020202020204" pitchFamily="34" charset="0"/>
                              <a:cs typeface="Arial" panose="020B0604020202020204" pitchFamily="34" charset="0"/>
                            </a:rPr>
                            <a:t>location</a:t>
                          </a:r>
                        </a:p>
                      </a:txBody>
                      <a:tcPr>
                        <a:solidFill>
                          <a:srgbClr val="FFF4EC"/>
                        </a:solidFill>
                      </a:tcPr>
                    </a:tc>
                    <a:tc>
                      <a:txBody>
                        <a:bodyPr/>
                        <a:lstStyle/>
                        <a:p>
                          <a:pPr algn="ctr"/>
                          <a:r>
                            <a:rPr lang="en-US" sz="2500" b="1">
                              <a:latin typeface="Arial" panose="020B0604020202020204" pitchFamily="34" charset="0"/>
                              <a:cs typeface="Arial" panose="020B0604020202020204" pitchFamily="34" charset="0"/>
                            </a:rPr>
                            <a:t>value</a:t>
                          </a:r>
                        </a:p>
                      </a:txBody>
                      <a:tcPr>
                        <a:solidFill>
                          <a:srgbClr val="FFF4EC"/>
                        </a:solidFill>
                      </a:tcPr>
                    </a:tc>
                    <a:extLst>
                      <a:ext uri="{0D108BD9-81ED-4DB2-BD59-A6C34878D82A}">
                        <a16:rowId xmlns:a16="http://schemas.microsoft.com/office/drawing/2014/main" val="73466922"/>
                      </a:ext>
                    </a:extLst>
                  </a:tr>
                  <a:tr h="370840">
                    <a:tc>
                      <a:txBody>
                        <a:bodyPr/>
                        <a:lstStyle/>
                        <a:p>
                          <a:pPr algn="ctr"/>
                          <a:r>
                            <a:rPr lang="en-US" sz="2500" dirty="0">
                              <a:latin typeface="Arial" panose="020B0604020202020204" pitchFamily="34" charset="0"/>
                              <a:cs typeface="Arial" panose="020B0604020202020204" pitchFamily="34" charset="0"/>
                            </a:rPr>
                            <a:t>2020-08-08</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0</a:t>
                          </a:r>
                        </a:p>
                      </a:txBody>
                      <a:tcPr/>
                    </a:tc>
                    <a:extLst>
                      <a:ext uri="{0D108BD9-81ED-4DB2-BD59-A6C34878D82A}">
                        <a16:rowId xmlns:a16="http://schemas.microsoft.com/office/drawing/2014/main" val="2612803643"/>
                      </a:ext>
                    </a:extLst>
                  </a:tr>
                  <a:tr h="370840">
                    <a:tc>
                      <a:txBody>
                        <a:bodyPr/>
                        <a:lstStyle/>
                        <a:p>
                          <a:pPr algn="ctr"/>
                          <a:r>
                            <a:rPr lang="en-US" sz="2500">
                              <a:latin typeface="Arial" panose="020B0604020202020204" pitchFamily="34" charset="0"/>
                              <a:cs typeface="Arial" panose="020B0604020202020204" pitchFamily="34" charset="0"/>
                            </a:rPr>
                            <a:t>2020-08-15</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0</a:t>
                          </a:r>
                        </a:p>
                      </a:txBody>
                      <a:tcPr/>
                    </a:tc>
                    <a:extLst>
                      <a:ext uri="{0D108BD9-81ED-4DB2-BD59-A6C34878D82A}">
                        <a16:rowId xmlns:a16="http://schemas.microsoft.com/office/drawing/2014/main" val="2526882090"/>
                      </a:ext>
                    </a:extLst>
                  </a:tr>
                  <a:tr h="370840">
                    <a:tc gridSpan="3">
                      <a:txBody>
                        <a:bodyPr/>
                        <a:lstStyle/>
                        <a:p>
                          <a:pPr algn="ctr"/>
                          <a14:m>
                            <m:oMathPara xmlns:m="http://schemas.openxmlformats.org/officeDocument/2006/math">
                              <m:oMathParaPr>
                                <m:jc m:val="centerGroup"/>
                              </m:oMathParaPr>
                              <m:oMath xmlns:m="http://schemas.openxmlformats.org/officeDocument/2006/math">
                                <m:r>
                                  <a:rPr lang="en-US" sz="2500" i="1" smtClean="0">
                                    <a:latin typeface="Cambria Math" panose="02040503050406030204" pitchFamily="18" charset="0"/>
                                    <a:ea typeface="Cambria Math" panose="02040503050406030204" pitchFamily="18" charset="0"/>
                                  </a:rPr>
                                  <m:t>⋯</m:t>
                                </m:r>
                              </m:oMath>
                            </m:oMathPara>
                          </a14:m>
                          <a:endParaRPr lang="en-US" sz="2500">
                            <a:latin typeface="Arial" panose="020B0604020202020204" pitchFamily="34" charset="0"/>
                            <a:cs typeface="Arial" panose="020B0604020202020204" pitchFamily="34" charset="0"/>
                          </a:endParaRPr>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83757802"/>
                      </a:ext>
                    </a:extLst>
                  </a:tr>
                  <a:tr h="370840">
                    <a:tc>
                      <a:txBody>
                        <a:bodyPr/>
                        <a:lstStyle/>
                        <a:p>
                          <a:pPr algn="ctr"/>
                          <a:r>
                            <a:rPr lang="en-US" sz="2500">
                              <a:latin typeface="Arial" panose="020B0604020202020204" pitchFamily="34" charset="0"/>
                              <a:cs typeface="Arial" panose="020B0604020202020204" pitchFamily="34" charset="0"/>
                            </a:rPr>
                            <a:t>2026-06-06</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1011</a:t>
                          </a:r>
                        </a:p>
                      </a:txBody>
                      <a:tcPr/>
                    </a:tc>
                    <a:extLst>
                      <a:ext uri="{0D108BD9-81ED-4DB2-BD59-A6C34878D82A}">
                        <a16:rowId xmlns:a16="http://schemas.microsoft.com/office/drawing/2014/main" val="3426328772"/>
                      </a:ext>
                    </a:extLst>
                  </a:tr>
                  <a:tr h="370840">
                    <a:tc>
                      <a:txBody>
                        <a:bodyPr/>
                        <a:lstStyle/>
                        <a:p>
                          <a:pPr algn="ctr"/>
                          <a:r>
                            <a:rPr lang="en-US" sz="2500">
                              <a:latin typeface="Arial" panose="020B0604020202020204" pitchFamily="34" charset="0"/>
                              <a:cs typeface="Arial" panose="020B0604020202020204" pitchFamily="34" charset="0"/>
                            </a:rPr>
                            <a:t>2026-06-13</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832</a:t>
                          </a:r>
                        </a:p>
                      </a:txBody>
                      <a:tcPr/>
                    </a:tc>
                    <a:extLst>
                      <a:ext uri="{0D108BD9-81ED-4DB2-BD59-A6C34878D82A}">
                        <a16:rowId xmlns:a16="http://schemas.microsoft.com/office/drawing/2014/main" val="2913012802"/>
                      </a:ext>
                    </a:extLst>
                  </a:tr>
                  <a:tr h="370840">
                    <a:tc>
                      <a:txBody>
                        <a:bodyPr/>
                        <a:lstStyle/>
                        <a:p>
                          <a:pPr algn="ctr"/>
                          <a:r>
                            <a:rPr lang="en-US" sz="2500">
                              <a:latin typeface="Arial" panose="020B0604020202020204" pitchFamily="34" charset="0"/>
                              <a:cs typeface="Arial" panose="020B0604020202020204" pitchFamily="34" charset="0"/>
                            </a:rPr>
                            <a:t>2026-06-20</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703</a:t>
                          </a:r>
                        </a:p>
                      </a:txBody>
                      <a:tcPr/>
                    </a:tc>
                    <a:extLst>
                      <a:ext uri="{0D108BD9-81ED-4DB2-BD59-A6C34878D82A}">
                        <a16:rowId xmlns:a16="http://schemas.microsoft.com/office/drawing/2014/main" val="488794940"/>
                      </a:ext>
                    </a:extLst>
                  </a:tr>
                </a:tbl>
              </a:graphicData>
            </a:graphic>
          </p:graphicFrame>
        </mc:Choice>
        <mc:Fallback xmlns="">
          <p:graphicFrame>
            <p:nvGraphicFramePr>
              <p:cNvPr id="6" name="Table 5">
                <a:extLst>
                  <a:ext uri="{FF2B5EF4-FFF2-40B4-BE49-F238E27FC236}">
                    <a16:creationId xmlns:a16="http://schemas.microsoft.com/office/drawing/2014/main" id="{E6414431-37AE-A694-1140-05D760330A50}"/>
                  </a:ext>
                </a:extLst>
              </p:cNvPr>
              <p:cNvGraphicFramePr>
                <a:graphicFrameLocks noGrp="1"/>
              </p:cNvGraphicFramePr>
              <p:nvPr>
                <p:extLst>
                  <p:ext uri="{D42A27DB-BD31-4B8C-83A1-F6EECF244321}">
                    <p14:modId xmlns:p14="http://schemas.microsoft.com/office/powerpoint/2010/main" val="1505581293"/>
                  </p:ext>
                </p:extLst>
              </p:nvPr>
            </p:nvGraphicFramePr>
            <p:xfrm>
              <a:off x="2032000" y="1491225"/>
              <a:ext cx="8127999" cy="330708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2607244339"/>
                        </a:ext>
                      </a:extLst>
                    </a:gridCol>
                    <a:gridCol w="2709333">
                      <a:extLst>
                        <a:ext uri="{9D8B030D-6E8A-4147-A177-3AD203B41FA5}">
                          <a16:colId xmlns:a16="http://schemas.microsoft.com/office/drawing/2014/main" val="3045878484"/>
                        </a:ext>
                      </a:extLst>
                    </a:gridCol>
                    <a:gridCol w="2709333">
                      <a:extLst>
                        <a:ext uri="{9D8B030D-6E8A-4147-A177-3AD203B41FA5}">
                          <a16:colId xmlns:a16="http://schemas.microsoft.com/office/drawing/2014/main" val="1289213098"/>
                        </a:ext>
                      </a:extLst>
                    </a:gridCol>
                  </a:tblGrid>
                  <a:tr h="472440">
                    <a:tc>
                      <a:txBody>
                        <a:bodyPr/>
                        <a:lstStyle/>
                        <a:p>
                          <a:pPr algn="ctr"/>
                          <a:r>
                            <a:rPr lang="en-US" sz="2500" b="1">
                              <a:latin typeface="Arial" panose="020B0604020202020204" pitchFamily="34" charset="0"/>
                              <a:cs typeface="Arial" panose="020B0604020202020204" pitchFamily="34" charset="0"/>
                            </a:rPr>
                            <a:t>week</a:t>
                          </a:r>
                        </a:p>
                      </a:txBody>
                      <a:tcPr>
                        <a:solidFill>
                          <a:srgbClr val="FFF4EC"/>
                        </a:solidFill>
                      </a:tcPr>
                    </a:tc>
                    <a:tc>
                      <a:txBody>
                        <a:bodyPr/>
                        <a:lstStyle/>
                        <a:p>
                          <a:pPr algn="ctr"/>
                          <a:r>
                            <a:rPr lang="en-US" sz="2500" b="1">
                              <a:latin typeface="Arial" panose="020B0604020202020204" pitchFamily="34" charset="0"/>
                              <a:cs typeface="Arial" panose="020B0604020202020204" pitchFamily="34" charset="0"/>
                            </a:rPr>
                            <a:t>location</a:t>
                          </a:r>
                        </a:p>
                      </a:txBody>
                      <a:tcPr>
                        <a:solidFill>
                          <a:srgbClr val="FFF4EC"/>
                        </a:solidFill>
                      </a:tcPr>
                    </a:tc>
                    <a:tc>
                      <a:txBody>
                        <a:bodyPr/>
                        <a:lstStyle/>
                        <a:p>
                          <a:pPr algn="ctr"/>
                          <a:r>
                            <a:rPr lang="en-US" sz="2500" b="1">
                              <a:latin typeface="Arial" panose="020B0604020202020204" pitchFamily="34" charset="0"/>
                              <a:cs typeface="Arial" panose="020B0604020202020204" pitchFamily="34" charset="0"/>
                            </a:rPr>
                            <a:t>value</a:t>
                          </a:r>
                        </a:p>
                      </a:txBody>
                      <a:tcPr>
                        <a:solidFill>
                          <a:srgbClr val="FFF4EC"/>
                        </a:solidFill>
                      </a:tcPr>
                    </a:tc>
                    <a:extLst>
                      <a:ext uri="{0D108BD9-81ED-4DB2-BD59-A6C34878D82A}">
                        <a16:rowId xmlns:a16="http://schemas.microsoft.com/office/drawing/2014/main" val="73466922"/>
                      </a:ext>
                    </a:extLst>
                  </a:tr>
                  <a:tr h="472440">
                    <a:tc>
                      <a:txBody>
                        <a:bodyPr/>
                        <a:lstStyle/>
                        <a:p>
                          <a:pPr algn="ctr"/>
                          <a:r>
                            <a:rPr lang="en-US" sz="2500">
                              <a:latin typeface="Arial" panose="020B0604020202020204" pitchFamily="34" charset="0"/>
                              <a:cs typeface="Arial" panose="020B0604020202020204" pitchFamily="34" charset="0"/>
                            </a:rPr>
                            <a:t>2020-08-08</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0</a:t>
                          </a:r>
                        </a:p>
                      </a:txBody>
                      <a:tcPr/>
                    </a:tc>
                    <a:extLst>
                      <a:ext uri="{0D108BD9-81ED-4DB2-BD59-A6C34878D82A}">
                        <a16:rowId xmlns:a16="http://schemas.microsoft.com/office/drawing/2014/main" val="2612803643"/>
                      </a:ext>
                    </a:extLst>
                  </a:tr>
                  <a:tr h="472440">
                    <a:tc>
                      <a:txBody>
                        <a:bodyPr/>
                        <a:lstStyle/>
                        <a:p>
                          <a:pPr algn="ctr"/>
                          <a:r>
                            <a:rPr lang="en-US" sz="2500">
                              <a:latin typeface="Arial" panose="020B0604020202020204" pitchFamily="34" charset="0"/>
                              <a:cs typeface="Arial" panose="020B0604020202020204" pitchFamily="34" charset="0"/>
                            </a:rPr>
                            <a:t>2020-08-15</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0</a:t>
                          </a:r>
                        </a:p>
                      </a:txBody>
                      <a:tcPr/>
                    </a:tc>
                    <a:extLst>
                      <a:ext uri="{0D108BD9-81ED-4DB2-BD59-A6C34878D82A}">
                        <a16:rowId xmlns:a16="http://schemas.microsoft.com/office/drawing/2014/main" val="2526882090"/>
                      </a:ext>
                    </a:extLst>
                  </a:tr>
                  <a:tr h="472440">
                    <a:tc gridSpan="3">
                      <a:txBody>
                        <a:bodyPr/>
                        <a:lstStyle/>
                        <a:p>
                          <a:endParaRPr lang="en-US"/>
                        </a:p>
                      </a:txBody>
                      <a:tcPr>
                        <a:blipFill>
                          <a:blip r:embed="rId3"/>
                          <a:stretch>
                            <a:fillRect l="-75" t="-307692" r="-150" b="-329487"/>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83757802"/>
                      </a:ext>
                    </a:extLst>
                  </a:tr>
                  <a:tr h="472440">
                    <a:tc>
                      <a:txBody>
                        <a:bodyPr/>
                        <a:lstStyle/>
                        <a:p>
                          <a:pPr algn="ctr"/>
                          <a:r>
                            <a:rPr lang="en-US" sz="2500">
                              <a:latin typeface="Arial" panose="020B0604020202020204" pitchFamily="34" charset="0"/>
                              <a:cs typeface="Arial" panose="020B0604020202020204" pitchFamily="34" charset="0"/>
                            </a:rPr>
                            <a:t>2026-06-06</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1011</a:t>
                          </a:r>
                        </a:p>
                      </a:txBody>
                      <a:tcPr/>
                    </a:tc>
                    <a:extLst>
                      <a:ext uri="{0D108BD9-81ED-4DB2-BD59-A6C34878D82A}">
                        <a16:rowId xmlns:a16="http://schemas.microsoft.com/office/drawing/2014/main" val="3426328772"/>
                      </a:ext>
                    </a:extLst>
                  </a:tr>
                  <a:tr h="472440">
                    <a:tc>
                      <a:txBody>
                        <a:bodyPr/>
                        <a:lstStyle/>
                        <a:p>
                          <a:pPr algn="ctr"/>
                          <a:r>
                            <a:rPr lang="en-US" sz="2500">
                              <a:latin typeface="Arial" panose="020B0604020202020204" pitchFamily="34" charset="0"/>
                              <a:cs typeface="Arial" panose="020B0604020202020204" pitchFamily="34" charset="0"/>
                            </a:rPr>
                            <a:t>2026-06-13</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832</a:t>
                          </a:r>
                        </a:p>
                      </a:txBody>
                      <a:tcPr/>
                    </a:tc>
                    <a:extLst>
                      <a:ext uri="{0D108BD9-81ED-4DB2-BD59-A6C34878D82A}">
                        <a16:rowId xmlns:a16="http://schemas.microsoft.com/office/drawing/2014/main" val="2913012802"/>
                      </a:ext>
                    </a:extLst>
                  </a:tr>
                  <a:tr h="472440">
                    <a:tc>
                      <a:txBody>
                        <a:bodyPr/>
                        <a:lstStyle/>
                        <a:p>
                          <a:pPr algn="ctr"/>
                          <a:r>
                            <a:rPr lang="en-US" sz="2500">
                              <a:latin typeface="Arial" panose="020B0604020202020204" pitchFamily="34" charset="0"/>
                              <a:cs typeface="Arial" panose="020B0604020202020204" pitchFamily="34" charset="0"/>
                            </a:rPr>
                            <a:t>2026-06-20</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703</a:t>
                          </a:r>
                        </a:p>
                      </a:txBody>
                      <a:tcPr/>
                    </a:tc>
                    <a:extLst>
                      <a:ext uri="{0D108BD9-81ED-4DB2-BD59-A6C34878D82A}">
                        <a16:rowId xmlns:a16="http://schemas.microsoft.com/office/drawing/2014/main" val="488794940"/>
                      </a:ext>
                    </a:extLst>
                  </a:tr>
                </a:tbl>
              </a:graphicData>
            </a:graphic>
          </p:graphicFrame>
        </mc:Fallback>
      </mc:AlternateContent>
      <p:sp>
        <p:nvSpPr>
          <p:cNvPr id="8" name="Rectangle: Rounded Corners 7">
            <a:extLst>
              <a:ext uri="{FF2B5EF4-FFF2-40B4-BE49-F238E27FC236}">
                <a16:creationId xmlns:a16="http://schemas.microsoft.com/office/drawing/2014/main" id="{8018C123-C709-3B17-AE75-002224C7D765}"/>
              </a:ext>
            </a:extLst>
          </p:cNvPr>
          <p:cNvSpPr/>
          <p:nvPr/>
        </p:nvSpPr>
        <p:spPr>
          <a:xfrm>
            <a:off x="1596101" y="5160656"/>
            <a:ext cx="9152198" cy="1209424"/>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3F486CD-C32F-0FF7-9EA2-23B9A10DBA8C}"/>
              </a:ext>
            </a:extLst>
          </p:cNvPr>
          <p:cNvSpPr txBox="1"/>
          <p:nvPr/>
        </p:nvSpPr>
        <p:spPr>
          <a:xfrm>
            <a:off x="1596101" y="5326281"/>
            <a:ext cx="9152198" cy="861774"/>
          </a:xfrm>
          <a:prstGeom prst="rect">
            <a:avLst/>
          </a:prstGeom>
          <a:noFill/>
        </p:spPr>
        <p:txBody>
          <a:bodyPr wrap="square">
            <a:spAutoFit/>
          </a:bodyPr>
          <a:lstStyle/>
          <a:p>
            <a:pPr algn="ctr"/>
            <a:r>
              <a:rPr lang="en-US" sz="2500" dirty="0">
                <a:latin typeface="Arial" panose="020B0604020202020204" pitchFamily="34" charset="0"/>
                <a:cs typeface="Arial" panose="020B0604020202020204" pitchFamily="34" charset="0"/>
              </a:rPr>
              <a:t>What are our </a:t>
            </a:r>
            <a:r>
              <a:rPr lang="en-US" sz="2500" b="1" dirty="0">
                <a:solidFill>
                  <a:schemeClr val="accent2"/>
                </a:solidFill>
                <a:latin typeface="Arial" panose="020B0604020202020204" pitchFamily="34" charset="0"/>
                <a:cs typeface="Arial" panose="020B0604020202020204" pitchFamily="34" charset="0"/>
              </a:rPr>
              <a:t>reference dates </a:t>
            </a:r>
            <a:r>
              <a:rPr lang="en-US" sz="2500" dirty="0">
                <a:latin typeface="Arial" panose="020B0604020202020204" pitchFamily="34" charset="0"/>
                <a:cs typeface="Arial" panose="020B0604020202020204" pitchFamily="34" charset="0"/>
              </a:rPr>
              <a:t>(i.e., cut off for input data) and what are our </a:t>
            </a:r>
            <a:r>
              <a:rPr lang="en-US" sz="2500" b="1" dirty="0">
                <a:solidFill>
                  <a:schemeClr val="accent2"/>
                </a:solidFill>
                <a:latin typeface="Arial" panose="020B0604020202020204" pitchFamily="34" charset="0"/>
                <a:cs typeface="Arial" panose="020B0604020202020204" pitchFamily="34" charset="0"/>
              </a:rPr>
              <a:t>target end dates </a:t>
            </a:r>
            <a:r>
              <a:rPr lang="en-US" sz="2500" dirty="0">
                <a:latin typeface="Arial" panose="020B0604020202020204" pitchFamily="34" charset="0"/>
                <a:cs typeface="Arial" panose="020B0604020202020204" pitchFamily="34" charset="0"/>
              </a:rPr>
              <a:t>(i.e., forecast dates)? </a:t>
            </a:r>
          </a:p>
        </p:txBody>
      </p:sp>
    </p:spTree>
    <p:extLst>
      <p:ext uri="{BB962C8B-B14F-4D97-AF65-F5344CB8AC3E}">
        <p14:creationId xmlns:p14="http://schemas.microsoft.com/office/powerpoint/2010/main" val="3326017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088E7-6D75-D717-A835-0953CF4F33A1}"/>
              </a:ext>
            </a:extLst>
          </p:cNvPr>
          <p:cNvSpPr>
            <a:spLocks noGrp="1"/>
          </p:cNvSpPr>
          <p:nvPr>
            <p:ph type="title"/>
          </p:nvPr>
        </p:nvSpPr>
        <p:spPr>
          <a:xfrm>
            <a:off x="838200" y="20355"/>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Reference Dates </a:t>
            </a:r>
          </a:p>
        </p:txBody>
      </p:sp>
      <p:sp>
        <p:nvSpPr>
          <p:cNvPr id="3" name="Content Placeholder 2">
            <a:extLst>
              <a:ext uri="{FF2B5EF4-FFF2-40B4-BE49-F238E27FC236}">
                <a16:creationId xmlns:a16="http://schemas.microsoft.com/office/drawing/2014/main" id="{33AE16C8-1D63-588F-395E-E5E6DFCAC66D}"/>
              </a:ext>
            </a:extLst>
          </p:cNvPr>
          <p:cNvSpPr>
            <a:spLocks noGrp="1"/>
          </p:cNvSpPr>
          <p:nvPr>
            <p:ph idx="1"/>
          </p:nvPr>
        </p:nvSpPr>
        <p:spPr>
          <a:xfrm>
            <a:off x="838200" y="1409076"/>
            <a:ext cx="10515600" cy="5231565"/>
          </a:xfrm>
        </p:spPr>
        <p:txBody>
          <a:bodyPr>
            <a:noAutofit/>
          </a:bodyPr>
          <a:lstStyle/>
          <a:p>
            <a:pPr marL="0" indent="0" algn="ctr">
              <a:spcAft>
                <a:spcPts val="1800"/>
              </a:spcAft>
              <a:buNone/>
            </a:pPr>
            <a:r>
              <a:rPr lang="en-US">
                <a:latin typeface="Arial" panose="020B0604020202020204" pitchFamily="34" charset="0"/>
                <a:cs typeface="Arial" panose="020B0604020202020204" pitchFamily="34" charset="0"/>
              </a:rPr>
              <a:t>Reference dates are the </a:t>
            </a:r>
            <a:r>
              <a:rPr lang="en-US" b="1">
                <a:solidFill>
                  <a:schemeClr val="accent2"/>
                </a:solidFill>
                <a:latin typeface="Arial" panose="020B0604020202020204" pitchFamily="34" charset="0"/>
                <a:cs typeface="Arial" panose="020B0604020202020204" pitchFamily="34" charset="0"/>
              </a:rPr>
              <a:t>last week of observed data</a:t>
            </a:r>
            <a:r>
              <a:rPr lang="en-US">
                <a:latin typeface="Arial" panose="020B0604020202020204" pitchFamily="34" charset="0"/>
                <a:cs typeface="Arial" panose="020B0604020202020204" pitchFamily="34" charset="0"/>
              </a:rPr>
              <a:t> we include in our training period (i.e., model input). A week is defined as Sunday to Saturday, with the Saturday used for the label.  </a:t>
            </a:r>
          </a:p>
          <a:p>
            <a:pPr marL="0" indent="0" algn="ctr">
              <a:spcAft>
                <a:spcPts val="2400"/>
              </a:spcAft>
              <a:buNone/>
            </a:pPr>
            <a:endParaRPr lang="en-US">
              <a:latin typeface="Arial" panose="020B0604020202020204" pitchFamily="34" charset="0"/>
              <a:cs typeface="Arial" panose="020B0604020202020204" pitchFamily="34" charset="0"/>
            </a:endParaRPr>
          </a:p>
          <a:p>
            <a:pPr marL="0" indent="0" algn="ctr">
              <a:buNone/>
            </a:pP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a:p>
            <a:pPr marL="0" indent="0" algn="ctr">
              <a:buNone/>
            </a:pPr>
            <a:endParaRPr lang="en-US">
              <a:latin typeface="Arial" panose="020B0604020202020204" pitchFamily="34" charset="0"/>
              <a:cs typeface="Arial" panose="020B0604020202020204" pitchFamily="34" charset="0"/>
            </a:endParaRPr>
          </a:p>
          <a:p>
            <a:pPr marL="0" indent="0" algn="ctr">
              <a:spcAft>
                <a:spcPts val="1200"/>
              </a:spcAft>
              <a:buNone/>
            </a:pPr>
            <a:r>
              <a:rPr lang="en-US">
                <a:latin typeface="Arial" panose="020B0604020202020204" pitchFamily="34" charset="0"/>
                <a:cs typeface="Arial" panose="020B0604020202020204" pitchFamily="34" charset="0"/>
              </a:rPr>
              <a:t>For example, if our most recent data is the week of </a:t>
            </a:r>
            <a:r>
              <a:rPr lang="en-US" b="1">
                <a:latin typeface="Arial" panose="020B0604020202020204" pitchFamily="34" charset="0"/>
                <a:cs typeface="Arial" panose="020B0604020202020204" pitchFamily="34" charset="0"/>
              </a:rPr>
              <a:t>2026-06-20</a:t>
            </a:r>
            <a:r>
              <a:rPr lang="en-US">
                <a:latin typeface="Arial" panose="020B0604020202020204" pitchFamily="34" charset="0"/>
                <a:cs typeface="Arial" panose="020B0604020202020204" pitchFamily="34" charset="0"/>
              </a:rPr>
              <a:t>, that's our reference date, and we forecast the </a:t>
            </a:r>
            <a:r>
              <a:rPr lang="en-US" i="1">
                <a:latin typeface="Arial" panose="020B0604020202020204" pitchFamily="34" charset="0"/>
                <a:cs typeface="Arial" panose="020B0604020202020204" pitchFamily="34" charset="0"/>
              </a:rPr>
              <a:t>next</a:t>
            </a:r>
            <a:r>
              <a:rPr lang="en-US">
                <a:latin typeface="Arial" panose="020B0604020202020204" pitchFamily="34" charset="0"/>
                <a:cs typeface="Arial" panose="020B0604020202020204" pitchFamily="34" charset="0"/>
              </a:rPr>
              <a:t> week from it.</a:t>
            </a:r>
          </a:p>
        </p:txBody>
      </p:sp>
      <p:cxnSp>
        <p:nvCxnSpPr>
          <p:cNvPr id="12" name="Straight Arrow Connector 11">
            <a:extLst>
              <a:ext uri="{FF2B5EF4-FFF2-40B4-BE49-F238E27FC236}">
                <a16:creationId xmlns:a16="http://schemas.microsoft.com/office/drawing/2014/main" id="{B55C3E23-6857-D79A-43FE-8CC09067A91F}"/>
              </a:ext>
            </a:extLst>
          </p:cNvPr>
          <p:cNvCxnSpPr>
            <a:cxnSpLocks/>
          </p:cNvCxnSpPr>
          <p:nvPr/>
        </p:nvCxnSpPr>
        <p:spPr>
          <a:xfrm>
            <a:off x="823210" y="4309669"/>
            <a:ext cx="10607040" cy="0"/>
          </a:xfrm>
          <a:prstGeom prst="straightConnector1">
            <a:avLst/>
          </a:prstGeom>
          <a:ln w="76200">
            <a:tailEnd type="triangle"/>
          </a:ln>
        </p:spPr>
        <p:style>
          <a:lnRef idx="2">
            <a:schemeClr val="accent2"/>
          </a:lnRef>
          <a:fillRef idx="0">
            <a:schemeClr val="accent2"/>
          </a:fillRef>
          <a:effectRef idx="1">
            <a:schemeClr val="accent2"/>
          </a:effectRef>
          <a:fontRef idx="minor">
            <a:schemeClr val="tx1"/>
          </a:fontRef>
        </p:style>
      </p:cxnSp>
      <p:cxnSp>
        <p:nvCxnSpPr>
          <p:cNvPr id="16" name="Straight Connector 15">
            <a:extLst>
              <a:ext uri="{FF2B5EF4-FFF2-40B4-BE49-F238E27FC236}">
                <a16:creationId xmlns:a16="http://schemas.microsoft.com/office/drawing/2014/main" id="{1A803703-A1AA-21C2-C297-C4FC30E9D9D4}"/>
              </a:ext>
            </a:extLst>
          </p:cNvPr>
          <p:cNvCxnSpPr/>
          <p:nvPr/>
        </p:nvCxnSpPr>
        <p:spPr>
          <a:xfrm>
            <a:off x="6118489" y="4049841"/>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5887BA83-FFDA-B217-31C0-D031B0C16C65}"/>
              </a:ext>
            </a:extLst>
          </p:cNvPr>
          <p:cNvCxnSpPr/>
          <p:nvPr/>
        </p:nvCxnSpPr>
        <p:spPr>
          <a:xfrm>
            <a:off x="7949782" y="4052341"/>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E9A01BA-3C50-3331-960E-B3CFC75CB905}"/>
              </a:ext>
            </a:extLst>
          </p:cNvPr>
          <p:cNvCxnSpPr/>
          <p:nvPr/>
        </p:nvCxnSpPr>
        <p:spPr>
          <a:xfrm>
            <a:off x="9781069" y="4039851"/>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sp>
        <p:nvSpPr>
          <p:cNvPr id="19" name="Left Brace 18">
            <a:extLst>
              <a:ext uri="{FF2B5EF4-FFF2-40B4-BE49-F238E27FC236}">
                <a16:creationId xmlns:a16="http://schemas.microsoft.com/office/drawing/2014/main" id="{EBABBAFE-C923-F23D-788F-B03800B583D3}"/>
              </a:ext>
            </a:extLst>
          </p:cNvPr>
          <p:cNvSpPr/>
          <p:nvPr/>
        </p:nvSpPr>
        <p:spPr>
          <a:xfrm rot="5400000">
            <a:off x="2214178" y="2236648"/>
            <a:ext cx="727005" cy="3448984"/>
          </a:xfrm>
          <a:prstGeom prst="leftBrace">
            <a:avLst>
              <a:gd name="adj1" fmla="val 225"/>
              <a:gd name="adj2" fmla="val 50000"/>
            </a:avLst>
          </a:prstGeom>
          <a:ln w="57150"/>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FB172ABE-6FF8-8245-1335-AD8C52C0E36F}"/>
              </a:ext>
            </a:extLst>
          </p:cNvPr>
          <p:cNvCxnSpPr/>
          <p:nvPr/>
        </p:nvCxnSpPr>
        <p:spPr>
          <a:xfrm>
            <a:off x="4302174" y="4047341"/>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7388061F-8CD0-ABDC-3F06-A027A4244FBA}"/>
              </a:ext>
            </a:extLst>
          </p:cNvPr>
          <p:cNvSpPr txBox="1"/>
          <p:nvPr/>
        </p:nvSpPr>
        <p:spPr>
          <a:xfrm>
            <a:off x="1618933" y="3162927"/>
            <a:ext cx="1994457" cy="400110"/>
          </a:xfrm>
          <a:prstGeom prst="rect">
            <a:avLst/>
          </a:prstGeom>
          <a:noFill/>
          <a:ln w="28575">
            <a:solidFill>
              <a:schemeClr val="tx1"/>
            </a:solidFill>
          </a:ln>
        </p:spPr>
        <p:txBody>
          <a:bodyPr wrap="none" rtlCol="0">
            <a:spAutoFit/>
          </a:bodyPr>
          <a:lstStyle/>
          <a:p>
            <a:r>
              <a:rPr lang="en-US" sz="2000" b="1">
                <a:latin typeface="Arial" panose="020B0604020202020204" pitchFamily="34" charset="0"/>
                <a:cs typeface="Arial" panose="020B0604020202020204" pitchFamily="34" charset="0"/>
              </a:rPr>
              <a:t>Observed Data</a:t>
            </a:r>
          </a:p>
        </p:txBody>
      </p:sp>
      <p:sp>
        <p:nvSpPr>
          <p:cNvPr id="22" name="TextBox 21">
            <a:extLst>
              <a:ext uri="{FF2B5EF4-FFF2-40B4-BE49-F238E27FC236}">
                <a16:creationId xmlns:a16="http://schemas.microsoft.com/office/drawing/2014/main" id="{326575AE-BC31-2A21-BACF-EFE6C6B3F1B8}"/>
              </a:ext>
            </a:extLst>
          </p:cNvPr>
          <p:cNvSpPr txBox="1"/>
          <p:nvPr/>
        </p:nvSpPr>
        <p:spPr>
          <a:xfrm>
            <a:off x="3297167" y="4667132"/>
            <a:ext cx="2052165"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Reference Date</a:t>
            </a:r>
          </a:p>
          <a:p>
            <a:pPr algn="ctr"/>
            <a:r>
              <a:rPr lang="en-US" sz="2000">
                <a:latin typeface="Arial" panose="020B0604020202020204" pitchFamily="34" charset="0"/>
                <a:cs typeface="Arial" panose="020B0604020202020204" pitchFamily="34" charset="0"/>
              </a:rPr>
              <a:t> 2026-06-20</a:t>
            </a:r>
          </a:p>
        </p:txBody>
      </p:sp>
      <p:sp>
        <p:nvSpPr>
          <p:cNvPr id="24" name="TextBox 23">
            <a:extLst>
              <a:ext uri="{FF2B5EF4-FFF2-40B4-BE49-F238E27FC236}">
                <a16:creationId xmlns:a16="http://schemas.microsoft.com/office/drawing/2014/main" id="{86C0304C-A804-CA43-6A79-51C4FAA28426}"/>
              </a:ext>
            </a:extLst>
          </p:cNvPr>
          <p:cNvSpPr txBox="1"/>
          <p:nvPr/>
        </p:nvSpPr>
        <p:spPr>
          <a:xfrm>
            <a:off x="5319352" y="3209094"/>
            <a:ext cx="1566454"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Horizon 1</a:t>
            </a:r>
          </a:p>
          <a:p>
            <a:pPr algn="ctr"/>
            <a:r>
              <a:rPr lang="en-US" sz="2000">
                <a:latin typeface="Arial" panose="020B0604020202020204" pitchFamily="34" charset="0"/>
                <a:cs typeface="Arial" panose="020B0604020202020204" pitchFamily="34" charset="0"/>
              </a:rPr>
              <a:t> 2026-06-27</a:t>
            </a:r>
          </a:p>
        </p:txBody>
      </p:sp>
      <p:sp>
        <p:nvSpPr>
          <p:cNvPr id="26" name="TextBox 25">
            <a:extLst>
              <a:ext uri="{FF2B5EF4-FFF2-40B4-BE49-F238E27FC236}">
                <a16:creationId xmlns:a16="http://schemas.microsoft.com/office/drawing/2014/main" id="{37BBA048-B94A-E88F-6EEF-6AA2BF68C05E}"/>
              </a:ext>
            </a:extLst>
          </p:cNvPr>
          <p:cNvSpPr txBox="1"/>
          <p:nvPr/>
        </p:nvSpPr>
        <p:spPr>
          <a:xfrm>
            <a:off x="7165636" y="3196604"/>
            <a:ext cx="1566454"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Horizon 2</a:t>
            </a:r>
          </a:p>
          <a:p>
            <a:pPr algn="ctr"/>
            <a:r>
              <a:rPr lang="en-US" sz="2000">
                <a:latin typeface="Arial" panose="020B0604020202020204" pitchFamily="34" charset="0"/>
                <a:cs typeface="Arial" panose="020B0604020202020204" pitchFamily="34" charset="0"/>
              </a:rPr>
              <a:t> 2026-07-04</a:t>
            </a:r>
          </a:p>
        </p:txBody>
      </p:sp>
      <p:sp>
        <p:nvSpPr>
          <p:cNvPr id="28" name="TextBox 27">
            <a:extLst>
              <a:ext uri="{FF2B5EF4-FFF2-40B4-BE49-F238E27FC236}">
                <a16:creationId xmlns:a16="http://schemas.microsoft.com/office/drawing/2014/main" id="{143CE1E2-A16F-8505-8891-912619B216CE}"/>
              </a:ext>
            </a:extLst>
          </p:cNvPr>
          <p:cNvSpPr txBox="1"/>
          <p:nvPr/>
        </p:nvSpPr>
        <p:spPr>
          <a:xfrm>
            <a:off x="9051865" y="3196604"/>
            <a:ext cx="1547411"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Horizon 3</a:t>
            </a:r>
          </a:p>
          <a:p>
            <a:pPr algn="ctr"/>
            <a:r>
              <a:rPr lang="en-US" sz="2000">
                <a:latin typeface="Arial" panose="020B0604020202020204" pitchFamily="34" charset="0"/>
                <a:cs typeface="Arial" panose="020B0604020202020204" pitchFamily="34" charset="0"/>
              </a:rPr>
              <a:t> 2026-07-11</a:t>
            </a:r>
          </a:p>
        </p:txBody>
      </p:sp>
    </p:spTree>
    <p:extLst>
      <p:ext uri="{BB962C8B-B14F-4D97-AF65-F5344CB8AC3E}">
        <p14:creationId xmlns:p14="http://schemas.microsoft.com/office/powerpoint/2010/main" val="2440928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2" grpId="0" animBg="1"/>
      <p:bldP spid="24" grpId="0" animBg="1"/>
      <p:bldP spid="26" grpId="0" animBg="1"/>
      <p:bldP spid="2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B6B4F-C84D-568A-F2D0-31E015D20B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52BEC0-2335-BA3F-9DB9-FFC65572DD8D}"/>
              </a:ext>
            </a:extLst>
          </p:cNvPr>
          <p:cNvSpPr>
            <a:spLocks noGrp="1"/>
          </p:cNvSpPr>
          <p:nvPr>
            <p:ph type="title"/>
          </p:nvPr>
        </p:nvSpPr>
        <p:spPr>
          <a:xfrm>
            <a:off x="838200" y="-115113"/>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Target End Dates </a:t>
            </a:r>
          </a:p>
        </p:txBody>
      </p:sp>
      <p:sp>
        <p:nvSpPr>
          <p:cNvPr id="3" name="Content Placeholder 2">
            <a:extLst>
              <a:ext uri="{FF2B5EF4-FFF2-40B4-BE49-F238E27FC236}">
                <a16:creationId xmlns:a16="http://schemas.microsoft.com/office/drawing/2014/main" id="{92FED316-AFD5-98DF-4995-B9C14FD69162}"/>
              </a:ext>
            </a:extLst>
          </p:cNvPr>
          <p:cNvSpPr>
            <a:spLocks noGrp="1"/>
          </p:cNvSpPr>
          <p:nvPr>
            <p:ph idx="1"/>
          </p:nvPr>
        </p:nvSpPr>
        <p:spPr>
          <a:xfrm>
            <a:off x="838200" y="1123522"/>
            <a:ext cx="10515600" cy="5231565"/>
          </a:xfrm>
        </p:spPr>
        <p:txBody>
          <a:bodyPr>
            <a:noAutofit/>
          </a:bodyPr>
          <a:lstStyle/>
          <a:p>
            <a:pPr marL="0" indent="0" algn="ctr">
              <a:buNone/>
            </a:pPr>
            <a:r>
              <a:rPr lang="en-US">
                <a:latin typeface="Arial" panose="020B0604020202020204" pitchFamily="34" charset="0"/>
                <a:cs typeface="Arial" panose="020B0604020202020204" pitchFamily="34" charset="0"/>
              </a:rPr>
              <a:t>Target end dates are the </a:t>
            </a:r>
            <a:r>
              <a:rPr lang="en-US" b="1">
                <a:solidFill>
                  <a:schemeClr val="accent2"/>
                </a:solidFill>
                <a:latin typeface="Arial" panose="020B0604020202020204" pitchFamily="34" charset="0"/>
                <a:cs typeface="Arial" panose="020B0604020202020204" pitchFamily="34" charset="0"/>
              </a:rPr>
              <a:t>weeks we are producing forecasts for</a:t>
            </a:r>
            <a:r>
              <a:rPr lang="en-US">
                <a:latin typeface="Arial" panose="020B0604020202020204" pitchFamily="34" charset="0"/>
                <a:cs typeface="Arial" panose="020B0604020202020204" pitchFamily="34" charset="0"/>
              </a:rPr>
              <a:t>. A week is defined as Sunday to Saturday, with the Saturday used for the label.  </a:t>
            </a:r>
          </a:p>
          <a:p>
            <a:pPr marL="0" indent="0" algn="ctr">
              <a:buNone/>
            </a:pP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a:p>
            <a:pPr marL="0" indent="0" algn="ctr">
              <a:buNone/>
            </a:pPr>
            <a:endParaRPr lang="en-US">
              <a:latin typeface="Arial" panose="020B0604020202020204" pitchFamily="34" charset="0"/>
              <a:cs typeface="Arial" panose="020B0604020202020204" pitchFamily="34" charset="0"/>
            </a:endParaRPr>
          </a:p>
          <a:p>
            <a:pPr marL="0" indent="0" algn="ctr">
              <a:spcAft>
                <a:spcPts val="1200"/>
              </a:spcAft>
              <a:buNone/>
            </a:pPr>
            <a:r>
              <a:rPr lang="en-US">
                <a:latin typeface="Arial" panose="020B0604020202020204" pitchFamily="34" charset="0"/>
                <a:cs typeface="Arial" panose="020B0604020202020204" pitchFamily="34" charset="0"/>
              </a:rPr>
              <a:t>For example, if our reference date is 2026-06-20, our target end dates are </a:t>
            </a:r>
            <a:r>
              <a:rPr lang="en-US" b="1">
                <a:latin typeface="Arial" panose="020B0604020202020204" pitchFamily="34" charset="0"/>
                <a:cs typeface="Arial" panose="020B0604020202020204" pitchFamily="34" charset="0"/>
              </a:rPr>
              <a:t>2026-06-27</a:t>
            </a:r>
            <a:r>
              <a:rPr lang="en-US">
                <a:latin typeface="Arial" panose="020B0604020202020204" pitchFamily="34" charset="0"/>
                <a:cs typeface="Arial" panose="020B0604020202020204" pitchFamily="34" charset="0"/>
              </a:rPr>
              <a:t>, </a:t>
            </a:r>
            <a:r>
              <a:rPr lang="en-US" b="1">
                <a:latin typeface="Arial" panose="020B0604020202020204" pitchFamily="34" charset="0"/>
                <a:cs typeface="Arial" panose="020B0604020202020204" pitchFamily="34" charset="0"/>
              </a:rPr>
              <a:t>2026-07-04</a:t>
            </a:r>
            <a:r>
              <a:rPr lang="en-US">
                <a:latin typeface="Arial" panose="020B0604020202020204" pitchFamily="34" charset="0"/>
                <a:cs typeface="Arial" panose="020B0604020202020204" pitchFamily="34" charset="0"/>
              </a:rPr>
              <a:t>, and </a:t>
            </a:r>
            <a:r>
              <a:rPr lang="en-US" b="1">
                <a:latin typeface="Arial" panose="020B0604020202020204" pitchFamily="34" charset="0"/>
                <a:cs typeface="Arial" panose="020B0604020202020204" pitchFamily="34" charset="0"/>
              </a:rPr>
              <a:t>2026-07-11 </a:t>
            </a:r>
            <a:r>
              <a:rPr lang="en-US">
                <a:latin typeface="Arial" panose="020B0604020202020204" pitchFamily="34" charset="0"/>
                <a:cs typeface="Arial" panose="020B0604020202020204" pitchFamily="34" charset="0"/>
              </a:rPr>
              <a:t>(</a:t>
            </a:r>
            <a:r>
              <a:rPr lang="en-US"/>
              <a:t>the 1-, 2-, and 3-week-ahead forecasts)</a:t>
            </a:r>
            <a:r>
              <a:rPr lang="en-US">
                <a:latin typeface="Arial" panose="020B0604020202020204" pitchFamily="34" charset="0"/>
                <a:cs typeface="Arial" panose="020B0604020202020204" pitchFamily="34" charset="0"/>
              </a:rPr>
              <a:t>. </a:t>
            </a:r>
          </a:p>
        </p:txBody>
      </p:sp>
      <p:cxnSp>
        <p:nvCxnSpPr>
          <p:cNvPr id="12" name="Straight Arrow Connector 11">
            <a:extLst>
              <a:ext uri="{FF2B5EF4-FFF2-40B4-BE49-F238E27FC236}">
                <a16:creationId xmlns:a16="http://schemas.microsoft.com/office/drawing/2014/main" id="{F1686CF0-1D30-F5D6-D04B-06DAC4CD18AA}"/>
              </a:ext>
            </a:extLst>
          </p:cNvPr>
          <p:cNvCxnSpPr>
            <a:cxnSpLocks/>
          </p:cNvCxnSpPr>
          <p:nvPr/>
        </p:nvCxnSpPr>
        <p:spPr>
          <a:xfrm>
            <a:off x="823210" y="3843494"/>
            <a:ext cx="10607040" cy="0"/>
          </a:xfrm>
          <a:prstGeom prst="straightConnector1">
            <a:avLst/>
          </a:prstGeom>
          <a:ln w="76200">
            <a:tailEnd type="triangle"/>
          </a:ln>
        </p:spPr>
        <p:style>
          <a:lnRef idx="2">
            <a:schemeClr val="accent2"/>
          </a:lnRef>
          <a:fillRef idx="0">
            <a:schemeClr val="accent2"/>
          </a:fillRef>
          <a:effectRef idx="1">
            <a:schemeClr val="accent2"/>
          </a:effectRef>
          <a:fontRef idx="minor">
            <a:schemeClr val="tx1"/>
          </a:fontRef>
        </p:style>
      </p:cxnSp>
      <p:cxnSp>
        <p:nvCxnSpPr>
          <p:cNvPr id="16" name="Straight Connector 15">
            <a:extLst>
              <a:ext uri="{FF2B5EF4-FFF2-40B4-BE49-F238E27FC236}">
                <a16:creationId xmlns:a16="http://schemas.microsoft.com/office/drawing/2014/main" id="{1476B832-4803-A5FA-0F91-7D8DAFBF4B29}"/>
              </a:ext>
            </a:extLst>
          </p:cNvPr>
          <p:cNvCxnSpPr/>
          <p:nvPr/>
        </p:nvCxnSpPr>
        <p:spPr>
          <a:xfrm>
            <a:off x="6118489" y="3583666"/>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50CD42E-3F1D-4C0C-800F-379800A18C34}"/>
              </a:ext>
            </a:extLst>
          </p:cNvPr>
          <p:cNvCxnSpPr/>
          <p:nvPr/>
        </p:nvCxnSpPr>
        <p:spPr>
          <a:xfrm>
            <a:off x="7949782" y="3586166"/>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FED029C3-B32A-D079-E486-BF219BA3C640}"/>
              </a:ext>
            </a:extLst>
          </p:cNvPr>
          <p:cNvCxnSpPr/>
          <p:nvPr/>
        </p:nvCxnSpPr>
        <p:spPr>
          <a:xfrm>
            <a:off x="9781069" y="3573676"/>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sp>
        <p:nvSpPr>
          <p:cNvPr id="19" name="Left Brace 18">
            <a:extLst>
              <a:ext uri="{FF2B5EF4-FFF2-40B4-BE49-F238E27FC236}">
                <a16:creationId xmlns:a16="http://schemas.microsoft.com/office/drawing/2014/main" id="{7A18C672-8102-7E36-0D9B-CD9BE7B5E0F6}"/>
              </a:ext>
            </a:extLst>
          </p:cNvPr>
          <p:cNvSpPr/>
          <p:nvPr/>
        </p:nvSpPr>
        <p:spPr>
          <a:xfrm rot="5400000">
            <a:off x="2214178" y="1770473"/>
            <a:ext cx="727005" cy="3448984"/>
          </a:xfrm>
          <a:prstGeom prst="leftBrace">
            <a:avLst>
              <a:gd name="adj1" fmla="val 225"/>
              <a:gd name="adj2" fmla="val 50000"/>
            </a:avLst>
          </a:prstGeom>
          <a:ln w="57150"/>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268EF5BC-B14F-A809-A27D-DAD36338E682}"/>
              </a:ext>
            </a:extLst>
          </p:cNvPr>
          <p:cNvCxnSpPr/>
          <p:nvPr/>
        </p:nvCxnSpPr>
        <p:spPr>
          <a:xfrm>
            <a:off x="4302174" y="3581166"/>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56284DBA-1153-1C5E-4F0A-0A2F3065810F}"/>
              </a:ext>
            </a:extLst>
          </p:cNvPr>
          <p:cNvSpPr txBox="1"/>
          <p:nvPr/>
        </p:nvSpPr>
        <p:spPr>
          <a:xfrm>
            <a:off x="1618933" y="2696752"/>
            <a:ext cx="1994457" cy="400110"/>
          </a:xfrm>
          <a:prstGeom prst="rect">
            <a:avLst/>
          </a:prstGeom>
          <a:noFill/>
          <a:ln w="28575">
            <a:solidFill>
              <a:schemeClr val="tx1"/>
            </a:solidFill>
          </a:ln>
        </p:spPr>
        <p:txBody>
          <a:bodyPr wrap="none" rtlCol="0">
            <a:spAutoFit/>
          </a:bodyPr>
          <a:lstStyle/>
          <a:p>
            <a:r>
              <a:rPr lang="en-US" sz="2000" b="1">
                <a:latin typeface="Arial" panose="020B0604020202020204" pitchFamily="34" charset="0"/>
                <a:cs typeface="Arial" panose="020B0604020202020204" pitchFamily="34" charset="0"/>
              </a:rPr>
              <a:t>Observed Data</a:t>
            </a:r>
          </a:p>
        </p:txBody>
      </p:sp>
      <p:sp>
        <p:nvSpPr>
          <p:cNvPr id="22" name="TextBox 21">
            <a:extLst>
              <a:ext uri="{FF2B5EF4-FFF2-40B4-BE49-F238E27FC236}">
                <a16:creationId xmlns:a16="http://schemas.microsoft.com/office/drawing/2014/main" id="{316E6BD5-61A5-FB33-2767-307F1B12034B}"/>
              </a:ext>
            </a:extLst>
          </p:cNvPr>
          <p:cNvSpPr txBox="1"/>
          <p:nvPr/>
        </p:nvSpPr>
        <p:spPr>
          <a:xfrm>
            <a:off x="3297167" y="4200957"/>
            <a:ext cx="2052165"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Reference Date</a:t>
            </a:r>
          </a:p>
          <a:p>
            <a:pPr algn="ctr"/>
            <a:r>
              <a:rPr lang="en-US" sz="2000">
                <a:latin typeface="Arial" panose="020B0604020202020204" pitchFamily="34" charset="0"/>
                <a:cs typeface="Arial" panose="020B0604020202020204" pitchFamily="34" charset="0"/>
              </a:rPr>
              <a:t> 2026-06-20</a:t>
            </a:r>
          </a:p>
        </p:txBody>
      </p:sp>
      <p:sp>
        <p:nvSpPr>
          <p:cNvPr id="24" name="TextBox 23">
            <a:extLst>
              <a:ext uri="{FF2B5EF4-FFF2-40B4-BE49-F238E27FC236}">
                <a16:creationId xmlns:a16="http://schemas.microsoft.com/office/drawing/2014/main" id="{DCB83BAE-8621-2B94-40D5-015028706485}"/>
              </a:ext>
            </a:extLst>
          </p:cNvPr>
          <p:cNvSpPr txBox="1"/>
          <p:nvPr/>
        </p:nvSpPr>
        <p:spPr>
          <a:xfrm>
            <a:off x="5319352" y="2742919"/>
            <a:ext cx="1566454"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Horizon 1</a:t>
            </a:r>
          </a:p>
          <a:p>
            <a:pPr algn="ctr"/>
            <a:r>
              <a:rPr lang="en-US" sz="2000">
                <a:latin typeface="Arial" panose="020B0604020202020204" pitchFamily="34" charset="0"/>
                <a:cs typeface="Arial" panose="020B0604020202020204" pitchFamily="34" charset="0"/>
              </a:rPr>
              <a:t> 2026-06-27</a:t>
            </a:r>
          </a:p>
        </p:txBody>
      </p:sp>
      <p:sp>
        <p:nvSpPr>
          <p:cNvPr id="26" name="TextBox 25">
            <a:extLst>
              <a:ext uri="{FF2B5EF4-FFF2-40B4-BE49-F238E27FC236}">
                <a16:creationId xmlns:a16="http://schemas.microsoft.com/office/drawing/2014/main" id="{B0E62357-7F76-479E-261F-F4F91C430F21}"/>
              </a:ext>
            </a:extLst>
          </p:cNvPr>
          <p:cNvSpPr txBox="1"/>
          <p:nvPr/>
        </p:nvSpPr>
        <p:spPr>
          <a:xfrm>
            <a:off x="7165636" y="2730429"/>
            <a:ext cx="1566454"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Horizon 2</a:t>
            </a:r>
          </a:p>
          <a:p>
            <a:pPr algn="ctr"/>
            <a:r>
              <a:rPr lang="en-US" sz="2000">
                <a:latin typeface="Arial" panose="020B0604020202020204" pitchFamily="34" charset="0"/>
                <a:cs typeface="Arial" panose="020B0604020202020204" pitchFamily="34" charset="0"/>
              </a:rPr>
              <a:t> 2026-07-04</a:t>
            </a:r>
          </a:p>
        </p:txBody>
      </p:sp>
      <p:sp>
        <p:nvSpPr>
          <p:cNvPr id="28" name="TextBox 27">
            <a:extLst>
              <a:ext uri="{FF2B5EF4-FFF2-40B4-BE49-F238E27FC236}">
                <a16:creationId xmlns:a16="http://schemas.microsoft.com/office/drawing/2014/main" id="{1FB0DBE0-AF36-C2F2-99CE-3F9BD9D79AD4}"/>
              </a:ext>
            </a:extLst>
          </p:cNvPr>
          <p:cNvSpPr txBox="1"/>
          <p:nvPr/>
        </p:nvSpPr>
        <p:spPr>
          <a:xfrm>
            <a:off x="9051865" y="2730429"/>
            <a:ext cx="1547411"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Horizon 3</a:t>
            </a:r>
          </a:p>
          <a:p>
            <a:pPr algn="ctr"/>
            <a:r>
              <a:rPr lang="en-US" sz="2000">
                <a:latin typeface="Arial" panose="020B0604020202020204" pitchFamily="34" charset="0"/>
                <a:cs typeface="Arial" panose="020B0604020202020204" pitchFamily="34" charset="0"/>
              </a:rPr>
              <a:t> 2026-07-11</a:t>
            </a:r>
          </a:p>
        </p:txBody>
      </p:sp>
      <p:sp>
        <p:nvSpPr>
          <p:cNvPr id="4" name="Left Brace 3">
            <a:extLst>
              <a:ext uri="{FF2B5EF4-FFF2-40B4-BE49-F238E27FC236}">
                <a16:creationId xmlns:a16="http://schemas.microsoft.com/office/drawing/2014/main" id="{522EB058-187B-B390-A5AB-F4493D9BCE1E}"/>
              </a:ext>
            </a:extLst>
          </p:cNvPr>
          <p:cNvSpPr/>
          <p:nvPr/>
        </p:nvSpPr>
        <p:spPr>
          <a:xfrm rot="16200000">
            <a:off x="7585336" y="2548408"/>
            <a:ext cx="727005" cy="3664463"/>
          </a:xfrm>
          <a:prstGeom prst="leftBrace">
            <a:avLst>
              <a:gd name="adj1" fmla="val 225"/>
              <a:gd name="adj2" fmla="val 50000"/>
            </a:avLst>
          </a:prstGeom>
          <a:ln w="57150"/>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7264C756-7163-9FC9-5278-B12414970609}"/>
              </a:ext>
            </a:extLst>
          </p:cNvPr>
          <p:cNvSpPr txBox="1"/>
          <p:nvPr/>
        </p:nvSpPr>
        <p:spPr>
          <a:xfrm>
            <a:off x="6795866" y="4816420"/>
            <a:ext cx="2275175" cy="400110"/>
          </a:xfrm>
          <a:prstGeom prst="rect">
            <a:avLst/>
          </a:prstGeom>
          <a:noFill/>
          <a:ln w="28575">
            <a:solidFill>
              <a:schemeClr val="tx1"/>
            </a:solidFill>
          </a:ln>
        </p:spPr>
        <p:txBody>
          <a:bodyPr wrap="none" rtlCol="0">
            <a:spAutoFit/>
          </a:bodyPr>
          <a:lstStyle/>
          <a:p>
            <a:r>
              <a:rPr lang="en-US" sz="2000" b="1">
                <a:latin typeface="Arial" panose="020B0604020202020204" pitchFamily="34" charset="0"/>
                <a:cs typeface="Arial" panose="020B0604020202020204" pitchFamily="34" charset="0"/>
              </a:rPr>
              <a:t>Target End Dates</a:t>
            </a:r>
          </a:p>
        </p:txBody>
      </p:sp>
    </p:spTree>
    <p:extLst>
      <p:ext uri="{BB962C8B-B14F-4D97-AF65-F5344CB8AC3E}">
        <p14:creationId xmlns:p14="http://schemas.microsoft.com/office/powerpoint/2010/main" val="1759463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2" grpId="0" animBg="1"/>
      <p:bldP spid="24" grpId="0" animBg="1"/>
      <p:bldP spid="26" grpId="0" animBg="1"/>
      <p:bldP spid="28" grpId="0" animBg="1"/>
      <p:bldP spid="4" grpId="0" animBg="1"/>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45413-20EA-B6A5-C0BD-3C1201C74BFC}"/>
              </a:ext>
            </a:extLst>
          </p:cNvPr>
          <p:cNvSpPr>
            <a:spLocks noGrp="1"/>
          </p:cNvSpPr>
          <p:nvPr>
            <p:ph type="title"/>
          </p:nvPr>
        </p:nvSpPr>
        <p:spPr>
          <a:xfrm>
            <a:off x="838200" y="-131591"/>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Things to Consider </a:t>
            </a:r>
          </a:p>
        </p:txBody>
      </p:sp>
      <p:sp>
        <p:nvSpPr>
          <p:cNvPr id="3" name="Content Placeholder 2">
            <a:extLst>
              <a:ext uri="{FF2B5EF4-FFF2-40B4-BE49-F238E27FC236}">
                <a16:creationId xmlns:a16="http://schemas.microsoft.com/office/drawing/2014/main" id="{E5AA6604-164F-A9B9-2EBF-4801E04A1A9C}"/>
              </a:ext>
            </a:extLst>
          </p:cNvPr>
          <p:cNvSpPr>
            <a:spLocks noGrp="1"/>
          </p:cNvSpPr>
          <p:nvPr>
            <p:ph idx="1"/>
          </p:nvPr>
        </p:nvSpPr>
        <p:spPr>
          <a:xfrm>
            <a:off x="948266" y="1205261"/>
            <a:ext cx="10859912" cy="4847523"/>
          </a:xfrm>
        </p:spPr>
        <p:txBody>
          <a:bodyPr/>
          <a:lstStyle/>
          <a:p>
            <a:pPr>
              <a:spcAft>
                <a:spcPts val="600"/>
              </a:spcAft>
            </a:pPr>
            <a:r>
              <a:rPr lang="en-US" sz="2500" dirty="0">
                <a:latin typeface="Arial" panose="020B0604020202020204" pitchFamily="34" charset="0"/>
                <a:cs typeface="Arial" panose="020B0604020202020204" pitchFamily="34" charset="0"/>
              </a:rPr>
              <a:t>How do we calculate our reference date?</a:t>
            </a:r>
          </a:p>
          <a:p>
            <a:pPr lvl="1">
              <a:spcAft>
                <a:spcPts val="1200"/>
              </a:spcAft>
            </a:pPr>
            <a:r>
              <a:rPr lang="en-US" b="1" dirty="0">
                <a:latin typeface="Arial" panose="020B0604020202020204" pitchFamily="34" charset="0"/>
                <a:cs typeface="Arial" panose="020B0604020202020204" pitchFamily="34" charset="0"/>
              </a:rPr>
              <a:t>Hint:</a:t>
            </a:r>
            <a:r>
              <a:rPr lang="en-US" dirty="0">
                <a:latin typeface="Arial" panose="020B0604020202020204" pitchFamily="34" charset="0"/>
                <a:cs typeface="Arial" panose="020B0604020202020204" pitchFamily="34" charset="0"/>
              </a:rPr>
              <a:t> Compute the reference date as the calendar date exactly one week before the target date: </a:t>
            </a:r>
            <a:r>
              <a:rPr lang="en-US" dirty="0" err="1">
                <a:latin typeface="Courier New" panose="02070309020205020404" pitchFamily="49" charset="0"/>
                <a:cs typeface="Courier New" panose="02070309020205020404" pitchFamily="49" charset="0"/>
              </a:rPr>
              <a:t>reference_date</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as_date</a:t>
            </a:r>
            <a:r>
              <a:rPr lang="en-US" dirty="0">
                <a:latin typeface="Courier New" panose="02070309020205020404" pitchFamily="49" charset="0"/>
                <a:cs typeface="Courier New" panose="02070309020205020404" pitchFamily="49" charset="0"/>
              </a:rPr>
              <a:t>(t) - days(7)</a:t>
            </a:r>
            <a:r>
              <a:rPr lang="en-US" dirty="0">
                <a:latin typeface="Arial" panose="020B0604020202020204" pitchFamily="34" charset="0"/>
                <a:cs typeface="Arial" panose="020B0604020202020204" pitchFamily="34" charset="0"/>
              </a:rPr>
              <a:t>. </a:t>
            </a:r>
          </a:p>
          <a:p>
            <a:pPr>
              <a:spcAft>
                <a:spcPts val="600"/>
              </a:spcAft>
            </a:pPr>
            <a:r>
              <a:rPr lang="en-US" sz="2500" dirty="0">
                <a:latin typeface="Arial" panose="020B0604020202020204" pitchFamily="34" charset="0"/>
                <a:cs typeface="Arial" panose="020B0604020202020204" pitchFamily="34" charset="0"/>
              </a:rPr>
              <a:t>Where do we want to use the reference date specification?</a:t>
            </a:r>
          </a:p>
          <a:p>
            <a:pPr lvl="1">
              <a:spcAft>
                <a:spcPts val="1200"/>
              </a:spcAft>
            </a:pPr>
            <a:r>
              <a:rPr lang="en-US" b="1" dirty="0">
                <a:latin typeface="Arial" panose="020B0604020202020204" pitchFamily="34" charset="0"/>
                <a:cs typeface="Arial" panose="020B0604020202020204" pitchFamily="34" charset="0"/>
              </a:rPr>
              <a:t>Hint:</a:t>
            </a:r>
            <a:r>
              <a:rPr lang="en-US" dirty="0">
                <a:latin typeface="Arial" panose="020B0604020202020204" pitchFamily="34" charset="0"/>
                <a:cs typeface="Arial" panose="020B0604020202020204" pitchFamily="34" charset="0"/>
              </a:rPr>
              <a:t> Use this date (</a:t>
            </a:r>
            <a:r>
              <a:rPr lang="en-US" dirty="0" err="1">
                <a:latin typeface="Courier New" panose="02070309020205020404" pitchFamily="49" charset="0"/>
                <a:cs typeface="Courier New" panose="02070309020205020404" pitchFamily="49" charset="0"/>
              </a:rPr>
              <a:t>reference_date</a:t>
            </a:r>
            <a:r>
              <a:rPr lang="en-US" dirty="0">
                <a:latin typeface="Arial" panose="020B0604020202020204" pitchFamily="34" charset="0"/>
                <a:cs typeface="Arial" panose="020B0604020202020204" pitchFamily="34" charset="0"/>
              </a:rPr>
              <a:t>) for both training-window selection and for output.</a:t>
            </a:r>
          </a:p>
          <a:p>
            <a:pPr>
              <a:spcAft>
                <a:spcPts val="600"/>
              </a:spcAft>
            </a:pPr>
            <a:r>
              <a:rPr lang="en-US" sz="2500" dirty="0">
                <a:latin typeface="Arial" panose="020B0604020202020204" pitchFamily="34" charset="0"/>
                <a:cs typeface="Arial" panose="020B0604020202020204" pitchFamily="34" charset="0"/>
              </a:rPr>
              <a:t>How do we want to explicitly format our dates in the output? </a:t>
            </a:r>
          </a:p>
          <a:p>
            <a:pPr lvl="1"/>
            <a:r>
              <a:rPr lang="en-US" b="1" dirty="0">
                <a:latin typeface="Arial" panose="020B0604020202020204" pitchFamily="34" charset="0"/>
                <a:cs typeface="Arial" panose="020B0604020202020204" pitchFamily="34" charset="0"/>
              </a:rPr>
              <a:t>Hint: </a:t>
            </a:r>
            <a:r>
              <a:rPr lang="en-US" dirty="0">
                <a:latin typeface="Arial" panose="020B0604020202020204" pitchFamily="34" charset="0"/>
                <a:cs typeface="Arial" panose="020B0604020202020204" pitchFamily="34" charset="0"/>
              </a:rPr>
              <a:t>When writing CSVs, format </a:t>
            </a:r>
            <a:r>
              <a:rPr lang="en-US" dirty="0" err="1">
                <a:latin typeface="Courier New" panose="02070309020205020404" pitchFamily="49" charset="0"/>
                <a:cs typeface="Courier New" panose="02070309020205020404" pitchFamily="49" charset="0"/>
              </a:rPr>
              <a:t>reference_date</a:t>
            </a:r>
            <a:r>
              <a:rPr lang="en-US" dirty="0">
                <a:latin typeface="Arial" panose="020B0604020202020204" pitchFamily="34" charset="0"/>
                <a:cs typeface="Arial" panose="020B0604020202020204" pitchFamily="34" charset="0"/>
              </a:rPr>
              <a:t> and </a:t>
            </a:r>
            <a:r>
              <a:rPr lang="en-US" dirty="0" err="1">
                <a:latin typeface="Courier New" panose="02070309020205020404" pitchFamily="49" charset="0"/>
                <a:cs typeface="Courier New" panose="02070309020205020404" pitchFamily="49" charset="0"/>
              </a:rPr>
              <a:t>target_end_date</a:t>
            </a:r>
            <a:r>
              <a:rPr lang="en-US" dirty="0">
                <a:latin typeface="Courier New" panose="02070309020205020404" pitchFamily="49" charset="0"/>
                <a:cs typeface="Courier New" panose="02070309020205020404" pitchFamily="49" charset="0"/>
              </a:rPr>
              <a:t> </a:t>
            </a:r>
            <a:r>
              <a:rPr lang="en-US" dirty="0">
                <a:latin typeface="Arial" panose="020B0604020202020204" pitchFamily="34" charset="0"/>
                <a:cs typeface="Arial" panose="020B0604020202020204" pitchFamily="34" charset="0"/>
              </a:rPr>
              <a:t>as ISO dates (`YYYY-MM-DD`).</a:t>
            </a:r>
          </a:p>
          <a:p>
            <a:endParaRPr lang="en-US" dirty="0"/>
          </a:p>
        </p:txBody>
      </p:sp>
      <p:sp>
        <p:nvSpPr>
          <p:cNvPr id="4" name="Rectangle: Rounded Corners 3">
            <a:extLst>
              <a:ext uri="{FF2B5EF4-FFF2-40B4-BE49-F238E27FC236}">
                <a16:creationId xmlns:a16="http://schemas.microsoft.com/office/drawing/2014/main" id="{3E091042-E87E-30AE-6DF8-681871FB8BEA}"/>
              </a:ext>
            </a:extLst>
          </p:cNvPr>
          <p:cNvSpPr/>
          <p:nvPr/>
        </p:nvSpPr>
        <p:spPr>
          <a:xfrm>
            <a:off x="724974" y="5497688"/>
            <a:ext cx="10859911" cy="1122352"/>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9F6AF5A-3BCA-6BC4-8BAE-68BE7BBD9C96}"/>
              </a:ext>
            </a:extLst>
          </p:cNvPr>
          <p:cNvSpPr txBox="1"/>
          <p:nvPr/>
        </p:nvSpPr>
        <p:spPr>
          <a:xfrm>
            <a:off x="724974" y="5596294"/>
            <a:ext cx="10859910" cy="861774"/>
          </a:xfrm>
          <a:prstGeom prst="rect">
            <a:avLst/>
          </a:prstGeom>
          <a:noFill/>
        </p:spPr>
        <p:txBody>
          <a:bodyPr wrap="square">
            <a:spAutoFit/>
          </a:bodyPr>
          <a:lstStyle/>
          <a:p>
            <a:pPr algn="ctr"/>
            <a:r>
              <a:rPr lang="en-US" sz="2500" b="1">
                <a:latin typeface="Arial" panose="020B0604020202020204" pitchFamily="34" charset="0"/>
                <a:cs typeface="Arial" panose="020B0604020202020204" pitchFamily="34" charset="0"/>
              </a:rPr>
              <a:t>Be explicit about dates.</a:t>
            </a:r>
            <a:r>
              <a:rPr lang="en-US" sz="2500">
                <a:latin typeface="Arial" panose="020B0604020202020204" pitchFamily="34" charset="0"/>
                <a:cs typeface="Arial" panose="020B0604020202020204" pitchFamily="34" charset="0"/>
              </a:rPr>
              <a:t> R can handle dates unpredictably; by being explicit we can stop issues and unexpected behavior before they happen. </a:t>
            </a:r>
          </a:p>
        </p:txBody>
      </p:sp>
    </p:spTree>
    <p:extLst>
      <p:ext uri="{BB962C8B-B14F-4D97-AF65-F5344CB8AC3E}">
        <p14:creationId xmlns:p14="http://schemas.microsoft.com/office/powerpoint/2010/main" val="2669981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2FE0A-3A1B-6ED8-E183-9B59160A62B4}"/>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8939A66D-4554-C1AC-072B-56B882CCF006}"/>
              </a:ext>
            </a:extLst>
          </p:cNvPr>
          <p:cNvSpPr/>
          <p:nvPr/>
        </p:nvSpPr>
        <p:spPr>
          <a:xfrm>
            <a:off x="914400" y="4798568"/>
            <a:ext cx="10363200" cy="1323439"/>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12A5B4DA-3A5D-0429-2C03-ED678B6EAB26}"/>
              </a:ext>
            </a:extLst>
          </p:cNvPr>
          <p:cNvSpPr/>
          <p:nvPr/>
        </p:nvSpPr>
        <p:spPr>
          <a:xfrm>
            <a:off x="914400" y="3524511"/>
            <a:ext cx="10363200" cy="972142"/>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0">
            <a:extLst>
              <a:ext uri="{FF2B5EF4-FFF2-40B4-BE49-F238E27FC236}">
                <a16:creationId xmlns:a16="http://schemas.microsoft.com/office/drawing/2014/main" id="{92D09CB8-B138-9AE9-343E-5E32AD5AE93E}"/>
              </a:ext>
            </a:extLst>
          </p:cNvPr>
          <p:cNvSpPr/>
          <p:nvPr/>
        </p:nvSpPr>
        <p:spPr>
          <a:xfrm>
            <a:off x="914400" y="134519"/>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Adding in Diagnostics (a.k.a. Checks)</a:t>
            </a:r>
            <a:endParaRPr lang="en-US" sz="4000">
              <a:solidFill>
                <a:srgbClr val="7030A0"/>
              </a:solidFill>
              <a:latin typeface="Arial" panose="020B0604020202020204" pitchFamily="34" charset="0"/>
              <a:cs typeface="Arial" panose="020B0604020202020204" pitchFamily="34" charset="0"/>
            </a:endParaRPr>
          </a:p>
        </p:txBody>
      </p:sp>
      <p:sp>
        <p:nvSpPr>
          <p:cNvPr id="18" name="Rectangle: Rounded Corners 17">
            <a:extLst>
              <a:ext uri="{FF2B5EF4-FFF2-40B4-BE49-F238E27FC236}">
                <a16:creationId xmlns:a16="http://schemas.microsoft.com/office/drawing/2014/main" id="{A2AE5644-36AF-E935-C9F0-8BE5F75FDED4}"/>
              </a:ext>
            </a:extLst>
          </p:cNvPr>
          <p:cNvSpPr/>
          <p:nvPr/>
        </p:nvSpPr>
        <p:spPr>
          <a:xfrm>
            <a:off x="914400" y="2154372"/>
            <a:ext cx="10363200" cy="1078444"/>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51D82C6-64E4-AFC3-B5F9-AE4C95B2EDA7}"/>
              </a:ext>
            </a:extLst>
          </p:cNvPr>
          <p:cNvSpPr txBox="1"/>
          <p:nvPr/>
        </p:nvSpPr>
        <p:spPr>
          <a:xfrm>
            <a:off x="914400" y="1348703"/>
            <a:ext cx="10363200" cy="477054"/>
          </a:xfrm>
          <a:prstGeom prst="rect">
            <a:avLst/>
          </a:prstGeom>
          <a:noFill/>
        </p:spPr>
        <p:txBody>
          <a:bodyPr wrap="square">
            <a:spAutoFit/>
          </a:bodyPr>
          <a:lstStyle/>
          <a:p>
            <a:r>
              <a:rPr lang="en-US" sz="2500" b="1">
                <a:latin typeface="Arial" panose="020B0604020202020204" pitchFamily="34" charset="0"/>
                <a:cs typeface="Arial" panose="020B0604020202020204" pitchFamily="34" charset="0"/>
              </a:rPr>
              <a:t>Some Examples: </a:t>
            </a:r>
          </a:p>
        </p:txBody>
      </p:sp>
      <p:sp>
        <p:nvSpPr>
          <p:cNvPr id="14" name="TextBox 13">
            <a:extLst>
              <a:ext uri="{FF2B5EF4-FFF2-40B4-BE49-F238E27FC236}">
                <a16:creationId xmlns:a16="http://schemas.microsoft.com/office/drawing/2014/main" id="{B74BBAC5-DAD2-B7AD-208C-10BCB36AC051}"/>
              </a:ext>
            </a:extLst>
          </p:cNvPr>
          <p:cNvSpPr txBox="1"/>
          <p:nvPr/>
        </p:nvSpPr>
        <p:spPr>
          <a:xfrm>
            <a:off x="1080063" y="2362153"/>
            <a:ext cx="10031874" cy="1015663"/>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confirmation that </a:t>
            </a:r>
            <a:r>
              <a:rPr lang="en-US" sz="2000" err="1">
                <a:latin typeface="Courier New" panose="02070309020205020404" pitchFamily="49" charset="0"/>
                <a:cs typeface="Courier New" panose="02070309020205020404" pitchFamily="49" charset="0"/>
              </a:rPr>
              <a:t>reference_date</a:t>
            </a:r>
            <a:r>
              <a:rPr lang="en-US" sz="2000">
                <a:latin typeface="Courier New" panose="02070309020205020404" pitchFamily="49" charset="0"/>
                <a:cs typeface="Courier New" panose="02070309020205020404" pitchFamily="49" charset="0"/>
              </a:rPr>
              <a:t> </a:t>
            </a:r>
            <a:r>
              <a:rPr lang="en-US" sz="2000">
                <a:latin typeface="Arial" panose="020B0604020202020204" pitchFamily="34" charset="0"/>
                <a:cs typeface="Arial" panose="020B0604020202020204" pitchFamily="34" charset="0"/>
              </a:rPr>
              <a:t>and the target </a:t>
            </a:r>
            <a:r>
              <a:rPr lang="en-US" sz="2000">
                <a:latin typeface="Courier New" panose="02070309020205020404" pitchFamily="49" charset="0"/>
                <a:cs typeface="Courier New" panose="02070309020205020404" pitchFamily="49" charset="0"/>
              </a:rPr>
              <a:t>t</a:t>
            </a:r>
            <a:r>
              <a:rPr lang="en-US" sz="2000">
                <a:latin typeface="Arial" panose="020B0604020202020204" pitchFamily="34" charset="0"/>
                <a:cs typeface="Arial" panose="020B0604020202020204" pitchFamily="34" charset="0"/>
              </a:rPr>
              <a:t> are both Date objects (not character or </a:t>
            </a:r>
            <a:r>
              <a:rPr lang="en-US" sz="2000" err="1">
                <a:latin typeface="Arial" panose="020B0604020202020204" pitchFamily="34" charset="0"/>
                <a:cs typeface="Arial" panose="020B0604020202020204" pitchFamily="34" charset="0"/>
              </a:rPr>
              <a:t>POSIXct</a:t>
            </a:r>
            <a:r>
              <a:rPr lang="en-US" sz="2000">
                <a:latin typeface="Arial" panose="020B0604020202020204" pitchFamily="34" charset="0"/>
                <a:cs typeface="Arial" panose="020B0604020202020204" pitchFamily="34" charset="0"/>
              </a:rPr>
              <a:t>); halt if either fails the class check.</a:t>
            </a:r>
            <a:br>
              <a:rPr lang="en-US" sz="2000">
                <a:latin typeface="Arial" panose="020B0604020202020204" pitchFamily="34" charset="0"/>
                <a:cs typeface="Arial" panose="020B0604020202020204" pitchFamily="34" charset="0"/>
              </a:rPr>
            </a:br>
            <a:endParaRPr lang="en-US" sz="200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1BF6E8C3-CC50-C659-CAEA-EE6458ED9452}"/>
              </a:ext>
            </a:extLst>
          </p:cNvPr>
          <p:cNvSpPr txBox="1"/>
          <p:nvPr/>
        </p:nvSpPr>
        <p:spPr>
          <a:xfrm>
            <a:off x="1080063" y="3694845"/>
            <a:ext cx="10031874" cy="1015663"/>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confirmation that </a:t>
            </a:r>
            <a:r>
              <a:rPr lang="en-US" sz="2000" err="1">
                <a:latin typeface="Courier New" panose="02070309020205020404" pitchFamily="49" charset="0"/>
                <a:cs typeface="Courier New" panose="02070309020205020404" pitchFamily="49" charset="0"/>
              </a:rPr>
              <a:t>target_end_date</a:t>
            </a:r>
            <a:r>
              <a:rPr lang="en-US" sz="2000">
                <a:latin typeface="Courier New" panose="02070309020205020404" pitchFamily="49" charset="0"/>
                <a:cs typeface="Courier New" panose="02070309020205020404" pitchFamily="49" charset="0"/>
              </a:rPr>
              <a:t> - </a:t>
            </a:r>
            <a:r>
              <a:rPr lang="en-US" sz="2000" err="1">
                <a:latin typeface="Courier New" panose="02070309020205020404" pitchFamily="49" charset="0"/>
                <a:cs typeface="Courier New" panose="02070309020205020404" pitchFamily="49" charset="0"/>
              </a:rPr>
              <a:t>reference_date</a:t>
            </a:r>
            <a:r>
              <a:rPr lang="en-US" sz="2000">
                <a:latin typeface="Arial" panose="020B0604020202020204" pitchFamily="34" charset="0"/>
                <a:cs typeface="Arial" panose="020B0604020202020204" pitchFamily="34" charset="0"/>
              </a:rPr>
              <a:t> equals exactly 7 days for every row; halt if this fails.</a:t>
            </a:r>
            <a:br>
              <a:rPr lang="en-US" sz="2000"/>
            </a:br>
            <a:endParaRPr lang="en-US" sz="200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3EF6C67-B919-B360-732E-91F34BBA070E}"/>
              </a:ext>
            </a:extLst>
          </p:cNvPr>
          <p:cNvSpPr txBox="1"/>
          <p:nvPr/>
        </p:nvSpPr>
        <p:spPr>
          <a:xfrm>
            <a:off x="1519901" y="4951185"/>
            <a:ext cx="9152198" cy="1323439"/>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 </a:t>
            </a:r>
            <a:r>
              <a:rPr lang="en-US" sz="2000">
                <a:latin typeface="Arial" panose="020B0604020202020204" pitchFamily="34" charset="0"/>
                <a:cs typeface="Arial" panose="020B0604020202020204" pitchFamily="34" charset="0"/>
              </a:rPr>
              <a:t>Print confirmation that the maximum week in the training window is </a:t>
            </a:r>
            <a:r>
              <a:rPr lang="en-US" sz="2000">
                <a:latin typeface="Courier New" panose="02070309020205020404" pitchFamily="49" charset="0"/>
                <a:cs typeface="Courier New" panose="02070309020205020404" pitchFamily="49" charset="0"/>
              </a:rPr>
              <a:t>&lt;= </a:t>
            </a:r>
            <a:r>
              <a:rPr lang="en-US" sz="2000" err="1">
                <a:latin typeface="Courier New" panose="02070309020205020404" pitchFamily="49" charset="0"/>
                <a:cs typeface="Courier New" panose="02070309020205020404" pitchFamily="49" charset="0"/>
              </a:rPr>
              <a:t>reference_date</a:t>
            </a:r>
            <a:r>
              <a:rPr lang="en-US" sz="2000">
                <a:latin typeface="Arial" panose="020B0604020202020204" pitchFamily="34" charset="0"/>
                <a:cs typeface="Arial" panose="020B0604020202020204" pitchFamily="34" charset="0"/>
              </a:rPr>
              <a:t> and strictly less than the </a:t>
            </a:r>
            <a:r>
              <a:rPr lang="en-US" sz="2000" err="1">
                <a:latin typeface="Courier New" panose="02070309020205020404" pitchFamily="49" charset="0"/>
                <a:cs typeface="Courier New" panose="02070309020205020404" pitchFamily="49" charset="0"/>
              </a:rPr>
              <a:t>target_end_date</a:t>
            </a:r>
            <a:r>
              <a:rPr lang="en-US" sz="2000">
                <a:latin typeface="Courier New" panose="02070309020205020404" pitchFamily="49" charset="0"/>
                <a:cs typeface="Courier New" panose="02070309020205020404" pitchFamily="49" charset="0"/>
              </a:rPr>
              <a:t> </a:t>
            </a:r>
            <a:r>
              <a:rPr lang="en-US" sz="2000">
                <a:latin typeface="Arial" panose="020B0604020202020204" pitchFamily="34" charset="0"/>
                <a:cs typeface="Arial" panose="020B0604020202020204" pitchFamily="34" charset="0"/>
              </a:rPr>
              <a:t>(no look-ahead leakage); halt if this fails.</a:t>
            </a:r>
            <a:br>
              <a:rPr lang="en-US" sz="2000">
                <a:latin typeface="Arial" panose="020B0604020202020204" pitchFamily="34" charset="0"/>
                <a:cs typeface="Arial" panose="020B0604020202020204" pitchFamily="34" charset="0"/>
              </a:rPr>
            </a:b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85598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8" grpId="0" animBg="1"/>
      <p:bldP spid="14" grpId="0"/>
      <p:bldP spid="15" grpId="0"/>
      <p:bldP spid="1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EB105-CDF2-2E9C-F847-04439A461DD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5184B77-2EBA-9F50-BE8A-44A5A423AB84}"/>
              </a:ext>
            </a:extLst>
          </p:cNvPr>
          <p:cNvSpPr/>
          <p:nvPr/>
        </p:nvSpPr>
        <p:spPr>
          <a:xfrm>
            <a:off x="914400" y="9482"/>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27FB99B8-A4C4-283F-3126-77F47804DED7}"/>
              </a:ext>
            </a:extLst>
          </p:cNvPr>
          <p:cNvSpPr/>
          <p:nvPr/>
        </p:nvSpPr>
        <p:spPr>
          <a:xfrm>
            <a:off x="1061194" y="278125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594E2C33-085C-EF86-C32B-DCE940635DE2}"/>
              </a:ext>
            </a:extLst>
          </p:cNvPr>
          <p:cNvSpPr/>
          <p:nvPr/>
        </p:nvSpPr>
        <p:spPr>
          <a:xfrm>
            <a:off x="1061194" y="278125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5" name="Text 4">
            <a:extLst>
              <a:ext uri="{FF2B5EF4-FFF2-40B4-BE49-F238E27FC236}">
                <a16:creationId xmlns:a16="http://schemas.microsoft.com/office/drawing/2014/main" id="{206FCCFD-0AA3-7716-01FE-3930EE4DD985}"/>
              </a:ext>
            </a:extLst>
          </p:cNvPr>
          <p:cNvSpPr/>
          <p:nvPr/>
        </p:nvSpPr>
        <p:spPr>
          <a:xfrm>
            <a:off x="1858754" y="2930020"/>
            <a:ext cx="9144000" cy="731520"/>
          </a:xfrm>
          <a:prstGeom prst="rect">
            <a:avLst/>
          </a:prstGeom>
          <a:noFill/>
          <a:ln/>
        </p:spPr>
        <p:txBody>
          <a:bodyPr wrap="square" lIns="0" tIns="0" rIns="0" bIns="0" rtlCol="0" anchor="ctr"/>
          <a:lstStyle/>
          <a:p>
            <a:pPr defTabSz="1219170"/>
            <a:r>
              <a:rPr lang="en-US" sz="2200" b="1" dirty="0">
                <a:solidFill>
                  <a:schemeClr val="accent2"/>
                </a:solidFill>
                <a:latin typeface="Arial" panose="020B0604020202020204" pitchFamily="34" charset="0"/>
                <a:ea typeface="Calibri" pitchFamily="34" charset="-122"/>
                <a:cs typeface="Arial" panose="020B0604020202020204" pitchFamily="34" charset="0"/>
              </a:rPr>
              <a:t>Create </a:t>
            </a:r>
            <a:r>
              <a:rPr lang="en-US" sz="2200" dirty="0">
                <a:latin typeface="Arial" panose="020B0604020202020204" pitchFamily="34" charset="0"/>
                <a:ea typeface="Calibri" pitchFamily="34" charset="-122"/>
                <a:cs typeface="Arial" panose="020B0604020202020204" pitchFamily="34" charset="0"/>
              </a:rPr>
              <a:t>the </a:t>
            </a:r>
            <a:r>
              <a:rPr lang="en-US" sz="2200" dirty="0">
                <a:latin typeface="Courier New" panose="02070309020205020404" pitchFamily="49" charset="0"/>
                <a:ea typeface="Calibri" pitchFamily="34" charset="-122"/>
                <a:cs typeface="Courier New" panose="02070309020205020404" pitchFamily="49" charset="0"/>
              </a:rPr>
              <a:t>## 5. </a:t>
            </a:r>
            <a:r>
              <a:rPr lang="en-US" sz="2200" dirty="0">
                <a:latin typeface="Courier New" panose="02070309020205020404" pitchFamily="49" charset="0"/>
                <a:cs typeface="Courier New" panose="02070309020205020404" pitchFamily="49" charset="0"/>
              </a:rPr>
              <a:t>Forecast Generation </a:t>
            </a:r>
            <a:r>
              <a:rPr lang="en-US" sz="2200" b="1" dirty="0">
                <a:solidFill>
                  <a:schemeClr val="accent2"/>
                </a:solidFill>
                <a:latin typeface="Arial" panose="020B0604020202020204" pitchFamily="34" charset="0"/>
                <a:ea typeface="Calibri" pitchFamily="34" charset="-122"/>
                <a:cs typeface="Arial" panose="020B0604020202020204" pitchFamily="34" charset="0"/>
              </a:rPr>
              <a:t>section header </a:t>
            </a:r>
            <a:r>
              <a:rPr lang="en-US" sz="2200" dirty="0">
                <a:latin typeface="Arial" panose="020B0604020202020204" pitchFamily="34" charset="0"/>
                <a:ea typeface="Calibri" pitchFamily="34" charset="-122"/>
                <a:cs typeface="Arial" panose="020B0604020202020204" pitchFamily="34" charset="0"/>
              </a:rPr>
              <a:t>in rules.md and add the statement </a:t>
            </a:r>
            <a:r>
              <a:rPr lang="en-US" sz="2200" dirty="0">
                <a:latin typeface="Courier New" panose="02070309020205020404" pitchFamily="49" charset="0"/>
                <a:cs typeface="Courier New" panose="02070309020205020404" pitchFamily="49" charset="0"/>
              </a:rPr>
              <a:t>For each target week `t` in the testing period that is present in the data:</a:t>
            </a:r>
            <a:r>
              <a:rPr lang="en-US" sz="2200" dirty="0">
                <a:latin typeface="Arial" panose="020B0604020202020204" pitchFamily="34" charset="0"/>
                <a:cs typeface="Arial" panose="020B0604020202020204" pitchFamily="34" charset="0"/>
              </a:rPr>
              <a:t> under it. </a:t>
            </a:r>
          </a:p>
          <a:p>
            <a:pPr defTabSz="1219170"/>
            <a:endParaRPr lang="en-US" sz="2500" dirty="0">
              <a:latin typeface="Arial" panose="020B0604020202020204" pitchFamily="34" charset="0"/>
              <a:cs typeface="Arial" panose="020B0604020202020204" pitchFamily="34" charset="0"/>
            </a:endParaRPr>
          </a:p>
        </p:txBody>
      </p:sp>
      <p:sp>
        <p:nvSpPr>
          <p:cNvPr id="6" name="Shape 5">
            <a:extLst>
              <a:ext uri="{FF2B5EF4-FFF2-40B4-BE49-F238E27FC236}">
                <a16:creationId xmlns:a16="http://schemas.microsoft.com/office/drawing/2014/main" id="{DB77AA66-800B-3AC2-168D-CA17C24BC8BE}"/>
              </a:ext>
            </a:extLst>
          </p:cNvPr>
          <p:cNvSpPr/>
          <p:nvPr/>
        </p:nvSpPr>
        <p:spPr>
          <a:xfrm>
            <a:off x="1061194" y="3930128"/>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B33BE15B-68C7-8078-EE5A-5D9E705F16B3}"/>
              </a:ext>
            </a:extLst>
          </p:cNvPr>
          <p:cNvSpPr/>
          <p:nvPr/>
        </p:nvSpPr>
        <p:spPr>
          <a:xfrm>
            <a:off x="1061194" y="3930128"/>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E394679D-0241-FCE6-2D33-A377E6F24F7A}"/>
              </a:ext>
            </a:extLst>
          </p:cNvPr>
          <p:cNvSpPr/>
          <p:nvPr/>
        </p:nvSpPr>
        <p:spPr>
          <a:xfrm>
            <a:off x="1877822" y="3672811"/>
            <a:ext cx="9144000" cy="1272150"/>
          </a:xfrm>
          <a:prstGeom prst="rect">
            <a:avLst/>
          </a:prstGeom>
          <a:noFill/>
          <a:ln/>
        </p:spPr>
        <p:txBody>
          <a:bodyPr wrap="square" lIns="0" tIns="0" rIns="0" bIns="0" rtlCol="0" anchor="ctr"/>
          <a:lstStyle/>
          <a:p>
            <a:pPr defTabSz="1219170"/>
            <a:r>
              <a:rPr lang="en-US" sz="2200" b="1" dirty="0">
                <a:solidFill>
                  <a:schemeClr val="accent2"/>
                </a:solidFill>
                <a:latin typeface="Arial" panose="020B0604020202020204" pitchFamily="34" charset="0"/>
                <a:ea typeface="Calibri" pitchFamily="34" charset="-122"/>
                <a:cs typeface="Arial" panose="020B0604020202020204" pitchFamily="34" charset="0"/>
              </a:rPr>
              <a:t>Write detailed rules </a:t>
            </a:r>
            <a:r>
              <a:rPr lang="en-US" sz="2200" dirty="0">
                <a:latin typeface="Arial" panose="020B0604020202020204" pitchFamily="34" charset="0"/>
                <a:ea typeface="Calibri" pitchFamily="34" charset="-122"/>
                <a:cs typeface="Arial" panose="020B0604020202020204" pitchFamily="34" charset="0"/>
              </a:rPr>
              <a:t>to specify how to handle dates in list item one (i.e., under the statement from Step 1; add </a:t>
            </a:r>
            <a:r>
              <a:rPr lang="en-US" sz="2200" dirty="0">
                <a:latin typeface="Courier New" panose="02070309020205020404" pitchFamily="49" charset="0"/>
                <a:ea typeface="Calibri" pitchFamily="34" charset="-122"/>
                <a:cs typeface="Courier New" panose="02070309020205020404" pitchFamily="49" charset="0"/>
              </a:rPr>
              <a:t>1.</a:t>
            </a:r>
            <a:r>
              <a:rPr lang="en-US" sz="2200" dirty="0">
                <a:latin typeface="Arial" panose="020B0604020202020204" pitchFamily="34" charset="0"/>
                <a:ea typeface="Calibri" pitchFamily="34" charset="-122"/>
                <a:cs typeface="Arial" panose="020B0604020202020204" pitchFamily="34" charset="0"/>
              </a:rPr>
              <a:t> and your rules). As part of this step, </a:t>
            </a:r>
            <a:r>
              <a:rPr lang="en-US" sz="2200" b="1" dirty="0">
                <a:solidFill>
                  <a:schemeClr val="accent2"/>
                </a:solidFill>
                <a:latin typeface="Arial" panose="020B0604020202020204" pitchFamily="34" charset="0"/>
                <a:ea typeface="Calibri" pitchFamily="34" charset="-122"/>
                <a:cs typeface="Arial" panose="020B0604020202020204" pitchFamily="34" charset="0"/>
              </a:rPr>
              <a:t>add in validation checks</a:t>
            </a:r>
            <a:r>
              <a:rPr lang="en-US" sz="2200" dirty="0">
                <a:latin typeface="Arial" panose="020B0604020202020204" pitchFamily="34" charset="0"/>
                <a:ea typeface="Calibri" pitchFamily="34" charset="-122"/>
                <a:cs typeface="Arial" panose="020B0604020202020204" pitchFamily="34" charset="0"/>
              </a:rPr>
              <a:t>. </a:t>
            </a:r>
            <a:endParaRPr lang="en-US" sz="2200" dirty="0">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73847EBC-A4C6-D651-F85D-458A63E75D47}"/>
              </a:ext>
            </a:extLst>
          </p:cNvPr>
          <p:cNvSpPr/>
          <p:nvPr/>
        </p:nvSpPr>
        <p:spPr>
          <a:xfrm>
            <a:off x="1061194" y="4999561"/>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0" name="Text 9">
            <a:extLst>
              <a:ext uri="{FF2B5EF4-FFF2-40B4-BE49-F238E27FC236}">
                <a16:creationId xmlns:a16="http://schemas.microsoft.com/office/drawing/2014/main" id="{371229DE-485D-469B-C472-92B43B1124AC}"/>
              </a:ext>
            </a:extLst>
          </p:cNvPr>
          <p:cNvSpPr/>
          <p:nvPr/>
        </p:nvSpPr>
        <p:spPr>
          <a:xfrm>
            <a:off x="1061194" y="4999561"/>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3</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2" name="Shape 11">
            <a:extLst>
              <a:ext uri="{FF2B5EF4-FFF2-40B4-BE49-F238E27FC236}">
                <a16:creationId xmlns:a16="http://schemas.microsoft.com/office/drawing/2014/main" id="{1D25A000-6B3E-6EED-54DB-AB102C12682B}"/>
              </a:ext>
            </a:extLst>
          </p:cNvPr>
          <p:cNvSpPr/>
          <p:nvPr/>
        </p:nvSpPr>
        <p:spPr>
          <a:xfrm>
            <a:off x="1061194" y="5891175"/>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12">
            <a:extLst>
              <a:ext uri="{FF2B5EF4-FFF2-40B4-BE49-F238E27FC236}">
                <a16:creationId xmlns:a16="http://schemas.microsoft.com/office/drawing/2014/main" id="{65D93B10-5DD1-3515-A7CE-39A4ACB54CB8}"/>
              </a:ext>
            </a:extLst>
          </p:cNvPr>
          <p:cNvSpPr/>
          <p:nvPr/>
        </p:nvSpPr>
        <p:spPr>
          <a:xfrm>
            <a:off x="1061194" y="5891175"/>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4</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4" name="Text 13">
            <a:extLst>
              <a:ext uri="{FF2B5EF4-FFF2-40B4-BE49-F238E27FC236}">
                <a16:creationId xmlns:a16="http://schemas.microsoft.com/office/drawing/2014/main" id="{F304BBA1-D4BC-DFAA-BF21-D585586850D1}"/>
              </a:ext>
            </a:extLst>
          </p:cNvPr>
          <p:cNvSpPr/>
          <p:nvPr/>
        </p:nvSpPr>
        <p:spPr>
          <a:xfrm>
            <a:off x="1858754" y="5838159"/>
            <a:ext cx="9914146" cy="836423"/>
          </a:xfrm>
          <a:prstGeom prst="rect">
            <a:avLst/>
          </a:prstGeom>
          <a:noFill/>
          <a:ln/>
        </p:spPr>
        <p:txBody>
          <a:bodyPr wrap="square" lIns="0" tIns="0" rIns="0" bIns="0" rtlCol="0" anchor="ctr"/>
          <a:lstStyle/>
          <a:p>
            <a:pPr lvl="0" defTabSz="1219170">
              <a:defRPr/>
            </a:pP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sz="22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agents.md</a:t>
            </a:r>
            <a:r>
              <a:rPr kumimoji="0" lang="en-US" sz="22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a:t>
            </a:r>
            <a:r>
              <a:rPr lang="en-US" sz="2200" dirty="0">
                <a:latin typeface="Arial" panose="020B0604020202020204" pitchFamily="34" charset="0"/>
                <a:ea typeface="Calibri" pitchFamily="34" charset="-122"/>
                <a:cs typeface="Arial" panose="020B0604020202020204" pitchFamily="34" charset="0"/>
              </a:rPr>
              <a:t>(or your preferred AI)</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to re-generate </a:t>
            </a:r>
            <a:r>
              <a:rPr kumimoji="0" lang="en-US" sz="22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output/scripts/03_forecast.R</a:t>
            </a:r>
            <a:r>
              <a:rPr lang="en-US" sz="2200" b="1"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Run the script and check the output.</a:t>
            </a:r>
            <a:endParaRPr kumimoji="0" lang="en-US" sz="220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257261FC-C870-B7E4-296A-5E35CF287E6C}"/>
              </a:ext>
            </a:extLst>
          </p:cNvPr>
          <p:cNvSpPr/>
          <p:nvPr/>
        </p:nvSpPr>
        <p:spPr>
          <a:xfrm>
            <a:off x="800100" y="975115"/>
            <a:ext cx="10591800" cy="1472583"/>
          </a:xfrm>
          <a:prstGeom prst="roundRect">
            <a:avLst/>
          </a:prstGeom>
          <a:solidFill>
            <a:schemeClr val="bg1">
              <a:lumMod val="95000"/>
            </a:schemeClr>
          </a:solidFill>
          <a:ln/>
        </p:spPr>
        <p:txBody>
          <a:bodyPr wrap="square" lIns="0" tIns="0" rIns="0" bIns="0" rtlCol="0" anchor="ctr"/>
          <a:lstStyle/>
          <a:p>
            <a:pPr algn="ctr" defTabSz="1219170"/>
            <a:r>
              <a:rPr lang="en-US" sz="2500" b="1" u="sng" dirty="0">
                <a:solidFill>
                  <a:srgbClr val="334155"/>
                </a:solidFill>
                <a:latin typeface="Arial" panose="020B0604020202020204" pitchFamily="34" charset="0"/>
                <a:ea typeface="Calibri" pitchFamily="34" charset="-122"/>
                <a:cs typeface="Arial" panose="020B0604020202020204" pitchFamily="34" charset="0"/>
              </a:rPr>
              <a:t>Together</a:t>
            </a:r>
            <a:r>
              <a:rPr lang="en-US" sz="2500" dirty="0">
                <a:solidFill>
                  <a:srgbClr val="334155"/>
                </a:solidFill>
                <a:latin typeface="Arial" panose="020B0604020202020204" pitchFamily="34" charset="0"/>
                <a:ea typeface="Calibri" pitchFamily="34" charset="-122"/>
                <a:cs typeface="Arial" panose="020B0604020202020204" pitchFamily="34" charset="0"/>
              </a:rPr>
              <a:t>, we will update the rules to include the date formatting requirements discussed on the previous slide (contains </a:t>
            </a:r>
            <a:r>
              <a:rPr lang="en-US" sz="2500" b="1" dirty="0">
                <a:solidFill>
                  <a:srgbClr val="334155"/>
                </a:solidFill>
                <a:latin typeface="Arial" panose="020B0604020202020204" pitchFamily="34" charset="0"/>
                <a:ea typeface="Calibri" pitchFamily="34" charset="-122"/>
                <a:cs typeface="Arial" panose="020B0604020202020204" pitchFamily="34" charset="0"/>
              </a:rPr>
              <a:t>hints</a:t>
            </a:r>
            <a:r>
              <a:rPr lang="en-US" sz="2500" dirty="0">
                <a:solidFill>
                  <a:srgbClr val="334155"/>
                </a:solidFill>
                <a:latin typeface="Arial" panose="020B0604020202020204" pitchFamily="34" charset="0"/>
                <a:ea typeface="Calibri" pitchFamily="34" charset="-122"/>
                <a:cs typeface="Arial" panose="020B0604020202020204" pitchFamily="34" charset="0"/>
              </a:rPr>
              <a:t> related to formatting). </a:t>
            </a:r>
            <a:endParaRPr lang="en-US" sz="2500" dirty="0">
              <a:solidFill>
                <a:prstClr val="black"/>
              </a:solidFill>
              <a:latin typeface="Arial" panose="020B0604020202020204" pitchFamily="34" charset="0"/>
              <a:cs typeface="Arial" panose="020B0604020202020204" pitchFamily="34" charset="0"/>
            </a:endParaRPr>
          </a:p>
        </p:txBody>
      </p:sp>
      <p:sp>
        <p:nvSpPr>
          <p:cNvPr id="18" name="Text 13">
            <a:extLst>
              <a:ext uri="{FF2B5EF4-FFF2-40B4-BE49-F238E27FC236}">
                <a16:creationId xmlns:a16="http://schemas.microsoft.com/office/drawing/2014/main" id="{F84A7679-CA0A-99B9-45E7-BA035A3E262D}"/>
              </a:ext>
            </a:extLst>
          </p:cNvPr>
          <p:cNvSpPr/>
          <p:nvPr/>
        </p:nvSpPr>
        <p:spPr>
          <a:xfrm>
            <a:off x="1858754" y="5128819"/>
            <a:ext cx="9509760" cy="426720"/>
          </a:xfrm>
          <a:prstGeom prst="rect">
            <a:avLst/>
          </a:prstGeom>
          <a:noFill/>
          <a:ln/>
        </p:spPr>
        <p:txBody>
          <a:bodyPr wrap="square" lIns="0" tIns="0" rIns="0" bIns="0" rtlCol="0" anchor="ctr"/>
          <a:lstStyle/>
          <a:p>
            <a:pPr defTabSz="1219170"/>
            <a:r>
              <a:rPr lang="en-US" sz="2200" dirty="0">
                <a:latin typeface="Arial" panose="020B0604020202020204" pitchFamily="34" charset="0"/>
                <a:ea typeface="Calibri" pitchFamily="34" charset="-122"/>
                <a:cs typeface="Arial" panose="020B0604020202020204" pitchFamily="34" charset="0"/>
              </a:rPr>
              <a:t>Regenerate </a:t>
            </a:r>
            <a:r>
              <a:rPr lang="en-US" sz="2200" b="1" dirty="0">
                <a:solidFill>
                  <a:schemeClr val="accent2"/>
                </a:solidFill>
                <a:latin typeface="Arial" panose="020B0604020202020204" pitchFamily="34" charset="0"/>
                <a:ea typeface="Calibri" pitchFamily="34" charset="-122"/>
                <a:cs typeface="Arial" panose="020B0604020202020204" pitchFamily="34" charset="0"/>
              </a:rPr>
              <a:t>agents.md </a:t>
            </a:r>
            <a:r>
              <a:rPr lang="en-US" sz="2200" dirty="0">
                <a:latin typeface="Arial" panose="020B0604020202020204" pitchFamily="34" charset="0"/>
                <a:ea typeface="Calibri" pitchFamily="34" charset="-122"/>
                <a:cs typeface="Arial" panose="020B0604020202020204" pitchFamily="34" charset="0"/>
              </a:rPr>
              <a:t>from your updated rules document.</a:t>
            </a:r>
            <a:endParaRPr lang="en-US" sz="2200" dirty="0">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32A8D7DB-E67E-9ACE-6C61-02EDCA0FAA20}"/>
              </a:ext>
            </a:extLst>
          </p:cNvPr>
          <p:cNvPicPr>
            <a:picLocks noChangeAspect="1"/>
          </p:cNvPicPr>
          <p:nvPr/>
        </p:nvPicPr>
        <p:blipFill>
          <a:blip r:embed="rId3"/>
          <a:stretch>
            <a:fillRect/>
          </a:stretch>
        </p:blipFill>
        <p:spPr>
          <a:xfrm>
            <a:off x="2663312" y="-6587"/>
            <a:ext cx="981703" cy="981703"/>
          </a:xfrm>
          <a:prstGeom prst="rect">
            <a:avLst/>
          </a:prstGeom>
        </p:spPr>
      </p:pic>
    </p:spTree>
    <p:extLst>
      <p:ext uri="{BB962C8B-B14F-4D97-AF65-F5344CB8AC3E}">
        <p14:creationId xmlns:p14="http://schemas.microsoft.com/office/powerpoint/2010/main" val="3278205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2" grpId="0" animBg="1"/>
      <p:bldP spid="13" grpId="0" animBg="1"/>
      <p:bldP spid="14" grpId="0" animBg="1"/>
      <p:bldP spid="1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D8030-D4ED-AB3D-641B-21F57BA1E9DA}"/>
              </a:ext>
            </a:extLst>
          </p:cNvPr>
          <p:cNvSpPr>
            <a:spLocks noGrp="1"/>
          </p:cNvSpPr>
          <p:nvPr>
            <p:ph type="title"/>
          </p:nvPr>
        </p:nvSpPr>
        <p:spPr>
          <a:xfrm>
            <a:off x="838200" y="15166"/>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We have our date rules, now what?</a:t>
            </a:r>
          </a:p>
        </p:txBody>
      </p:sp>
      <p:sp>
        <p:nvSpPr>
          <p:cNvPr id="3" name="Content Placeholder 2">
            <a:extLst>
              <a:ext uri="{FF2B5EF4-FFF2-40B4-BE49-F238E27FC236}">
                <a16:creationId xmlns:a16="http://schemas.microsoft.com/office/drawing/2014/main" id="{FF92620D-AA04-2A66-24A0-124FFE481206}"/>
              </a:ext>
            </a:extLst>
          </p:cNvPr>
          <p:cNvSpPr>
            <a:spLocks noGrp="1"/>
          </p:cNvSpPr>
          <p:nvPr>
            <p:ph idx="1"/>
          </p:nvPr>
        </p:nvSpPr>
        <p:spPr>
          <a:xfrm>
            <a:off x="838200" y="1588560"/>
            <a:ext cx="10515600" cy="3335572"/>
          </a:xfrm>
        </p:spPr>
        <p:txBody>
          <a:bodyPr>
            <a:normAutofit/>
          </a:bodyPr>
          <a:lstStyle/>
          <a:p>
            <a:pPr>
              <a:spcAft>
                <a:spcPts val="1200"/>
              </a:spcAft>
              <a:buClr>
                <a:schemeClr val="tx1"/>
              </a:buClr>
            </a:pPr>
            <a:r>
              <a:rPr lang="en-US" sz="2500" b="1" dirty="0">
                <a:solidFill>
                  <a:schemeClr val="accent2"/>
                </a:solidFill>
                <a:latin typeface="Arial" panose="020B0604020202020204" pitchFamily="34" charset="0"/>
                <a:cs typeface="Arial" panose="020B0604020202020204" pitchFamily="34" charset="0"/>
              </a:rPr>
              <a:t>Data leakage</a:t>
            </a:r>
            <a:r>
              <a:rPr lang="en-US" sz="2500" dirty="0">
                <a:solidFill>
                  <a:schemeClr val="accent2"/>
                </a:solidFill>
                <a:latin typeface="Arial" panose="020B0604020202020204" pitchFamily="34" charset="0"/>
                <a:cs typeface="Arial" panose="020B0604020202020204" pitchFamily="34" charset="0"/>
              </a:rPr>
              <a:t> </a:t>
            </a:r>
            <a:r>
              <a:rPr lang="en-US" sz="2500" dirty="0">
                <a:latin typeface="Arial" panose="020B0604020202020204" pitchFamily="34" charset="0"/>
                <a:cs typeface="Arial" panose="020B0604020202020204" pitchFamily="34" charset="0"/>
              </a:rPr>
              <a:t>happens when a model is tested on data used in training (i.e., it "predicts" values it was handed, so the forecast is better than it would be in practice when you don’t actually see the data).</a:t>
            </a:r>
          </a:p>
          <a:p>
            <a:pPr>
              <a:spcAft>
                <a:spcPts val="1200"/>
              </a:spcAft>
            </a:pPr>
            <a:r>
              <a:rPr lang="en-US" sz="2500" dirty="0">
                <a:latin typeface="Arial" panose="020B0604020202020204" pitchFamily="34" charset="0"/>
                <a:cs typeface="Arial" panose="020B0604020202020204" pitchFamily="34" charset="0"/>
              </a:rPr>
              <a:t>To prevent this, we're explicit about the cutoff: only data on or before the </a:t>
            </a:r>
            <a:r>
              <a:rPr lang="en-US" sz="2500" b="1" dirty="0">
                <a:solidFill>
                  <a:schemeClr val="accent2"/>
                </a:solidFill>
                <a:latin typeface="Arial" panose="020B0604020202020204" pitchFamily="34" charset="0"/>
                <a:cs typeface="Arial" panose="020B0604020202020204" pitchFamily="34" charset="0"/>
              </a:rPr>
              <a:t>reference date</a:t>
            </a:r>
            <a:r>
              <a:rPr lang="en-US" sz="2500" dirty="0">
                <a:solidFill>
                  <a:schemeClr val="accent2"/>
                </a:solidFill>
                <a:latin typeface="Arial" panose="020B0604020202020204" pitchFamily="34" charset="0"/>
                <a:cs typeface="Arial" panose="020B0604020202020204" pitchFamily="34" charset="0"/>
              </a:rPr>
              <a:t> </a:t>
            </a:r>
            <a:r>
              <a:rPr lang="en-US" sz="2500" dirty="0">
                <a:latin typeface="Arial" panose="020B0604020202020204" pitchFamily="34" charset="0"/>
                <a:cs typeface="Arial" panose="020B0604020202020204" pitchFamily="34" charset="0"/>
              </a:rPr>
              <a:t>goes in as input, so the model never sees the weeks it's forecasting.</a:t>
            </a:r>
          </a:p>
          <a:p>
            <a:r>
              <a:rPr lang="en-US" sz="2500" dirty="0">
                <a:latin typeface="Arial" panose="020B0604020202020204" pitchFamily="34" charset="0"/>
                <a:cs typeface="Arial" panose="020B0604020202020204" pitchFamily="34" charset="0"/>
              </a:rPr>
              <a:t>Add the following under the date rule(s): </a:t>
            </a:r>
          </a:p>
          <a:p>
            <a:pPr marL="0" indent="0">
              <a:buNone/>
            </a:pPr>
            <a:endParaRPr lang="en-US" dirty="0"/>
          </a:p>
          <a:p>
            <a:pPr marL="0" indent="0">
              <a:buNone/>
            </a:pPr>
            <a:endParaRPr lang="en-US" dirty="0"/>
          </a:p>
          <a:p>
            <a:endParaRPr lang="en-US" dirty="0"/>
          </a:p>
        </p:txBody>
      </p:sp>
      <p:pic>
        <p:nvPicPr>
          <p:cNvPr id="5" name="Picture 4" descr="Your Turn Rubber Stamp Royalty Free SVG, Cliparts, Vectors, and Stock  Illustration. Image 68258628.">
            <a:extLst>
              <a:ext uri="{FF2B5EF4-FFF2-40B4-BE49-F238E27FC236}">
                <a16:creationId xmlns:a16="http://schemas.microsoft.com/office/drawing/2014/main" id="{02ED2043-CFC9-541C-9371-4558ED975D75}"/>
              </a:ext>
            </a:extLst>
          </p:cNvPr>
          <p:cNvPicPr>
            <a:picLocks noChangeAspect="1"/>
          </p:cNvPicPr>
          <p:nvPr/>
        </p:nvPicPr>
        <p:blipFill>
          <a:blip r:embed="rId3"/>
          <a:stretch>
            <a:fillRect/>
          </a:stretch>
        </p:blipFill>
        <p:spPr>
          <a:xfrm>
            <a:off x="281357" y="164517"/>
            <a:ext cx="981703" cy="981703"/>
          </a:xfrm>
          <a:prstGeom prst="rect">
            <a:avLst/>
          </a:prstGeom>
        </p:spPr>
      </p:pic>
      <p:sp>
        <p:nvSpPr>
          <p:cNvPr id="8" name="Rectangle: Rounded Corners 7">
            <a:extLst>
              <a:ext uri="{FF2B5EF4-FFF2-40B4-BE49-F238E27FC236}">
                <a16:creationId xmlns:a16="http://schemas.microsoft.com/office/drawing/2014/main" id="{23B29FBA-537B-357B-01D4-168DF7176C19}"/>
              </a:ext>
            </a:extLst>
          </p:cNvPr>
          <p:cNvSpPr/>
          <p:nvPr/>
        </p:nvSpPr>
        <p:spPr>
          <a:xfrm>
            <a:off x="955323" y="4956555"/>
            <a:ext cx="10281355" cy="1307335"/>
          </a:xfrm>
          <a:prstGeom prst="roundRect">
            <a:avLst/>
          </a:prstGeom>
          <a:solidFill>
            <a:srgbClr val="FFF4EC"/>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962E9A0-FA4B-8430-D3B7-EBB5501413AE}"/>
              </a:ext>
            </a:extLst>
          </p:cNvPr>
          <p:cNvSpPr txBox="1"/>
          <p:nvPr/>
        </p:nvSpPr>
        <p:spPr>
          <a:xfrm>
            <a:off x="1072445" y="5179336"/>
            <a:ext cx="10047111" cy="861774"/>
          </a:xfrm>
          <a:prstGeom prst="rect">
            <a:avLst/>
          </a:prstGeom>
          <a:noFill/>
        </p:spPr>
        <p:txBody>
          <a:bodyPr wrap="square">
            <a:spAutoFit/>
          </a:bodyPr>
          <a:lstStyle/>
          <a:p>
            <a:pPr marL="0" indent="0" algn="ctr">
              <a:buNone/>
            </a:pPr>
            <a:r>
              <a:rPr lang="en-US"/>
              <a:t> </a:t>
            </a:r>
            <a:r>
              <a:rPr lang="en-US" sz="2500">
                <a:latin typeface="Courier New" panose="02070309020205020404" pitchFamily="49" charset="0"/>
                <a:cs typeface="Courier New" panose="02070309020205020404" pitchFamily="49" charset="0"/>
              </a:rPr>
              <a:t>2. Fit the ARIMA model (Rule 4) on all rows with `week &lt;= </a:t>
            </a:r>
            <a:r>
              <a:rPr lang="en-US" sz="2500" err="1">
                <a:latin typeface="Courier New" panose="02070309020205020404" pitchFamily="49" charset="0"/>
                <a:cs typeface="Courier New" panose="02070309020205020404" pitchFamily="49" charset="0"/>
              </a:rPr>
              <a:t>reference_date</a:t>
            </a:r>
            <a:r>
              <a:rPr lang="en-US" sz="2500">
                <a:latin typeface="Courier New" panose="02070309020205020404" pitchFamily="49" charset="0"/>
                <a:cs typeface="Courier New" panose="02070309020205020404" pitchFamily="49" charset="0"/>
              </a:rPr>
              <a:t>` (expanding-window).</a:t>
            </a:r>
          </a:p>
        </p:txBody>
      </p:sp>
    </p:spTree>
    <p:extLst>
      <p:ext uri="{BB962C8B-B14F-4D97-AF65-F5344CB8AC3E}">
        <p14:creationId xmlns:p14="http://schemas.microsoft.com/office/powerpoint/2010/main" val="69104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D289FF-7812-893F-A011-EDCA99C6E718}"/>
              </a:ext>
            </a:extLst>
          </p:cNvPr>
          <p:cNvSpPr>
            <a:spLocks noGrp="1"/>
          </p:cNvSpPr>
          <p:nvPr>
            <p:ph idx="1"/>
          </p:nvPr>
        </p:nvSpPr>
        <p:spPr>
          <a:xfrm>
            <a:off x="838200" y="1100773"/>
            <a:ext cx="10515600" cy="4656455"/>
          </a:xfrm>
        </p:spPr>
        <p:txBody>
          <a:bodyPr>
            <a:noAutofit/>
          </a:bodyPr>
          <a:lstStyle/>
          <a:p>
            <a:pPr marL="0" indent="0" algn="ctr">
              <a:buNone/>
            </a:pPr>
            <a:r>
              <a:rPr lang="en-US" sz="3000" b="1" dirty="0">
                <a:solidFill>
                  <a:srgbClr val="7030A0"/>
                </a:solidFill>
                <a:latin typeface="Arial" panose="020B0604020202020204" pitchFamily="34" charset="0"/>
                <a:cs typeface="Arial" panose="020B0604020202020204" pitchFamily="34" charset="0"/>
              </a:rPr>
              <a:t>Why include the data leakage rule again?</a:t>
            </a:r>
            <a:r>
              <a:rPr lang="en-US" sz="3000" dirty="0">
                <a:solidFill>
                  <a:srgbClr val="7030A0"/>
                </a:solidFill>
                <a:latin typeface="Arial" panose="020B0604020202020204" pitchFamily="34" charset="0"/>
                <a:cs typeface="Arial" panose="020B0604020202020204" pitchFamily="34" charset="0"/>
              </a:rPr>
              <a:t> AI assistants can be </a:t>
            </a:r>
            <a:r>
              <a:rPr lang="en-US" sz="3000" u="sng" dirty="0">
                <a:solidFill>
                  <a:schemeClr val="accent2"/>
                </a:solidFill>
                <a:latin typeface="Arial" panose="020B0604020202020204" pitchFamily="34" charset="0"/>
                <a:cs typeface="Arial" panose="020B0604020202020204" pitchFamily="34" charset="0"/>
              </a:rPr>
              <a:t>forgetful</a:t>
            </a:r>
            <a:r>
              <a:rPr lang="en-US" sz="3000" dirty="0">
                <a:solidFill>
                  <a:srgbClr val="7030A0"/>
                </a:solidFill>
                <a:latin typeface="Arial" panose="020B0604020202020204" pitchFamily="34" charset="0"/>
                <a:cs typeface="Arial" panose="020B0604020202020204" pitchFamily="34" charset="0"/>
              </a:rPr>
              <a:t>. When we ask the AI to generate a new section of code, it does not always carry forward the constraints we set earlier, so an important rule can quietly get dropped. </a:t>
            </a:r>
            <a:r>
              <a:rPr lang="en-US" sz="3000" dirty="0">
                <a:solidFill>
                  <a:schemeClr val="accent2"/>
                </a:solidFill>
                <a:latin typeface="Arial" panose="020B0604020202020204" pitchFamily="34" charset="0"/>
                <a:cs typeface="Arial" panose="020B0604020202020204" pitchFamily="34" charset="0"/>
              </a:rPr>
              <a:t>The cutoff, using only data on or before the reference date, is what keeps the forecast honest, so we restate it right where the forecasts are generated</a:t>
            </a:r>
            <a:r>
              <a:rPr lang="en-US" sz="3000" dirty="0">
                <a:solidFill>
                  <a:srgbClr val="7030A0"/>
                </a:solidFill>
                <a:latin typeface="Arial" panose="020B0604020202020204" pitchFamily="34" charset="0"/>
                <a:cs typeface="Arial" panose="020B0604020202020204" pitchFamily="34" charset="0"/>
              </a:rPr>
              <a:t>. That keeps it front and center for the AI and guards against the model training on the very weeks it is supposed to predict, which would make the forecast look better than it really would be in practice.</a:t>
            </a:r>
          </a:p>
        </p:txBody>
      </p:sp>
    </p:spTree>
    <p:extLst>
      <p:ext uri="{BB962C8B-B14F-4D97-AF65-F5344CB8AC3E}">
        <p14:creationId xmlns:p14="http://schemas.microsoft.com/office/powerpoint/2010/main" val="28225968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EC1F068-E1AC-9475-42F2-15F2A6E47FF8}"/>
              </a:ext>
            </a:extLst>
          </p:cNvPr>
          <p:cNvSpPr/>
          <p:nvPr/>
        </p:nvSpPr>
        <p:spPr>
          <a:xfrm>
            <a:off x="955323" y="5145983"/>
            <a:ext cx="10281355" cy="1307335"/>
          </a:xfrm>
          <a:prstGeom prst="roundRect">
            <a:avLst/>
          </a:prstGeom>
          <a:solidFill>
            <a:srgbClr val="F0ECF8"/>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89662E-B46B-72A6-DEB3-A74BCA9D8172}"/>
              </a:ext>
            </a:extLst>
          </p:cNvPr>
          <p:cNvSpPr>
            <a:spLocks noGrp="1"/>
          </p:cNvSpPr>
          <p:nvPr>
            <p:ph type="title"/>
          </p:nvPr>
        </p:nvSpPr>
        <p:spPr>
          <a:xfrm>
            <a:off x="838200" y="18255"/>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Forecasting (1-Week Ahead)</a:t>
            </a:r>
          </a:p>
        </p:txBody>
      </p:sp>
      <p:graphicFrame>
        <p:nvGraphicFramePr>
          <p:cNvPr id="6" name="Table 5">
            <a:extLst>
              <a:ext uri="{FF2B5EF4-FFF2-40B4-BE49-F238E27FC236}">
                <a16:creationId xmlns:a16="http://schemas.microsoft.com/office/drawing/2014/main" id="{5AB6077F-2836-06EE-9B47-441490FC8037}"/>
              </a:ext>
            </a:extLst>
          </p:cNvPr>
          <p:cNvGraphicFramePr>
            <a:graphicFrameLocks noGrp="1"/>
          </p:cNvGraphicFramePr>
          <p:nvPr>
            <p:extLst>
              <p:ext uri="{D42A27DB-BD31-4B8C-83A1-F6EECF244321}">
                <p14:modId xmlns:p14="http://schemas.microsoft.com/office/powerpoint/2010/main" val="1193067194"/>
              </p:ext>
            </p:extLst>
          </p:nvPr>
        </p:nvGraphicFramePr>
        <p:xfrm>
          <a:off x="955323" y="1668788"/>
          <a:ext cx="10281355" cy="2312902"/>
        </p:xfrm>
        <a:graphic>
          <a:graphicData uri="http://schemas.openxmlformats.org/drawingml/2006/table">
            <a:tbl>
              <a:tblPr firstRow="1" bandRow="1">
                <a:tableStyleId>{5940675A-B579-460E-94D1-54222C63F5DA}</a:tableStyleId>
              </a:tblPr>
              <a:tblGrid>
                <a:gridCol w="2310131">
                  <a:extLst>
                    <a:ext uri="{9D8B030D-6E8A-4147-A177-3AD203B41FA5}">
                      <a16:colId xmlns:a16="http://schemas.microsoft.com/office/drawing/2014/main" val="2076793273"/>
                    </a:ext>
                  </a:extLst>
                </a:gridCol>
                <a:gridCol w="2687577">
                  <a:extLst>
                    <a:ext uri="{9D8B030D-6E8A-4147-A177-3AD203B41FA5}">
                      <a16:colId xmlns:a16="http://schemas.microsoft.com/office/drawing/2014/main" val="955905303"/>
                    </a:ext>
                  </a:extLst>
                </a:gridCol>
                <a:gridCol w="1691518">
                  <a:extLst>
                    <a:ext uri="{9D8B030D-6E8A-4147-A177-3AD203B41FA5}">
                      <a16:colId xmlns:a16="http://schemas.microsoft.com/office/drawing/2014/main" val="3966078537"/>
                    </a:ext>
                  </a:extLst>
                </a:gridCol>
                <a:gridCol w="3592129">
                  <a:extLst>
                    <a:ext uri="{9D8B030D-6E8A-4147-A177-3AD203B41FA5}">
                      <a16:colId xmlns:a16="http://schemas.microsoft.com/office/drawing/2014/main" val="2406510133"/>
                    </a:ext>
                  </a:extLst>
                </a:gridCol>
              </a:tblGrid>
              <a:tr h="865258">
                <a:tc>
                  <a:txBody>
                    <a:bodyPr/>
                    <a:lstStyle/>
                    <a:p>
                      <a:pPr algn="ctr"/>
                      <a:r>
                        <a:rPr lang="en-US" sz="2200" b="1" err="1">
                          <a:latin typeface="Courier New" panose="02070309020205020404" pitchFamily="49" charset="0"/>
                          <a:cs typeface="Courier New" panose="02070309020205020404" pitchFamily="49" charset="0"/>
                        </a:rPr>
                        <a:t>output_type</a:t>
                      </a:r>
                      <a:endParaRPr lang="en-US" sz="2200" b="1">
                        <a:latin typeface="Courier New" panose="02070309020205020404" pitchFamily="49" charset="0"/>
                        <a:cs typeface="Courier New" panose="02070309020205020404" pitchFamily="49" charset="0"/>
                      </a:endParaRPr>
                    </a:p>
                  </a:txBody>
                  <a:tcPr anchor="ctr"/>
                </a:tc>
                <a:tc>
                  <a:txBody>
                    <a:bodyPr/>
                    <a:lstStyle/>
                    <a:p>
                      <a:pPr algn="ctr"/>
                      <a:r>
                        <a:rPr lang="en-US" sz="2200" b="1" err="1">
                          <a:latin typeface="Courier New" panose="02070309020205020404" pitchFamily="49" charset="0"/>
                          <a:cs typeface="Courier New" panose="02070309020205020404" pitchFamily="49" charset="0"/>
                        </a:rPr>
                        <a:t>output_type_id</a:t>
                      </a:r>
                      <a:endParaRPr lang="en-US" sz="2200" b="1">
                        <a:latin typeface="Courier New" panose="02070309020205020404" pitchFamily="49" charset="0"/>
                        <a:cs typeface="Courier New" panose="02070309020205020404" pitchFamily="49" charset="0"/>
                      </a:endParaRPr>
                    </a:p>
                  </a:txBody>
                  <a:tcPr anchor="ctr"/>
                </a:tc>
                <a:tc>
                  <a:txBody>
                    <a:bodyPr/>
                    <a:lstStyle/>
                    <a:p>
                      <a:pPr algn="ctr"/>
                      <a:r>
                        <a:rPr lang="en-US" sz="2200" b="1">
                          <a:latin typeface="Courier New" panose="02070309020205020404" pitchFamily="49" charset="0"/>
                          <a:cs typeface="Courier New" panose="02070309020205020404" pitchFamily="49" charset="0"/>
                        </a:rPr>
                        <a:t>value</a:t>
                      </a:r>
                    </a:p>
                  </a:txBody>
                  <a:tcPr anchor="ctr">
                    <a:lnR w="57150" cap="flat" cmpd="sng" algn="ctr">
                      <a:solidFill>
                        <a:schemeClr val="tx1"/>
                      </a:solidFill>
                      <a:prstDash val="solid"/>
                      <a:round/>
                      <a:headEnd type="none" w="med" len="med"/>
                      <a:tailEnd type="none" w="med" len="med"/>
                    </a:lnR>
                  </a:tcPr>
                </a:tc>
                <a:tc>
                  <a:txBody>
                    <a:bodyPr/>
                    <a:lstStyle/>
                    <a:p>
                      <a:pPr algn="ctr"/>
                      <a:r>
                        <a:rPr lang="en-US" sz="2200" b="1">
                          <a:latin typeface="Arial" panose="020B0604020202020204" pitchFamily="34" charset="0"/>
                          <a:cs typeface="Arial" panose="020B0604020202020204" pitchFamily="34" charset="0"/>
                        </a:rPr>
                        <a:t>Description</a:t>
                      </a:r>
                    </a:p>
                  </a:txBody>
                  <a:tcPr anchor="ctr">
                    <a:lnL w="57150" cap="flat" cmpd="sng" algn="ctr">
                      <a:solidFill>
                        <a:schemeClr val="tx1"/>
                      </a:solidFill>
                      <a:prstDash val="solid"/>
                      <a:round/>
                      <a:headEnd type="none" w="med" len="med"/>
                      <a:tailEnd type="none" w="med" len="med"/>
                    </a:lnL>
                    <a:solidFill>
                      <a:srgbClr val="FFF4EC"/>
                    </a:solidFill>
                  </a:tcPr>
                </a:tc>
                <a:extLst>
                  <a:ext uri="{0D108BD9-81ED-4DB2-BD59-A6C34878D82A}">
                    <a16:rowId xmlns:a16="http://schemas.microsoft.com/office/drawing/2014/main" val="2175483087"/>
                  </a:ext>
                </a:extLst>
              </a:tr>
              <a:tr h="482548">
                <a:tc>
                  <a:txBody>
                    <a:bodyPr/>
                    <a:lstStyle/>
                    <a:p>
                      <a:pPr algn="ctr"/>
                      <a:r>
                        <a:rPr lang="en-US" sz="2000">
                          <a:latin typeface="Arial" panose="020B0604020202020204" pitchFamily="34" charset="0"/>
                          <a:cs typeface="Arial" panose="020B0604020202020204" pitchFamily="34" charset="0"/>
                        </a:rPr>
                        <a:t>quantile</a:t>
                      </a:r>
                    </a:p>
                  </a:txBody>
                  <a:tcPr anchor="ctr"/>
                </a:tc>
                <a:tc>
                  <a:txBody>
                    <a:bodyPr/>
                    <a:lstStyle/>
                    <a:p>
                      <a:pPr algn="ctr"/>
                      <a:r>
                        <a:rPr lang="en-US" sz="2000">
                          <a:latin typeface="Arial" panose="020B0604020202020204" pitchFamily="34" charset="0"/>
                          <a:cs typeface="Arial" panose="020B0604020202020204" pitchFamily="34" charset="0"/>
                        </a:rPr>
                        <a:t>0.025</a:t>
                      </a:r>
                    </a:p>
                  </a:txBody>
                  <a:tcPr anchor="ctr"/>
                </a:tc>
                <a:tc>
                  <a:txBody>
                    <a:bodyPr/>
                    <a:lstStyle/>
                    <a:p>
                      <a:pPr algn="ctr"/>
                      <a:r>
                        <a:rPr lang="en-US" sz="2000">
                          <a:latin typeface="Arial" panose="020B0604020202020204" pitchFamily="34" charset="0"/>
                          <a:cs typeface="Arial" panose="020B0604020202020204" pitchFamily="34" charset="0"/>
                        </a:rPr>
                        <a:t>#</a:t>
                      </a:r>
                    </a:p>
                  </a:txBody>
                  <a:tcPr anchor="ctr">
                    <a:lnR w="57150" cap="flat" cmpd="sng" algn="ctr">
                      <a:solidFill>
                        <a:schemeClr val="tx1"/>
                      </a:solidFill>
                      <a:prstDash val="solid"/>
                      <a:round/>
                      <a:headEnd type="none" w="med" len="med"/>
                      <a:tailEnd type="none" w="med" len="med"/>
                    </a:lnR>
                  </a:tcPr>
                </a:tc>
                <a:tc>
                  <a:txBody>
                    <a:bodyPr/>
                    <a:lstStyle/>
                    <a:p>
                      <a:pPr algn="ctr"/>
                      <a:r>
                        <a:rPr lang="en-US" sz="2000" dirty="0">
                          <a:latin typeface="Arial" panose="020B0604020202020204" pitchFamily="34" charset="0"/>
                          <a:cs typeface="Arial" panose="020B0604020202020204" pitchFamily="34" charset="0"/>
                        </a:rPr>
                        <a:t>Lower Bound (95% PI)</a:t>
                      </a:r>
                    </a:p>
                  </a:txBody>
                  <a:tcPr anchor="ctr">
                    <a:lnL w="57150" cap="flat" cmpd="sng" algn="ctr">
                      <a:solidFill>
                        <a:schemeClr val="tx1"/>
                      </a:solidFill>
                      <a:prstDash val="solid"/>
                      <a:round/>
                      <a:headEnd type="none" w="med" len="med"/>
                      <a:tailEnd type="none" w="med" len="med"/>
                    </a:lnL>
                    <a:solidFill>
                      <a:srgbClr val="FFF4EC"/>
                    </a:solidFill>
                  </a:tcPr>
                </a:tc>
                <a:extLst>
                  <a:ext uri="{0D108BD9-81ED-4DB2-BD59-A6C34878D82A}">
                    <a16:rowId xmlns:a16="http://schemas.microsoft.com/office/drawing/2014/main" val="111502466"/>
                  </a:ext>
                </a:extLst>
              </a:tr>
              <a:tr h="482548">
                <a:tc>
                  <a:txBody>
                    <a:bodyPr/>
                    <a:lstStyle/>
                    <a:p>
                      <a:pPr algn="ctr"/>
                      <a:r>
                        <a:rPr lang="en-US" sz="2000">
                          <a:latin typeface="Arial" panose="020B0604020202020204" pitchFamily="34" charset="0"/>
                          <a:cs typeface="Arial" panose="020B0604020202020204" pitchFamily="34" charset="0"/>
                        </a:rPr>
                        <a:t>quantile</a:t>
                      </a:r>
                    </a:p>
                  </a:txBody>
                  <a:tcPr anchor="ctr"/>
                </a:tc>
                <a:tc>
                  <a:txBody>
                    <a:bodyPr/>
                    <a:lstStyle/>
                    <a:p>
                      <a:pPr algn="ctr"/>
                      <a:r>
                        <a:rPr lang="en-US" sz="2000">
                          <a:latin typeface="Arial" panose="020B0604020202020204" pitchFamily="34" charset="0"/>
                          <a:cs typeface="Arial" panose="020B0604020202020204" pitchFamily="34" charset="0"/>
                        </a:rPr>
                        <a:t>0.5</a:t>
                      </a:r>
                    </a:p>
                  </a:txBody>
                  <a:tcPr anchor="ctr"/>
                </a:tc>
                <a:tc>
                  <a:txBody>
                    <a:bodyPr/>
                    <a:lstStyle/>
                    <a:p>
                      <a:pPr algn="ctr"/>
                      <a:r>
                        <a:rPr lang="en-US" sz="2000">
                          <a:latin typeface="Arial" panose="020B0604020202020204" pitchFamily="34" charset="0"/>
                          <a:cs typeface="Arial" panose="020B0604020202020204" pitchFamily="34" charset="0"/>
                        </a:rPr>
                        <a:t>#</a:t>
                      </a:r>
                    </a:p>
                  </a:txBody>
                  <a:tcPr anchor="ctr">
                    <a:lnR w="57150" cap="flat" cmpd="sng" algn="ctr">
                      <a:solidFill>
                        <a:schemeClr val="tx1"/>
                      </a:solidFill>
                      <a:prstDash val="solid"/>
                      <a:round/>
                      <a:headEnd type="none" w="med" len="med"/>
                      <a:tailEnd type="none" w="med" len="med"/>
                    </a:lnR>
                  </a:tcPr>
                </a:tc>
                <a:tc>
                  <a:txBody>
                    <a:bodyPr/>
                    <a:lstStyle/>
                    <a:p>
                      <a:pPr algn="ctr"/>
                      <a:r>
                        <a:rPr lang="en-US" sz="2000" dirty="0">
                          <a:latin typeface="Arial" panose="020B0604020202020204" pitchFamily="34" charset="0"/>
                          <a:cs typeface="Arial" panose="020B0604020202020204" pitchFamily="34" charset="0"/>
                        </a:rPr>
                        <a:t>Median</a:t>
                      </a:r>
                    </a:p>
                  </a:txBody>
                  <a:tcPr anchor="ctr">
                    <a:lnL w="57150" cap="flat" cmpd="sng" algn="ctr">
                      <a:solidFill>
                        <a:schemeClr val="tx1"/>
                      </a:solidFill>
                      <a:prstDash val="solid"/>
                      <a:round/>
                      <a:headEnd type="none" w="med" len="med"/>
                      <a:tailEnd type="none" w="med" len="med"/>
                    </a:lnL>
                    <a:solidFill>
                      <a:srgbClr val="FFF4EC"/>
                    </a:solidFill>
                  </a:tcPr>
                </a:tc>
                <a:extLst>
                  <a:ext uri="{0D108BD9-81ED-4DB2-BD59-A6C34878D82A}">
                    <a16:rowId xmlns:a16="http://schemas.microsoft.com/office/drawing/2014/main" val="3586299375"/>
                  </a:ext>
                </a:extLst>
              </a:tr>
              <a:tr h="482548">
                <a:tc>
                  <a:txBody>
                    <a:bodyPr/>
                    <a:lstStyle/>
                    <a:p>
                      <a:pPr algn="ctr"/>
                      <a:r>
                        <a:rPr lang="en-US" sz="2000">
                          <a:latin typeface="Arial" panose="020B0604020202020204" pitchFamily="34" charset="0"/>
                          <a:cs typeface="Arial" panose="020B0604020202020204" pitchFamily="34" charset="0"/>
                        </a:rPr>
                        <a:t>quantile</a:t>
                      </a:r>
                    </a:p>
                  </a:txBody>
                  <a:tcPr anchor="ctr"/>
                </a:tc>
                <a:tc>
                  <a:txBody>
                    <a:bodyPr/>
                    <a:lstStyle/>
                    <a:p>
                      <a:pPr algn="ctr"/>
                      <a:r>
                        <a:rPr lang="en-US" sz="2000">
                          <a:latin typeface="Arial" panose="020B0604020202020204" pitchFamily="34" charset="0"/>
                          <a:cs typeface="Arial" panose="020B0604020202020204" pitchFamily="34" charset="0"/>
                        </a:rPr>
                        <a:t>0.975</a:t>
                      </a:r>
                    </a:p>
                  </a:txBody>
                  <a:tcPr anchor="ctr"/>
                </a:tc>
                <a:tc>
                  <a:txBody>
                    <a:bodyPr/>
                    <a:lstStyle/>
                    <a:p>
                      <a:pPr algn="ctr"/>
                      <a:r>
                        <a:rPr lang="en-US" sz="2000">
                          <a:latin typeface="Arial" panose="020B0604020202020204" pitchFamily="34" charset="0"/>
                          <a:cs typeface="Arial" panose="020B0604020202020204" pitchFamily="34" charset="0"/>
                        </a:rPr>
                        <a:t>#</a:t>
                      </a:r>
                    </a:p>
                  </a:txBody>
                  <a:tcPr anchor="ctr">
                    <a:lnR w="57150" cap="flat" cmpd="sng" algn="ctr">
                      <a:solidFill>
                        <a:schemeClr val="tx1"/>
                      </a:solidFill>
                      <a:prstDash val="solid"/>
                      <a:round/>
                      <a:headEnd type="none" w="med" len="med"/>
                      <a:tailEnd type="none" w="med" len="med"/>
                    </a:lnR>
                  </a:tcPr>
                </a:tc>
                <a:tc>
                  <a:txBody>
                    <a:bodyPr/>
                    <a:lstStyle/>
                    <a:p>
                      <a:pPr algn="ctr"/>
                      <a:r>
                        <a:rPr lang="en-US" sz="2000" dirty="0">
                          <a:latin typeface="Arial" panose="020B0604020202020204" pitchFamily="34" charset="0"/>
                          <a:cs typeface="Arial" panose="020B0604020202020204" pitchFamily="34" charset="0"/>
                        </a:rPr>
                        <a:t>Upper Bound (95% PI)</a:t>
                      </a:r>
                    </a:p>
                  </a:txBody>
                  <a:tcPr anchor="ctr">
                    <a:lnL w="57150" cap="flat" cmpd="sng" algn="ctr">
                      <a:solidFill>
                        <a:schemeClr val="tx1"/>
                      </a:solidFill>
                      <a:prstDash val="solid"/>
                      <a:round/>
                      <a:headEnd type="none" w="med" len="med"/>
                      <a:tailEnd type="none" w="med" len="med"/>
                    </a:lnL>
                    <a:solidFill>
                      <a:srgbClr val="FFF4EC"/>
                    </a:solidFill>
                  </a:tcPr>
                </a:tc>
                <a:extLst>
                  <a:ext uri="{0D108BD9-81ED-4DB2-BD59-A6C34878D82A}">
                    <a16:rowId xmlns:a16="http://schemas.microsoft.com/office/drawing/2014/main" val="2192071225"/>
                  </a:ext>
                </a:extLst>
              </a:tr>
            </a:tbl>
          </a:graphicData>
        </a:graphic>
      </p:graphicFrame>
      <p:sp>
        <p:nvSpPr>
          <p:cNvPr id="10" name="Oval 9">
            <a:extLst>
              <a:ext uri="{FF2B5EF4-FFF2-40B4-BE49-F238E27FC236}">
                <a16:creationId xmlns:a16="http://schemas.microsoft.com/office/drawing/2014/main" id="{584F93B0-E461-6E8E-21A3-2ABF48AC8185}"/>
              </a:ext>
            </a:extLst>
          </p:cNvPr>
          <p:cNvSpPr/>
          <p:nvPr/>
        </p:nvSpPr>
        <p:spPr>
          <a:xfrm>
            <a:off x="5990742" y="1437071"/>
            <a:ext cx="1597306" cy="2777927"/>
          </a:xfrm>
          <a:prstGeom prst="ellipse">
            <a:avLst/>
          </a:prstGeom>
          <a:noFill/>
          <a:ln w="762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3B3C883-2427-E090-3D28-FAC13E0D7A21}"/>
              </a:ext>
            </a:extLst>
          </p:cNvPr>
          <p:cNvSpPr txBox="1"/>
          <p:nvPr/>
        </p:nvSpPr>
        <p:spPr>
          <a:xfrm>
            <a:off x="1119850" y="5568819"/>
            <a:ext cx="9875135" cy="461665"/>
          </a:xfrm>
          <a:prstGeom prst="rect">
            <a:avLst/>
          </a:prstGeom>
          <a:noFill/>
        </p:spPr>
        <p:txBody>
          <a:bodyPr wrap="square">
            <a:spAutoFit/>
          </a:bodyPr>
          <a:lstStyle/>
          <a:p>
            <a:pPr algn="ctr"/>
            <a:r>
              <a:rPr lang="en-US" sz="2400" b="0" kern="1200" dirty="0">
                <a:solidFill>
                  <a:schemeClr val="tx1"/>
                </a:solidFill>
                <a:effectLst/>
                <a:latin typeface="Courier New" panose="02070309020205020404" pitchFamily="49" charset="0"/>
                <a:cs typeface="Courier New" panose="02070309020205020404" pitchFamily="49" charset="0"/>
              </a:rPr>
              <a:t>3. Forecast with `forecast(fit, h = 1, level = </a:t>
            </a:r>
            <a:r>
              <a:rPr lang="en-US" sz="2400" dirty="0">
                <a:latin typeface="Courier New" panose="02070309020205020404" pitchFamily="49" charset="0"/>
                <a:cs typeface="Courier New" panose="02070309020205020404" pitchFamily="49" charset="0"/>
              </a:rPr>
              <a:t>95</a:t>
            </a:r>
            <a:r>
              <a:rPr lang="en-US" sz="2400" b="0" kern="1200" dirty="0">
                <a:solidFill>
                  <a:schemeClr val="tx1"/>
                </a:solidFill>
                <a:effectLst/>
                <a:latin typeface="Courier New" panose="02070309020205020404" pitchFamily="49" charset="0"/>
                <a:cs typeface="Courier New" panose="02070309020205020404" pitchFamily="49" charset="0"/>
              </a:rPr>
              <a:t>)`. </a:t>
            </a:r>
          </a:p>
        </p:txBody>
      </p:sp>
      <p:sp>
        <p:nvSpPr>
          <p:cNvPr id="13" name="TextBox 12">
            <a:extLst>
              <a:ext uri="{FF2B5EF4-FFF2-40B4-BE49-F238E27FC236}">
                <a16:creationId xmlns:a16="http://schemas.microsoft.com/office/drawing/2014/main" id="{A05C55D9-9E59-774D-4D3D-01B3D520956F}"/>
              </a:ext>
            </a:extLst>
          </p:cNvPr>
          <p:cNvSpPr txBox="1"/>
          <p:nvPr/>
        </p:nvSpPr>
        <p:spPr>
          <a:xfrm>
            <a:off x="3870760" y="4459060"/>
            <a:ext cx="4373313" cy="477054"/>
          </a:xfrm>
          <a:prstGeom prst="rect">
            <a:avLst/>
          </a:prstGeom>
          <a:noFill/>
        </p:spPr>
        <p:txBody>
          <a:bodyPr wrap="none" rtlCol="0">
            <a:spAutoFit/>
          </a:bodyPr>
          <a:lstStyle/>
          <a:p>
            <a:r>
              <a:rPr lang="en-US" sz="2500" b="1" dirty="0">
                <a:latin typeface="Arial" panose="020B0604020202020204" pitchFamily="34" charset="0"/>
                <a:cs typeface="Arial" panose="020B0604020202020204" pitchFamily="34" charset="0"/>
              </a:rPr>
              <a:t>How do we get the values? </a:t>
            </a:r>
          </a:p>
        </p:txBody>
      </p:sp>
      <p:pic>
        <p:nvPicPr>
          <p:cNvPr id="9" name="Picture 8" descr="Your Turn Rubber Stamp Royalty Free SVG, Cliparts, Vectors, and Stock  Illustration. Image 68258628.">
            <a:extLst>
              <a:ext uri="{FF2B5EF4-FFF2-40B4-BE49-F238E27FC236}">
                <a16:creationId xmlns:a16="http://schemas.microsoft.com/office/drawing/2014/main" id="{54A4C43E-F0F5-F97B-6EE7-8CDF7EE25477}"/>
              </a:ext>
            </a:extLst>
          </p:cNvPr>
          <p:cNvPicPr>
            <a:picLocks noChangeAspect="1"/>
          </p:cNvPicPr>
          <p:nvPr/>
        </p:nvPicPr>
        <p:blipFill>
          <a:blip r:embed="rId3"/>
          <a:stretch>
            <a:fillRect/>
          </a:stretch>
        </p:blipFill>
        <p:spPr>
          <a:xfrm>
            <a:off x="1195757" y="171134"/>
            <a:ext cx="981703" cy="981703"/>
          </a:xfrm>
          <a:prstGeom prst="rect">
            <a:avLst/>
          </a:prstGeom>
        </p:spPr>
      </p:pic>
    </p:spTree>
    <p:extLst>
      <p:ext uri="{BB962C8B-B14F-4D97-AF65-F5344CB8AC3E}">
        <p14:creationId xmlns:p14="http://schemas.microsoft.com/office/powerpoint/2010/main" val="4081726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12" grpId="0"/>
      <p:bldP spid="1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3C2DD-5C81-D750-F7B5-E8E0EFF662B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4FA1927-20D9-4103-2164-182827D795A5}"/>
              </a:ext>
            </a:extLst>
          </p:cNvPr>
          <p:cNvSpPr txBox="1"/>
          <p:nvPr/>
        </p:nvSpPr>
        <p:spPr>
          <a:xfrm>
            <a:off x="1251112" y="5292521"/>
            <a:ext cx="9762815" cy="1323439"/>
          </a:xfrm>
          <a:prstGeom prst="rect">
            <a:avLst/>
          </a:prstGeom>
          <a:noFill/>
          <a:ln>
            <a:solidFill>
              <a:schemeClr val="bg1">
                <a:lumMod val="75000"/>
              </a:schemeClr>
            </a:solidFill>
          </a:ln>
        </p:spPr>
        <p:txBody>
          <a:bodyPr wrap="square">
            <a:spAutoFit/>
          </a:bodyPr>
          <a:lstStyle/>
          <a:p>
            <a:pPr algn="ctr"/>
            <a:r>
              <a:rPr lang="en-US" sz="2000" dirty="0">
                <a:latin typeface="Arial" panose="020B0604020202020204" pitchFamily="34" charset="0"/>
                <a:cs typeface="Arial" panose="020B0604020202020204" pitchFamily="34" charset="0"/>
              </a:rPr>
              <a:t>What pieces of information do we need to extract from the forecast call? What format will the data come back in (</a:t>
            </a:r>
            <a:r>
              <a:rPr lang="en-US" sz="2000" b="1" dirty="0">
                <a:latin typeface="Arial" panose="020B0604020202020204" pitchFamily="34" charset="0"/>
                <a:cs typeface="Arial" panose="020B0604020202020204" pitchFamily="34" charset="0"/>
              </a:rPr>
              <a:t>Hint:</a:t>
            </a:r>
            <a:r>
              <a:rPr lang="en-US" sz="2000" dirty="0">
                <a:latin typeface="Arial" panose="020B0604020202020204" pitchFamily="34" charset="0"/>
                <a:cs typeface="Arial" panose="020B0604020202020204" pitchFamily="34" charset="0"/>
              </a:rPr>
              <a:t> The lower and upper bounds come back with one column per level)? Are there any restrictions we want to place on the results (</a:t>
            </a:r>
            <a:r>
              <a:rPr lang="en-US" sz="2000" b="1" dirty="0">
                <a:latin typeface="Arial" panose="020B0604020202020204" pitchFamily="34" charset="0"/>
                <a:cs typeface="Arial" panose="020B0604020202020204" pitchFamily="34" charset="0"/>
              </a:rPr>
              <a:t>Hint:</a:t>
            </a:r>
            <a:r>
              <a:rPr lang="en-US" sz="2000" dirty="0">
                <a:latin typeface="Arial" panose="020B0604020202020204" pitchFamily="34" charset="0"/>
                <a:cs typeface="Arial" panose="020B0604020202020204" pitchFamily="34" charset="0"/>
              </a:rPr>
              <a:t> Rounding, Truncating at 0)?</a:t>
            </a:r>
          </a:p>
        </p:txBody>
      </p:sp>
      <p:sp>
        <p:nvSpPr>
          <p:cNvPr id="14" name="Rectangle: Rounded Corners 13">
            <a:extLst>
              <a:ext uri="{FF2B5EF4-FFF2-40B4-BE49-F238E27FC236}">
                <a16:creationId xmlns:a16="http://schemas.microsoft.com/office/drawing/2014/main" id="{5B2A4A2C-E75E-22D6-BF6F-D27BEDA14537}"/>
              </a:ext>
            </a:extLst>
          </p:cNvPr>
          <p:cNvSpPr/>
          <p:nvPr/>
        </p:nvSpPr>
        <p:spPr>
          <a:xfrm>
            <a:off x="1322529" y="1807520"/>
            <a:ext cx="9711037" cy="659287"/>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a:extLst>
              <a:ext uri="{FF2B5EF4-FFF2-40B4-BE49-F238E27FC236}">
                <a16:creationId xmlns:a16="http://schemas.microsoft.com/office/drawing/2014/main" id="{37A08CE9-2859-C976-EF85-09168E288BAB}"/>
              </a:ext>
            </a:extLst>
          </p:cNvPr>
          <p:cNvSpPr>
            <a:spLocks noGrp="1"/>
          </p:cNvSpPr>
          <p:nvPr>
            <p:ph type="title"/>
          </p:nvPr>
        </p:nvSpPr>
        <p:spPr>
          <a:xfrm>
            <a:off x="838200" y="20563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Extracting the Median &amp; 95% PI Bounds</a:t>
            </a:r>
          </a:p>
        </p:txBody>
      </p:sp>
      <p:sp>
        <p:nvSpPr>
          <p:cNvPr id="4" name="TextBox 3">
            <a:extLst>
              <a:ext uri="{FF2B5EF4-FFF2-40B4-BE49-F238E27FC236}">
                <a16:creationId xmlns:a16="http://schemas.microsoft.com/office/drawing/2014/main" id="{2DD10F9B-FD57-4961-2BC3-BBA082BD9DAB}"/>
              </a:ext>
            </a:extLst>
          </p:cNvPr>
          <p:cNvSpPr txBox="1"/>
          <p:nvPr/>
        </p:nvSpPr>
        <p:spPr>
          <a:xfrm>
            <a:off x="2743199" y="1889300"/>
            <a:ext cx="6705600" cy="492443"/>
          </a:xfrm>
          <a:prstGeom prst="rect">
            <a:avLst/>
          </a:prstGeom>
          <a:noFill/>
        </p:spPr>
        <p:txBody>
          <a:bodyPr wrap="square">
            <a:spAutoFit/>
          </a:bodyPr>
          <a:lstStyle/>
          <a:p>
            <a:r>
              <a:rPr lang="en-US" sz="2600" b="1" kern="1200" dirty="0">
                <a:solidFill>
                  <a:schemeClr val="tx1"/>
                </a:solidFill>
                <a:effectLst/>
                <a:latin typeface="Courier New" panose="02070309020205020404" pitchFamily="49" charset="0"/>
                <a:cs typeface="Courier New" panose="02070309020205020404" pitchFamily="49" charset="0"/>
              </a:rPr>
              <a:t>forecast(fit, h = 1, level = </a:t>
            </a:r>
            <a:r>
              <a:rPr lang="en-US" sz="2600" b="1" dirty="0">
                <a:latin typeface="Courier New" panose="02070309020205020404" pitchFamily="49" charset="0"/>
                <a:cs typeface="Courier New" panose="02070309020205020404" pitchFamily="49" charset="0"/>
              </a:rPr>
              <a:t>95</a:t>
            </a:r>
            <a:r>
              <a:rPr lang="en-US" sz="2600" b="1" kern="1200" dirty="0">
                <a:solidFill>
                  <a:schemeClr val="tx1"/>
                </a:solidFill>
                <a:effectLst/>
                <a:latin typeface="Courier New" panose="02070309020205020404" pitchFamily="49" charset="0"/>
                <a:cs typeface="Courier New" panose="02070309020205020404" pitchFamily="49" charset="0"/>
              </a:rPr>
              <a:t>)</a:t>
            </a:r>
            <a:endParaRPr lang="en-US" sz="2600" b="1" dirty="0"/>
          </a:p>
        </p:txBody>
      </p:sp>
      <p:sp>
        <p:nvSpPr>
          <p:cNvPr id="15" name="Rectangle: Rounded Corners 14">
            <a:extLst>
              <a:ext uri="{FF2B5EF4-FFF2-40B4-BE49-F238E27FC236}">
                <a16:creationId xmlns:a16="http://schemas.microsoft.com/office/drawing/2014/main" id="{30458D2B-CF88-4F5A-C2B9-47F949068D01}"/>
              </a:ext>
            </a:extLst>
          </p:cNvPr>
          <p:cNvSpPr/>
          <p:nvPr/>
        </p:nvSpPr>
        <p:spPr>
          <a:xfrm>
            <a:off x="1339706" y="3125953"/>
            <a:ext cx="2248076" cy="1060839"/>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C34FAC0-3F50-F41F-8737-CB78649F9D15}"/>
              </a:ext>
            </a:extLst>
          </p:cNvPr>
          <p:cNvSpPr txBox="1"/>
          <p:nvPr/>
        </p:nvSpPr>
        <p:spPr>
          <a:xfrm>
            <a:off x="1517010" y="3312231"/>
            <a:ext cx="1893467" cy="707886"/>
          </a:xfrm>
          <a:prstGeom prst="rect">
            <a:avLst/>
          </a:prstGeom>
          <a:noFill/>
        </p:spPr>
        <p:txBody>
          <a:bodyPr wrap="none" rtlCol="0">
            <a:spAutoFit/>
          </a:bodyPr>
          <a:lstStyle/>
          <a:p>
            <a:pPr algn="ctr"/>
            <a:r>
              <a:rPr lang="en-US" sz="2000" b="1" dirty="0">
                <a:latin typeface="Arial" panose="020B0604020202020204" pitchFamily="34" charset="0"/>
                <a:cs typeface="Arial" panose="020B0604020202020204" pitchFamily="34" charset="0"/>
              </a:rPr>
              <a:t>Lower Bound</a:t>
            </a:r>
          </a:p>
          <a:p>
            <a:pPr algn="ctr"/>
            <a:r>
              <a:rPr lang="en-US" sz="2000" dirty="0">
                <a:latin typeface="Arial" panose="020B0604020202020204" pitchFamily="34" charset="0"/>
                <a:cs typeface="Arial" panose="020B0604020202020204" pitchFamily="34" charset="0"/>
              </a:rPr>
              <a:t>(</a:t>
            </a:r>
            <a:r>
              <a:rPr lang="en-US" sz="2000" dirty="0" err="1">
                <a:latin typeface="Courier New" panose="02070309020205020404" pitchFamily="49" charset="0"/>
                <a:cs typeface="Courier New" panose="02070309020205020404" pitchFamily="49" charset="0"/>
              </a:rPr>
              <a:t>fcst$lower</a:t>
            </a:r>
            <a:r>
              <a:rPr lang="en-US" sz="2000" dirty="0">
                <a:latin typeface="Arial" panose="020B0604020202020204" pitchFamily="34" charset="0"/>
                <a:cs typeface="Arial" panose="020B0604020202020204" pitchFamily="34" charset="0"/>
              </a:rPr>
              <a:t>)</a:t>
            </a:r>
          </a:p>
        </p:txBody>
      </p:sp>
      <p:sp>
        <p:nvSpPr>
          <p:cNvPr id="17" name="Rectangle: Rounded Corners 16">
            <a:extLst>
              <a:ext uri="{FF2B5EF4-FFF2-40B4-BE49-F238E27FC236}">
                <a16:creationId xmlns:a16="http://schemas.microsoft.com/office/drawing/2014/main" id="{9CA15913-8386-313B-2919-F0B3361EFE5A}"/>
              </a:ext>
            </a:extLst>
          </p:cNvPr>
          <p:cNvSpPr/>
          <p:nvPr/>
        </p:nvSpPr>
        <p:spPr>
          <a:xfrm>
            <a:off x="5057907" y="3126088"/>
            <a:ext cx="2240280" cy="1060704"/>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0E1E6C31-C235-BBB3-6AB0-CCC34CC93680}"/>
              </a:ext>
            </a:extLst>
          </p:cNvPr>
          <p:cNvSpPr/>
          <p:nvPr/>
        </p:nvSpPr>
        <p:spPr>
          <a:xfrm>
            <a:off x="8802596" y="3126088"/>
            <a:ext cx="2240280" cy="1060704"/>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6D4609E-FAB3-EC11-391B-E1FF64C77B01}"/>
              </a:ext>
            </a:extLst>
          </p:cNvPr>
          <p:cNvSpPr txBox="1"/>
          <p:nvPr/>
        </p:nvSpPr>
        <p:spPr>
          <a:xfrm>
            <a:off x="5186826" y="3312231"/>
            <a:ext cx="1965603" cy="707886"/>
          </a:xfrm>
          <a:prstGeom prst="rect">
            <a:avLst/>
          </a:prstGeom>
          <a:noFill/>
        </p:spPr>
        <p:txBody>
          <a:bodyPr wrap="none" rtlCol="0">
            <a:spAutoFit/>
          </a:bodyPr>
          <a:lstStyle/>
          <a:p>
            <a:pPr algn="ctr"/>
            <a:r>
              <a:rPr lang="en-US" sz="2000" b="1" dirty="0">
                <a:latin typeface="Arial" panose="020B0604020202020204" pitchFamily="34" charset="0"/>
                <a:cs typeface="Arial" panose="020B0604020202020204" pitchFamily="34" charset="0"/>
              </a:rPr>
              <a:t>Point Forecast</a:t>
            </a:r>
          </a:p>
          <a:p>
            <a:pPr algn="ctr"/>
            <a:r>
              <a:rPr lang="en-US" sz="2000" dirty="0">
                <a:latin typeface="Arial" panose="020B0604020202020204" pitchFamily="34" charset="0"/>
                <a:cs typeface="Arial" panose="020B0604020202020204" pitchFamily="34" charset="0"/>
              </a:rPr>
              <a:t>(</a:t>
            </a:r>
            <a:r>
              <a:rPr lang="en-US" sz="2000" dirty="0" err="1">
                <a:latin typeface="Courier New" panose="02070309020205020404" pitchFamily="49" charset="0"/>
                <a:cs typeface="Courier New" panose="02070309020205020404" pitchFamily="49" charset="0"/>
              </a:rPr>
              <a:t>fcst$mean</a:t>
            </a:r>
            <a:r>
              <a:rPr lang="en-US" sz="2000" dirty="0">
                <a:latin typeface="Arial" panose="020B0604020202020204" pitchFamily="34" charset="0"/>
                <a:cs typeface="Arial" panose="020B0604020202020204" pitchFamily="34" charset="0"/>
              </a:rPr>
              <a:t>)</a:t>
            </a:r>
          </a:p>
        </p:txBody>
      </p:sp>
      <p:sp>
        <p:nvSpPr>
          <p:cNvPr id="13" name="TextBox 12">
            <a:extLst>
              <a:ext uri="{FF2B5EF4-FFF2-40B4-BE49-F238E27FC236}">
                <a16:creationId xmlns:a16="http://schemas.microsoft.com/office/drawing/2014/main" id="{8070090A-10ED-75A2-415A-FCF086DA90C6}"/>
              </a:ext>
            </a:extLst>
          </p:cNvPr>
          <p:cNvSpPr txBox="1"/>
          <p:nvPr/>
        </p:nvSpPr>
        <p:spPr>
          <a:xfrm>
            <a:off x="8976002" y="3312231"/>
            <a:ext cx="1893468" cy="707886"/>
          </a:xfrm>
          <a:prstGeom prst="rect">
            <a:avLst/>
          </a:prstGeom>
          <a:noFill/>
        </p:spPr>
        <p:txBody>
          <a:bodyPr wrap="none" rtlCol="0">
            <a:spAutoFit/>
          </a:bodyPr>
          <a:lstStyle/>
          <a:p>
            <a:pPr algn="ctr"/>
            <a:r>
              <a:rPr lang="en-US" sz="2000" b="1" dirty="0">
                <a:latin typeface="Arial" panose="020B0604020202020204" pitchFamily="34" charset="0"/>
                <a:cs typeface="Arial" panose="020B0604020202020204" pitchFamily="34" charset="0"/>
              </a:rPr>
              <a:t>Upper Bound</a:t>
            </a:r>
          </a:p>
          <a:p>
            <a:pPr algn="ctr"/>
            <a:r>
              <a:rPr lang="en-US" sz="2000" dirty="0">
                <a:latin typeface="Arial" panose="020B0604020202020204" pitchFamily="34" charset="0"/>
                <a:cs typeface="Arial" panose="020B0604020202020204" pitchFamily="34" charset="0"/>
              </a:rPr>
              <a:t>(</a:t>
            </a:r>
            <a:r>
              <a:rPr lang="en-US" sz="2000" dirty="0" err="1">
                <a:latin typeface="Courier New" panose="02070309020205020404" pitchFamily="49" charset="0"/>
                <a:cs typeface="Courier New" panose="02070309020205020404" pitchFamily="49" charset="0"/>
              </a:rPr>
              <a:t>fcst$upper</a:t>
            </a:r>
            <a:r>
              <a:rPr lang="en-US" sz="2000" dirty="0">
                <a:latin typeface="Arial" panose="020B0604020202020204" pitchFamily="34" charset="0"/>
                <a:cs typeface="Arial" panose="020B0604020202020204" pitchFamily="34" charset="0"/>
              </a:rPr>
              <a:t>)</a:t>
            </a:r>
          </a:p>
        </p:txBody>
      </p:sp>
      <p:cxnSp>
        <p:nvCxnSpPr>
          <p:cNvPr id="23" name="Straight Arrow Connector 22">
            <a:extLst>
              <a:ext uri="{FF2B5EF4-FFF2-40B4-BE49-F238E27FC236}">
                <a16:creationId xmlns:a16="http://schemas.microsoft.com/office/drawing/2014/main" id="{366A8FD6-6E61-EF2E-E110-AC1A43598D35}"/>
              </a:ext>
            </a:extLst>
          </p:cNvPr>
          <p:cNvCxnSpPr>
            <a:stCxn id="14" idx="2"/>
            <a:endCxn id="15" idx="0"/>
          </p:cNvCxnSpPr>
          <p:nvPr/>
        </p:nvCxnSpPr>
        <p:spPr>
          <a:xfrm flipH="1">
            <a:off x="2463744" y="2466807"/>
            <a:ext cx="3714304" cy="659146"/>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1C42C46E-CF13-A4EA-FF1F-A8435A05F07D}"/>
              </a:ext>
            </a:extLst>
          </p:cNvPr>
          <p:cNvCxnSpPr>
            <a:stCxn id="14" idx="2"/>
            <a:endCxn id="17" idx="0"/>
          </p:cNvCxnSpPr>
          <p:nvPr/>
        </p:nvCxnSpPr>
        <p:spPr>
          <a:xfrm flipH="1">
            <a:off x="6178047" y="2466807"/>
            <a:ext cx="1" cy="65928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BCDF8E05-64ED-F60B-7F83-A26643634A37}"/>
              </a:ext>
            </a:extLst>
          </p:cNvPr>
          <p:cNvCxnSpPr>
            <a:stCxn id="14" idx="2"/>
            <a:endCxn id="21" idx="0"/>
          </p:cNvCxnSpPr>
          <p:nvPr/>
        </p:nvCxnSpPr>
        <p:spPr>
          <a:xfrm>
            <a:off x="6178048" y="2466807"/>
            <a:ext cx="3744688" cy="65928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9B65D90B-C2C6-044B-E706-8CB518B3CDEE}"/>
              </a:ext>
            </a:extLst>
          </p:cNvPr>
          <p:cNvSpPr/>
          <p:nvPr/>
        </p:nvSpPr>
        <p:spPr>
          <a:xfrm>
            <a:off x="1240481" y="4731493"/>
            <a:ext cx="9784080" cy="548640"/>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E72BF7CB-8886-BADB-EC60-1021FF78F81C}"/>
              </a:ext>
            </a:extLst>
          </p:cNvPr>
          <p:cNvSpPr txBox="1"/>
          <p:nvPr/>
        </p:nvSpPr>
        <p:spPr>
          <a:xfrm>
            <a:off x="3417222" y="4804699"/>
            <a:ext cx="5357557" cy="446276"/>
          </a:xfrm>
          <a:prstGeom prst="rect">
            <a:avLst/>
          </a:prstGeom>
          <a:noFill/>
        </p:spPr>
        <p:txBody>
          <a:bodyPr wrap="none" rtlCol="0">
            <a:spAutoFit/>
          </a:bodyPr>
          <a:lstStyle/>
          <a:p>
            <a:pPr algn="ctr"/>
            <a:r>
              <a:rPr lang="en-US" sz="2000" b="1" dirty="0">
                <a:latin typeface="Arial" panose="020B0604020202020204" pitchFamily="34" charset="0"/>
                <a:cs typeface="Arial" panose="020B0604020202020204" pitchFamily="34" charset="0"/>
              </a:rPr>
              <a:t>Things to think about when writing rules</a:t>
            </a:r>
            <a:r>
              <a:rPr lang="en-US" sz="2300" b="1"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063108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5" grpId="0" animBg="1"/>
      <p:bldP spid="6" grpId="0"/>
      <p:bldP spid="17" grpId="0" animBg="1"/>
      <p:bldP spid="21" grpId="0" animBg="1"/>
      <p:bldP spid="8" grpId="0"/>
      <p:bldP spid="13" grpId="0"/>
      <p:bldP spid="29" grpId="0" animBg="1"/>
      <p:bldP spid="2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4D9C7-8D03-0F38-5A3B-86520AC5BA74}"/>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9D1923CB-37CD-9B91-CC2C-4394A3E307EF}"/>
              </a:ext>
            </a:extLst>
          </p:cNvPr>
          <p:cNvSpPr/>
          <p:nvPr/>
        </p:nvSpPr>
        <p:spPr>
          <a:xfrm>
            <a:off x="914400" y="5373906"/>
            <a:ext cx="10363200" cy="707886"/>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a:latin typeface="Arial" panose="020B0604020202020204" pitchFamily="34" charset="0"/>
              <a:cs typeface="Arial" panose="020B0604020202020204" pitchFamily="34" charset="0"/>
            </a:endParaRPr>
          </a:p>
        </p:txBody>
      </p:sp>
      <p:sp>
        <p:nvSpPr>
          <p:cNvPr id="19" name="Rectangle: Rounded Corners 18">
            <a:extLst>
              <a:ext uri="{FF2B5EF4-FFF2-40B4-BE49-F238E27FC236}">
                <a16:creationId xmlns:a16="http://schemas.microsoft.com/office/drawing/2014/main" id="{98910E2A-9F20-B76F-5FE4-94D56E9D86A3}"/>
              </a:ext>
            </a:extLst>
          </p:cNvPr>
          <p:cNvSpPr/>
          <p:nvPr/>
        </p:nvSpPr>
        <p:spPr>
          <a:xfrm>
            <a:off x="892629" y="3897625"/>
            <a:ext cx="10363200" cy="999495"/>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a:latin typeface="Arial" panose="020B0604020202020204" pitchFamily="34" charset="0"/>
              <a:cs typeface="Arial" panose="020B0604020202020204" pitchFamily="34" charset="0"/>
            </a:endParaRPr>
          </a:p>
        </p:txBody>
      </p:sp>
      <p:sp>
        <p:nvSpPr>
          <p:cNvPr id="4" name="Text 0">
            <a:extLst>
              <a:ext uri="{FF2B5EF4-FFF2-40B4-BE49-F238E27FC236}">
                <a16:creationId xmlns:a16="http://schemas.microsoft.com/office/drawing/2014/main" id="{8262E54D-F801-B1EA-EA61-E05290CDC790}"/>
              </a:ext>
            </a:extLst>
          </p:cNvPr>
          <p:cNvSpPr/>
          <p:nvPr/>
        </p:nvSpPr>
        <p:spPr>
          <a:xfrm>
            <a:off x="914400" y="134519"/>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Adding in Diagnostics (a.k.a. Checks)</a:t>
            </a:r>
            <a:endParaRPr lang="en-US" sz="4000">
              <a:solidFill>
                <a:srgbClr val="7030A0"/>
              </a:solidFill>
              <a:latin typeface="Arial" panose="020B0604020202020204" pitchFamily="34" charset="0"/>
              <a:cs typeface="Arial" panose="020B0604020202020204" pitchFamily="34" charset="0"/>
            </a:endParaRPr>
          </a:p>
        </p:txBody>
      </p:sp>
      <p:sp>
        <p:nvSpPr>
          <p:cNvPr id="18" name="Rectangle: Rounded Corners 17">
            <a:extLst>
              <a:ext uri="{FF2B5EF4-FFF2-40B4-BE49-F238E27FC236}">
                <a16:creationId xmlns:a16="http://schemas.microsoft.com/office/drawing/2014/main" id="{58095EA9-3E08-FA78-7A51-804A0160DA65}"/>
              </a:ext>
            </a:extLst>
          </p:cNvPr>
          <p:cNvSpPr/>
          <p:nvPr/>
        </p:nvSpPr>
        <p:spPr>
          <a:xfrm>
            <a:off x="914400" y="2335363"/>
            <a:ext cx="10363200" cy="1078444"/>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C7A31143-B776-CBAF-2B90-65A066BF544F}"/>
              </a:ext>
            </a:extLst>
          </p:cNvPr>
          <p:cNvSpPr txBox="1"/>
          <p:nvPr/>
        </p:nvSpPr>
        <p:spPr>
          <a:xfrm>
            <a:off x="914400" y="1423134"/>
            <a:ext cx="10363200" cy="477054"/>
          </a:xfrm>
          <a:prstGeom prst="rect">
            <a:avLst/>
          </a:prstGeom>
          <a:noFill/>
        </p:spPr>
        <p:txBody>
          <a:bodyPr wrap="square">
            <a:spAutoFit/>
          </a:bodyPr>
          <a:lstStyle/>
          <a:p>
            <a:r>
              <a:rPr lang="en-US" sz="2500" b="1">
                <a:latin typeface="Arial" panose="020B0604020202020204" pitchFamily="34" charset="0"/>
                <a:cs typeface="Arial" panose="020B0604020202020204" pitchFamily="34" charset="0"/>
              </a:rPr>
              <a:t>Some Examples: </a:t>
            </a:r>
          </a:p>
        </p:txBody>
      </p:sp>
      <p:sp>
        <p:nvSpPr>
          <p:cNvPr id="14" name="TextBox 13">
            <a:extLst>
              <a:ext uri="{FF2B5EF4-FFF2-40B4-BE49-F238E27FC236}">
                <a16:creationId xmlns:a16="http://schemas.microsoft.com/office/drawing/2014/main" id="{C6CBA168-BA4E-6249-C92C-96D88BA3B7B6}"/>
              </a:ext>
            </a:extLst>
          </p:cNvPr>
          <p:cNvSpPr txBox="1"/>
          <p:nvPr/>
        </p:nvSpPr>
        <p:spPr>
          <a:xfrm>
            <a:off x="1080063" y="2476813"/>
            <a:ext cx="10031874" cy="769441"/>
          </a:xfrm>
          <a:prstGeom prst="rect">
            <a:avLst/>
          </a:prstGeom>
          <a:noFill/>
        </p:spPr>
        <p:txBody>
          <a:bodyPr wrap="square">
            <a:spAutoFit/>
          </a:bodyPr>
          <a:lstStyle/>
          <a:p>
            <a:pPr algn="ctr"/>
            <a:r>
              <a:rPr lang="en-US" sz="2200" b="1" dirty="0">
                <a:latin typeface="Arial" panose="020B0604020202020204" pitchFamily="34" charset="0"/>
                <a:cs typeface="Arial" panose="020B0604020202020204" pitchFamily="34" charset="0"/>
              </a:rPr>
              <a:t>**Validations:**</a:t>
            </a:r>
            <a:r>
              <a:rPr lang="en-US" sz="2200" dirty="0">
                <a:latin typeface="Arial" panose="020B0604020202020204" pitchFamily="34" charset="0"/>
                <a:cs typeface="Arial" panose="020B0604020202020204" pitchFamily="34" charset="0"/>
              </a:rPr>
              <a:t> Confirm mean, lower, and upper are all finite (no </a:t>
            </a:r>
            <a:r>
              <a:rPr lang="en-US" sz="2200" dirty="0">
                <a:latin typeface="Courier New" panose="02070309020205020404" pitchFamily="49" charset="0"/>
                <a:cs typeface="Courier New" panose="02070309020205020404" pitchFamily="49" charset="0"/>
              </a:rPr>
              <a:t>NA/</a:t>
            </a:r>
            <a:r>
              <a:rPr lang="en-US" sz="2200" dirty="0" err="1">
                <a:latin typeface="Courier New" panose="02070309020205020404" pitchFamily="49" charset="0"/>
                <a:cs typeface="Courier New" panose="02070309020205020404" pitchFamily="49" charset="0"/>
              </a:rPr>
              <a:t>NaN</a:t>
            </a:r>
            <a:r>
              <a:rPr lang="en-US" sz="2200" dirty="0">
                <a:latin typeface="Courier New" panose="02070309020205020404" pitchFamily="49" charset="0"/>
                <a:cs typeface="Courier New" panose="02070309020205020404" pitchFamily="49" charset="0"/>
              </a:rPr>
              <a:t>/Inf</a:t>
            </a:r>
            <a:r>
              <a:rPr lang="en-US" sz="2200" dirty="0">
                <a:latin typeface="Arial" panose="020B0604020202020204" pitchFamily="34" charset="0"/>
                <a:cs typeface="Arial" panose="020B0604020202020204" pitchFamily="34" charset="0"/>
              </a:rPr>
              <a:t>) at each forecast step; halt if not.</a:t>
            </a:r>
          </a:p>
        </p:txBody>
      </p:sp>
      <p:sp>
        <p:nvSpPr>
          <p:cNvPr id="15" name="TextBox 14">
            <a:extLst>
              <a:ext uri="{FF2B5EF4-FFF2-40B4-BE49-F238E27FC236}">
                <a16:creationId xmlns:a16="http://schemas.microsoft.com/office/drawing/2014/main" id="{E398AF0A-C99D-6FB0-E01B-64FB3BA6F465}"/>
              </a:ext>
            </a:extLst>
          </p:cNvPr>
          <p:cNvSpPr txBox="1"/>
          <p:nvPr/>
        </p:nvSpPr>
        <p:spPr>
          <a:xfrm>
            <a:off x="1080063" y="3998975"/>
            <a:ext cx="10031874" cy="769441"/>
          </a:xfrm>
          <a:prstGeom prst="rect">
            <a:avLst/>
          </a:prstGeom>
          <a:noFill/>
        </p:spPr>
        <p:txBody>
          <a:bodyPr wrap="square">
            <a:spAutoFit/>
          </a:bodyPr>
          <a:lstStyle/>
          <a:p>
            <a:pPr algn="ctr"/>
            <a:r>
              <a:rPr lang="en-US" sz="2200" b="1" dirty="0">
                <a:latin typeface="Arial" panose="020B0604020202020204" pitchFamily="34" charset="0"/>
                <a:cs typeface="Arial" panose="020B0604020202020204" pitchFamily="34" charset="0"/>
              </a:rPr>
              <a:t>**Validations:**</a:t>
            </a:r>
            <a:r>
              <a:rPr lang="en-US" sz="2200" dirty="0">
                <a:latin typeface="Arial" panose="020B0604020202020204" pitchFamily="34" charset="0"/>
                <a:cs typeface="Arial" panose="020B0604020202020204" pitchFamily="34" charset="0"/>
              </a:rPr>
              <a:t> Confirm the values for each quantile are non-decreasing (ex. value for 0.025 ≤ 0.5 ≤ 0.975) within every target week. Halt on any violation.</a:t>
            </a:r>
          </a:p>
        </p:txBody>
      </p:sp>
      <p:sp>
        <p:nvSpPr>
          <p:cNvPr id="17" name="TextBox 16">
            <a:extLst>
              <a:ext uri="{FF2B5EF4-FFF2-40B4-BE49-F238E27FC236}">
                <a16:creationId xmlns:a16="http://schemas.microsoft.com/office/drawing/2014/main" id="{8A474FCC-268E-7485-B523-B32FE0AAA565}"/>
              </a:ext>
            </a:extLst>
          </p:cNvPr>
          <p:cNvSpPr txBox="1"/>
          <p:nvPr/>
        </p:nvSpPr>
        <p:spPr>
          <a:xfrm>
            <a:off x="1519901" y="5515892"/>
            <a:ext cx="9152198" cy="769441"/>
          </a:xfrm>
          <a:prstGeom prst="rect">
            <a:avLst/>
          </a:prstGeom>
          <a:noFill/>
        </p:spPr>
        <p:txBody>
          <a:bodyPr wrap="square">
            <a:spAutoFit/>
          </a:bodyPr>
          <a:lstStyle/>
          <a:p>
            <a:pPr algn="ctr"/>
            <a:r>
              <a:rPr lang="en-US" sz="2200" b="1" dirty="0">
                <a:latin typeface="Arial" panose="020B0604020202020204" pitchFamily="34" charset="0"/>
                <a:cs typeface="Arial" panose="020B0604020202020204" pitchFamily="34" charset="0"/>
              </a:rPr>
              <a:t>**Validations:** </a:t>
            </a:r>
            <a:r>
              <a:rPr lang="en-US" sz="2200" dirty="0">
                <a:latin typeface="Arial" panose="020B0604020202020204" pitchFamily="34" charset="0"/>
                <a:cs typeface="Arial" panose="020B0604020202020204" pitchFamily="34" charset="0"/>
              </a:rPr>
              <a:t>Confirm all value entries are non-negative integers.</a:t>
            </a:r>
            <a:br>
              <a:rPr lang="en-US" sz="2200" dirty="0">
                <a:latin typeface="Arial" panose="020B0604020202020204" pitchFamily="34" charset="0"/>
                <a:cs typeface="Arial" panose="020B0604020202020204" pitchFamily="34" charset="0"/>
              </a:rPr>
            </a:br>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5296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8" grpId="0" animBg="1"/>
      <p:bldP spid="14" grpId="0"/>
      <p:bldP spid="15" grpId="0"/>
      <p:bldP spid="1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B24BE-93CB-7F9B-592F-0E60D40782B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9C09176-44C7-571B-C8F8-938E9DA26256}"/>
              </a:ext>
            </a:extLst>
          </p:cNvPr>
          <p:cNvSpPr/>
          <p:nvPr/>
        </p:nvSpPr>
        <p:spPr>
          <a:xfrm>
            <a:off x="914400" y="9482"/>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08E44A54-19EA-98DB-15CE-A28992B70E01}"/>
              </a:ext>
            </a:extLst>
          </p:cNvPr>
          <p:cNvSpPr/>
          <p:nvPr/>
        </p:nvSpPr>
        <p:spPr>
          <a:xfrm>
            <a:off x="800100" y="2620549"/>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44AF07B7-FE47-C695-2B2A-D3E596458580}"/>
              </a:ext>
            </a:extLst>
          </p:cNvPr>
          <p:cNvSpPr/>
          <p:nvPr/>
        </p:nvSpPr>
        <p:spPr>
          <a:xfrm>
            <a:off x="800100" y="2620549"/>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6" name="Shape 5">
            <a:extLst>
              <a:ext uri="{FF2B5EF4-FFF2-40B4-BE49-F238E27FC236}">
                <a16:creationId xmlns:a16="http://schemas.microsoft.com/office/drawing/2014/main" id="{6E63A24B-1024-1E10-AC9C-8F34CCA90A09}"/>
              </a:ext>
            </a:extLst>
          </p:cNvPr>
          <p:cNvSpPr/>
          <p:nvPr/>
        </p:nvSpPr>
        <p:spPr>
          <a:xfrm>
            <a:off x="800100" y="3721049"/>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DD684640-EEDF-7CD1-BB2D-33BF7A962CEC}"/>
              </a:ext>
            </a:extLst>
          </p:cNvPr>
          <p:cNvSpPr/>
          <p:nvPr/>
        </p:nvSpPr>
        <p:spPr>
          <a:xfrm>
            <a:off x="800100" y="3721049"/>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8720B151-5CEA-5F47-302B-7F3431548D8C}"/>
              </a:ext>
            </a:extLst>
          </p:cNvPr>
          <p:cNvSpPr/>
          <p:nvPr/>
        </p:nvSpPr>
        <p:spPr>
          <a:xfrm>
            <a:off x="1597660" y="2335621"/>
            <a:ext cx="9756140" cy="1272150"/>
          </a:xfrm>
          <a:prstGeom prst="rect">
            <a:avLst/>
          </a:prstGeom>
          <a:noFill/>
          <a:ln/>
        </p:spPr>
        <p:txBody>
          <a:bodyPr wrap="square" lIns="0" tIns="0" rIns="0" bIns="0" rtlCol="0" anchor="ctr"/>
          <a:lstStyle/>
          <a:p>
            <a:pPr defTabSz="1219170"/>
            <a:r>
              <a:rPr lang="en-US" dirty="0">
                <a:latin typeface="Arial" panose="020B0604020202020204" pitchFamily="34" charset="0"/>
                <a:ea typeface="Calibri" pitchFamily="34" charset="-122"/>
                <a:cs typeface="Arial" panose="020B0604020202020204" pitchFamily="34" charset="0"/>
              </a:rPr>
              <a:t>Using the hints from the previous slide, </a:t>
            </a:r>
            <a:r>
              <a:rPr lang="en-US" b="1" dirty="0">
                <a:solidFill>
                  <a:schemeClr val="accent2"/>
                </a:solidFill>
                <a:latin typeface="Arial" panose="020B0604020202020204" pitchFamily="34" charset="0"/>
                <a:ea typeface="Calibri" pitchFamily="34" charset="-122"/>
                <a:cs typeface="Arial" panose="020B0604020202020204" pitchFamily="34" charset="0"/>
              </a:rPr>
              <a:t>write the rule</a:t>
            </a:r>
            <a:r>
              <a:rPr lang="en-US" dirty="0">
                <a:latin typeface="Arial" panose="020B0604020202020204" pitchFamily="34" charset="0"/>
                <a:ea typeface="Calibri" pitchFamily="34" charset="-122"/>
                <a:cs typeface="Arial" panose="020B0604020202020204" pitchFamily="34" charset="0"/>
              </a:rPr>
              <a:t> (not the code) for extracting the median and 95% PI bounds from the forecast function (Rule 4). Make sure to include a statement about the output structure, any rules about results, and code checks (</a:t>
            </a:r>
            <a:r>
              <a:rPr lang="en-US" b="1" dirty="0">
                <a:latin typeface="Arial" panose="020B0604020202020204" pitchFamily="34" charset="0"/>
                <a:ea typeface="Calibri" pitchFamily="34" charset="-122"/>
                <a:cs typeface="Arial" panose="020B0604020202020204" pitchFamily="34" charset="0"/>
              </a:rPr>
              <a:t>Hint:</a:t>
            </a:r>
            <a:r>
              <a:rPr lang="en-US" dirty="0">
                <a:latin typeface="Arial" panose="020B0604020202020204" pitchFamily="34" charset="0"/>
                <a:ea typeface="Calibri" pitchFamily="34" charset="-122"/>
                <a:cs typeface="Arial" panose="020B0604020202020204" pitchFamily="34" charset="0"/>
              </a:rPr>
              <a:t> See previous slides). </a:t>
            </a:r>
          </a:p>
        </p:txBody>
      </p:sp>
      <p:sp>
        <p:nvSpPr>
          <p:cNvPr id="14" name="Text 13">
            <a:extLst>
              <a:ext uri="{FF2B5EF4-FFF2-40B4-BE49-F238E27FC236}">
                <a16:creationId xmlns:a16="http://schemas.microsoft.com/office/drawing/2014/main" id="{8BF63ABB-052E-B8B6-88A3-076604ABA9EF}"/>
              </a:ext>
            </a:extLst>
          </p:cNvPr>
          <p:cNvSpPr/>
          <p:nvPr/>
        </p:nvSpPr>
        <p:spPr>
          <a:xfrm>
            <a:off x="1597660" y="3622878"/>
            <a:ext cx="9756140" cy="836423"/>
          </a:xfrm>
          <a:prstGeom prst="rect">
            <a:avLst/>
          </a:prstGeom>
          <a:noFill/>
          <a:ln/>
        </p:spPr>
        <p:txBody>
          <a:bodyPr wrap="square" lIns="0" tIns="0" rIns="0" bIns="0" rtlCol="0" anchor="ctr"/>
          <a:lstStyle/>
          <a:p>
            <a:pPr lvl="0" defTabSz="1219170">
              <a:defRPr/>
            </a:pPr>
            <a:r>
              <a:rPr kumimoji="0" lang="en-US"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Regenerate </a:t>
            </a:r>
            <a:r>
              <a:rPr kumimoji="0" lang="en-US" b="1" i="0"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agents.md</a:t>
            </a:r>
            <a:r>
              <a:rPr kumimoji="0" lang="en-US" b="1" i="0" u="none" strike="noStrike" kern="1200" cap="none" spc="0" normalizeH="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 </a:t>
            </a:r>
            <a:r>
              <a:rPr kumimoji="0" lang="en-US" b="0" i="0" u="none" strike="noStrike" kern="1200" cap="none" spc="0" normalizeH="0" noProof="0" dirty="0">
                <a:ln>
                  <a:noFill/>
                </a:ln>
                <a:effectLst/>
                <a:uLnTx/>
                <a:uFillTx/>
                <a:latin typeface="Arial" panose="020B0604020202020204" pitchFamily="34" charset="0"/>
                <a:ea typeface="Calibri" pitchFamily="34" charset="-122"/>
                <a:cs typeface="Arial" panose="020B0604020202020204" pitchFamily="34" charset="0"/>
              </a:rPr>
              <a:t>and </a:t>
            </a:r>
            <a:r>
              <a:rPr kumimoji="0" lang="en-US"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agents.md</a:t>
            </a:r>
            <a:r>
              <a:rPr kumimoji="0" lang="en-US" b="0" i="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 </a:t>
            </a:r>
            <a:r>
              <a:rPr kumimoji="0" lang="en-US"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a:t>
            </a:r>
            <a:r>
              <a:rPr lang="en-US" dirty="0">
                <a:latin typeface="Arial" panose="020B0604020202020204" pitchFamily="34" charset="0"/>
                <a:ea typeface="Calibri" pitchFamily="34" charset="-122"/>
                <a:cs typeface="Arial" panose="020B0604020202020204" pitchFamily="34" charset="0"/>
              </a:rPr>
              <a:t>(or your preferred AI) </a:t>
            </a:r>
            <a:r>
              <a:rPr kumimoji="0" lang="en-US"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re-generate </a:t>
            </a:r>
            <a:r>
              <a:rPr kumimoji="0" lang="en-US"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output/scripts/03_forecast.R</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Run the script and check the output.</a:t>
            </a:r>
            <a:endParaRPr kumimoji="0" lang="en-US"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267F6892-7940-C47F-13AF-55651BCF7487}"/>
              </a:ext>
            </a:extLst>
          </p:cNvPr>
          <p:cNvSpPr/>
          <p:nvPr/>
        </p:nvSpPr>
        <p:spPr>
          <a:xfrm>
            <a:off x="800100" y="1124372"/>
            <a:ext cx="10591800" cy="981703"/>
          </a:xfrm>
          <a:prstGeom prst="roundRect">
            <a:avLst/>
          </a:prstGeom>
          <a:solidFill>
            <a:schemeClr val="bg1">
              <a:lumMod val="95000"/>
            </a:schemeClr>
          </a:solidFill>
          <a:ln/>
        </p:spPr>
        <p:txBody>
          <a:bodyPr wrap="square" lIns="0" tIns="0" rIns="0" bIns="0" rtlCol="0" anchor="ctr"/>
          <a:lstStyle/>
          <a:p>
            <a:pPr algn="ctr" defTabSz="1219170"/>
            <a:r>
              <a:rPr lang="en-US" sz="2300" b="1" u="sng" dirty="0">
                <a:solidFill>
                  <a:srgbClr val="334155"/>
                </a:solidFill>
                <a:latin typeface="Arial" panose="020B0604020202020204" pitchFamily="34" charset="0"/>
                <a:ea typeface="Calibri" pitchFamily="34" charset="-122"/>
                <a:cs typeface="Arial" panose="020B0604020202020204" pitchFamily="34" charset="0"/>
              </a:rPr>
              <a:t>Together</a:t>
            </a:r>
            <a:r>
              <a:rPr lang="en-US" sz="2300" dirty="0">
                <a:solidFill>
                  <a:srgbClr val="334155"/>
                </a:solidFill>
                <a:latin typeface="Arial" panose="020B0604020202020204" pitchFamily="34" charset="0"/>
                <a:ea typeface="Calibri" pitchFamily="34" charset="-122"/>
                <a:cs typeface="Arial" panose="020B0604020202020204" pitchFamily="34" charset="0"/>
              </a:rPr>
              <a:t>, we will add a rule for extracting the median and 95% PI Bounds. Pay particular attention to the </a:t>
            </a:r>
            <a:r>
              <a:rPr lang="en-US" sz="2300" b="1" dirty="0">
                <a:solidFill>
                  <a:srgbClr val="334155"/>
                </a:solidFill>
                <a:latin typeface="Arial" panose="020B0604020202020204" pitchFamily="34" charset="0"/>
                <a:ea typeface="Calibri" pitchFamily="34" charset="-122"/>
                <a:cs typeface="Arial" panose="020B0604020202020204" pitchFamily="34" charset="0"/>
              </a:rPr>
              <a:t>hints</a:t>
            </a:r>
            <a:r>
              <a:rPr lang="en-US" sz="2300" dirty="0">
                <a:solidFill>
                  <a:srgbClr val="334155"/>
                </a:solidFill>
                <a:latin typeface="Arial" panose="020B0604020202020204" pitchFamily="34" charset="0"/>
                <a:ea typeface="Calibri" pitchFamily="34" charset="-122"/>
                <a:cs typeface="Arial" panose="020B0604020202020204" pitchFamily="34" charset="0"/>
              </a:rPr>
              <a:t> provided on the previous slide. </a:t>
            </a:r>
            <a:endParaRPr lang="en-US" sz="2300" dirty="0">
              <a:solidFill>
                <a:prstClr val="black"/>
              </a:solidFill>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1D64CEC5-A892-F201-1DF9-7D1967A0592E}"/>
              </a:ext>
            </a:extLst>
          </p:cNvPr>
          <p:cNvPicPr>
            <a:picLocks noChangeAspect="1"/>
          </p:cNvPicPr>
          <p:nvPr/>
        </p:nvPicPr>
        <p:blipFill>
          <a:blip r:embed="rId3"/>
          <a:stretch>
            <a:fillRect/>
          </a:stretch>
        </p:blipFill>
        <p:spPr>
          <a:xfrm>
            <a:off x="2663312" y="4046"/>
            <a:ext cx="981703" cy="981703"/>
          </a:xfrm>
          <a:prstGeom prst="rect">
            <a:avLst/>
          </a:prstGeom>
        </p:spPr>
      </p:pic>
      <p:sp>
        <p:nvSpPr>
          <p:cNvPr id="5" name="TextBox 4">
            <a:extLst>
              <a:ext uri="{FF2B5EF4-FFF2-40B4-BE49-F238E27FC236}">
                <a16:creationId xmlns:a16="http://schemas.microsoft.com/office/drawing/2014/main" id="{5716DA38-D1AE-6549-8B8A-F328A6E92E4C}"/>
              </a:ext>
            </a:extLst>
          </p:cNvPr>
          <p:cNvSpPr txBox="1"/>
          <p:nvPr/>
        </p:nvSpPr>
        <p:spPr>
          <a:xfrm>
            <a:off x="810260" y="4821549"/>
            <a:ext cx="10571480" cy="1634490"/>
          </a:xfrm>
          <a:prstGeom prst="roundRect">
            <a:avLst/>
          </a:prstGeom>
          <a:solidFill>
            <a:schemeClr val="bg1"/>
          </a:solidFill>
          <a:ln w="28575">
            <a:solidFill>
              <a:schemeClr val="bg1">
                <a:lumMod val="85000"/>
              </a:schemeClr>
            </a:solidFill>
          </a:ln>
        </p:spPr>
        <p:txBody>
          <a:bodyPr wrap="square" rtlCol="0">
            <a:spAutoFit/>
          </a:bodyPr>
          <a:lstStyle/>
          <a:p>
            <a:pPr algn="ctr"/>
            <a:r>
              <a:rPr lang="en-US" b="1" dirty="0">
                <a:latin typeface="Arial" panose="020B0604020202020204" pitchFamily="34" charset="0"/>
                <a:cs typeface="Arial" panose="020B0604020202020204" pitchFamily="34" charset="0"/>
              </a:rPr>
              <a:t>Note: </a:t>
            </a:r>
            <a:r>
              <a:rPr lang="en-US" dirty="0">
                <a:latin typeface="Arial" panose="020B0604020202020204" pitchFamily="34" charset="0"/>
                <a:cs typeface="Arial" panose="020B0604020202020204" pitchFamily="34" charset="0"/>
              </a:rPr>
              <a:t>In a few places we hand the AI an </a:t>
            </a:r>
            <a:r>
              <a:rPr lang="en-US" dirty="0">
                <a:solidFill>
                  <a:schemeClr val="accent2"/>
                </a:solidFill>
                <a:latin typeface="Arial" panose="020B0604020202020204" pitchFamily="34" charset="0"/>
                <a:cs typeface="Arial" panose="020B0604020202020204" pitchFamily="34" charset="0"/>
              </a:rPr>
              <a:t>exact function </a:t>
            </a:r>
            <a:r>
              <a:rPr lang="en-US" dirty="0">
                <a:latin typeface="Arial" panose="020B0604020202020204" pitchFamily="34" charset="0"/>
                <a:cs typeface="Arial" panose="020B0604020202020204" pitchFamily="34" charset="0"/>
              </a:rPr>
              <a:t>or code snippet. This does not defeat the purpose of AI-assisted coding. When I already know a function that works well for the task, naming it points the AI to the right approach instead of leaving it to guess, and the AI still writes and connects the surrounding code. Bringing that kind of domain knowledge is the human side of the human-AI team.</a:t>
            </a:r>
          </a:p>
        </p:txBody>
      </p:sp>
    </p:spTree>
    <p:extLst>
      <p:ext uri="{BB962C8B-B14F-4D97-AF65-F5344CB8AC3E}">
        <p14:creationId xmlns:p14="http://schemas.microsoft.com/office/powerpoint/2010/main" val="997544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14" grpId="0" animBg="1"/>
      <p:bldP spid="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9">
            <a:extLst>
              <a:ext uri="{FF2B5EF4-FFF2-40B4-BE49-F238E27FC236}">
                <a16:creationId xmlns:a16="http://schemas.microsoft.com/office/drawing/2014/main" id="{62DEAB91-CB8F-51BC-CFB9-344D42171A6F}"/>
              </a:ext>
            </a:extLst>
          </p:cNvPr>
          <p:cNvSpPr txBox="1">
            <a:spLocks/>
          </p:cNvSpPr>
          <p:nvPr/>
        </p:nvSpPr>
        <p:spPr>
          <a:xfrm>
            <a:off x="838200" y="2928199"/>
            <a:ext cx="10515600" cy="6400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7030A0"/>
                </a:solidFill>
                <a:latin typeface="Arial" panose="020B0604020202020204" pitchFamily="34" charset="0"/>
                <a:cs typeface="Arial" panose="020B0604020202020204" pitchFamily="34" charset="0"/>
              </a:rPr>
              <a:t>Preparing File in </a:t>
            </a:r>
            <a:r>
              <a:rPr lang="en-US" b="1" dirty="0" err="1">
                <a:solidFill>
                  <a:srgbClr val="7030A0"/>
                </a:solidFill>
                <a:latin typeface="Arial" panose="020B0604020202020204" pitchFamily="34" charset="0"/>
                <a:cs typeface="Arial" panose="020B0604020202020204" pitchFamily="34" charset="0"/>
              </a:rPr>
              <a:t>FluSight</a:t>
            </a:r>
            <a:r>
              <a:rPr lang="en-US" b="1" dirty="0">
                <a:solidFill>
                  <a:srgbClr val="7030A0"/>
                </a:solidFill>
                <a:latin typeface="Arial" panose="020B0604020202020204" pitchFamily="34" charset="0"/>
                <a:cs typeface="Arial" panose="020B0604020202020204" pitchFamily="34" charset="0"/>
              </a:rPr>
              <a:t> Format</a:t>
            </a:r>
          </a:p>
        </p:txBody>
      </p:sp>
      <p:sp>
        <p:nvSpPr>
          <p:cNvPr id="4" name="Title 9">
            <a:extLst>
              <a:ext uri="{FF2B5EF4-FFF2-40B4-BE49-F238E27FC236}">
                <a16:creationId xmlns:a16="http://schemas.microsoft.com/office/drawing/2014/main" id="{90C66CFB-6DF9-6876-499F-83432C4F7811}"/>
              </a:ext>
            </a:extLst>
          </p:cNvPr>
          <p:cNvSpPr txBox="1">
            <a:spLocks/>
          </p:cNvSpPr>
          <p:nvPr/>
        </p:nvSpPr>
        <p:spPr>
          <a:xfrm>
            <a:off x="838200" y="3878048"/>
            <a:ext cx="10515600" cy="6400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000" b="1" dirty="0">
                <a:solidFill>
                  <a:schemeClr val="accent2"/>
                </a:solidFill>
                <a:latin typeface="Arial" panose="020B0604020202020204" pitchFamily="34" charset="0"/>
                <a:cs typeface="Arial" panose="020B0604020202020204" pitchFamily="34" charset="0"/>
              </a:rPr>
              <a:t>What is the </a:t>
            </a:r>
            <a:r>
              <a:rPr lang="en-US" sz="3000" b="1" dirty="0" err="1">
                <a:solidFill>
                  <a:schemeClr val="accent2"/>
                </a:solidFill>
                <a:latin typeface="Arial" panose="020B0604020202020204" pitchFamily="34" charset="0"/>
                <a:cs typeface="Arial" panose="020B0604020202020204" pitchFamily="34" charset="0"/>
              </a:rPr>
              <a:t>FluSight</a:t>
            </a:r>
            <a:r>
              <a:rPr lang="en-US" sz="3000" b="1" dirty="0">
                <a:solidFill>
                  <a:schemeClr val="accent2"/>
                </a:solidFill>
                <a:latin typeface="Arial" panose="020B0604020202020204" pitchFamily="34" charset="0"/>
                <a:cs typeface="Arial" panose="020B0604020202020204" pitchFamily="34" charset="0"/>
              </a:rPr>
              <a:t> format? </a:t>
            </a:r>
          </a:p>
        </p:txBody>
      </p:sp>
    </p:spTree>
    <p:extLst>
      <p:ext uri="{BB962C8B-B14F-4D97-AF65-F5344CB8AC3E}">
        <p14:creationId xmlns:p14="http://schemas.microsoft.com/office/powerpoint/2010/main" val="1191271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3E1B0-B789-6CAB-EAAD-2D4D285E7FD4}"/>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0633ED7-02FC-D766-EBDE-7758B24E4392}"/>
              </a:ext>
            </a:extLst>
          </p:cNvPr>
          <p:cNvGraphicFramePr>
            <a:graphicFrameLocks noGrp="1"/>
          </p:cNvGraphicFramePr>
          <p:nvPr>
            <p:extLst>
              <p:ext uri="{D42A27DB-BD31-4B8C-83A1-F6EECF244321}">
                <p14:modId xmlns:p14="http://schemas.microsoft.com/office/powerpoint/2010/main" val="3520608925"/>
              </p:ext>
            </p:extLst>
          </p:nvPr>
        </p:nvGraphicFramePr>
        <p:xfrm>
          <a:off x="104900" y="232107"/>
          <a:ext cx="12003465" cy="6294120"/>
        </p:xfrm>
        <a:graphic>
          <a:graphicData uri="http://schemas.openxmlformats.org/drawingml/2006/table">
            <a:tbl>
              <a:tblPr firstRow="1" bandRow="1">
                <a:tableStyleId>{5940675A-B579-460E-94D1-54222C63F5DA}</a:tableStyleId>
              </a:tblPr>
              <a:tblGrid>
                <a:gridCol w="2281287">
                  <a:extLst>
                    <a:ext uri="{9D8B030D-6E8A-4147-A177-3AD203B41FA5}">
                      <a16:colId xmlns:a16="http://schemas.microsoft.com/office/drawing/2014/main" val="833287054"/>
                    </a:ext>
                  </a:extLst>
                </a:gridCol>
                <a:gridCol w="3912124">
                  <a:extLst>
                    <a:ext uri="{9D8B030D-6E8A-4147-A177-3AD203B41FA5}">
                      <a16:colId xmlns:a16="http://schemas.microsoft.com/office/drawing/2014/main" val="2692972846"/>
                    </a:ext>
                  </a:extLst>
                </a:gridCol>
                <a:gridCol w="1979629">
                  <a:extLst>
                    <a:ext uri="{9D8B030D-6E8A-4147-A177-3AD203B41FA5}">
                      <a16:colId xmlns:a16="http://schemas.microsoft.com/office/drawing/2014/main" val="741367170"/>
                    </a:ext>
                  </a:extLst>
                </a:gridCol>
                <a:gridCol w="3830425">
                  <a:extLst>
                    <a:ext uri="{9D8B030D-6E8A-4147-A177-3AD203B41FA5}">
                      <a16:colId xmlns:a16="http://schemas.microsoft.com/office/drawing/2014/main" val="132666660"/>
                    </a:ext>
                  </a:extLst>
                </a:gridCol>
              </a:tblGrid>
              <a:tr h="370840">
                <a:tc>
                  <a:txBody>
                    <a:bodyPr/>
                    <a:lstStyle/>
                    <a:p>
                      <a:pPr algn="ctr"/>
                      <a:r>
                        <a:rPr lang="en-US" sz="1600" b="1" dirty="0">
                          <a:latin typeface="Arial" panose="020B0604020202020204" pitchFamily="34" charset="0"/>
                          <a:cs typeface="Arial" panose="020B0604020202020204" pitchFamily="34" charset="0"/>
                        </a:rPr>
                        <a:t>Column</a:t>
                      </a:r>
                    </a:p>
                  </a:txBody>
                  <a:tcP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Description</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Entry Type</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Acceptable Values</a:t>
                      </a:r>
                    </a:p>
                  </a:txBody>
                  <a:tcP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extLst>
                  <a:ext uri="{0D108BD9-81ED-4DB2-BD59-A6C34878D82A}">
                    <a16:rowId xmlns:a16="http://schemas.microsoft.com/office/drawing/2014/main" val="2489783184"/>
                  </a:ext>
                </a:extLst>
              </a:tr>
              <a:tr h="370840">
                <a:tc>
                  <a:txBody>
                    <a:bodyPr/>
                    <a:lstStyle/>
                    <a:p>
                      <a:pPr algn="l"/>
                      <a:r>
                        <a:rPr lang="en-US" sz="1600" dirty="0" err="1">
                          <a:latin typeface="Courier New" panose="02070309020205020404" pitchFamily="49" charset="0"/>
                          <a:cs typeface="Courier New" panose="02070309020205020404" pitchFamily="49" charset="0"/>
                        </a:rPr>
                        <a:t>reference_date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day of the week the forecast(s) are submitted to the challenge. It is the Saturday following the forecast due date.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042036332"/>
                  </a:ext>
                </a:extLst>
              </a:tr>
              <a:tr h="370840">
                <a:tc>
                  <a:txBody>
                    <a:bodyPr/>
                    <a:lstStyle/>
                    <a:p>
                      <a:pPr algn="l"/>
                      <a:r>
                        <a:rPr lang="en-US" sz="1600" dirty="0">
                          <a:latin typeface="Courier New" panose="02070309020205020404" pitchFamily="49" charset="0"/>
                          <a:cs typeface="Courier New" panose="02070309020205020404" pitchFamily="49" charset="0"/>
                        </a:rPr>
                        <a:t>target</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target of the forecast.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err="1">
                          <a:latin typeface="Courier New" panose="02070309020205020404" pitchFamily="49" charset="0"/>
                          <a:cs typeface="Courier New" panose="02070309020205020404" pitchFamily="49" charset="0"/>
                        </a:rPr>
                        <a:t>wk</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inc</a:t>
                      </a:r>
                      <a:r>
                        <a:rPr lang="en-US" sz="1600" dirty="0">
                          <a:latin typeface="Courier New" panose="02070309020205020404" pitchFamily="49" charset="0"/>
                          <a:cs typeface="Courier New" panose="02070309020205020404" pitchFamily="49" charset="0"/>
                        </a:rPr>
                        <a:t> flu </a:t>
                      </a:r>
                      <a:r>
                        <a:rPr lang="en-US" sz="1600" dirty="0" err="1">
                          <a:latin typeface="Courier New" panose="02070309020205020404" pitchFamily="49" charset="0"/>
                          <a:cs typeface="Courier New" panose="02070309020205020404" pitchFamily="49" charset="0"/>
                        </a:rPr>
                        <a:t>hosp</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147885958"/>
                  </a:ext>
                </a:extLst>
              </a:tr>
              <a:tr h="370840">
                <a:tc>
                  <a:txBody>
                    <a:bodyPr/>
                    <a:lstStyle/>
                    <a:p>
                      <a:pPr algn="l"/>
                      <a:r>
                        <a:rPr lang="en-US" sz="1600" dirty="0">
                          <a:latin typeface="Courier New" panose="02070309020205020404" pitchFamily="49" charset="0"/>
                          <a:cs typeface="Courier New" panose="02070309020205020404" pitchFamily="49" charset="0"/>
                        </a:rPr>
                        <a:t>horizon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number of weeks between the </a:t>
                      </a:r>
                      <a:r>
                        <a:rPr lang="en-US" sz="1600" dirty="0" err="1">
                          <a:latin typeface="Arial" panose="020B0604020202020204" pitchFamily="34" charset="0"/>
                          <a:cs typeface="Arial" panose="020B0604020202020204" pitchFamily="34" charset="0"/>
                        </a:rPr>
                        <a:t>reference_date</a:t>
                      </a:r>
                      <a:r>
                        <a:rPr lang="en-US" sz="1600" dirty="0">
                          <a:latin typeface="Arial" panose="020B0604020202020204" pitchFamily="34" charset="0"/>
                          <a:cs typeface="Arial" panose="020B0604020202020204" pitchFamily="34" charset="0"/>
                        </a:rPr>
                        <a:t> and the </a:t>
                      </a:r>
                      <a:r>
                        <a:rPr lang="en-US" sz="1600" dirty="0" err="1">
                          <a:latin typeface="Arial" panose="020B0604020202020204" pitchFamily="34" charset="0"/>
                          <a:cs typeface="Arial" panose="020B0604020202020204" pitchFamily="34" charset="0"/>
                        </a:rPr>
                        <a:t>target_end_date</a:t>
                      </a:r>
                      <a:r>
                        <a:rPr lang="en-US" sz="1600" dirty="0">
                          <a:latin typeface="Arial" panose="020B0604020202020204" pitchFamily="34" charset="0"/>
                          <a:cs typeface="Arial" panose="020B0604020202020204" pitchFamily="34" charset="0"/>
                        </a:rPr>
                        <a: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[1]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949957553"/>
                  </a:ext>
                </a:extLst>
              </a:tr>
              <a:tr h="370840">
                <a:tc>
                  <a:txBody>
                    <a:bodyPr/>
                    <a:lstStyle/>
                    <a:p>
                      <a:pPr algn="l"/>
                      <a:r>
                        <a:rPr lang="en-US" sz="1600" dirty="0" err="1">
                          <a:latin typeface="Courier New" panose="02070309020205020404" pitchFamily="49" charset="0"/>
                          <a:cs typeface="Courier New" panose="02070309020205020404" pitchFamily="49" charset="0"/>
                        </a:rPr>
                        <a:t>target_end_date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date of the retrospective/nowcast/</a:t>
                      </a:r>
                    </a:p>
                    <a:p>
                      <a:pPr algn="l"/>
                      <a:r>
                        <a:rPr lang="en-US" sz="1600" dirty="0">
                          <a:latin typeface="Arial" panose="020B0604020202020204" pitchFamily="34" charset="0"/>
                          <a:cs typeface="Arial" panose="020B0604020202020204" pitchFamily="34" charset="0"/>
                        </a:rPr>
                        <a:t>forecast target’s week (Saturday).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155191041"/>
                  </a:ext>
                </a:extLst>
              </a:tr>
              <a:tr h="370840">
                <a:tc>
                  <a:txBody>
                    <a:bodyPr/>
                    <a:lstStyle/>
                    <a:p>
                      <a:pPr algn="l"/>
                      <a:r>
                        <a:rPr lang="en-US" sz="1600" dirty="0">
                          <a:latin typeface="Courier New" panose="02070309020205020404" pitchFamily="49" charset="0"/>
                          <a:cs typeface="Courier New" panose="02070309020205020404" pitchFamily="49" charset="0"/>
                        </a:rPr>
                        <a:t>location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b="0" i="0" kern="1200" dirty="0">
                          <a:solidFill>
                            <a:schemeClr val="tx1"/>
                          </a:solidFill>
                          <a:effectLst/>
                          <a:latin typeface="Arial" panose="020B0604020202020204" pitchFamily="34" charset="0"/>
                          <a:ea typeface="+mn-ea"/>
                          <a:cs typeface="Arial" panose="020B0604020202020204" pitchFamily="34" charset="0"/>
                        </a:rPr>
                        <a:t>FIPS codes for U.S. states as well as "US" for national forecasts the </a:t>
                      </a:r>
                      <a:r>
                        <a:rPr lang="en-US" sz="1600" dirty="0">
                          <a:latin typeface="Arial" panose="020B0604020202020204" pitchFamily="34" charset="0"/>
                          <a:cs typeface="Arial" panose="020B0604020202020204" pitchFamily="34" charset="0"/>
                        </a:rPr>
                        <a:t>corresponding row is associated with.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US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907684717"/>
                  </a:ext>
                </a:extLst>
              </a:tr>
              <a:tr h="370840">
                <a:tc>
                  <a:txBody>
                    <a:bodyPr/>
                    <a:lstStyle/>
                    <a:p>
                      <a:pPr algn="l"/>
                      <a:r>
                        <a:rPr lang="en-US" sz="1600" dirty="0" err="1">
                          <a:latin typeface="Courier New" panose="02070309020205020404" pitchFamily="49" charset="0"/>
                          <a:cs typeface="Courier New" panose="02070309020205020404" pitchFamily="49" charset="0"/>
                        </a:rPr>
                        <a:t>output_type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type of value shown.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quantile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386425733"/>
                  </a:ext>
                </a:extLst>
              </a:tr>
              <a:tr h="370840">
                <a:tc>
                  <a:txBody>
                    <a:bodyPr/>
                    <a:lstStyle/>
                    <a:p>
                      <a:pPr algn="l"/>
                      <a:r>
                        <a:rPr lang="en-US" sz="1600" dirty="0" err="1">
                          <a:latin typeface="Courier New" panose="02070309020205020404" pitchFamily="49" charset="0"/>
                          <a:cs typeface="Courier New" panose="02070309020205020404" pitchFamily="49" charset="0"/>
                        </a:rPr>
                        <a:t>output_type_id</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quantile label for the value in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b="0" i="0" kern="1200" dirty="0">
                          <a:solidFill>
                            <a:schemeClr val="tx1"/>
                          </a:solidFill>
                          <a:effectLst/>
                          <a:latin typeface="Courier New" panose="02070309020205020404" pitchFamily="49" charset="0"/>
                          <a:ea typeface="+mn-ea"/>
                          <a:cs typeface="Courier New" panose="02070309020205020404" pitchFamily="49" charset="0"/>
                        </a:rPr>
                        <a:t>0.01, 0.025, 0.05, 0.1, 0.15, 0.2, 0.25, 0.3, 0.35, 0.4, 0.45, 0.5, 0.55, 0.6, 0.65, 0.7, 0.75, 0.8, 0.85, 0.9, 0.95, 0.975, </a:t>
                      </a:r>
                      <a:r>
                        <a:rPr lang="en-US" sz="1600" b="0" i="0" kern="1200" dirty="0">
                          <a:solidFill>
                            <a:schemeClr val="tx1"/>
                          </a:solidFill>
                          <a:effectLst/>
                          <a:latin typeface="Arial" panose="020B0604020202020204" pitchFamily="34" charset="0"/>
                          <a:ea typeface="+mn-ea"/>
                          <a:cs typeface="Arial" panose="020B0604020202020204" pitchFamily="34" charset="0"/>
                        </a:rPr>
                        <a:t>and</a:t>
                      </a:r>
                      <a:r>
                        <a:rPr lang="en-US" sz="1600" b="0" i="0" kern="1200" dirty="0">
                          <a:solidFill>
                            <a:schemeClr val="tx1"/>
                          </a:solidFill>
                          <a:effectLst/>
                          <a:latin typeface="Courier New" panose="02070309020205020404" pitchFamily="49" charset="0"/>
                          <a:ea typeface="+mn-ea"/>
                          <a:cs typeface="Courier New" panose="02070309020205020404" pitchFamily="49" charset="0"/>
                        </a:rPr>
                        <a:t> 0.99</a:t>
                      </a:r>
                      <a:endParaRPr lang="en-US" sz="1600" b="0" i="0" kern="1200" dirty="0">
                        <a:solidFill>
                          <a:schemeClr val="dk1"/>
                        </a:solidFill>
                        <a:effectLst/>
                        <a:latin typeface="Courier New" panose="02070309020205020404" pitchFamily="49" charset="0"/>
                        <a:ea typeface="+mn-ea"/>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625344559"/>
                  </a:ext>
                </a:extLst>
              </a:tr>
              <a:tr h="370840">
                <a:tc>
                  <a:txBody>
                    <a:bodyPr/>
                    <a:lstStyle/>
                    <a:p>
                      <a:pPr algn="l"/>
                      <a:r>
                        <a:rPr lang="en-US" sz="1600" dirty="0">
                          <a:latin typeface="Courier New" panose="02070309020205020404" pitchFamily="49" charset="0"/>
                          <a:cs typeface="Courier New" panose="02070309020205020404" pitchFamily="49" charset="0"/>
                        </a:rPr>
                        <a:t>value</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non-negative numbers indicating the quantile prediction for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Integer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6296662"/>
                  </a:ext>
                </a:extLst>
              </a:tr>
            </a:tbl>
          </a:graphicData>
        </a:graphic>
      </p:graphicFrame>
      <p:sp>
        <p:nvSpPr>
          <p:cNvPr id="2" name="Rectangle 1">
            <a:extLst>
              <a:ext uri="{FF2B5EF4-FFF2-40B4-BE49-F238E27FC236}">
                <a16:creationId xmlns:a16="http://schemas.microsoft.com/office/drawing/2014/main" id="{CB140064-D1AA-ECDB-7143-2E9AA44AA42C}"/>
              </a:ext>
            </a:extLst>
          </p:cNvPr>
          <p:cNvSpPr/>
          <p:nvPr/>
        </p:nvSpPr>
        <p:spPr>
          <a:xfrm>
            <a:off x="9165266" y="4890981"/>
            <a:ext cx="616688" cy="28707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44E9603-4101-86C9-957C-D12A42557D6C}"/>
              </a:ext>
            </a:extLst>
          </p:cNvPr>
          <p:cNvSpPr/>
          <p:nvPr/>
        </p:nvSpPr>
        <p:spPr>
          <a:xfrm>
            <a:off x="9101468" y="4416062"/>
            <a:ext cx="731520" cy="28707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635CE24-008B-82D8-017D-839EE921961C}"/>
              </a:ext>
            </a:extLst>
          </p:cNvPr>
          <p:cNvSpPr/>
          <p:nvPr/>
        </p:nvSpPr>
        <p:spPr>
          <a:xfrm>
            <a:off x="9604744" y="5376533"/>
            <a:ext cx="731520" cy="28707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3793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C70D8-31BC-1A8E-CE27-F8E563676E11}"/>
              </a:ext>
            </a:extLst>
          </p:cNvPr>
          <p:cNvSpPr>
            <a:spLocks noGrp="1"/>
          </p:cNvSpPr>
          <p:nvPr>
            <p:ph type="title"/>
          </p:nvPr>
        </p:nvSpPr>
        <p:spPr>
          <a:xfrm>
            <a:off x="838200" y="18255"/>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First, Handling the Quantiles (Wide-to-Long)</a:t>
            </a:r>
          </a:p>
        </p:txBody>
      </p:sp>
      <p:graphicFrame>
        <p:nvGraphicFramePr>
          <p:cNvPr id="6" name="Table 5">
            <a:extLst>
              <a:ext uri="{FF2B5EF4-FFF2-40B4-BE49-F238E27FC236}">
                <a16:creationId xmlns:a16="http://schemas.microsoft.com/office/drawing/2014/main" id="{C0AC6C85-D289-3119-7683-C5DE1CD8507E}"/>
              </a:ext>
            </a:extLst>
          </p:cNvPr>
          <p:cNvGraphicFramePr>
            <a:graphicFrameLocks noGrp="1"/>
          </p:cNvGraphicFramePr>
          <p:nvPr>
            <p:extLst>
              <p:ext uri="{D42A27DB-BD31-4B8C-83A1-F6EECF244321}">
                <p14:modId xmlns:p14="http://schemas.microsoft.com/office/powerpoint/2010/main" val="3666505147"/>
              </p:ext>
            </p:extLst>
          </p:nvPr>
        </p:nvGraphicFramePr>
        <p:xfrm>
          <a:off x="2032001" y="1990169"/>
          <a:ext cx="8127999" cy="79248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1822723854"/>
                    </a:ext>
                  </a:extLst>
                </a:gridCol>
                <a:gridCol w="2709333">
                  <a:extLst>
                    <a:ext uri="{9D8B030D-6E8A-4147-A177-3AD203B41FA5}">
                      <a16:colId xmlns:a16="http://schemas.microsoft.com/office/drawing/2014/main" val="2579447744"/>
                    </a:ext>
                  </a:extLst>
                </a:gridCol>
                <a:gridCol w="2709333">
                  <a:extLst>
                    <a:ext uri="{9D8B030D-6E8A-4147-A177-3AD203B41FA5}">
                      <a16:colId xmlns:a16="http://schemas.microsoft.com/office/drawing/2014/main" val="3249254809"/>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0.025</a:t>
                      </a:r>
                    </a:p>
                  </a:txBody>
                  <a:tcPr/>
                </a:tc>
                <a:tc>
                  <a:txBody>
                    <a:bodyPr/>
                    <a:lstStyle/>
                    <a:p>
                      <a:pPr algn="ctr"/>
                      <a:r>
                        <a:rPr lang="en-US" sz="2000" dirty="0">
                          <a:latin typeface="Arial" panose="020B0604020202020204" pitchFamily="34" charset="0"/>
                          <a:cs typeface="Arial" panose="020B0604020202020204" pitchFamily="34" charset="0"/>
                        </a:rPr>
                        <a:t>0.5</a:t>
                      </a:r>
                    </a:p>
                  </a:txBody>
                  <a:tcPr/>
                </a:tc>
                <a:tc>
                  <a:txBody>
                    <a:bodyPr/>
                    <a:lstStyle/>
                    <a:p>
                      <a:pPr algn="ctr"/>
                      <a:r>
                        <a:rPr lang="en-US" sz="2000" dirty="0">
                          <a:latin typeface="Arial" panose="020B0604020202020204" pitchFamily="34" charset="0"/>
                          <a:cs typeface="Arial" panose="020B0604020202020204" pitchFamily="34" charset="0"/>
                        </a:rPr>
                        <a:t>0.975</a:t>
                      </a:r>
                    </a:p>
                  </a:txBody>
                  <a:tcPr/>
                </a:tc>
                <a:extLst>
                  <a:ext uri="{0D108BD9-81ED-4DB2-BD59-A6C34878D82A}">
                    <a16:rowId xmlns:a16="http://schemas.microsoft.com/office/drawing/2014/main" val="1181463270"/>
                  </a:ext>
                </a:extLst>
              </a:tr>
              <a:tr h="370840">
                <a:tc>
                  <a:txBody>
                    <a:bodyPr/>
                    <a:lstStyle/>
                    <a:p>
                      <a:pPr algn="ctr"/>
                      <a:r>
                        <a:rPr lang="en-US" sz="2000" dirty="0">
                          <a:latin typeface="Arial" panose="020B0604020202020204" pitchFamily="34" charset="0"/>
                          <a:cs typeface="Arial" panose="020B0604020202020204" pitchFamily="34" charset="0"/>
                        </a:rPr>
                        <a:t>VALUE</a:t>
                      </a:r>
                    </a:p>
                  </a:txBody>
                  <a:tcPr/>
                </a:tc>
                <a:tc>
                  <a:txBody>
                    <a:bodyPr/>
                    <a:lstStyle/>
                    <a:p>
                      <a:pPr algn="ctr"/>
                      <a:r>
                        <a:rPr lang="en-US" sz="2000" dirty="0">
                          <a:latin typeface="Arial" panose="020B0604020202020204" pitchFamily="34" charset="0"/>
                          <a:cs typeface="Arial" panose="020B0604020202020204" pitchFamily="34" charset="0"/>
                        </a:rPr>
                        <a:t>VALUE</a:t>
                      </a:r>
                    </a:p>
                  </a:txBody>
                  <a:tcPr/>
                </a:tc>
                <a:tc>
                  <a:txBody>
                    <a:bodyPr/>
                    <a:lstStyle/>
                    <a:p>
                      <a:pPr algn="ctr"/>
                      <a:r>
                        <a:rPr lang="en-US" sz="2000" dirty="0">
                          <a:latin typeface="Arial" panose="020B0604020202020204" pitchFamily="34" charset="0"/>
                          <a:cs typeface="Arial" panose="020B0604020202020204" pitchFamily="34" charset="0"/>
                        </a:rPr>
                        <a:t>VALUE</a:t>
                      </a:r>
                    </a:p>
                  </a:txBody>
                  <a:tcPr/>
                </a:tc>
                <a:extLst>
                  <a:ext uri="{0D108BD9-81ED-4DB2-BD59-A6C34878D82A}">
                    <a16:rowId xmlns:a16="http://schemas.microsoft.com/office/drawing/2014/main" val="3884397410"/>
                  </a:ext>
                </a:extLst>
              </a:tr>
            </a:tbl>
          </a:graphicData>
        </a:graphic>
      </p:graphicFrame>
      <p:graphicFrame>
        <p:nvGraphicFramePr>
          <p:cNvPr id="10" name="Table 9">
            <a:extLst>
              <a:ext uri="{FF2B5EF4-FFF2-40B4-BE49-F238E27FC236}">
                <a16:creationId xmlns:a16="http://schemas.microsoft.com/office/drawing/2014/main" id="{DDB638B8-8FBC-EEAF-562F-A908AD67250F}"/>
              </a:ext>
            </a:extLst>
          </p:cNvPr>
          <p:cNvGraphicFramePr>
            <a:graphicFrameLocks noGrp="1"/>
          </p:cNvGraphicFramePr>
          <p:nvPr>
            <p:extLst>
              <p:ext uri="{D42A27DB-BD31-4B8C-83A1-F6EECF244321}">
                <p14:modId xmlns:p14="http://schemas.microsoft.com/office/powerpoint/2010/main" val="752947620"/>
              </p:ext>
            </p:extLst>
          </p:nvPr>
        </p:nvGraphicFramePr>
        <p:xfrm>
          <a:off x="3906453" y="4075352"/>
          <a:ext cx="4379095" cy="2312902"/>
        </p:xfrm>
        <a:graphic>
          <a:graphicData uri="http://schemas.openxmlformats.org/drawingml/2006/table">
            <a:tbl>
              <a:tblPr firstRow="1" bandRow="1">
                <a:tableStyleId>{5940675A-B579-460E-94D1-54222C63F5DA}</a:tableStyleId>
              </a:tblPr>
              <a:tblGrid>
                <a:gridCol w="2687577">
                  <a:extLst>
                    <a:ext uri="{9D8B030D-6E8A-4147-A177-3AD203B41FA5}">
                      <a16:colId xmlns:a16="http://schemas.microsoft.com/office/drawing/2014/main" val="955905303"/>
                    </a:ext>
                  </a:extLst>
                </a:gridCol>
                <a:gridCol w="1691518">
                  <a:extLst>
                    <a:ext uri="{9D8B030D-6E8A-4147-A177-3AD203B41FA5}">
                      <a16:colId xmlns:a16="http://schemas.microsoft.com/office/drawing/2014/main" val="3966078537"/>
                    </a:ext>
                  </a:extLst>
                </a:gridCol>
              </a:tblGrid>
              <a:tr h="865258">
                <a:tc>
                  <a:txBody>
                    <a:bodyPr/>
                    <a:lstStyle/>
                    <a:p>
                      <a:pPr algn="ctr"/>
                      <a:r>
                        <a:rPr lang="en-US" sz="2200" b="1" dirty="0" err="1">
                          <a:latin typeface="Courier New" panose="02070309020205020404" pitchFamily="49" charset="0"/>
                          <a:cs typeface="Courier New" panose="02070309020205020404" pitchFamily="49" charset="0"/>
                        </a:rPr>
                        <a:t>output_type_id</a:t>
                      </a:r>
                      <a:endParaRPr lang="en-US" sz="2200" b="1" dirty="0">
                        <a:latin typeface="Courier New" panose="02070309020205020404" pitchFamily="49" charset="0"/>
                        <a:cs typeface="Courier New" panose="02070309020205020404" pitchFamily="49" charset="0"/>
                      </a:endParaRPr>
                    </a:p>
                  </a:txBody>
                  <a:tcPr anchor="ctr"/>
                </a:tc>
                <a:tc>
                  <a:txBody>
                    <a:bodyPr/>
                    <a:lstStyle/>
                    <a:p>
                      <a:pPr algn="ctr"/>
                      <a:r>
                        <a:rPr lang="en-US" sz="2200" b="1">
                          <a:latin typeface="Courier New" panose="02070309020205020404" pitchFamily="49" charset="0"/>
                          <a:cs typeface="Courier New" panose="02070309020205020404" pitchFamily="49" charset="0"/>
                        </a:rPr>
                        <a:t>value</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175483087"/>
                  </a:ext>
                </a:extLst>
              </a:tr>
              <a:tr h="482548">
                <a:tc>
                  <a:txBody>
                    <a:bodyPr/>
                    <a:lstStyle/>
                    <a:p>
                      <a:pPr algn="ctr"/>
                      <a:r>
                        <a:rPr lang="en-US" sz="2000" dirty="0">
                          <a:latin typeface="Arial" panose="020B0604020202020204" pitchFamily="34" charset="0"/>
                          <a:cs typeface="Arial" panose="020B0604020202020204" pitchFamily="34" charset="0"/>
                        </a:rPr>
                        <a:t>0.025</a:t>
                      </a:r>
                    </a:p>
                  </a:txBody>
                  <a:tcPr anchor="ctr"/>
                </a:tc>
                <a:tc>
                  <a:txBody>
                    <a:bodyPr/>
                    <a:lstStyle/>
                    <a:p>
                      <a:pPr algn="ctr"/>
                      <a:r>
                        <a:rPr lang="en-US" sz="2000" dirty="0">
                          <a:latin typeface="Arial" panose="020B0604020202020204" pitchFamily="34" charset="0"/>
                          <a:cs typeface="Arial" panose="020B0604020202020204" pitchFamily="34" charset="0"/>
                        </a:rPr>
                        <a:t>#</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1502466"/>
                  </a:ext>
                </a:extLst>
              </a:tr>
              <a:tr h="482548">
                <a:tc>
                  <a:txBody>
                    <a:bodyPr/>
                    <a:lstStyle/>
                    <a:p>
                      <a:pPr algn="ctr"/>
                      <a:r>
                        <a:rPr lang="en-US" sz="2000">
                          <a:latin typeface="Arial" panose="020B0604020202020204" pitchFamily="34" charset="0"/>
                          <a:cs typeface="Arial" panose="020B0604020202020204" pitchFamily="34" charset="0"/>
                        </a:rPr>
                        <a:t>0.5</a:t>
                      </a:r>
                    </a:p>
                  </a:txBody>
                  <a:tcPr anchor="ctr"/>
                </a:tc>
                <a:tc>
                  <a:txBody>
                    <a:bodyPr/>
                    <a:lstStyle/>
                    <a:p>
                      <a:pPr algn="ctr"/>
                      <a:r>
                        <a:rPr lang="en-US" sz="2000">
                          <a:latin typeface="Arial" panose="020B0604020202020204" pitchFamily="34" charset="0"/>
                          <a:cs typeface="Arial" panose="020B0604020202020204" pitchFamily="34" charset="0"/>
                        </a:rPr>
                        <a:t>#</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586299375"/>
                  </a:ext>
                </a:extLst>
              </a:tr>
              <a:tr h="482548">
                <a:tc>
                  <a:txBody>
                    <a:bodyPr/>
                    <a:lstStyle/>
                    <a:p>
                      <a:pPr algn="ctr"/>
                      <a:r>
                        <a:rPr lang="en-US" sz="2000" dirty="0">
                          <a:latin typeface="Arial" panose="020B0604020202020204" pitchFamily="34" charset="0"/>
                          <a:cs typeface="Arial" panose="020B0604020202020204" pitchFamily="34" charset="0"/>
                        </a:rPr>
                        <a:t>0.975</a:t>
                      </a:r>
                    </a:p>
                  </a:txBody>
                  <a:tcPr anchor="ctr"/>
                </a:tc>
                <a:tc>
                  <a:txBody>
                    <a:bodyPr/>
                    <a:lstStyle/>
                    <a:p>
                      <a:pPr algn="ctr"/>
                      <a:r>
                        <a:rPr lang="en-US" sz="2000" dirty="0">
                          <a:latin typeface="Arial" panose="020B0604020202020204" pitchFamily="34" charset="0"/>
                          <a:cs typeface="Arial" panose="020B0604020202020204" pitchFamily="34" charset="0"/>
                        </a:rPr>
                        <a:t>#</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192071225"/>
                  </a:ext>
                </a:extLst>
              </a:tr>
            </a:tbl>
          </a:graphicData>
        </a:graphic>
      </p:graphicFrame>
      <p:sp>
        <p:nvSpPr>
          <p:cNvPr id="12" name="TextBox 11">
            <a:extLst>
              <a:ext uri="{FF2B5EF4-FFF2-40B4-BE49-F238E27FC236}">
                <a16:creationId xmlns:a16="http://schemas.microsoft.com/office/drawing/2014/main" id="{1F371370-3119-1314-1566-602E899E0040}"/>
              </a:ext>
            </a:extLst>
          </p:cNvPr>
          <p:cNvSpPr txBox="1"/>
          <p:nvPr/>
        </p:nvSpPr>
        <p:spPr>
          <a:xfrm>
            <a:off x="4628291" y="1422934"/>
            <a:ext cx="2935419" cy="446276"/>
          </a:xfrm>
          <a:prstGeom prst="rect">
            <a:avLst/>
          </a:prstGeom>
          <a:noFill/>
        </p:spPr>
        <p:txBody>
          <a:bodyPr wrap="none" rtlCol="0">
            <a:spAutoFit/>
          </a:bodyPr>
          <a:lstStyle/>
          <a:p>
            <a:r>
              <a:rPr lang="en-US" sz="2300" b="1" dirty="0">
                <a:latin typeface="Arial" panose="020B0604020202020204" pitchFamily="34" charset="0"/>
                <a:cs typeface="Arial" panose="020B0604020202020204" pitchFamily="34" charset="0"/>
              </a:rPr>
              <a:t>Our Current Format</a:t>
            </a:r>
          </a:p>
        </p:txBody>
      </p:sp>
      <p:sp>
        <p:nvSpPr>
          <p:cNvPr id="14" name="TextBox 13">
            <a:extLst>
              <a:ext uri="{FF2B5EF4-FFF2-40B4-BE49-F238E27FC236}">
                <a16:creationId xmlns:a16="http://schemas.microsoft.com/office/drawing/2014/main" id="{2B1B10CD-B54C-2A84-D022-C298CA116ED4}"/>
              </a:ext>
            </a:extLst>
          </p:cNvPr>
          <p:cNvSpPr txBox="1"/>
          <p:nvPr/>
        </p:nvSpPr>
        <p:spPr>
          <a:xfrm>
            <a:off x="4833475" y="3535475"/>
            <a:ext cx="2525050" cy="446276"/>
          </a:xfrm>
          <a:prstGeom prst="rect">
            <a:avLst/>
          </a:prstGeom>
          <a:noFill/>
        </p:spPr>
        <p:txBody>
          <a:bodyPr wrap="none" rtlCol="0">
            <a:spAutoFit/>
          </a:bodyPr>
          <a:lstStyle/>
          <a:p>
            <a:r>
              <a:rPr lang="en-US" sz="2300" b="1" dirty="0">
                <a:latin typeface="Arial" panose="020B0604020202020204" pitchFamily="34" charset="0"/>
                <a:cs typeface="Arial" panose="020B0604020202020204" pitchFamily="34" charset="0"/>
              </a:rPr>
              <a:t>Our Goal Format</a:t>
            </a:r>
          </a:p>
        </p:txBody>
      </p:sp>
      <p:cxnSp>
        <p:nvCxnSpPr>
          <p:cNvPr id="16" name="Straight Arrow Connector 15">
            <a:extLst>
              <a:ext uri="{FF2B5EF4-FFF2-40B4-BE49-F238E27FC236}">
                <a16:creationId xmlns:a16="http://schemas.microsoft.com/office/drawing/2014/main" id="{96CF0066-3C50-A709-BB83-954561012634}"/>
              </a:ext>
            </a:extLst>
          </p:cNvPr>
          <p:cNvCxnSpPr>
            <a:endCxn id="14" idx="0"/>
          </p:cNvCxnSpPr>
          <p:nvPr/>
        </p:nvCxnSpPr>
        <p:spPr>
          <a:xfrm>
            <a:off x="6096000" y="2782649"/>
            <a:ext cx="0" cy="752826"/>
          </a:xfrm>
          <a:prstGeom prst="straightConnector1">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5647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58AEB-CB2E-EEBF-4215-8C74DF6879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D35357-45E8-324C-BFDC-1BFC3391E704}"/>
              </a:ext>
            </a:extLst>
          </p:cNvPr>
          <p:cNvSpPr>
            <a:spLocks noGrp="1"/>
          </p:cNvSpPr>
          <p:nvPr>
            <p:ph type="title"/>
          </p:nvPr>
        </p:nvSpPr>
        <p:spPr>
          <a:xfrm>
            <a:off x="838200" y="18255"/>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How do we get there?</a:t>
            </a:r>
          </a:p>
        </p:txBody>
      </p:sp>
      <p:sp>
        <p:nvSpPr>
          <p:cNvPr id="9" name="Rectangle: Rounded Corners 8">
            <a:extLst>
              <a:ext uri="{FF2B5EF4-FFF2-40B4-BE49-F238E27FC236}">
                <a16:creationId xmlns:a16="http://schemas.microsoft.com/office/drawing/2014/main" id="{1C3C3287-FA46-EE7E-5871-36CAC1CD8A14}"/>
              </a:ext>
            </a:extLst>
          </p:cNvPr>
          <p:cNvSpPr/>
          <p:nvPr/>
        </p:nvSpPr>
        <p:spPr>
          <a:xfrm>
            <a:off x="731736" y="2779222"/>
            <a:ext cx="10728528" cy="1590761"/>
          </a:xfrm>
          <a:prstGeom prst="roundRect">
            <a:avLst/>
          </a:prstGeom>
          <a:solidFill>
            <a:srgbClr val="FFF4EC"/>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9B89A98-1CFC-4118-B999-D6EC26B67390}"/>
              </a:ext>
            </a:extLst>
          </p:cNvPr>
          <p:cNvSpPr txBox="1"/>
          <p:nvPr/>
        </p:nvSpPr>
        <p:spPr>
          <a:xfrm>
            <a:off x="901553" y="2928023"/>
            <a:ext cx="10388895" cy="1323439"/>
          </a:xfrm>
          <a:prstGeom prst="rect">
            <a:avLst/>
          </a:prstGeom>
          <a:noFill/>
        </p:spPr>
        <p:txBody>
          <a:bodyPr wrap="square">
            <a:spAutoFit/>
          </a:bodyPr>
          <a:lstStyle/>
          <a:p>
            <a:r>
              <a:rPr lang="en-US" sz="2000" dirty="0">
                <a:latin typeface="Courier New" panose="02070309020205020404" pitchFamily="49" charset="0"/>
                <a:cs typeface="Courier New" panose="02070309020205020404" pitchFamily="49" charset="0"/>
              </a:rPr>
              <a:t>4. **</a:t>
            </a:r>
            <a:r>
              <a:rPr lang="en-US" sz="2000" b="1" dirty="0">
                <a:latin typeface="Courier New" panose="02070309020205020404" pitchFamily="49" charset="0"/>
                <a:cs typeface="Courier New" panose="02070309020205020404" pitchFamily="49" charset="0"/>
              </a:rPr>
              <a:t>Reshape wide → long, one row per quantile.</a:t>
            </a:r>
            <a:r>
              <a:rPr lang="en-US" sz="2000" dirty="0">
                <a:latin typeface="Courier New" panose="02070309020205020404" pitchFamily="49" charset="0"/>
                <a:cs typeface="Courier New" panose="02070309020205020404" pitchFamily="49" charset="0"/>
              </a:rPr>
              <a:t>** Map each forecast piece to an `</a:t>
            </a:r>
            <a:r>
              <a:rPr lang="en-US" sz="2000" dirty="0" err="1">
                <a:latin typeface="Courier New" panose="02070309020205020404" pitchFamily="49" charset="0"/>
                <a:cs typeface="Courier New" panose="02070309020205020404" pitchFamily="49" charset="0"/>
              </a:rPr>
              <a:t>output_type_id</a:t>
            </a:r>
            <a:r>
              <a:rPr lang="en-US" sz="2000" dirty="0">
                <a:latin typeface="Courier New" panose="02070309020205020404" pitchFamily="49" charset="0"/>
                <a:cs typeface="Courier New" panose="02070309020205020404" pitchFamily="49" charset="0"/>
              </a:rPr>
              <a:t>`: `mean` → `0.5` (median); each level's lower/upper bound → its two quantiles, per the table. Only include the levels below.</a:t>
            </a:r>
          </a:p>
        </p:txBody>
      </p:sp>
      <p:pic>
        <p:nvPicPr>
          <p:cNvPr id="13" name="Picture 12" descr="Your Turn Rubber Stamp Royalty Free SVG, Cliparts, Vectors, and Stock  Illustration. Image 68258628.">
            <a:extLst>
              <a:ext uri="{FF2B5EF4-FFF2-40B4-BE49-F238E27FC236}">
                <a16:creationId xmlns:a16="http://schemas.microsoft.com/office/drawing/2014/main" id="{B0920535-CE7E-4BB2-A23D-2E999EA65F66}"/>
              </a:ext>
            </a:extLst>
          </p:cNvPr>
          <p:cNvPicPr>
            <a:picLocks noChangeAspect="1"/>
          </p:cNvPicPr>
          <p:nvPr/>
        </p:nvPicPr>
        <p:blipFill>
          <a:blip r:embed="rId2"/>
          <a:stretch>
            <a:fillRect/>
          </a:stretch>
        </p:blipFill>
        <p:spPr>
          <a:xfrm>
            <a:off x="2046622" y="156423"/>
            <a:ext cx="981703" cy="981703"/>
          </a:xfrm>
          <a:prstGeom prst="rect">
            <a:avLst/>
          </a:prstGeom>
        </p:spPr>
      </p:pic>
      <p:sp>
        <p:nvSpPr>
          <p:cNvPr id="15" name="TextBox 14">
            <a:extLst>
              <a:ext uri="{FF2B5EF4-FFF2-40B4-BE49-F238E27FC236}">
                <a16:creationId xmlns:a16="http://schemas.microsoft.com/office/drawing/2014/main" id="{F03F8498-ABEC-CF91-F90A-3D7DFB3411FA}"/>
              </a:ext>
            </a:extLst>
          </p:cNvPr>
          <p:cNvSpPr txBox="1"/>
          <p:nvPr/>
        </p:nvSpPr>
        <p:spPr>
          <a:xfrm>
            <a:off x="731736" y="1723802"/>
            <a:ext cx="9103380" cy="477054"/>
          </a:xfrm>
          <a:prstGeom prst="rect">
            <a:avLst/>
          </a:prstGeom>
          <a:noFill/>
        </p:spPr>
        <p:txBody>
          <a:bodyPr wrap="square" rtlCol="0">
            <a:spAutoFit/>
          </a:bodyPr>
          <a:lstStyle/>
          <a:p>
            <a:r>
              <a:rPr lang="en-US" dirty="0"/>
              <a:t> </a:t>
            </a:r>
            <a:r>
              <a:rPr lang="en-US" sz="2500" b="1" dirty="0">
                <a:latin typeface="Arial" panose="020B0604020202020204" pitchFamily="34" charset="0"/>
                <a:cs typeface="Arial" panose="020B0604020202020204" pitchFamily="34" charset="0"/>
              </a:rPr>
              <a:t>Add the following (Including the table): </a:t>
            </a:r>
          </a:p>
        </p:txBody>
      </p:sp>
      <p:graphicFrame>
        <p:nvGraphicFramePr>
          <p:cNvPr id="19" name="Table 18">
            <a:extLst>
              <a:ext uri="{FF2B5EF4-FFF2-40B4-BE49-F238E27FC236}">
                <a16:creationId xmlns:a16="http://schemas.microsoft.com/office/drawing/2014/main" id="{C5055215-E2F6-C622-9E02-F3F0E05FEB6E}"/>
              </a:ext>
            </a:extLst>
          </p:cNvPr>
          <p:cNvGraphicFramePr>
            <a:graphicFrameLocks noGrp="1"/>
          </p:cNvGraphicFramePr>
          <p:nvPr>
            <p:extLst>
              <p:ext uri="{D42A27DB-BD31-4B8C-83A1-F6EECF244321}">
                <p14:modId xmlns:p14="http://schemas.microsoft.com/office/powerpoint/2010/main" val="1795095271"/>
              </p:ext>
            </p:extLst>
          </p:nvPr>
        </p:nvGraphicFramePr>
        <p:xfrm>
          <a:off x="784968" y="5061097"/>
          <a:ext cx="10622064" cy="762000"/>
        </p:xfrm>
        <a:graphic>
          <a:graphicData uri="http://schemas.openxmlformats.org/drawingml/2006/table">
            <a:tbl>
              <a:tblPr firstRow="1" bandRow="1">
                <a:tableStyleId>{5940675A-B579-460E-94D1-54222C63F5DA}</a:tableStyleId>
              </a:tblPr>
              <a:tblGrid>
                <a:gridCol w="2654707">
                  <a:extLst>
                    <a:ext uri="{9D8B030D-6E8A-4147-A177-3AD203B41FA5}">
                      <a16:colId xmlns:a16="http://schemas.microsoft.com/office/drawing/2014/main" val="1769220971"/>
                    </a:ext>
                  </a:extLst>
                </a:gridCol>
                <a:gridCol w="3905534">
                  <a:extLst>
                    <a:ext uri="{9D8B030D-6E8A-4147-A177-3AD203B41FA5}">
                      <a16:colId xmlns:a16="http://schemas.microsoft.com/office/drawing/2014/main" val="1931972419"/>
                    </a:ext>
                  </a:extLst>
                </a:gridCol>
                <a:gridCol w="4061823">
                  <a:extLst>
                    <a:ext uri="{9D8B030D-6E8A-4147-A177-3AD203B41FA5}">
                      <a16:colId xmlns:a16="http://schemas.microsoft.com/office/drawing/2014/main" val="3788959459"/>
                    </a:ext>
                  </a:extLst>
                </a:gridCol>
              </a:tblGrid>
              <a:tr h="372613">
                <a:tc>
                  <a:txBody>
                    <a:bodyPr/>
                    <a:lstStyle/>
                    <a:p>
                      <a:pPr algn="ctr"/>
                      <a:r>
                        <a:rPr lang="en-US" sz="1900" b="1" dirty="0">
                          <a:latin typeface="Arial" panose="020B0604020202020204" pitchFamily="34" charset="0"/>
                          <a:cs typeface="Arial" panose="020B0604020202020204" pitchFamily="34" charset="0"/>
                        </a:rPr>
                        <a:t>Coverage Level</a:t>
                      </a:r>
                    </a:p>
                  </a:txBody>
                  <a:tcPr>
                    <a:solidFill>
                      <a:schemeClr val="bg1">
                        <a:lumMod val="95000"/>
                      </a:schemeClr>
                    </a:solidFill>
                  </a:tcPr>
                </a:tc>
                <a:tc>
                  <a:txBody>
                    <a:bodyPr/>
                    <a:lstStyle/>
                    <a:p>
                      <a:pPr algn="ctr"/>
                      <a:r>
                        <a:rPr lang="en-US" sz="1900" b="1" dirty="0">
                          <a:latin typeface="Arial" panose="020B0604020202020204" pitchFamily="34" charset="0"/>
                          <a:cs typeface="Arial" panose="020B0604020202020204" pitchFamily="34" charset="0"/>
                        </a:rPr>
                        <a:t>LB Quantile (`</a:t>
                      </a:r>
                      <a:r>
                        <a:rPr lang="en-US" sz="1900" b="1" dirty="0" err="1">
                          <a:latin typeface="Arial" panose="020B0604020202020204" pitchFamily="34" charset="0"/>
                          <a:cs typeface="Arial" panose="020B0604020202020204" pitchFamily="34" charset="0"/>
                        </a:rPr>
                        <a:t>output_type_id</a:t>
                      </a:r>
                      <a:r>
                        <a:rPr lang="en-US" sz="1900" b="1" dirty="0">
                          <a:latin typeface="Arial" panose="020B0604020202020204" pitchFamily="34" charset="0"/>
                          <a:cs typeface="Arial" panose="020B0604020202020204" pitchFamily="34" charset="0"/>
                        </a:rPr>
                        <a:t>`)</a:t>
                      </a:r>
                    </a:p>
                  </a:txBody>
                  <a:tcPr>
                    <a:solidFill>
                      <a:schemeClr val="bg1">
                        <a:lumMod val="95000"/>
                      </a:schemeClr>
                    </a:solidFill>
                  </a:tcPr>
                </a:tc>
                <a:tc>
                  <a:txBody>
                    <a:bodyPr/>
                    <a:lstStyle/>
                    <a:p>
                      <a:pPr algn="ctr"/>
                      <a:r>
                        <a:rPr lang="en-US" sz="1900" b="1" dirty="0">
                          <a:latin typeface="Arial" panose="020B0604020202020204" pitchFamily="34" charset="0"/>
                          <a:cs typeface="Arial" panose="020B0604020202020204" pitchFamily="34" charset="0"/>
                        </a:rPr>
                        <a:t>UB Quantile (`</a:t>
                      </a:r>
                      <a:r>
                        <a:rPr lang="en-US" sz="1900" b="1" dirty="0" err="1">
                          <a:latin typeface="Arial" panose="020B0604020202020204" pitchFamily="34" charset="0"/>
                          <a:cs typeface="Arial" panose="020B0604020202020204" pitchFamily="34" charset="0"/>
                        </a:rPr>
                        <a:t>output_type_id</a:t>
                      </a:r>
                      <a:r>
                        <a:rPr lang="en-US" sz="1900" b="1" dirty="0">
                          <a:latin typeface="Arial" panose="020B0604020202020204" pitchFamily="34" charset="0"/>
                          <a:cs typeface="Arial" panose="020B0604020202020204" pitchFamily="34" charset="0"/>
                        </a:rPr>
                        <a:t>`)</a:t>
                      </a:r>
                    </a:p>
                  </a:txBody>
                  <a:tcPr>
                    <a:solidFill>
                      <a:schemeClr val="bg1">
                        <a:lumMod val="95000"/>
                      </a:schemeClr>
                    </a:solidFill>
                  </a:tcPr>
                </a:tc>
                <a:extLst>
                  <a:ext uri="{0D108BD9-81ED-4DB2-BD59-A6C34878D82A}">
                    <a16:rowId xmlns:a16="http://schemas.microsoft.com/office/drawing/2014/main" val="2991046283"/>
                  </a:ext>
                </a:extLst>
              </a:tr>
              <a:tr h="370840">
                <a:tc>
                  <a:txBody>
                    <a:bodyPr/>
                    <a:lstStyle/>
                    <a:p>
                      <a:pPr algn="ctr"/>
                      <a:r>
                        <a:rPr lang="en-US" sz="1900" dirty="0">
                          <a:latin typeface="Arial" panose="020B0604020202020204" pitchFamily="34" charset="0"/>
                          <a:cs typeface="Arial" panose="020B0604020202020204" pitchFamily="34" charset="0"/>
                        </a:rPr>
                        <a:t>95</a:t>
                      </a:r>
                    </a:p>
                  </a:txBody>
                  <a:tcPr/>
                </a:tc>
                <a:tc>
                  <a:txBody>
                    <a:bodyPr/>
                    <a:lstStyle/>
                    <a:p>
                      <a:pPr algn="ctr"/>
                      <a:r>
                        <a:rPr lang="en-US" sz="1900" dirty="0">
                          <a:latin typeface="Arial" panose="020B0604020202020204" pitchFamily="34" charset="0"/>
                          <a:cs typeface="Arial" panose="020B0604020202020204" pitchFamily="34" charset="0"/>
                        </a:rPr>
                        <a:t>0.025</a:t>
                      </a:r>
                    </a:p>
                  </a:txBody>
                  <a:tcPr/>
                </a:tc>
                <a:tc>
                  <a:txBody>
                    <a:bodyPr/>
                    <a:lstStyle/>
                    <a:p>
                      <a:pPr algn="ctr"/>
                      <a:r>
                        <a:rPr lang="en-US" sz="1900" dirty="0">
                          <a:latin typeface="Arial" panose="020B0604020202020204" pitchFamily="34" charset="0"/>
                          <a:cs typeface="Arial" panose="020B0604020202020204" pitchFamily="34" charset="0"/>
                        </a:rPr>
                        <a:t>0.975</a:t>
                      </a:r>
                    </a:p>
                  </a:txBody>
                  <a:tcPr/>
                </a:tc>
                <a:extLst>
                  <a:ext uri="{0D108BD9-81ED-4DB2-BD59-A6C34878D82A}">
                    <a16:rowId xmlns:a16="http://schemas.microsoft.com/office/drawing/2014/main" val="1726092389"/>
                  </a:ext>
                </a:extLst>
              </a:tr>
            </a:tbl>
          </a:graphicData>
        </a:graphic>
      </p:graphicFrame>
    </p:spTree>
    <p:extLst>
      <p:ext uri="{BB962C8B-B14F-4D97-AF65-F5344CB8AC3E}">
        <p14:creationId xmlns:p14="http://schemas.microsoft.com/office/powerpoint/2010/main" val="36408603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1B83E-F783-F637-F068-0C1F36D6F0EE}"/>
              </a:ext>
            </a:extLst>
          </p:cNvPr>
          <p:cNvSpPr>
            <a:spLocks noGrp="1"/>
          </p:cNvSpPr>
          <p:nvPr>
            <p:ph type="title"/>
          </p:nvPr>
        </p:nvSpPr>
        <p:spPr>
          <a:xfrm>
            <a:off x="838200" y="18255"/>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Why do we need the table? </a:t>
            </a:r>
          </a:p>
        </p:txBody>
      </p:sp>
      <p:sp>
        <p:nvSpPr>
          <p:cNvPr id="3" name="Content Placeholder 2">
            <a:extLst>
              <a:ext uri="{FF2B5EF4-FFF2-40B4-BE49-F238E27FC236}">
                <a16:creationId xmlns:a16="http://schemas.microsoft.com/office/drawing/2014/main" id="{E29F54AE-86F0-2F92-5D1B-D9CD88DDEE98}"/>
              </a:ext>
            </a:extLst>
          </p:cNvPr>
          <p:cNvSpPr>
            <a:spLocks noGrp="1"/>
          </p:cNvSpPr>
          <p:nvPr>
            <p:ph idx="1"/>
          </p:nvPr>
        </p:nvSpPr>
        <p:spPr>
          <a:xfrm>
            <a:off x="838200" y="1609911"/>
            <a:ext cx="10515600" cy="2909205"/>
          </a:xfrm>
        </p:spPr>
        <p:txBody>
          <a:bodyPr>
            <a:normAutofit/>
          </a:bodyPr>
          <a:lstStyle/>
          <a:p>
            <a:pPr marL="0" indent="0" algn="ctr">
              <a:lnSpc>
                <a:spcPct val="110000"/>
              </a:lnSpc>
              <a:buNone/>
            </a:pPr>
            <a:r>
              <a:rPr lang="en-US" dirty="0">
                <a:latin typeface="Courier New" panose="02070309020205020404" pitchFamily="49" charset="0"/>
                <a:cs typeface="Courier New" panose="02070309020205020404" pitchFamily="49" charset="0"/>
              </a:rPr>
              <a:t>forecast()</a:t>
            </a:r>
            <a:r>
              <a:rPr lang="en-US" dirty="0">
                <a:latin typeface="Arial" panose="020B0604020202020204" pitchFamily="34" charset="0"/>
                <a:cs typeface="Arial" panose="020B0604020202020204" pitchFamily="34" charset="0"/>
              </a:rPr>
              <a:t> and </a:t>
            </a:r>
            <a:r>
              <a:rPr lang="en-US" dirty="0" err="1">
                <a:latin typeface="Arial" panose="020B0604020202020204" pitchFamily="34" charset="0"/>
                <a:cs typeface="Arial" panose="020B0604020202020204" pitchFamily="34" charset="0"/>
              </a:rPr>
              <a:t>FluSight</a:t>
            </a:r>
            <a:r>
              <a:rPr lang="en-US" dirty="0">
                <a:latin typeface="Arial" panose="020B0604020202020204" pitchFamily="34" charset="0"/>
                <a:cs typeface="Arial" panose="020B0604020202020204" pitchFamily="34" charset="0"/>
              </a:rPr>
              <a:t> describe the same thing in two different languages. When you ask for a "95% interval," </a:t>
            </a:r>
            <a:r>
              <a:rPr lang="en-US" dirty="0">
                <a:latin typeface="Courier New" panose="02070309020205020404" pitchFamily="49" charset="0"/>
                <a:cs typeface="Courier New" panose="02070309020205020404" pitchFamily="49" charset="0"/>
              </a:rPr>
              <a:t>forecast() </a:t>
            </a:r>
            <a:r>
              <a:rPr lang="en-US" dirty="0">
                <a:latin typeface="Arial" panose="020B0604020202020204" pitchFamily="34" charset="0"/>
                <a:cs typeface="Arial" panose="020B0604020202020204" pitchFamily="34" charset="0"/>
              </a:rPr>
              <a:t>gives you a </a:t>
            </a:r>
            <a:r>
              <a:rPr lang="en-US" b="1" dirty="0">
                <a:solidFill>
                  <a:schemeClr val="accent2"/>
                </a:solidFill>
                <a:latin typeface="Arial" panose="020B0604020202020204" pitchFamily="34" charset="0"/>
                <a:cs typeface="Arial" panose="020B0604020202020204" pitchFamily="34" charset="0"/>
              </a:rPr>
              <a:t>lower</a:t>
            </a:r>
            <a:r>
              <a:rPr lang="en-US" dirty="0">
                <a:latin typeface="Arial" panose="020B0604020202020204" pitchFamily="34" charset="0"/>
                <a:cs typeface="Arial" panose="020B0604020202020204" pitchFamily="34" charset="0"/>
              </a:rPr>
              <a:t> and an </a:t>
            </a:r>
            <a:r>
              <a:rPr lang="en-US" b="1" dirty="0">
                <a:solidFill>
                  <a:schemeClr val="accent2"/>
                </a:solidFill>
                <a:latin typeface="Arial" panose="020B0604020202020204" pitchFamily="34" charset="0"/>
                <a:cs typeface="Arial" panose="020B0604020202020204" pitchFamily="34" charset="0"/>
              </a:rPr>
              <a:t>upper edge </a:t>
            </a:r>
            <a:r>
              <a:rPr lang="en-US" dirty="0">
                <a:latin typeface="Arial" panose="020B0604020202020204" pitchFamily="34" charset="0"/>
                <a:cs typeface="Arial" panose="020B0604020202020204" pitchFamily="34" charset="0"/>
              </a:rPr>
              <a:t>— those edges are the 0.025 and 0.975 quantiles that </a:t>
            </a:r>
            <a:r>
              <a:rPr lang="en-US" dirty="0" err="1">
                <a:latin typeface="Arial" panose="020B0604020202020204" pitchFamily="34" charset="0"/>
                <a:cs typeface="Arial" panose="020B0604020202020204" pitchFamily="34" charset="0"/>
              </a:rPr>
              <a:t>FluSight</a:t>
            </a:r>
            <a:r>
              <a:rPr lang="en-US" dirty="0">
                <a:latin typeface="Arial" panose="020B0604020202020204" pitchFamily="34" charset="0"/>
                <a:cs typeface="Arial" panose="020B0604020202020204" pitchFamily="34" charset="0"/>
              </a:rPr>
              <a:t> asks for. Think of the table as your &amp; the AI’s </a:t>
            </a:r>
            <a:r>
              <a:rPr lang="en-US" b="1" dirty="0">
                <a:solidFill>
                  <a:schemeClr val="accent2"/>
                </a:solidFill>
                <a:latin typeface="Arial" panose="020B0604020202020204" pitchFamily="34" charset="0"/>
                <a:cs typeface="Arial" panose="020B0604020202020204" pitchFamily="34" charset="0"/>
              </a:rPr>
              <a:t>translation guide </a:t>
            </a:r>
            <a:r>
              <a:rPr lang="en-US" dirty="0">
                <a:latin typeface="Arial" panose="020B0604020202020204" pitchFamily="34" charset="0"/>
                <a:cs typeface="Arial" panose="020B0604020202020204" pitchFamily="34" charset="0"/>
              </a:rPr>
              <a:t>between the two.</a:t>
            </a:r>
          </a:p>
        </p:txBody>
      </p:sp>
      <p:sp>
        <p:nvSpPr>
          <p:cNvPr id="5" name="TextBox 4">
            <a:extLst>
              <a:ext uri="{FF2B5EF4-FFF2-40B4-BE49-F238E27FC236}">
                <a16:creationId xmlns:a16="http://schemas.microsoft.com/office/drawing/2014/main" id="{0F1D0BC4-B474-C6FE-5BFD-A52170CC2A4B}"/>
              </a:ext>
            </a:extLst>
          </p:cNvPr>
          <p:cNvSpPr txBox="1"/>
          <p:nvPr/>
        </p:nvSpPr>
        <p:spPr>
          <a:xfrm>
            <a:off x="838200" y="4902173"/>
            <a:ext cx="10515599" cy="1379101"/>
          </a:xfrm>
          <a:prstGeom prst="roundRect">
            <a:avLst/>
          </a:prstGeom>
          <a:solidFill>
            <a:srgbClr val="E8F4F8"/>
          </a:solidFill>
        </p:spPr>
        <p:txBody>
          <a:bodyPr wrap="square">
            <a:spAutoFit/>
          </a:bodyPr>
          <a:lstStyle/>
          <a:p>
            <a:pPr algn="ctr"/>
            <a:r>
              <a:rPr lang="en-US" sz="2500" b="1" dirty="0">
                <a:latin typeface="Arial" panose="020B0604020202020204" pitchFamily="34" charset="0"/>
                <a:cs typeface="Arial" panose="020B0604020202020204" pitchFamily="34" charset="0"/>
              </a:rPr>
              <a:t>Hint (for later):</a:t>
            </a:r>
            <a:r>
              <a:rPr lang="en-US" sz="2500" dirty="0">
                <a:latin typeface="Arial" panose="020B0604020202020204" pitchFamily="34" charset="0"/>
                <a:cs typeface="Arial" panose="020B0604020202020204" pitchFamily="34" charset="0"/>
              </a:rPr>
              <a:t> Want more quantiles? Update </a:t>
            </a:r>
            <a:r>
              <a:rPr lang="en-US" sz="2500" b="1" dirty="0">
                <a:solidFill>
                  <a:schemeClr val="accent2"/>
                </a:solidFill>
                <a:latin typeface="Arial" panose="020B0604020202020204" pitchFamily="34" charset="0"/>
                <a:cs typeface="Arial" panose="020B0604020202020204" pitchFamily="34" charset="0"/>
              </a:rPr>
              <a:t>two things together </a:t>
            </a:r>
            <a:r>
              <a:rPr lang="en-US" sz="2500" dirty="0">
                <a:latin typeface="Arial" panose="020B0604020202020204" pitchFamily="34" charset="0"/>
                <a:cs typeface="Arial" panose="020B0604020202020204" pitchFamily="34" charset="0"/>
              </a:rPr>
              <a:t>— add a row here (table) </a:t>
            </a:r>
            <a:r>
              <a:rPr lang="en-US" sz="2500" b="1" dirty="0">
                <a:solidFill>
                  <a:schemeClr val="accent2"/>
                </a:solidFill>
                <a:latin typeface="Arial" panose="020B0604020202020204" pitchFamily="34" charset="0"/>
                <a:cs typeface="Arial" panose="020B0604020202020204" pitchFamily="34" charset="0"/>
              </a:rPr>
              <a:t>and</a:t>
            </a:r>
            <a:r>
              <a:rPr lang="en-US" sz="2500" dirty="0">
                <a:latin typeface="Arial" panose="020B0604020202020204" pitchFamily="34" charset="0"/>
                <a:cs typeface="Arial" panose="020B0604020202020204" pitchFamily="34" charset="0"/>
              </a:rPr>
              <a:t> set </a:t>
            </a:r>
            <a:r>
              <a:rPr lang="en-US" sz="2500" dirty="0">
                <a:latin typeface="Courier New" panose="02070309020205020404" pitchFamily="49" charset="0"/>
                <a:cs typeface="Courier New" panose="02070309020205020404" pitchFamily="49" charset="0"/>
              </a:rPr>
              <a:t>level</a:t>
            </a:r>
            <a:r>
              <a:rPr lang="en-US" sz="2500" dirty="0">
                <a:latin typeface="Arial" panose="020B0604020202020204" pitchFamily="34" charset="0"/>
                <a:cs typeface="Arial" panose="020B0604020202020204" pitchFamily="34" charset="0"/>
              </a:rPr>
              <a:t> in the forecast call to match. After that, everything downstream follows automatically.</a:t>
            </a:r>
          </a:p>
        </p:txBody>
      </p:sp>
    </p:spTree>
    <p:extLst>
      <p:ext uri="{BB962C8B-B14F-4D97-AF65-F5344CB8AC3E}">
        <p14:creationId xmlns:p14="http://schemas.microsoft.com/office/powerpoint/2010/main" val="1698041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78423-4912-C194-3B70-203D4DD23430}"/>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BFA159A-1648-9B53-2A97-1EBA5CAEB722}"/>
              </a:ext>
            </a:extLst>
          </p:cNvPr>
          <p:cNvGraphicFramePr>
            <a:graphicFrameLocks noGrp="1"/>
          </p:cNvGraphicFramePr>
          <p:nvPr/>
        </p:nvGraphicFramePr>
        <p:xfrm>
          <a:off x="104900" y="232107"/>
          <a:ext cx="12003465" cy="6294120"/>
        </p:xfrm>
        <a:graphic>
          <a:graphicData uri="http://schemas.openxmlformats.org/drawingml/2006/table">
            <a:tbl>
              <a:tblPr firstRow="1" bandRow="1">
                <a:tableStyleId>{5940675A-B579-460E-94D1-54222C63F5DA}</a:tableStyleId>
              </a:tblPr>
              <a:tblGrid>
                <a:gridCol w="2281287">
                  <a:extLst>
                    <a:ext uri="{9D8B030D-6E8A-4147-A177-3AD203B41FA5}">
                      <a16:colId xmlns:a16="http://schemas.microsoft.com/office/drawing/2014/main" val="833287054"/>
                    </a:ext>
                  </a:extLst>
                </a:gridCol>
                <a:gridCol w="3912124">
                  <a:extLst>
                    <a:ext uri="{9D8B030D-6E8A-4147-A177-3AD203B41FA5}">
                      <a16:colId xmlns:a16="http://schemas.microsoft.com/office/drawing/2014/main" val="2692972846"/>
                    </a:ext>
                  </a:extLst>
                </a:gridCol>
                <a:gridCol w="1979629">
                  <a:extLst>
                    <a:ext uri="{9D8B030D-6E8A-4147-A177-3AD203B41FA5}">
                      <a16:colId xmlns:a16="http://schemas.microsoft.com/office/drawing/2014/main" val="741367170"/>
                    </a:ext>
                  </a:extLst>
                </a:gridCol>
                <a:gridCol w="3830425">
                  <a:extLst>
                    <a:ext uri="{9D8B030D-6E8A-4147-A177-3AD203B41FA5}">
                      <a16:colId xmlns:a16="http://schemas.microsoft.com/office/drawing/2014/main" val="132666660"/>
                    </a:ext>
                  </a:extLst>
                </a:gridCol>
              </a:tblGrid>
              <a:tr h="370840">
                <a:tc>
                  <a:txBody>
                    <a:bodyPr/>
                    <a:lstStyle/>
                    <a:p>
                      <a:pPr algn="ctr"/>
                      <a:r>
                        <a:rPr lang="en-US" sz="1600" b="1" dirty="0">
                          <a:latin typeface="Arial" panose="020B0604020202020204" pitchFamily="34" charset="0"/>
                          <a:cs typeface="Arial" panose="020B0604020202020204" pitchFamily="34" charset="0"/>
                        </a:rPr>
                        <a:t>Column</a:t>
                      </a:r>
                    </a:p>
                  </a:txBody>
                  <a:tcP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Description</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Entry Type</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Acceptable Values</a:t>
                      </a:r>
                    </a:p>
                  </a:txBody>
                  <a:tcP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extLst>
                  <a:ext uri="{0D108BD9-81ED-4DB2-BD59-A6C34878D82A}">
                    <a16:rowId xmlns:a16="http://schemas.microsoft.com/office/drawing/2014/main" val="2489783184"/>
                  </a:ext>
                </a:extLst>
              </a:tr>
              <a:tr h="370840">
                <a:tc>
                  <a:txBody>
                    <a:bodyPr/>
                    <a:lstStyle/>
                    <a:p>
                      <a:pPr algn="l"/>
                      <a:r>
                        <a:rPr lang="en-US" sz="1600" dirty="0" err="1">
                          <a:latin typeface="Courier New" panose="02070309020205020404" pitchFamily="49" charset="0"/>
                          <a:cs typeface="Courier New" panose="02070309020205020404" pitchFamily="49" charset="0"/>
                        </a:rPr>
                        <a:t>reference_date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day of the week the forecast(s) are submitted to the challenge. It is the Saturday following the forecast due date.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042036332"/>
                  </a:ext>
                </a:extLst>
              </a:tr>
              <a:tr h="370840">
                <a:tc>
                  <a:txBody>
                    <a:bodyPr/>
                    <a:lstStyle/>
                    <a:p>
                      <a:pPr algn="l"/>
                      <a:r>
                        <a:rPr lang="en-US" sz="1600" dirty="0">
                          <a:latin typeface="Courier New" panose="02070309020205020404" pitchFamily="49" charset="0"/>
                          <a:cs typeface="Courier New" panose="02070309020205020404" pitchFamily="49" charset="0"/>
                        </a:rPr>
                        <a:t>target</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target of the forecast.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err="1">
                          <a:latin typeface="Courier New" panose="02070309020205020404" pitchFamily="49" charset="0"/>
                          <a:cs typeface="Courier New" panose="02070309020205020404" pitchFamily="49" charset="0"/>
                        </a:rPr>
                        <a:t>wk</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inc</a:t>
                      </a:r>
                      <a:r>
                        <a:rPr lang="en-US" sz="1600" dirty="0">
                          <a:latin typeface="Courier New" panose="02070309020205020404" pitchFamily="49" charset="0"/>
                          <a:cs typeface="Courier New" panose="02070309020205020404" pitchFamily="49" charset="0"/>
                        </a:rPr>
                        <a:t> flu </a:t>
                      </a:r>
                      <a:r>
                        <a:rPr lang="en-US" sz="1600" dirty="0" err="1">
                          <a:latin typeface="Courier New" panose="02070309020205020404" pitchFamily="49" charset="0"/>
                          <a:cs typeface="Courier New" panose="02070309020205020404" pitchFamily="49" charset="0"/>
                        </a:rPr>
                        <a:t>hosp</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147885958"/>
                  </a:ext>
                </a:extLst>
              </a:tr>
              <a:tr h="370840">
                <a:tc>
                  <a:txBody>
                    <a:bodyPr/>
                    <a:lstStyle/>
                    <a:p>
                      <a:pPr algn="l"/>
                      <a:r>
                        <a:rPr lang="en-US" sz="1600" dirty="0">
                          <a:latin typeface="Courier New" panose="02070309020205020404" pitchFamily="49" charset="0"/>
                          <a:cs typeface="Courier New" panose="02070309020205020404" pitchFamily="49" charset="0"/>
                        </a:rPr>
                        <a:t>horizon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number of weeks between the </a:t>
                      </a:r>
                      <a:r>
                        <a:rPr lang="en-US" sz="1600" dirty="0" err="1">
                          <a:latin typeface="Arial" panose="020B0604020202020204" pitchFamily="34" charset="0"/>
                          <a:cs typeface="Arial" panose="020B0604020202020204" pitchFamily="34" charset="0"/>
                        </a:rPr>
                        <a:t>reference_date</a:t>
                      </a:r>
                      <a:r>
                        <a:rPr lang="en-US" sz="1600" dirty="0">
                          <a:latin typeface="Arial" panose="020B0604020202020204" pitchFamily="34" charset="0"/>
                          <a:cs typeface="Arial" panose="020B0604020202020204" pitchFamily="34" charset="0"/>
                        </a:rPr>
                        <a:t> and the </a:t>
                      </a:r>
                      <a:r>
                        <a:rPr lang="en-US" sz="1600" dirty="0" err="1">
                          <a:latin typeface="Arial" panose="020B0604020202020204" pitchFamily="34" charset="0"/>
                          <a:cs typeface="Arial" panose="020B0604020202020204" pitchFamily="34" charset="0"/>
                        </a:rPr>
                        <a:t>target_end_date</a:t>
                      </a:r>
                      <a:r>
                        <a:rPr lang="en-US" sz="1600" dirty="0">
                          <a:latin typeface="Arial" panose="020B0604020202020204" pitchFamily="34" charset="0"/>
                          <a:cs typeface="Arial" panose="020B0604020202020204" pitchFamily="34" charset="0"/>
                        </a:rPr>
                        <a: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[1]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949957553"/>
                  </a:ext>
                </a:extLst>
              </a:tr>
              <a:tr h="370840">
                <a:tc>
                  <a:txBody>
                    <a:bodyPr/>
                    <a:lstStyle/>
                    <a:p>
                      <a:pPr algn="l"/>
                      <a:r>
                        <a:rPr lang="en-US" sz="1600" dirty="0" err="1">
                          <a:latin typeface="Courier New" panose="02070309020205020404" pitchFamily="49" charset="0"/>
                          <a:cs typeface="Courier New" panose="02070309020205020404" pitchFamily="49" charset="0"/>
                        </a:rPr>
                        <a:t>target_end_date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date of the retrospective/nowcast/</a:t>
                      </a:r>
                    </a:p>
                    <a:p>
                      <a:pPr algn="l"/>
                      <a:r>
                        <a:rPr lang="en-US" sz="1600" dirty="0">
                          <a:latin typeface="Arial" panose="020B0604020202020204" pitchFamily="34" charset="0"/>
                          <a:cs typeface="Arial" panose="020B0604020202020204" pitchFamily="34" charset="0"/>
                        </a:rPr>
                        <a:t>forecast target’s week (Saturday).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155191041"/>
                  </a:ext>
                </a:extLst>
              </a:tr>
              <a:tr h="370840">
                <a:tc>
                  <a:txBody>
                    <a:bodyPr/>
                    <a:lstStyle/>
                    <a:p>
                      <a:pPr algn="l"/>
                      <a:r>
                        <a:rPr lang="en-US" sz="1600" dirty="0">
                          <a:latin typeface="Courier New" panose="02070309020205020404" pitchFamily="49" charset="0"/>
                          <a:cs typeface="Courier New" panose="02070309020205020404" pitchFamily="49" charset="0"/>
                        </a:rPr>
                        <a:t>location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b="0" i="0" kern="1200" dirty="0">
                          <a:solidFill>
                            <a:schemeClr val="tx1"/>
                          </a:solidFill>
                          <a:effectLst/>
                          <a:latin typeface="Arial" panose="020B0604020202020204" pitchFamily="34" charset="0"/>
                          <a:ea typeface="+mn-ea"/>
                          <a:cs typeface="Arial" panose="020B0604020202020204" pitchFamily="34" charset="0"/>
                        </a:rPr>
                        <a:t>FIPS codes for U.S. states as well as "US" for national forecasts the </a:t>
                      </a:r>
                      <a:r>
                        <a:rPr lang="en-US" sz="1600" dirty="0">
                          <a:latin typeface="Arial" panose="020B0604020202020204" pitchFamily="34" charset="0"/>
                          <a:cs typeface="Arial" panose="020B0604020202020204" pitchFamily="34" charset="0"/>
                        </a:rPr>
                        <a:t>corresponding row is associated with.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US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907684717"/>
                  </a:ext>
                </a:extLst>
              </a:tr>
              <a:tr h="370840">
                <a:tc>
                  <a:txBody>
                    <a:bodyPr/>
                    <a:lstStyle/>
                    <a:p>
                      <a:pPr algn="l"/>
                      <a:r>
                        <a:rPr lang="en-US" sz="1600" dirty="0" err="1">
                          <a:latin typeface="Courier New" panose="02070309020205020404" pitchFamily="49" charset="0"/>
                          <a:cs typeface="Courier New" panose="02070309020205020404" pitchFamily="49" charset="0"/>
                        </a:rPr>
                        <a:t>output_type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type of value shown.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quantile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386425733"/>
                  </a:ext>
                </a:extLst>
              </a:tr>
              <a:tr h="370840">
                <a:tc>
                  <a:txBody>
                    <a:bodyPr/>
                    <a:lstStyle/>
                    <a:p>
                      <a:pPr algn="l"/>
                      <a:r>
                        <a:rPr lang="en-US" sz="1600" dirty="0" err="1">
                          <a:latin typeface="Courier New" panose="02070309020205020404" pitchFamily="49" charset="0"/>
                          <a:cs typeface="Courier New" panose="02070309020205020404" pitchFamily="49" charset="0"/>
                        </a:rPr>
                        <a:t>output_type_id</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quantile label for the value in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b="0" i="0" kern="1200" dirty="0">
                          <a:solidFill>
                            <a:schemeClr val="tx1"/>
                          </a:solidFill>
                          <a:effectLst/>
                          <a:latin typeface="Courier New" panose="02070309020205020404" pitchFamily="49" charset="0"/>
                          <a:ea typeface="+mn-ea"/>
                          <a:cs typeface="Courier New" panose="02070309020205020404" pitchFamily="49" charset="0"/>
                        </a:rPr>
                        <a:t>0.01, 0.025, 0.05, 0.1, 0.15, 0.2, 0.25, 0.3, 0.35, 0.4, 0.45, 0.5, 0.55, 0.6, 0.65, 0.7, 0.75, 0.8, 0.85, 0.9, 0.95, 0.975, </a:t>
                      </a:r>
                      <a:r>
                        <a:rPr lang="en-US" sz="1600" b="0" i="0" kern="1200" dirty="0">
                          <a:solidFill>
                            <a:schemeClr val="tx1"/>
                          </a:solidFill>
                          <a:effectLst/>
                          <a:latin typeface="Arial" panose="020B0604020202020204" pitchFamily="34" charset="0"/>
                          <a:ea typeface="+mn-ea"/>
                          <a:cs typeface="Arial" panose="020B0604020202020204" pitchFamily="34" charset="0"/>
                        </a:rPr>
                        <a:t>and</a:t>
                      </a:r>
                      <a:r>
                        <a:rPr lang="en-US" sz="1600" b="0" i="0" kern="1200" dirty="0">
                          <a:solidFill>
                            <a:schemeClr val="tx1"/>
                          </a:solidFill>
                          <a:effectLst/>
                          <a:latin typeface="Courier New" panose="02070309020205020404" pitchFamily="49" charset="0"/>
                          <a:ea typeface="+mn-ea"/>
                          <a:cs typeface="Courier New" panose="02070309020205020404" pitchFamily="49" charset="0"/>
                        </a:rPr>
                        <a:t> 0.99</a:t>
                      </a:r>
                      <a:endParaRPr lang="en-US" sz="1600" b="0" i="0" kern="1200" dirty="0">
                        <a:solidFill>
                          <a:schemeClr val="dk1"/>
                        </a:solidFill>
                        <a:effectLst/>
                        <a:latin typeface="Courier New" panose="02070309020205020404" pitchFamily="49" charset="0"/>
                        <a:ea typeface="+mn-ea"/>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625344559"/>
                  </a:ext>
                </a:extLst>
              </a:tr>
              <a:tr h="370840">
                <a:tc>
                  <a:txBody>
                    <a:bodyPr/>
                    <a:lstStyle/>
                    <a:p>
                      <a:pPr algn="l"/>
                      <a:r>
                        <a:rPr lang="en-US" sz="1600" dirty="0">
                          <a:latin typeface="Courier New" panose="02070309020205020404" pitchFamily="49" charset="0"/>
                          <a:cs typeface="Courier New" panose="02070309020205020404" pitchFamily="49" charset="0"/>
                        </a:rPr>
                        <a:t>value</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non-negative numbers indicating the quantile prediction for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Integer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6296662"/>
                  </a:ext>
                </a:extLst>
              </a:tr>
            </a:tbl>
          </a:graphicData>
        </a:graphic>
      </p:graphicFrame>
      <p:sp>
        <p:nvSpPr>
          <p:cNvPr id="2" name="Rectangle 1">
            <a:extLst>
              <a:ext uri="{FF2B5EF4-FFF2-40B4-BE49-F238E27FC236}">
                <a16:creationId xmlns:a16="http://schemas.microsoft.com/office/drawing/2014/main" id="{919A5911-F5D4-EB2F-AF7C-F53A15ABA103}"/>
              </a:ext>
            </a:extLst>
          </p:cNvPr>
          <p:cNvSpPr/>
          <p:nvPr/>
        </p:nvSpPr>
        <p:spPr>
          <a:xfrm>
            <a:off x="9165266" y="4890981"/>
            <a:ext cx="616688" cy="28707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690D8B4-FCCC-8F1D-2955-E0D0941623C4}"/>
              </a:ext>
            </a:extLst>
          </p:cNvPr>
          <p:cNvSpPr/>
          <p:nvPr/>
        </p:nvSpPr>
        <p:spPr>
          <a:xfrm>
            <a:off x="9101468" y="4416062"/>
            <a:ext cx="731520" cy="28707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78135C7-9CDF-1179-1163-5639B6A998AD}"/>
              </a:ext>
            </a:extLst>
          </p:cNvPr>
          <p:cNvSpPr/>
          <p:nvPr/>
        </p:nvSpPr>
        <p:spPr>
          <a:xfrm>
            <a:off x="9604744" y="5376533"/>
            <a:ext cx="731520" cy="28707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6A6C494-2188-8881-7600-C9EE66A2B919}"/>
              </a:ext>
            </a:extLst>
          </p:cNvPr>
          <p:cNvSpPr txBox="1"/>
          <p:nvPr/>
        </p:nvSpPr>
        <p:spPr>
          <a:xfrm>
            <a:off x="2705985" y="2441938"/>
            <a:ext cx="6801293" cy="1246495"/>
          </a:xfrm>
          <a:prstGeom prst="rect">
            <a:avLst/>
          </a:prstGeom>
          <a:solidFill>
            <a:schemeClr val="bg1">
              <a:lumMod val="95000"/>
            </a:schemeClr>
          </a:solidFill>
          <a:ln w="57150">
            <a:solidFill>
              <a:schemeClr val="tx1"/>
            </a:solidFill>
          </a:ln>
        </p:spPr>
        <p:txBody>
          <a:bodyPr wrap="square" rtlCol="0">
            <a:spAutoFit/>
          </a:bodyPr>
          <a:lstStyle/>
          <a:p>
            <a:pPr algn="ctr"/>
            <a:r>
              <a:rPr lang="en-US" sz="2500" dirty="0">
                <a:latin typeface="Arial" panose="020B0604020202020204" pitchFamily="34" charset="0"/>
                <a:cs typeface="Arial" panose="020B0604020202020204" pitchFamily="34" charset="0"/>
              </a:rPr>
              <a:t>We’ve gotten the </a:t>
            </a:r>
            <a:r>
              <a:rPr lang="en-US" sz="2500" dirty="0" err="1">
                <a:latin typeface="Courier New" panose="02070309020205020404" pitchFamily="49" charset="0"/>
                <a:cs typeface="Courier New" panose="02070309020205020404" pitchFamily="49" charset="0"/>
              </a:rPr>
              <a:t>output_type_id</a:t>
            </a:r>
            <a:r>
              <a:rPr lang="en-US" sz="2500" dirty="0">
                <a:latin typeface="Arial" panose="020B0604020202020204" pitchFamily="34" charset="0"/>
                <a:cs typeface="Arial" panose="020B0604020202020204" pitchFamily="34" charset="0"/>
              </a:rPr>
              <a:t> and </a:t>
            </a:r>
            <a:r>
              <a:rPr lang="en-US" sz="2500" dirty="0">
                <a:latin typeface="Courier New" panose="02070309020205020404" pitchFamily="49" charset="0"/>
                <a:cs typeface="Courier New" panose="02070309020205020404" pitchFamily="49" charset="0"/>
              </a:rPr>
              <a:t>value</a:t>
            </a:r>
            <a:r>
              <a:rPr lang="en-US" sz="2500" dirty="0">
                <a:latin typeface="Arial" panose="020B0604020202020204" pitchFamily="34" charset="0"/>
                <a:cs typeface="Arial" panose="020B0604020202020204" pitchFamily="34" charset="0"/>
              </a:rPr>
              <a:t> ready (previous slides), now we need to pull everything together into one data set!</a:t>
            </a:r>
          </a:p>
        </p:txBody>
      </p:sp>
    </p:spTree>
    <p:extLst>
      <p:ext uri="{BB962C8B-B14F-4D97-AF65-F5344CB8AC3E}">
        <p14:creationId xmlns:p14="http://schemas.microsoft.com/office/powerpoint/2010/main" val="2833105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7" grpId="0" animBg="1"/>
      <p:bldP spid="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254B0-C0AF-27DA-E827-4AEEDBFAD6D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1FC2AED-C523-742E-5312-E74D9451F294}"/>
              </a:ext>
            </a:extLst>
          </p:cNvPr>
          <p:cNvSpPr/>
          <p:nvPr/>
        </p:nvSpPr>
        <p:spPr>
          <a:xfrm>
            <a:off x="914400" y="105179"/>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dirty="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75D7E2D7-EDD1-1A55-2654-720D80571134}"/>
              </a:ext>
            </a:extLst>
          </p:cNvPr>
          <p:cNvSpPr/>
          <p:nvPr/>
        </p:nvSpPr>
        <p:spPr>
          <a:xfrm>
            <a:off x="997399" y="303754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DFEF63AD-B952-C5DD-AE65-725E86A4A175}"/>
              </a:ext>
            </a:extLst>
          </p:cNvPr>
          <p:cNvSpPr/>
          <p:nvPr/>
        </p:nvSpPr>
        <p:spPr>
          <a:xfrm>
            <a:off x="997399" y="303754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noProof="0" dirty="0">
                <a:solidFill>
                  <a:schemeClr val="bg1"/>
                </a:solidFill>
                <a:latin typeface="Trebuchet MS" pitchFamily="34" charset="0"/>
              </a:rPr>
              <a:t>1</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D074D61A-B2D8-0704-77F1-EE1A97AE78A2}"/>
              </a:ext>
            </a:extLst>
          </p:cNvPr>
          <p:cNvSpPr/>
          <p:nvPr/>
        </p:nvSpPr>
        <p:spPr>
          <a:xfrm>
            <a:off x="1858754" y="4318019"/>
            <a:ext cx="9144000" cy="1272150"/>
          </a:xfrm>
          <a:prstGeom prst="rect">
            <a:avLst/>
          </a:prstGeom>
          <a:noFill/>
          <a:ln/>
        </p:spPr>
        <p:txBody>
          <a:bodyPr wrap="square" lIns="0" tIns="0" rIns="0" bIns="0" rtlCol="0" anchor="ctr"/>
          <a:lstStyle/>
          <a:p>
            <a:pPr defTabSz="1219170"/>
            <a:r>
              <a:rPr lang="en-US" sz="2200" b="1" dirty="0">
                <a:solidFill>
                  <a:schemeClr val="accent2"/>
                </a:solidFill>
                <a:latin typeface="Arial" panose="020B0604020202020204" pitchFamily="34" charset="0"/>
                <a:ea typeface="Calibri" pitchFamily="34" charset="-122"/>
                <a:cs typeface="Arial" panose="020B0604020202020204" pitchFamily="34" charset="0"/>
              </a:rPr>
              <a:t>Save the file </a:t>
            </a:r>
            <a:r>
              <a:rPr lang="en-US" sz="2200" dirty="0">
                <a:latin typeface="Arial" panose="020B0604020202020204" pitchFamily="34" charset="0"/>
                <a:ea typeface="Calibri" pitchFamily="34" charset="-122"/>
                <a:cs typeface="Arial" panose="020B0604020202020204" pitchFamily="34" charset="0"/>
              </a:rPr>
              <a:t>to </a:t>
            </a:r>
            <a:r>
              <a:rPr lang="en-US" sz="2200" dirty="0">
                <a:latin typeface="Courier New" panose="02070309020205020404" pitchFamily="49" charset="0"/>
                <a:cs typeface="Courier New" panose="02070309020205020404" pitchFamily="49" charset="0"/>
              </a:rPr>
              <a:t>output/data/03_forecast/flusight_forecasts.csv</a:t>
            </a:r>
            <a:r>
              <a:rPr lang="en-US" sz="2200" dirty="0">
                <a:latin typeface="Arial" panose="020B0604020202020204" pitchFamily="34" charset="0"/>
                <a:cs typeface="Arial" panose="020B0604020202020204" pitchFamily="34" charset="0"/>
              </a:rPr>
              <a:t>; create the folder if it is absent. </a:t>
            </a:r>
          </a:p>
          <a:p>
            <a:pPr defTabSz="1219170"/>
            <a:endParaRPr lang="en-US" sz="2200" dirty="0">
              <a:latin typeface="Arial" panose="020B0604020202020204" pitchFamily="34" charset="0"/>
              <a:cs typeface="Arial" panose="020B0604020202020204" pitchFamily="34" charset="0"/>
            </a:endParaRPr>
          </a:p>
        </p:txBody>
      </p:sp>
      <p:sp>
        <p:nvSpPr>
          <p:cNvPr id="14" name="Text 13">
            <a:extLst>
              <a:ext uri="{FF2B5EF4-FFF2-40B4-BE49-F238E27FC236}">
                <a16:creationId xmlns:a16="http://schemas.microsoft.com/office/drawing/2014/main" id="{235FE41C-A150-7A80-5D17-BE683E7EA3D7}"/>
              </a:ext>
            </a:extLst>
          </p:cNvPr>
          <p:cNvSpPr/>
          <p:nvPr/>
        </p:nvSpPr>
        <p:spPr>
          <a:xfrm>
            <a:off x="1858754" y="5611435"/>
            <a:ext cx="9418846" cy="836423"/>
          </a:xfrm>
          <a:prstGeom prst="rect">
            <a:avLst/>
          </a:prstGeom>
          <a:noFill/>
          <a:ln/>
        </p:spPr>
        <p:txBody>
          <a:bodyPr wrap="square" lIns="0" tIns="0" rIns="0" bIns="0" rtlCol="0" anchor="ctr"/>
          <a:lstStyle/>
          <a:p>
            <a:pPr lvl="0" defTabSz="1219170">
              <a:defRPr/>
            </a:pPr>
            <a:r>
              <a:rPr lang="en-US" sz="2200" dirty="0">
                <a:latin typeface="Arial" panose="020B0604020202020204" pitchFamily="34" charset="0"/>
                <a:ea typeface="Calibri" pitchFamily="34" charset="-122"/>
                <a:cs typeface="Arial" panose="020B0604020202020204" pitchFamily="34" charset="0"/>
              </a:rPr>
              <a:t>Regenerate </a:t>
            </a:r>
            <a:r>
              <a:rPr lang="en-US" sz="2200" b="1" dirty="0">
                <a:solidFill>
                  <a:schemeClr val="accent2"/>
                </a:solidFill>
                <a:latin typeface="Arial" panose="020B0604020202020204" pitchFamily="34" charset="0"/>
                <a:ea typeface="Calibri" pitchFamily="34" charset="-122"/>
                <a:cs typeface="Arial" panose="020B0604020202020204" pitchFamily="34" charset="0"/>
              </a:rPr>
              <a:t>agents.md</a:t>
            </a:r>
            <a:r>
              <a:rPr lang="en-US" sz="2200" dirty="0">
                <a:solidFill>
                  <a:schemeClr val="accent2"/>
                </a:solidFill>
                <a:latin typeface="Arial" panose="020B0604020202020204" pitchFamily="34" charset="0"/>
                <a:ea typeface="Calibri" pitchFamily="34" charset="-122"/>
                <a:cs typeface="Arial" panose="020B0604020202020204" pitchFamily="34" charset="0"/>
              </a:rPr>
              <a:t> </a:t>
            </a:r>
            <a:r>
              <a:rPr lang="en-US" sz="2200" dirty="0">
                <a:latin typeface="Arial" panose="020B0604020202020204" pitchFamily="34" charset="0"/>
                <a:ea typeface="Calibri" pitchFamily="34" charset="-122"/>
                <a:cs typeface="Arial" panose="020B0604020202020204" pitchFamily="34" charset="0"/>
              </a:rPr>
              <a:t>from your updated rules document and u</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se the </a:t>
            </a:r>
            <a:r>
              <a:rPr kumimoji="0" lang="en-US" sz="220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agents.md</a:t>
            </a:r>
            <a:r>
              <a:rPr kumimoji="0" lang="en-US" sz="220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a:t>
            </a:r>
            <a:r>
              <a:rPr lang="en-US" sz="2200" dirty="0">
                <a:latin typeface="Arial" panose="020B0604020202020204" pitchFamily="34" charset="0"/>
                <a:ea typeface="Calibri" pitchFamily="34" charset="-122"/>
                <a:cs typeface="Arial" panose="020B0604020202020204" pitchFamily="34" charset="0"/>
              </a:rPr>
              <a:t>(or your preferred AI) </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re-generate </a:t>
            </a:r>
            <a:r>
              <a:rPr kumimoji="0" lang="en-US" sz="22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output/scripts/03_forecast.R</a:t>
            </a:r>
            <a:r>
              <a:rPr lang="en-US" sz="2200" b="1"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Run the script and check the output.</a:t>
            </a:r>
            <a:endParaRPr kumimoji="0" lang="en-US" sz="220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D971AF36-B37E-BA89-2C05-688D11055ABC}"/>
              </a:ext>
            </a:extLst>
          </p:cNvPr>
          <p:cNvSpPr/>
          <p:nvPr/>
        </p:nvSpPr>
        <p:spPr>
          <a:xfrm>
            <a:off x="800100" y="1070812"/>
            <a:ext cx="10591800" cy="1472583"/>
          </a:xfrm>
          <a:prstGeom prst="roundRect">
            <a:avLst/>
          </a:prstGeom>
          <a:solidFill>
            <a:schemeClr val="bg1">
              <a:lumMod val="95000"/>
            </a:schemeClr>
          </a:solidFill>
          <a:ln/>
        </p:spPr>
        <p:txBody>
          <a:bodyPr wrap="square" lIns="0" tIns="0" rIns="0" bIns="0" rtlCol="0" anchor="ctr"/>
          <a:lstStyle/>
          <a:p>
            <a:pPr algn="ctr" defTabSz="1219170"/>
            <a:r>
              <a:rPr lang="en-US" sz="2500" b="1" u="sng" dirty="0">
                <a:solidFill>
                  <a:srgbClr val="334155"/>
                </a:solidFill>
                <a:latin typeface="Arial" panose="020B0604020202020204" pitchFamily="34" charset="0"/>
                <a:ea typeface="Calibri" pitchFamily="34" charset="-122"/>
                <a:cs typeface="Arial" panose="020B0604020202020204" pitchFamily="34" charset="0"/>
              </a:rPr>
              <a:t>On your own</a:t>
            </a:r>
            <a:r>
              <a:rPr lang="en-US" sz="2500" dirty="0">
                <a:solidFill>
                  <a:srgbClr val="334155"/>
                </a:solidFill>
                <a:latin typeface="Arial" panose="020B0604020202020204" pitchFamily="34" charset="0"/>
                <a:ea typeface="Calibri" pitchFamily="34" charset="-122"/>
                <a:cs typeface="Arial" panose="020B0604020202020204" pitchFamily="34" charset="0"/>
              </a:rPr>
              <a:t>, add the </a:t>
            </a:r>
            <a:r>
              <a:rPr lang="en-US" sz="2500" b="1" dirty="0">
                <a:solidFill>
                  <a:schemeClr val="accent2"/>
                </a:solidFill>
                <a:latin typeface="Arial" panose="020B0604020202020204" pitchFamily="34" charset="0"/>
                <a:ea typeface="Calibri" pitchFamily="34" charset="-122"/>
                <a:cs typeface="Arial" panose="020B0604020202020204" pitchFamily="34" charset="0"/>
              </a:rPr>
              <a:t>rules for formatting </a:t>
            </a:r>
            <a:r>
              <a:rPr lang="en-US" sz="2500" dirty="0">
                <a:solidFill>
                  <a:srgbClr val="334155"/>
                </a:solidFill>
                <a:latin typeface="Arial" panose="020B0604020202020204" pitchFamily="34" charset="0"/>
                <a:ea typeface="Calibri" pitchFamily="34" charset="-122"/>
                <a:cs typeface="Arial" panose="020B0604020202020204" pitchFamily="34" charset="0"/>
              </a:rPr>
              <a:t>the forecast in </a:t>
            </a:r>
            <a:r>
              <a:rPr lang="en-US" sz="2500" dirty="0" err="1">
                <a:solidFill>
                  <a:srgbClr val="334155"/>
                </a:solidFill>
                <a:latin typeface="Arial" panose="020B0604020202020204" pitchFamily="34" charset="0"/>
                <a:ea typeface="Calibri" pitchFamily="34" charset="-122"/>
                <a:cs typeface="Arial" panose="020B0604020202020204" pitchFamily="34" charset="0"/>
              </a:rPr>
              <a:t>FluSight</a:t>
            </a:r>
            <a:r>
              <a:rPr lang="en-US" sz="2500" dirty="0">
                <a:solidFill>
                  <a:srgbClr val="334155"/>
                </a:solidFill>
                <a:latin typeface="Arial" panose="020B0604020202020204" pitchFamily="34" charset="0"/>
                <a:ea typeface="Calibri" pitchFamily="34" charset="-122"/>
                <a:cs typeface="Arial" panose="020B0604020202020204" pitchFamily="34" charset="0"/>
              </a:rPr>
              <a:t> format and </a:t>
            </a:r>
            <a:r>
              <a:rPr lang="en-US" sz="2500" b="1" dirty="0">
                <a:solidFill>
                  <a:schemeClr val="accent2"/>
                </a:solidFill>
                <a:latin typeface="Arial" panose="020B0604020202020204" pitchFamily="34" charset="0"/>
                <a:ea typeface="Calibri" pitchFamily="34" charset="-122"/>
                <a:cs typeface="Arial" panose="020B0604020202020204" pitchFamily="34" charset="0"/>
              </a:rPr>
              <a:t>saving the file </a:t>
            </a:r>
            <a:r>
              <a:rPr lang="en-US" sz="2500" dirty="0">
                <a:solidFill>
                  <a:srgbClr val="334155"/>
                </a:solidFill>
                <a:latin typeface="Arial" panose="020B0604020202020204" pitchFamily="34" charset="0"/>
                <a:ea typeface="Calibri" pitchFamily="34" charset="-122"/>
                <a:cs typeface="Arial" panose="020B0604020202020204" pitchFamily="34" charset="0"/>
              </a:rPr>
              <a:t>(</a:t>
            </a:r>
            <a:r>
              <a:rPr lang="en-US" sz="2500" b="1" dirty="0">
                <a:solidFill>
                  <a:srgbClr val="334155"/>
                </a:solidFill>
                <a:latin typeface="Arial" panose="020B0604020202020204" pitchFamily="34" charset="0"/>
                <a:ea typeface="Calibri" pitchFamily="34" charset="-122"/>
                <a:cs typeface="Arial" panose="020B0604020202020204" pitchFamily="34" charset="0"/>
              </a:rPr>
              <a:t>Hint:</a:t>
            </a:r>
            <a:r>
              <a:rPr lang="en-US" sz="2500" dirty="0">
                <a:solidFill>
                  <a:srgbClr val="334155"/>
                </a:solidFill>
                <a:latin typeface="Arial" panose="020B0604020202020204" pitchFamily="34" charset="0"/>
                <a:ea typeface="Calibri" pitchFamily="34" charset="-122"/>
                <a:cs typeface="Arial" panose="020B0604020202020204" pitchFamily="34" charset="0"/>
              </a:rPr>
              <a:t> look at the column names and descriptions provided on the previous slide). </a:t>
            </a:r>
            <a:endParaRPr lang="en-US" sz="2500" dirty="0">
              <a:solidFill>
                <a:prstClr val="black"/>
              </a:solidFill>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0300337F-DE86-E594-0B96-42F73776F401}"/>
              </a:ext>
            </a:extLst>
          </p:cNvPr>
          <p:cNvPicPr>
            <a:picLocks noChangeAspect="1"/>
          </p:cNvPicPr>
          <p:nvPr/>
        </p:nvPicPr>
        <p:blipFill>
          <a:blip r:embed="rId3"/>
          <a:stretch>
            <a:fillRect/>
          </a:stretch>
        </p:blipFill>
        <p:spPr>
          <a:xfrm>
            <a:off x="2663312" y="4046"/>
            <a:ext cx="981703" cy="981703"/>
          </a:xfrm>
          <a:prstGeom prst="rect">
            <a:avLst/>
          </a:prstGeom>
        </p:spPr>
      </p:pic>
      <p:sp>
        <p:nvSpPr>
          <p:cNvPr id="5" name="Text 7">
            <a:extLst>
              <a:ext uri="{FF2B5EF4-FFF2-40B4-BE49-F238E27FC236}">
                <a16:creationId xmlns:a16="http://schemas.microsoft.com/office/drawing/2014/main" id="{C78FA08B-5E27-6B27-C373-0B70D890212D}"/>
              </a:ext>
            </a:extLst>
          </p:cNvPr>
          <p:cNvSpPr/>
          <p:nvPr/>
        </p:nvSpPr>
        <p:spPr>
          <a:xfrm>
            <a:off x="1858754" y="2944547"/>
            <a:ext cx="9144000" cy="1272150"/>
          </a:xfrm>
          <a:prstGeom prst="rect">
            <a:avLst/>
          </a:prstGeom>
          <a:noFill/>
          <a:ln/>
        </p:spPr>
        <p:txBody>
          <a:bodyPr wrap="square" lIns="0" tIns="0" rIns="0" bIns="0" rtlCol="0" anchor="ctr"/>
          <a:lstStyle/>
          <a:p>
            <a:pPr defTabSz="1219170"/>
            <a:r>
              <a:rPr lang="en-US" sz="2200" dirty="0">
                <a:latin typeface="Arial" panose="020B0604020202020204" pitchFamily="34" charset="0"/>
                <a:ea typeface="Calibri" pitchFamily="34" charset="-122"/>
                <a:cs typeface="Arial" panose="020B0604020202020204" pitchFamily="34" charset="0"/>
              </a:rPr>
              <a:t>Using a table format (see </a:t>
            </a:r>
            <a:r>
              <a:rPr lang="en-US" sz="2200" b="1" dirty="0">
                <a:latin typeface="Courier New" panose="02070309020205020404" pitchFamily="49" charset="0"/>
                <a:cs typeface="Courier New" panose="02070309020205020404" pitchFamily="49" charset="0"/>
              </a:rPr>
              <a:t>Reshape wide </a:t>
            </a:r>
            <a:r>
              <a:rPr lang="en-US" sz="2200" dirty="0">
                <a:latin typeface="Arial" panose="020B0604020202020204" pitchFamily="34" charset="0"/>
                <a:cs typeface="Arial" panose="020B0604020202020204" pitchFamily="34" charset="0"/>
              </a:rPr>
              <a:t>slide</a:t>
            </a:r>
            <a:r>
              <a:rPr lang="en-US" sz="2200" dirty="0">
                <a:latin typeface="Arial" panose="020B0604020202020204" pitchFamily="34" charset="0"/>
                <a:ea typeface="Calibri" pitchFamily="34" charset="-122"/>
                <a:cs typeface="Arial" panose="020B0604020202020204" pitchFamily="34" charset="0"/>
              </a:rPr>
              <a:t>), </a:t>
            </a:r>
            <a:r>
              <a:rPr lang="en-US" sz="2200" b="1" dirty="0">
                <a:solidFill>
                  <a:schemeClr val="accent2"/>
                </a:solidFill>
                <a:latin typeface="Arial" panose="020B0604020202020204" pitchFamily="34" charset="0"/>
                <a:ea typeface="Calibri" pitchFamily="34" charset="-122"/>
                <a:cs typeface="Arial" panose="020B0604020202020204" pitchFamily="34" charset="0"/>
              </a:rPr>
              <a:t>create a table </a:t>
            </a:r>
            <a:r>
              <a:rPr lang="en-US" sz="2200" dirty="0">
                <a:latin typeface="Arial" panose="020B0604020202020204" pitchFamily="34" charset="0"/>
                <a:ea typeface="Calibri" pitchFamily="34" charset="-122"/>
                <a:cs typeface="Arial" panose="020B0604020202020204" pitchFamily="34" charset="0"/>
              </a:rPr>
              <a:t>with the </a:t>
            </a:r>
            <a:r>
              <a:rPr lang="en-US" sz="2200" dirty="0">
                <a:latin typeface="Courier New" panose="02070309020205020404" pitchFamily="49" charset="0"/>
                <a:ea typeface="Calibri" pitchFamily="34" charset="-122"/>
                <a:cs typeface="Courier New" panose="02070309020205020404" pitchFamily="49" charset="0"/>
              </a:rPr>
              <a:t>Column </a:t>
            </a:r>
            <a:r>
              <a:rPr lang="en-US" sz="2200" dirty="0">
                <a:latin typeface="Arial" panose="020B0604020202020204" pitchFamily="34" charset="0"/>
                <a:ea typeface="Calibri" pitchFamily="34" charset="-122"/>
                <a:cs typeface="Arial" panose="020B0604020202020204" pitchFamily="34" charset="0"/>
              </a:rPr>
              <a:t>names and </a:t>
            </a:r>
            <a:r>
              <a:rPr lang="en-US" sz="2200" dirty="0">
                <a:latin typeface="Courier New" panose="02070309020205020404" pitchFamily="49" charset="0"/>
                <a:ea typeface="Calibri" pitchFamily="34" charset="-122"/>
                <a:cs typeface="Courier New" panose="02070309020205020404" pitchFamily="49" charset="0"/>
              </a:rPr>
              <a:t>Type/Value </a:t>
            </a:r>
            <a:r>
              <a:rPr lang="en-US" sz="2200" dirty="0">
                <a:latin typeface="Arial" panose="020B0604020202020204" pitchFamily="34" charset="0"/>
                <a:ea typeface="Calibri" pitchFamily="34" charset="-122"/>
                <a:cs typeface="Arial" panose="020B0604020202020204" pitchFamily="34" charset="0"/>
              </a:rPr>
              <a:t>for each field required for </a:t>
            </a:r>
            <a:r>
              <a:rPr lang="en-US" sz="2200" dirty="0" err="1">
                <a:latin typeface="Arial" panose="020B0604020202020204" pitchFamily="34" charset="0"/>
                <a:ea typeface="Calibri" pitchFamily="34" charset="-122"/>
                <a:cs typeface="Arial" panose="020B0604020202020204" pitchFamily="34" charset="0"/>
              </a:rPr>
              <a:t>FluSight</a:t>
            </a:r>
            <a:r>
              <a:rPr lang="en-US" sz="2200" dirty="0">
                <a:latin typeface="Arial" panose="020B0604020202020204" pitchFamily="34" charset="0"/>
                <a:ea typeface="Calibri" pitchFamily="34" charset="-122"/>
                <a:cs typeface="Arial" panose="020B0604020202020204" pitchFamily="34" charset="0"/>
              </a:rPr>
              <a:t>. Include this table as part of </a:t>
            </a:r>
            <a:r>
              <a:rPr lang="en-US" sz="2200" b="1" dirty="0">
                <a:solidFill>
                  <a:schemeClr val="accent2"/>
                </a:solidFill>
                <a:latin typeface="Arial" panose="020B0604020202020204" pitchFamily="34" charset="0"/>
                <a:ea typeface="Calibri" pitchFamily="34" charset="-122"/>
                <a:cs typeface="Arial" panose="020B0604020202020204" pitchFamily="34" charset="0"/>
              </a:rPr>
              <a:t>Rule 5</a:t>
            </a:r>
            <a:r>
              <a:rPr lang="en-US" sz="2200" dirty="0">
                <a:latin typeface="Arial" panose="020B0604020202020204" pitchFamily="34" charset="0"/>
                <a:ea typeface="Calibri" pitchFamily="34" charset="-122"/>
                <a:cs typeface="Arial" panose="020B0604020202020204" pitchFamily="34" charset="0"/>
              </a:rPr>
              <a:t>. Use the table on the previous slide to guide you.   </a:t>
            </a:r>
            <a:endParaRPr lang="en-US" sz="2200" dirty="0">
              <a:latin typeface="Arial" panose="020B0604020202020204" pitchFamily="34" charset="0"/>
              <a:cs typeface="Arial" panose="020B0604020202020204" pitchFamily="34" charset="0"/>
            </a:endParaRPr>
          </a:p>
          <a:p>
            <a:pPr defTabSz="1219170"/>
            <a:endParaRPr lang="en-US" sz="2200" dirty="0">
              <a:latin typeface="Arial" panose="020B0604020202020204" pitchFamily="34" charset="0"/>
              <a:cs typeface="Arial" panose="020B0604020202020204" pitchFamily="34" charset="0"/>
            </a:endParaRPr>
          </a:p>
        </p:txBody>
      </p:sp>
      <p:sp>
        <p:nvSpPr>
          <p:cNvPr id="12" name="Shape 2">
            <a:extLst>
              <a:ext uri="{FF2B5EF4-FFF2-40B4-BE49-F238E27FC236}">
                <a16:creationId xmlns:a16="http://schemas.microsoft.com/office/drawing/2014/main" id="{366E133F-6431-48B0-D1DF-5767473F5477}"/>
              </a:ext>
            </a:extLst>
          </p:cNvPr>
          <p:cNvSpPr/>
          <p:nvPr/>
        </p:nvSpPr>
        <p:spPr>
          <a:xfrm>
            <a:off x="997399" y="4476483"/>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3">
            <a:extLst>
              <a:ext uri="{FF2B5EF4-FFF2-40B4-BE49-F238E27FC236}">
                <a16:creationId xmlns:a16="http://schemas.microsoft.com/office/drawing/2014/main" id="{4B5577AC-C677-7229-1CF9-686D08953C34}"/>
              </a:ext>
            </a:extLst>
          </p:cNvPr>
          <p:cNvSpPr/>
          <p:nvPr/>
        </p:nvSpPr>
        <p:spPr>
          <a:xfrm>
            <a:off x="997399" y="4476483"/>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dirty="0">
                <a:solidFill>
                  <a:schemeClr val="bg1"/>
                </a:solidFill>
                <a:latin typeface="Trebuchet MS" pitchFamily="34" charset="0"/>
              </a:rPr>
              <a:t>2</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6" name="Shape 2">
            <a:extLst>
              <a:ext uri="{FF2B5EF4-FFF2-40B4-BE49-F238E27FC236}">
                <a16:creationId xmlns:a16="http://schemas.microsoft.com/office/drawing/2014/main" id="{AE594CBC-4879-4190-D860-1A37F3AFF753}"/>
              </a:ext>
            </a:extLst>
          </p:cNvPr>
          <p:cNvSpPr/>
          <p:nvPr/>
        </p:nvSpPr>
        <p:spPr>
          <a:xfrm>
            <a:off x="997399" y="5691491"/>
            <a:ext cx="640080" cy="640080"/>
          </a:xfrm>
          <a:prstGeom prst="ellipse">
            <a:avLst/>
          </a:prstGeom>
          <a:solidFill>
            <a:srgbClr val="0E9AA7"/>
          </a:solidFill>
          <a:ln/>
        </p:spPr>
        <p:txBody>
          <a:bodyPr/>
          <a:lstStyle/>
          <a:p>
            <a:pPr algn="ctr" defTabSz="1219170">
              <a:defRPr/>
            </a:pPr>
            <a:r>
              <a:rPr lang="en-US" sz="2400" dirty="0">
                <a:solidFill>
                  <a:schemeClr val="bg1"/>
                </a:solidFill>
                <a:latin typeface="Trebuchet MS" pitchFamily="34" charset="0"/>
              </a:rPr>
              <a:t>3</a:t>
            </a:r>
            <a:endParaRPr lang="en-US" sz="2400" dirty="0">
              <a:solidFill>
                <a:schemeClr val="bg1"/>
              </a:solidFill>
              <a:latin typeface="Calibri" panose="020F0502020204030204"/>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7" name="Text 3">
            <a:extLst>
              <a:ext uri="{FF2B5EF4-FFF2-40B4-BE49-F238E27FC236}">
                <a16:creationId xmlns:a16="http://schemas.microsoft.com/office/drawing/2014/main" id="{2EA97B18-FAD7-A4BC-805B-5DC282204F27}"/>
              </a:ext>
            </a:extLst>
          </p:cNvPr>
          <p:cNvSpPr/>
          <p:nvPr/>
        </p:nvSpPr>
        <p:spPr>
          <a:xfrm>
            <a:off x="997399" y="5691491"/>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1051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P spid="14" grpId="0" animBg="1"/>
      <p:bldP spid="5" grpId="0" animBg="1"/>
      <p:bldP spid="12" grpId="0" animBg="1"/>
      <p:bldP spid="13" grpId="0" animBg="1"/>
      <p:bldP spid="16" grpId="0" animBg="1"/>
      <p:bldP spid="1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4A843-2A0D-09B0-8530-EBEDF40B0C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5371A9-1D22-E4DD-3C4C-EFAC97BC604F}"/>
              </a:ext>
            </a:extLst>
          </p:cNvPr>
          <p:cNvSpPr>
            <a:spLocks noGrp="1"/>
          </p:cNvSpPr>
          <p:nvPr>
            <p:ph type="title"/>
          </p:nvPr>
        </p:nvSpPr>
        <p:spPr>
          <a:xfrm>
            <a:off x="838200" y="2766219"/>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Task 4: Visualization</a:t>
            </a:r>
          </a:p>
        </p:txBody>
      </p:sp>
    </p:spTree>
    <p:extLst>
      <p:ext uri="{BB962C8B-B14F-4D97-AF65-F5344CB8AC3E}">
        <p14:creationId xmlns:p14="http://schemas.microsoft.com/office/powerpoint/2010/main" val="18911368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8DDA4-0068-D900-CF8D-309894197C5A}"/>
              </a:ext>
            </a:extLst>
          </p:cNvPr>
          <p:cNvSpPr>
            <a:spLocks noGrp="1"/>
          </p:cNvSpPr>
          <p:nvPr>
            <p:ph type="title"/>
          </p:nvPr>
        </p:nvSpPr>
        <p:spPr>
          <a:xfrm>
            <a:off x="914400" y="180058"/>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Visualizing our Results</a:t>
            </a:r>
          </a:p>
        </p:txBody>
      </p:sp>
      <p:sp>
        <p:nvSpPr>
          <p:cNvPr id="3" name="Content Placeholder 2">
            <a:extLst>
              <a:ext uri="{FF2B5EF4-FFF2-40B4-BE49-F238E27FC236}">
                <a16:creationId xmlns:a16="http://schemas.microsoft.com/office/drawing/2014/main" id="{67B81FC1-1F81-360C-FDFC-14D625F6677C}"/>
              </a:ext>
            </a:extLst>
          </p:cNvPr>
          <p:cNvSpPr>
            <a:spLocks noGrp="1"/>
          </p:cNvSpPr>
          <p:nvPr>
            <p:ph idx="1"/>
          </p:nvPr>
        </p:nvSpPr>
        <p:spPr/>
        <p:txBody>
          <a:bodyPr/>
          <a:lstStyle/>
          <a:p>
            <a:pPr>
              <a:spcAft>
                <a:spcPts val="600"/>
              </a:spcAft>
            </a:pPr>
            <a:r>
              <a:rPr lang="en-US" dirty="0">
                <a:latin typeface="Arial" panose="020B0604020202020204" pitchFamily="34" charset="0"/>
                <a:cs typeface="Arial" panose="020B0604020202020204" pitchFamily="34" charset="0"/>
              </a:rPr>
              <a:t>As a final step, we will </a:t>
            </a:r>
            <a:r>
              <a:rPr lang="en-US" b="1" dirty="0">
                <a:solidFill>
                  <a:schemeClr val="accent2"/>
                </a:solidFill>
                <a:latin typeface="Arial" panose="020B0604020202020204" pitchFamily="34" charset="0"/>
                <a:cs typeface="Arial" panose="020B0604020202020204" pitchFamily="34" charset="0"/>
              </a:rPr>
              <a:t>visualize our results</a:t>
            </a:r>
            <a:r>
              <a:rPr lang="en-US" dirty="0">
                <a:latin typeface="Arial" panose="020B0604020202020204" pitchFamily="34" charset="0"/>
                <a:cs typeface="Arial" panose="020B0604020202020204" pitchFamily="34" charset="0"/>
              </a:rPr>
              <a:t>. A quick plot lets us catch any immediate issues (misaligned dates, wildly wide intervals, forecasts that ignore the trend) and get a feel for overall performance. </a:t>
            </a:r>
          </a:p>
          <a:p>
            <a:pPr>
              <a:spcAft>
                <a:spcPts val="600"/>
              </a:spcAft>
            </a:pPr>
            <a:r>
              <a:rPr lang="en-US" dirty="0">
                <a:latin typeface="Arial" panose="020B0604020202020204" pitchFamily="34" charset="0"/>
                <a:cs typeface="Arial" panose="020B0604020202020204" pitchFamily="34" charset="0"/>
              </a:rPr>
              <a:t>Remember, the rules for figures should </a:t>
            </a:r>
            <a:r>
              <a:rPr lang="en-US" b="1" dirty="0">
                <a:solidFill>
                  <a:schemeClr val="accent2"/>
                </a:solidFill>
                <a:latin typeface="Arial" panose="020B0604020202020204" pitchFamily="34" charset="0"/>
                <a:cs typeface="Arial" panose="020B0604020202020204" pitchFamily="34" charset="0"/>
              </a:rPr>
              <a:t>be specific </a:t>
            </a:r>
            <a:r>
              <a:rPr lang="en-US" dirty="0">
                <a:latin typeface="Arial" panose="020B0604020202020204" pitchFamily="34" charset="0"/>
                <a:cs typeface="Arial" panose="020B0604020202020204" pitchFamily="34" charset="0"/>
              </a:rPr>
              <a:t>enough that someone (or an AI) could produce the plot without asking any follow-up questions. </a:t>
            </a:r>
          </a:p>
          <a:p>
            <a:r>
              <a:rPr lang="en-US" dirty="0">
                <a:latin typeface="Arial" panose="020B0604020202020204" pitchFamily="34" charset="0"/>
                <a:cs typeface="Arial" panose="020B0604020202020204" pitchFamily="34" charset="0"/>
              </a:rPr>
              <a:t>We'll work </a:t>
            </a:r>
            <a:r>
              <a:rPr lang="en-US" b="1" dirty="0">
                <a:solidFill>
                  <a:schemeClr val="accent2"/>
                </a:solidFill>
                <a:latin typeface="Arial" panose="020B0604020202020204" pitchFamily="34" charset="0"/>
                <a:cs typeface="Arial" panose="020B0604020202020204" pitchFamily="34" charset="0"/>
              </a:rPr>
              <a:t>together</a:t>
            </a:r>
            <a:r>
              <a:rPr lang="en-US" dirty="0">
                <a:latin typeface="Arial" panose="020B0604020202020204" pitchFamily="34" charset="0"/>
                <a:cs typeface="Arial" panose="020B0604020202020204" pitchFamily="34" charset="0"/>
              </a:rPr>
              <a:t> to build our final figure.</a:t>
            </a:r>
          </a:p>
        </p:txBody>
      </p:sp>
    </p:spTree>
    <p:extLst>
      <p:ext uri="{BB962C8B-B14F-4D97-AF65-F5344CB8AC3E}">
        <p14:creationId xmlns:p14="http://schemas.microsoft.com/office/powerpoint/2010/main" val="1741816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C3634A-381C-61F7-C5D0-DE876F1E29DB}"/>
              </a:ext>
            </a:extLst>
          </p:cNvPr>
          <p:cNvPicPr>
            <a:picLocks noChangeAspect="1"/>
          </p:cNvPicPr>
          <p:nvPr/>
        </p:nvPicPr>
        <p:blipFill>
          <a:blip r:embed="rId2"/>
          <a:stretch>
            <a:fillRect/>
          </a:stretch>
        </p:blipFill>
        <p:spPr>
          <a:xfrm>
            <a:off x="828675" y="268605"/>
            <a:ext cx="10534650" cy="6320790"/>
          </a:xfrm>
          <a:prstGeom prst="rect">
            <a:avLst/>
          </a:prstGeom>
        </p:spPr>
      </p:pic>
    </p:spTree>
    <p:extLst>
      <p:ext uri="{BB962C8B-B14F-4D97-AF65-F5344CB8AC3E}">
        <p14:creationId xmlns:p14="http://schemas.microsoft.com/office/powerpoint/2010/main" val="8321634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182880"/>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Writing the Visualization Rules</a:t>
            </a:r>
            <a:endParaRPr lang="en-US" sz="4000" dirty="0">
              <a:solidFill>
                <a:srgbClr val="7030A0"/>
              </a:solidFill>
              <a:latin typeface="Arial" panose="020B0604020202020204" pitchFamily="34" charset="0"/>
              <a:cs typeface="Arial" panose="020B0604020202020204" pitchFamily="34" charset="0"/>
            </a:endParaRPr>
          </a:p>
        </p:txBody>
      </p:sp>
      <p:sp>
        <p:nvSpPr>
          <p:cNvPr id="4" name="Text 2"/>
          <p:cNvSpPr/>
          <p:nvPr/>
        </p:nvSpPr>
        <p:spPr>
          <a:xfrm>
            <a:off x="401054" y="1407160"/>
            <a:ext cx="9753600" cy="426720"/>
          </a:xfrm>
          <a:prstGeom prst="rect">
            <a:avLst/>
          </a:prstGeom>
          <a:noFill/>
          <a:ln/>
        </p:spPr>
        <p:txBody>
          <a:bodyPr wrap="square" lIns="0" tIns="0" rIns="0" bIns="0" rtlCol="0" anchor="ctr"/>
          <a:lstStyle/>
          <a:p>
            <a:pPr defTabSz="1219170"/>
            <a:r>
              <a:rPr lang="en-US" sz="2500" b="1" dirty="0">
                <a:solidFill>
                  <a:srgbClr val="0B2545"/>
                </a:solidFill>
                <a:latin typeface="Arial" panose="020B0604020202020204" pitchFamily="34" charset="0"/>
                <a:ea typeface="Trebuchet MS" pitchFamily="34" charset="-122"/>
                <a:cs typeface="Arial" panose="020B0604020202020204" pitchFamily="34" charset="0"/>
              </a:rPr>
              <a:t>Things to think about:</a:t>
            </a:r>
            <a:endParaRPr lang="en-US" sz="2500" dirty="0">
              <a:solidFill>
                <a:prstClr val="black"/>
              </a:solidFill>
              <a:latin typeface="Arial" panose="020B0604020202020204" pitchFamily="34" charset="0"/>
              <a:cs typeface="Arial" panose="020B0604020202020204" pitchFamily="34" charset="0"/>
            </a:endParaRPr>
          </a:p>
        </p:txBody>
      </p:sp>
      <p:graphicFrame>
        <p:nvGraphicFramePr>
          <p:cNvPr id="25" name="Table 24">
            <a:extLst>
              <a:ext uri="{FF2B5EF4-FFF2-40B4-BE49-F238E27FC236}">
                <a16:creationId xmlns:a16="http://schemas.microsoft.com/office/drawing/2014/main" id="{319859AC-CB52-C499-7BF6-A441ADEA298D}"/>
              </a:ext>
            </a:extLst>
          </p:cNvPr>
          <p:cNvGraphicFramePr>
            <a:graphicFrameLocks noGrp="1"/>
          </p:cNvGraphicFramePr>
          <p:nvPr>
            <p:extLst>
              <p:ext uri="{D42A27DB-BD31-4B8C-83A1-F6EECF244321}">
                <p14:modId xmlns:p14="http://schemas.microsoft.com/office/powerpoint/2010/main" val="1456349300"/>
              </p:ext>
            </p:extLst>
          </p:nvPr>
        </p:nvGraphicFramePr>
        <p:xfrm>
          <a:off x="401054" y="2204720"/>
          <a:ext cx="11389893" cy="4114800"/>
        </p:xfrm>
        <a:graphic>
          <a:graphicData uri="http://schemas.openxmlformats.org/drawingml/2006/table">
            <a:tbl>
              <a:tblPr firstRow="1" bandRow="1">
                <a:tableStyleId>{5940675A-B579-460E-94D1-54222C63F5DA}</a:tableStyleId>
              </a:tblPr>
              <a:tblGrid>
                <a:gridCol w="3883564">
                  <a:extLst>
                    <a:ext uri="{9D8B030D-6E8A-4147-A177-3AD203B41FA5}">
                      <a16:colId xmlns:a16="http://schemas.microsoft.com/office/drawing/2014/main" val="4266282761"/>
                    </a:ext>
                  </a:extLst>
                </a:gridCol>
                <a:gridCol w="7506329">
                  <a:extLst>
                    <a:ext uri="{9D8B030D-6E8A-4147-A177-3AD203B41FA5}">
                      <a16:colId xmlns:a16="http://schemas.microsoft.com/office/drawing/2014/main" val="2861197655"/>
                    </a:ext>
                  </a:extLst>
                </a:gridCol>
              </a:tblGrid>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Element</a:t>
                      </a:r>
                    </a:p>
                  </a:txBody>
                  <a:tcPr anchor="ctr">
                    <a:solidFill>
                      <a:srgbClr val="F0F9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Description</a:t>
                      </a:r>
                    </a:p>
                  </a:txBody>
                  <a:tcPr anchor="ctr">
                    <a:solidFill>
                      <a:srgbClr val="F0F9FF"/>
                    </a:solidFill>
                  </a:tcPr>
                </a:tc>
                <a:extLst>
                  <a:ext uri="{0D108BD9-81ED-4DB2-BD59-A6C34878D82A}">
                    <a16:rowId xmlns:a16="http://schemas.microsoft.com/office/drawing/2014/main" val="3040343983"/>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Plot type &amp; Plot Elements</a:t>
                      </a:r>
                      <a:endParaRPr lang="en-US" sz="2200" dirty="0">
                        <a:solidFill>
                          <a:schemeClr val="tx2"/>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2"/>
                          </a:solidFill>
                          <a:latin typeface="Arial" panose="020B0604020202020204" pitchFamily="34" charset="0"/>
                          <a:cs typeface="Arial" panose="020B0604020202020204" pitchFamily="34" charset="0"/>
                        </a:rPr>
                        <a:t>line chart, bar chart, scatter, etc.</a:t>
                      </a:r>
                    </a:p>
                  </a:txBody>
                  <a:tcPr anchor="ctr"/>
                </a:tc>
                <a:extLst>
                  <a:ext uri="{0D108BD9-81ED-4DB2-BD59-A6C34878D82A}">
                    <a16:rowId xmlns:a16="http://schemas.microsoft.com/office/drawing/2014/main" val="3766415225"/>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X-Axis and Y-Axis</a:t>
                      </a:r>
                      <a:endParaRPr lang="en-US" sz="2200" dirty="0">
                        <a:solidFill>
                          <a:schemeClr val="tx2"/>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2"/>
                          </a:solidFill>
                          <a:latin typeface="Arial" panose="020B0604020202020204" pitchFamily="34" charset="0"/>
                          <a:cs typeface="Arial" panose="020B0604020202020204" pitchFamily="34" charset="0"/>
                        </a:rPr>
                        <a:t>variable, label text, date format, start at zero?</a:t>
                      </a:r>
                    </a:p>
                  </a:txBody>
                  <a:tcPr anchor="ctr"/>
                </a:tc>
                <a:extLst>
                  <a:ext uri="{0D108BD9-81ED-4DB2-BD59-A6C34878D82A}">
                    <a16:rowId xmlns:a16="http://schemas.microsoft.com/office/drawing/2014/main" val="1431164405"/>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Title</a:t>
                      </a:r>
                      <a:endParaRPr lang="en-US" sz="2200" dirty="0">
                        <a:solidFill>
                          <a:schemeClr val="tx2"/>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2"/>
                          </a:solidFill>
                          <a:latin typeface="Arial" panose="020B0604020202020204" pitchFamily="34" charset="0"/>
                          <a:cs typeface="Arial" panose="020B0604020202020204" pitchFamily="34" charset="0"/>
                        </a:rPr>
                        <a:t>exact title text for the figure</a:t>
                      </a:r>
                    </a:p>
                  </a:txBody>
                  <a:tcPr anchor="ctr"/>
                </a:tc>
                <a:extLst>
                  <a:ext uri="{0D108BD9-81ED-4DB2-BD59-A6C34878D82A}">
                    <a16:rowId xmlns:a16="http://schemas.microsoft.com/office/drawing/2014/main" val="1100436042"/>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Colors and highlights</a:t>
                      </a:r>
                      <a:endParaRPr lang="en-US" sz="2200" dirty="0">
                        <a:solidFill>
                          <a:schemeClr val="tx2"/>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2"/>
                          </a:solidFill>
                          <a:latin typeface="Arial" panose="020B0604020202020204" pitchFamily="34" charset="0"/>
                          <a:cs typeface="Arial" panose="020B0604020202020204" pitchFamily="34" charset="0"/>
                        </a:rPr>
                        <a:t>line color, shading, annotation colors</a:t>
                      </a:r>
                    </a:p>
                  </a:txBody>
                  <a:tcPr anchor="ctr"/>
                </a:tc>
                <a:extLst>
                  <a:ext uri="{0D108BD9-81ED-4DB2-BD59-A6C34878D82A}">
                    <a16:rowId xmlns:a16="http://schemas.microsoft.com/office/drawing/2014/main" val="2569343291"/>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Annotations and markers</a:t>
                      </a:r>
                      <a:endParaRPr lang="en-US" sz="2200" dirty="0">
                        <a:solidFill>
                          <a:schemeClr val="tx2"/>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2"/>
                          </a:solidFill>
                          <a:latin typeface="Arial" panose="020B0604020202020204" pitchFamily="34" charset="0"/>
                          <a:cs typeface="Arial" panose="020B0604020202020204" pitchFamily="34" charset="0"/>
                        </a:rPr>
                        <a:t>peak markers, reference lines, text labels</a:t>
                      </a:r>
                    </a:p>
                  </a:txBody>
                  <a:tcPr anchor="ctr"/>
                </a:tc>
                <a:extLst>
                  <a:ext uri="{0D108BD9-81ED-4DB2-BD59-A6C34878D82A}">
                    <a16:rowId xmlns:a16="http://schemas.microsoft.com/office/drawing/2014/main" val="1313927436"/>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Legend</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2"/>
                          </a:solidFill>
                          <a:latin typeface="Arial" panose="020B0604020202020204" pitchFamily="34" charset="0"/>
                          <a:cs typeface="Arial" panose="020B0604020202020204" pitchFamily="34" charset="0"/>
                        </a:rPr>
                        <a:t>Legend elements, labels, colors</a:t>
                      </a:r>
                    </a:p>
                  </a:txBody>
                  <a:tcPr anchor="ctr"/>
                </a:tc>
                <a:extLst>
                  <a:ext uri="{0D108BD9-81ED-4DB2-BD59-A6C34878D82A}">
                    <a16:rowId xmlns:a16="http://schemas.microsoft.com/office/drawing/2014/main" val="2910443722"/>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Output file name</a:t>
                      </a:r>
                    </a:p>
                  </a:txBody>
                  <a:tcPr anchor="ctr"/>
                </a:tc>
                <a:tc>
                  <a:txBody>
                    <a:bodyPr/>
                    <a:lstStyle/>
                    <a:p>
                      <a:r>
                        <a:rPr lang="en-US" sz="2400" b="0" kern="1200" dirty="0">
                          <a:solidFill>
                            <a:schemeClr val="tx1"/>
                          </a:solidFill>
                          <a:effectLst/>
                          <a:latin typeface="+mn-lt"/>
                          <a:ea typeface="+mn-ea"/>
                          <a:cs typeface="+mn-cs"/>
                        </a:rPr>
                        <a:t>output/figures/03_forecast/forecast_vs_observed.png</a:t>
                      </a:r>
                    </a:p>
                  </a:txBody>
                  <a:tcPr anchor="ctr"/>
                </a:tc>
                <a:extLst>
                  <a:ext uri="{0D108BD9-81ED-4DB2-BD59-A6C34878D82A}">
                    <a16:rowId xmlns:a16="http://schemas.microsoft.com/office/drawing/2014/main" val="2047442961"/>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Save Requirements</a:t>
                      </a:r>
                    </a:p>
                  </a:txBody>
                  <a:tcPr anchor="ctr"/>
                </a:tc>
                <a:tc>
                  <a:txBody>
                    <a:bodyPr/>
                    <a:lstStyle/>
                    <a:p>
                      <a:r>
                        <a:rPr lang="en-US" sz="2400" b="0" kern="1200" dirty="0">
                          <a:solidFill>
                            <a:schemeClr val="tx1"/>
                          </a:solidFill>
                          <a:effectLst/>
                          <a:latin typeface="+mn-lt"/>
                          <a:ea typeface="+mn-ea"/>
                          <a:cs typeface="+mn-cs"/>
                        </a:rPr>
                        <a:t>DPI</a:t>
                      </a:r>
                    </a:p>
                  </a:txBody>
                  <a:tcPr anchor="ctr"/>
                </a:tc>
                <a:extLst>
                  <a:ext uri="{0D108BD9-81ED-4DB2-BD59-A6C34878D82A}">
                    <a16:rowId xmlns:a16="http://schemas.microsoft.com/office/drawing/2014/main" val="2606776428"/>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F69E9-59A4-5091-CDCA-AF218A896B7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EE30C68-F076-E244-B770-D1986693C46E}"/>
              </a:ext>
            </a:extLst>
          </p:cNvPr>
          <p:cNvSpPr/>
          <p:nvPr/>
        </p:nvSpPr>
        <p:spPr>
          <a:xfrm>
            <a:off x="914400" y="99794"/>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dirty="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3731BD9E-44DC-4ECD-5EDF-1CA969BE6EB3}"/>
              </a:ext>
            </a:extLst>
          </p:cNvPr>
          <p:cNvSpPr/>
          <p:nvPr/>
        </p:nvSpPr>
        <p:spPr>
          <a:xfrm>
            <a:off x="1061194" y="2404151"/>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9C173C25-B8FD-B3DD-643A-C7D2049AC922}"/>
              </a:ext>
            </a:extLst>
          </p:cNvPr>
          <p:cNvSpPr/>
          <p:nvPr/>
        </p:nvSpPr>
        <p:spPr>
          <a:xfrm>
            <a:off x="1061194" y="2404151"/>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5" name="Text 4">
            <a:extLst>
              <a:ext uri="{FF2B5EF4-FFF2-40B4-BE49-F238E27FC236}">
                <a16:creationId xmlns:a16="http://schemas.microsoft.com/office/drawing/2014/main" id="{6C842E04-5CB2-2831-2D8C-4C9A891CA1C0}"/>
              </a:ext>
            </a:extLst>
          </p:cNvPr>
          <p:cNvSpPr/>
          <p:nvPr/>
        </p:nvSpPr>
        <p:spPr>
          <a:xfrm>
            <a:off x="1858754" y="2431145"/>
            <a:ext cx="9144000" cy="607709"/>
          </a:xfrm>
          <a:prstGeom prst="rect">
            <a:avLst/>
          </a:prstGeom>
          <a:noFill/>
          <a:ln/>
        </p:spPr>
        <p:txBody>
          <a:bodyPr wrap="square" lIns="0" tIns="0" rIns="0" bIns="0" rtlCol="0" anchor="ctr"/>
          <a:lstStyle/>
          <a:p>
            <a:pPr defTabSz="1219170"/>
            <a:r>
              <a:rPr lang="en-US" sz="2200" b="1" dirty="0">
                <a:solidFill>
                  <a:schemeClr val="accent2"/>
                </a:solidFill>
                <a:latin typeface="Arial" panose="020B0604020202020204" pitchFamily="34" charset="0"/>
                <a:ea typeface="Calibri" pitchFamily="34" charset="-122"/>
                <a:cs typeface="Arial" panose="020B0604020202020204" pitchFamily="34" charset="0"/>
              </a:rPr>
              <a:t>Create</a:t>
            </a:r>
            <a:r>
              <a:rPr lang="en-US" sz="2200" dirty="0">
                <a:latin typeface="Arial" panose="020B0604020202020204" pitchFamily="34" charset="0"/>
                <a:ea typeface="Calibri" pitchFamily="34" charset="-122"/>
                <a:cs typeface="Arial" panose="020B0604020202020204" pitchFamily="34" charset="0"/>
              </a:rPr>
              <a:t> the </a:t>
            </a:r>
            <a:r>
              <a:rPr lang="en-US" sz="2200" dirty="0">
                <a:latin typeface="Courier New" panose="02070309020205020404" pitchFamily="49" charset="0"/>
                <a:ea typeface="Calibri" pitchFamily="34" charset="-122"/>
                <a:cs typeface="Courier New" panose="02070309020205020404" pitchFamily="49" charset="0"/>
              </a:rPr>
              <a:t>## 6. Forecast Figure</a:t>
            </a:r>
            <a:r>
              <a:rPr lang="en-US" sz="2200" dirty="0">
                <a:latin typeface="Arial" panose="020B0604020202020204" pitchFamily="34" charset="0"/>
                <a:ea typeface="Calibri" pitchFamily="34" charset="-122"/>
                <a:cs typeface="Arial" panose="020B0604020202020204" pitchFamily="34" charset="0"/>
              </a:rPr>
              <a:t> </a:t>
            </a:r>
            <a:r>
              <a:rPr lang="en-US" sz="2200" b="1" dirty="0">
                <a:solidFill>
                  <a:schemeClr val="accent2"/>
                </a:solidFill>
                <a:latin typeface="Arial" panose="020B0604020202020204" pitchFamily="34" charset="0"/>
                <a:ea typeface="Calibri" pitchFamily="34" charset="-122"/>
                <a:cs typeface="Arial" panose="020B0604020202020204" pitchFamily="34" charset="0"/>
              </a:rPr>
              <a:t>section header </a:t>
            </a:r>
            <a:r>
              <a:rPr lang="en-US" sz="2200" dirty="0">
                <a:latin typeface="Arial" panose="020B0604020202020204" pitchFamily="34" charset="0"/>
                <a:ea typeface="Calibri" pitchFamily="34" charset="-122"/>
                <a:cs typeface="Arial" panose="020B0604020202020204" pitchFamily="34" charset="0"/>
              </a:rPr>
              <a:t>under </a:t>
            </a:r>
          </a:p>
          <a:p>
            <a:pPr defTabSz="1219170"/>
            <a:r>
              <a:rPr lang="en-US" sz="2200" dirty="0">
                <a:latin typeface="Courier New" panose="02070309020205020404" pitchFamily="49" charset="0"/>
                <a:ea typeface="Calibri" pitchFamily="34" charset="-122"/>
                <a:cs typeface="Courier New" panose="02070309020205020404" pitchFamily="49" charset="0"/>
              </a:rPr>
              <a:t>## 5. </a:t>
            </a:r>
            <a:r>
              <a:rPr lang="en-US" sz="2200" dirty="0">
                <a:latin typeface="Courier New" panose="02070309020205020404" pitchFamily="49" charset="0"/>
                <a:cs typeface="Courier New" panose="02070309020205020404" pitchFamily="49" charset="0"/>
              </a:rPr>
              <a:t>Forecast Generation</a:t>
            </a:r>
            <a:r>
              <a:rPr lang="en-US" sz="2200" dirty="0">
                <a:latin typeface="Courier New" panose="02070309020205020404" pitchFamily="49" charset="0"/>
                <a:ea typeface="Calibri" pitchFamily="34" charset="-122"/>
                <a:cs typeface="Courier New" panose="02070309020205020404" pitchFamily="49" charset="0"/>
              </a:rPr>
              <a:t> section </a:t>
            </a:r>
            <a:r>
              <a:rPr lang="en-US" sz="2200" dirty="0">
                <a:latin typeface="Arial" panose="020B0604020202020204" pitchFamily="34" charset="0"/>
                <a:ea typeface="Calibri" pitchFamily="34" charset="-122"/>
                <a:cs typeface="Arial" panose="020B0604020202020204" pitchFamily="34" charset="0"/>
              </a:rPr>
              <a:t>header in rules.md.</a:t>
            </a:r>
            <a:endParaRPr lang="en-US" sz="2200" dirty="0">
              <a:latin typeface="Arial" panose="020B0604020202020204" pitchFamily="34" charset="0"/>
              <a:cs typeface="Arial" panose="020B0604020202020204" pitchFamily="34" charset="0"/>
            </a:endParaRPr>
          </a:p>
        </p:txBody>
      </p:sp>
      <p:sp>
        <p:nvSpPr>
          <p:cNvPr id="6" name="Shape 5">
            <a:extLst>
              <a:ext uri="{FF2B5EF4-FFF2-40B4-BE49-F238E27FC236}">
                <a16:creationId xmlns:a16="http://schemas.microsoft.com/office/drawing/2014/main" id="{C9D55DB9-52F1-B6EC-0CE3-0186385E063A}"/>
              </a:ext>
            </a:extLst>
          </p:cNvPr>
          <p:cNvSpPr/>
          <p:nvPr/>
        </p:nvSpPr>
        <p:spPr>
          <a:xfrm>
            <a:off x="1061194" y="348848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B1E5D116-59E1-9BE4-CE0C-0173984FF3CC}"/>
              </a:ext>
            </a:extLst>
          </p:cNvPr>
          <p:cNvSpPr/>
          <p:nvPr/>
        </p:nvSpPr>
        <p:spPr>
          <a:xfrm>
            <a:off x="1061194" y="348848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8A4D9455-3ECD-682C-B1A8-062ADD3D50E7}"/>
              </a:ext>
            </a:extLst>
          </p:cNvPr>
          <p:cNvSpPr/>
          <p:nvPr/>
        </p:nvSpPr>
        <p:spPr>
          <a:xfrm>
            <a:off x="1858754" y="3191750"/>
            <a:ext cx="9144000" cy="1272150"/>
          </a:xfrm>
          <a:prstGeom prst="rect">
            <a:avLst/>
          </a:prstGeom>
          <a:noFill/>
          <a:ln/>
        </p:spPr>
        <p:txBody>
          <a:bodyPr wrap="square" lIns="0" tIns="0" rIns="0" bIns="0" rtlCol="0" anchor="ctr"/>
          <a:lstStyle/>
          <a:p>
            <a:pPr defTabSz="1219170"/>
            <a:r>
              <a:rPr lang="en-US" sz="2200" b="1" dirty="0">
                <a:solidFill>
                  <a:schemeClr val="accent2"/>
                </a:solidFill>
                <a:latin typeface="Arial" panose="020B0604020202020204" pitchFamily="34" charset="0"/>
                <a:ea typeface="Calibri" pitchFamily="34" charset="-122"/>
                <a:cs typeface="Arial" panose="020B0604020202020204" pitchFamily="34" charset="0"/>
              </a:rPr>
              <a:t>Write detailed rules </a:t>
            </a:r>
            <a:r>
              <a:rPr lang="en-US" sz="2200" dirty="0">
                <a:latin typeface="Arial" panose="020B0604020202020204" pitchFamily="34" charset="0"/>
                <a:ea typeface="Calibri" pitchFamily="34" charset="-122"/>
                <a:cs typeface="Arial" panose="020B0604020202020204" pitchFamily="34" charset="0"/>
              </a:rPr>
              <a:t>to obtain the forecast visual. Make sure to specify plot types, axes, colors, annotations, file names, etc. (vague rules = vague output). </a:t>
            </a:r>
            <a:endParaRPr lang="en-US" sz="2200" dirty="0">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7A78F304-7611-F49B-BA73-9AB32B43F2B4}"/>
              </a:ext>
            </a:extLst>
          </p:cNvPr>
          <p:cNvSpPr/>
          <p:nvPr/>
        </p:nvSpPr>
        <p:spPr>
          <a:xfrm>
            <a:off x="1061194" y="4598248"/>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0" name="Text 9">
            <a:extLst>
              <a:ext uri="{FF2B5EF4-FFF2-40B4-BE49-F238E27FC236}">
                <a16:creationId xmlns:a16="http://schemas.microsoft.com/office/drawing/2014/main" id="{9E0C45DD-4E91-004F-8AC2-FD08F3186D95}"/>
              </a:ext>
            </a:extLst>
          </p:cNvPr>
          <p:cNvSpPr/>
          <p:nvPr/>
        </p:nvSpPr>
        <p:spPr>
          <a:xfrm>
            <a:off x="1061194" y="4598248"/>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3</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2" name="Shape 11">
            <a:extLst>
              <a:ext uri="{FF2B5EF4-FFF2-40B4-BE49-F238E27FC236}">
                <a16:creationId xmlns:a16="http://schemas.microsoft.com/office/drawing/2014/main" id="{48F59CB4-FCA9-3402-EE0C-FC5FB33AB3F3}"/>
              </a:ext>
            </a:extLst>
          </p:cNvPr>
          <p:cNvSpPr/>
          <p:nvPr/>
        </p:nvSpPr>
        <p:spPr>
          <a:xfrm>
            <a:off x="1061194" y="5591649"/>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12">
            <a:extLst>
              <a:ext uri="{FF2B5EF4-FFF2-40B4-BE49-F238E27FC236}">
                <a16:creationId xmlns:a16="http://schemas.microsoft.com/office/drawing/2014/main" id="{3AACBDDD-442F-1873-4FDD-C729F63D35B7}"/>
              </a:ext>
            </a:extLst>
          </p:cNvPr>
          <p:cNvSpPr/>
          <p:nvPr/>
        </p:nvSpPr>
        <p:spPr>
          <a:xfrm>
            <a:off x="1061194" y="5591649"/>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4</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4" name="Text 13">
            <a:extLst>
              <a:ext uri="{FF2B5EF4-FFF2-40B4-BE49-F238E27FC236}">
                <a16:creationId xmlns:a16="http://schemas.microsoft.com/office/drawing/2014/main" id="{0C65D749-E0B5-9B8C-326E-958AA14C213E}"/>
              </a:ext>
            </a:extLst>
          </p:cNvPr>
          <p:cNvSpPr/>
          <p:nvPr/>
        </p:nvSpPr>
        <p:spPr>
          <a:xfrm>
            <a:off x="1858754" y="5493477"/>
            <a:ext cx="9914146" cy="836423"/>
          </a:xfrm>
          <a:prstGeom prst="rect">
            <a:avLst/>
          </a:prstGeom>
          <a:noFill/>
          <a:ln/>
        </p:spPr>
        <p:txBody>
          <a:bodyPr wrap="square" lIns="0" tIns="0" rIns="0" bIns="0" rtlCol="0" anchor="ctr"/>
          <a:lstStyle/>
          <a:p>
            <a:pPr lvl="0" defTabSz="1219170">
              <a:defRPr/>
            </a:pP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sz="22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agents.md</a:t>
            </a:r>
            <a:r>
              <a:rPr kumimoji="0" lang="en-US" sz="2200" b="0" i="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 </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a:t>
            </a:r>
            <a:r>
              <a:rPr lang="en-US" sz="2200" dirty="0">
                <a:latin typeface="Arial" panose="020B0604020202020204" pitchFamily="34" charset="0"/>
                <a:ea typeface="Calibri" pitchFamily="34" charset="-122"/>
                <a:cs typeface="Arial" panose="020B0604020202020204" pitchFamily="34" charset="0"/>
              </a:rPr>
              <a:t>(or your preferred AI) </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a:t>
            </a:r>
            <a:r>
              <a:rPr lang="en-US" sz="2200" dirty="0">
                <a:latin typeface="Arial" panose="020B0604020202020204" pitchFamily="34" charset="0"/>
                <a:ea typeface="Calibri" pitchFamily="34" charset="-122"/>
                <a:cs typeface="Arial" panose="020B0604020202020204" pitchFamily="34" charset="0"/>
              </a:rPr>
              <a:t>update </a:t>
            </a:r>
            <a:r>
              <a:rPr kumimoji="0" lang="en-US" sz="22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output/scripts/03_forecast.R</a:t>
            </a:r>
            <a:r>
              <a:rPr lang="en-US" sz="2200" b="1"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Run the script and </a:t>
            </a:r>
            <a:r>
              <a:rPr lang="en-US" sz="2200" b="1" dirty="0">
                <a:solidFill>
                  <a:schemeClr val="accent2"/>
                </a:solidFill>
                <a:latin typeface="Arial" panose="020B0604020202020204" pitchFamily="34" charset="0"/>
                <a:cs typeface="Arial" panose="020B0604020202020204" pitchFamily="34" charset="0"/>
              </a:rPr>
              <a:t>check the output</a:t>
            </a:r>
            <a:r>
              <a:rPr lang="en-US" sz="2200" dirty="0">
                <a:latin typeface="Arial" panose="020B0604020202020204" pitchFamily="34" charset="0"/>
                <a:cs typeface="Arial" panose="020B0604020202020204" pitchFamily="34" charset="0"/>
              </a:rPr>
              <a:t>.</a:t>
            </a:r>
            <a:endParaRPr kumimoji="0" lang="en-US" sz="220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6497CAFB-1E6B-462D-18FD-B1B33004E34A}"/>
              </a:ext>
            </a:extLst>
          </p:cNvPr>
          <p:cNvSpPr/>
          <p:nvPr/>
        </p:nvSpPr>
        <p:spPr>
          <a:xfrm>
            <a:off x="800100" y="1099603"/>
            <a:ext cx="10591800" cy="1006898"/>
          </a:xfrm>
          <a:prstGeom prst="roundRect">
            <a:avLst/>
          </a:prstGeom>
          <a:solidFill>
            <a:schemeClr val="bg1">
              <a:lumMod val="95000"/>
            </a:schemeClr>
          </a:solidFill>
          <a:ln/>
        </p:spPr>
        <p:txBody>
          <a:bodyPr wrap="square" lIns="0" tIns="0" rIns="0" bIns="0" rtlCol="0" anchor="ctr"/>
          <a:lstStyle/>
          <a:p>
            <a:pPr algn="ctr" defTabSz="1219170"/>
            <a:r>
              <a:rPr lang="en-US" sz="2500" dirty="0">
                <a:solidFill>
                  <a:srgbClr val="334155"/>
                </a:solidFill>
                <a:latin typeface="Arial" panose="020B0604020202020204" pitchFamily="34" charset="0"/>
                <a:ea typeface="Calibri" pitchFamily="34" charset="-122"/>
                <a:cs typeface="Arial" panose="020B0604020202020204" pitchFamily="34" charset="0"/>
              </a:rPr>
              <a:t>We will work through the following steps </a:t>
            </a:r>
            <a:r>
              <a:rPr lang="en-US" sz="2500" b="1" u="sng" dirty="0">
                <a:solidFill>
                  <a:srgbClr val="334155"/>
                </a:solidFill>
                <a:latin typeface="Arial" panose="020B0604020202020204" pitchFamily="34" charset="0"/>
                <a:ea typeface="Calibri" pitchFamily="34" charset="-122"/>
                <a:cs typeface="Arial" panose="020B0604020202020204" pitchFamily="34" charset="0"/>
              </a:rPr>
              <a:t>together</a:t>
            </a:r>
            <a:r>
              <a:rPr lang="en-US" sz="2500" dirty="0">
                <a:solidFill>
                  <a:srgbClr val="334155"/>
                </a:solidFill>
                <a:latin typeface="Arial" panose="020B0604020202020204" pitchFamily="34" charset="0"/>
                <a:ea typeface="Calibri" pitchFamily="34" charset="-122"/>
                <a:cs typeface="Arial" panose="020B0604020202020204" pitchFamily="34" charset="0"/>
              </a:rPr>
              <a:t> to add that next section to our </a:t>
            </a:r>
            <a:r>
              <a:rPr lang="en-US" sz="2500" b="1" dirty="0">
                <a:solidFill>
                  <a:srgbClr val="334155"/>
                </a:solidFill>
                <a:latin typeface="Arial" panose="020B0604020202020204" pitchFamily="34" charset="0"/>
                <a:ea typeface="Calibri" pitchFamily="34" charset="-122"/>
                <a:cs typeface="Arial" panose="020B0604020202020204" pitchFamily="34" charset="0"/>
              </a:rPr>
              <a:t>rules.md</a:t>
            </a:r>
            <a:r>
              <a:rPr lang="en-US" sz="2500" dirty="0">
                <a:solidFill>
                  <a:srgbClr val="334155"/>
                </a:solidFill>
                <a:latin typeface="Arial" panose="020B0604020202020204" pitchFamily="34" charset="0"/>
                <a:ea typeface="Calibri" pitchFamily="34" charset="-122"/>
                <a:cs typeface="Arial" panose="020B0604020202020204" pitchFamily="34" charset="0"/>
              </a:rPr>
              <a:t> document. </a:t>
            </a:r>
            <a:endParaRPr lang="en-US" sz="2500" dirty="0">
              <a:solidFill>
                <a:prstClr val="black"/>
              </a:solidFill>
              <a:latin typeface="Arial" panose="020B0604020202020204" pitchFamily="34" charset="0"/>
              <a:cs typeface="Arial" panose="020B0604020202020204" pitchFamily="34" charset="0"/>
            </a:endParaRPr>
          </a:p>
        </p:txBody>
      </p:sp>
      <p:sp>
        <p:nvSpPr>
          <p:cNvPr id="18" name="Text 13">
            <a:extLst>
              <a:ext uri="{FF2B5EF4-FFF2-40B4-BE49-F238E27FC236}">
                <a16:creationId xmlns:a16="http://schemas.microsoft.com/office/drawing/2014/main" id="{ACD433B3-FBF1-F83A-7FA4-667204D6965E}"/>
              </a:ext>
            </a:extLst>
          </p:cNvPr>
          <p:cNvSpPr/>
          <p:nvPr/>
        </p:nvSpPr>
        <p:spPr>
          <a:xfrm>
            <a:off x="1858754" y="4715814"/>
            <a:ext cx="9509760" cy="426720"/>
          </a:xfrm>
          <a:prstGeom prst="rect">
            <a:avLst/>
          </a:prstGeom>
          <a:noFill/>
          <a:ln/>
        </p:spPr>
        <p:txBody>
          <a:bodyPr wrap="square" lIns="0" tIns="0" rIns="0" bIns="0" rtlCol="0" anchor="ctr"/>
          <a:lstStyle/>
          <a:p>
            <a:pPr defTabSz="1219170"/>
            <a:r>
              <a:rPr lang="en-US" sz="2200" dirty="0">
                <a:latin typeface="Arial" panose="020B0604020202020204" pitchFamily="34" charset="0"/>
                <a:ea typeface="Calibri" pitchFamily="34" charset="-122"/>
                <a:cs typeface="Arial" panose="020B0604020202020204" pitchFamily="34" charset="0"/>
              </a:rPr>
              <a:t>Regenerate </a:t>
            </a:r>
            <a:r>
              <a:rPr lang="en-US" sz="2200" b="1" dirty="0">
                <a:solidFill>
                  <a:schemeClr val="accent2"/>
                </a:solidFill>
                <a:latin typeface="Arial" panose="020B0604020202020204" pitchFamily="34" charset="0"/>
                <a:ea typeface="Calibri" pitchFamily="34" charset="-122"/>
                <a:cs typeface="Arial" panose="020B0604020202020204" pitchFamily="34" charset="0"/>
              </a:rPr>
              <a:t>agents.md </a:t>
            </a:r>
            <a:r>
              <a:rPr lang="en-US" sz="2200" dirty="0">
                <a:latin typeface="Arial" panose="020B0604020202020204" pitchFamily="34" charset="0"/>
                <a:ea typeface="Calibri" pitchFamily="34" charset="-122"/>
                <a:cs typeface="Arial" panose="020B0604020202020204" pitchFamily="34" charset="0"/>
              </a:rPr>
              <a:t>from your updated rules document</a:t>
            </a:r>
            <a:endParaRPr lang="en-US" sz="2200" dirty="0">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526226AE-C63F-FF6F-6D64-97C206295C1D}"/>
              </a:ext>
            </a:extLst>
          </p:cNvPr>
          <p:cNvPicPr>
            <a:picLocks noChangeAspect="1"/>
          </p:cNvPicPr>
          <p:nvPr/>
        </p:nvPicPr>
        <p:blipFill>
          <a:blip r:embed="rId3"/>
          <a:stretch>
            <a:fillRect/>
          </a:stretch>
        </p:blipFill>
        <p:spPr>
          <a:xfrm>
            <a:off x="2663312" y="49858"/>
            <a:ext cx="981703" cy="981703"/>
          </a:xfrm>
          <a:prstGeom prst="rect">
            <a:avLst/>
          </a:prstGeom>
        </p:spPr>
      </p:pic>
    </p:spTree>
    <p:extLst>
      <p:ext uri="{BB962C8B-B14F-4D97-AF65-F5344CB8AC3E}">
        <p14:creationId xmlns:p14="http://schemas.microsoft.com/office/powerpoint/2010/main" val="2254084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2" grpId="0" animBg="1"/>
      <p:bldP spid="13" grpId="0" animBg="1"/>
      <p:bldP spid="14" grpId="0" animBg="1"/>
      <p:bldP spid="1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35A33-2038-AB47-55C7-5A639FFB32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53D87F-8CAD-9466-9943-5546E0E01504}"/>
              </a:ext>
            </a:extLst>
          </p:cNvPr>
          <p:cNvSpPr>
            <a:spLocks noGrp="1"/>
          </p:cNvSpPr>
          <p:nvPr>
            <p:ph type="title"/>
          </p:nvPr>
        </p:nvSpPr>
        <p:spPr>
          <a:xfrm>
            <a:off x="838200" y="2766219"/>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Task 5: Extensions</a:t>
            </a:r>
          </a:p>
        </p:txBody>
      </p:sp>
    </p:spTree>
    <p:extLst>
      <p:ext uri="{BB962C8B-B14F-4D97-AF65-F5344CB8AC3E}">
        <p14:creationId xmlns:p14="http://schemas.microsoft.com/office/powerpoint/2010/main" val="14329229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31E76-96BF-0B10-A3D2-A8644E2158FF}"/>
              </a:ext>
            </a:extLst>
          </p:cNvPr>
          <p:cNvSpPr>
            <a:spLocks noGrp="1"/>
          </p:cNvSpPr>
          <p:nvPr>
            <p:ph type="title"/>
          </p:nvPr>
        </p:nvSpPr>
        <p:spPr>
          <a:xfrm>
            <a:off x="838200" y="201831"/>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Expanding to full </a:t>
            </a:r>
            <a:r>
              <a:rPr lang="en-US" b="1" dirty="0" err="1">
                <a:solidFill>
                  <a:srgbClr val="7030A0"/>
                </a:solidFill>
                <a:latin typeface="Arial" panose="020B0604020202020204" pitchFamily="34" charset="0"/>
                <a:cs typeface="Arial" panose="020B0604020202020204" pitchFamily="34" charset="0"/>
              </a:rPr>
              <a:t>FluSight</a:t>
            </a:r>
            <a:r>
              <a:rPr lang="en-US" b="1" dirty="0">
                <a:solidFill>
                  <a:srgbClr val="7030A0"/>
                </a:solidFill>
                <a:latin typeface="Arial" panose="020B0604020202020204" pitchFamily="34" charset="0"/>
                <a:cs typeface="Arial" panose="020B0604020202020204" pitchFamily="34" charset="0"/>
              </a:rPr>
              <a:t> Format</a:t>
            </a:r>
          </a:p>
        </p:txBody>
      </p:sp>
      <p:sp>
        <p:nvSpPr>
          <p:cNvPr id="3" name="Content Placeholder 2">
            <a:extLst>
              <a:ext uri="{FF2B5EF4-FFF2-40B4-BE49-F238E27FC236}">
                <a16:creationId xmlns:a16="http://schemas.microsoft.com/office/drawing/2014/main" id="{D22CDE09-0920-72A2-562B-EFE4A8892745}"/>
              </a:ext>
            </a:extLst>
          </p:cNvPr>
          <p:cNvSpPr>
            <a:spLocks noGrp="1"/>
          </p:cNvSpPr>
          <p:nvPr>
            <p:ph idx="1"/>
          </p:nvPr>
        </p:nvSpPr>
        <p:spPr>
          <a:xfrm>
            <a:off x="838200" y="1618791"/>
            <a:ext cx="10515600" cy="4351338"/>
          </a:xfrm>
        </p:spPr>
        <p:txBody>
          <a:bodyPr/>
          <a:lstStyle/>
          <a:p>
            <a:r>
              <a:rPr lang="en-US" sz="2500" dirty="0">
                <a:latin typeface="Arial" panose="020B0604020202020204" pitchFamily="34" charset="0"/>
                <a:cs typeface="Arial" panose="020B0604020202020204" pitchFamily="34" charset="0"/>
              </a:rPr>
              <a:t>Our current forecasts </a:t>
            </a:r>
            <a:r>
              <a:rPr lang="en-US" sz="2500" b="1" dirty="0">
                <a:solidFill>
                  <a:schemeClr val="accent2"/>
                </a:solidFill>
                <a:latin typeface="Arial" panose="020B0604020202020204" pitchFamily="34" charset="0"/>
                <a:cs typeface="Arial" panose="020B0604020202020204" pitchFamily="34" charset="0"/>
              </a:rPr>
              <a:t>do not </a:t>
            </a:r>
            <a:r>
              <a:rPr lang="en-US" sz="2500" dirty="0">
                <a:latin typeface="Arial" panose="020B0604020202020204" pitchFamily="34" charset="0"/>
                <a:cs typeface="Arial" panose="020B0604020202020204" pitchFamily="34" charset="0"/>
              </a:rPr>
              <a:t>capture all horizons and quantiles required by </a:t>
            </a:r>
            <a:r>
              <a:rPr lang="en-US" sz="2500" dirty="0" err="1">
                <a:latin typeface="Arial" panose="020B0604020202020204" pitchFamily="34" charset="0"/>
                <a:cs typeface="Arial" panose="020B0604020202020204" pitchFamily="34" charset="0"/>
              </a:rPr>
              <a:t>FluSight</a:t>
            </a:r>
            <a:r>
              <a:rPr lang="en-US" sz="2500" dirty="0">
                <a:latin typeface="Arial" panose="020B0604020202020204" pitchFamily="34" charset="0"/>
                <a:cs typeface="Arial" panose="020B0604020202020204" pitchFamily="34" charset="0"/>
              </a:rPr>
              <a:t>. </a:t>
            </a:r>
          </a:p>
          <a:p>
            <a:r>
              <a:rPr lang="en-US" sz="2500" dirty="0">
                <a:latin typeface="Arial" panose="020B0604020202020204" pitchFamily="34" charset="0"/>
                <a:cs typeface="Arial" panose="020B0604020202020204" pitchFamily="34" charset="0"/>
              </a:rPr>
              <a:t>The remainder of this activity will focus on expanding our current framework to all </a:t>
            </a:r>
            <a:r>
              <a:rPr lang="en-US" sz="2500" b="1" dirty="0">
                <a:solidFill>
                  <a:schemeClr val="accent2"/>
                </a:solidFill>
                <a:latin typeface="Arial" panose="020B0604020202020204" pitchFamily="34" charset="0"/>
                <a:cs typeface="Arial" panose="020B0604020202020204" pitchFamily="34" charset="0"/>
              </a:rPr>
              <a:t>23 quantiles</a:t>
            </a:r>
            <a:r>
              <a:rPr lang="en-US" sz="2500" dirty="0">
                <a:latin typeface="Arial" panose="020B0604020202020204" pitchFamily="34" charset="0"/>
                <a:cs typeface="Arial" panose="020B0604020202020204" pitchFamily="34" charset="0"/>
              </a:rPr>
              <a:t> and </a:t>
            </a:r>
            <a:r>
              <a:rPr lang="en-US" sz="2500" b="1" dirty="0">
                <a:solidFill>
                  <a:schemeClr val="accent2"/>
                </a:solidFill>
                <a:latin typeface="Arial" panose="020B0604020202020204" pitchFamily="34" charset="0"/>
                <a:cs typeface="Arial" panose="020B0604020202020204" pitchFamily="34" charset="0"/>
              </a:rPr>
              <a:t>forecasting horizons</a:t>
            </a:r>
            <a:r>
              <a:rPr lang="en-US" sz="2500" dirty="0">
                <a:latin typeface="Arial" panose="020B0604020202020204" pitchFamily="34" charset="0"/>
                <a:cs typeface="Arial" panose="020B0604020202020204" pitchFamily="34" charset="0"/>
              </a:rPr>
              <a:t> required by the challenge. </a:t>
            </a:r>
          </a:p>
          <a:p>
            <a:pPr marL="457200" lvl="1" indent="0">
              <a:buNone/>
            </a:pPr>
            <a:endParaRPr lang="en-US" dirty="0"/>
          </a:p>
        </p:txBody>
      </p:sp>
      <p:graphicFrame>
        <p:nvGraphicFramePr>
          <p:cNvPr id="4" name="Table 3">
            <a:extLst>
              <a:ext uri="{FF2B5EF4-FFF2-40B4-BE49-F238E27FC236}">
                <a16:creationId xmlns:a16="http://schemas.microsoft.com/office/drawing/2014/main" id="{2ABBA509-3600-242F-FE22-17262A551658}"/>
              </a:ext>
            </a:extLst>
          </p:cNvPr>
          <p:cNvGraphicFramePr>
            <a:graphicFrameLocks noGrp="1"/>
          </p:cNvGraphicFramePr>
          <p:nvPr>
            <p:extLst>
              <p:ext uri="{D42A27DB-BD31-4B8C-83A1-F6EECF244321}">
                <p14:modId xmlns:p14="http://schemas.microsoft.com/office/powerpoint/2010/main" val="2720084867"/>
              </p:ext>
            </p:extLst>
          </p:nvPr>
        </p:nvGraphicFramePr>
        <p:xfrm>
          <a:off x="993848" y="3966387"/>
          <a:ext cx="10204305" cy="2204720"/>
        </p:xfrm>
        <a:graphic>
          <a:graphicData uri="http://schemas.openxmlformats.org/drawingml/2006/table">
            <a:tbl>
              <a:tblPr firstRow="1" bandRow="1">
                <a:tableStyleId>{5940675A-B579-460E-94D1-54222C63F5DA}</a:tableStyleId>
              </a:tblPr>
              <a:tblGrid>
                <a:gridCol w="3401435">
                  <a:extLst>
                    <a:ext uri="{9D8B030D-6E8A-4147-A177-3AD203B41FA5}">
                      <a16:colId xmlns:a16="http://schemas.microsoft.com/office/drawing/2014/main" val="3477913489"/>
                    </a:ext>
                  </a:extLst>
                </a:gridCol>
                <a:gridCol w="3401435">
                  <a:extLst>
                    <a:ext uri="{9D8B030D-6E8A-4147-A177-3AD203B41FA5}">
                      <a16:colId xmlns:a16="http://schemas.microsoft.com/office/drawing/2014/main" val="2711285860"/>
                    </a:ext>
                  </a:extLst>
                </a:gridCol>
                <a:gridCol w="3401435">
                  <a:extLst>
                    <a:ext uri="{9D8B030D-6E8A-4147-A177-3AD203B41FA5}">
                      <a16:colId xmlns:a16="http://schemas.microsoft.com/office/drawing/2014/main" val="3713721280"/>
                    </a:ext>
                  </a:extLst>
                </a:gridCol>
              </a:tblGrid>
              <a:tr h="370840">
                <a:tc>
                  <a:txBody>
                    <a:bodyPr/>
                    <a:lstStyle/>
                    <a:p>
                      <a:endParaRPr lang="en-US" dirty="0">
                        <a:latin typeface="Arial" panose="020B0604020202020204" pitchFamily="34" charset="0"/>
                        <a:cs typeface="Arial" panose="020B0604020202020204" pitchFamily="34"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tcPr>
                </a:tc>
                <a:tc>
                  <a:txBody>
                    <a:bodyPr/>
                    <a:lstStyle/>
                    <a:p>
                      <a:pPr algn="ctr"/>
                      <a:r>
                        <a:rPr lang="en-US" b="1" dirty="0">
                          <a:latin typeface="Arial" panose="020B0604020202020204" pitchFamily="34" charset="0"/>
                          <a:cs typeface="Arial" panose="020B0604020202020204" pitchFamily="34" charset="0"/>
                        </a:rPr>
                        <a:t>Current </a:t>
                      </a:r>
                    </a:p>
                  </a:txBody>
                  <a:tcPr anchor="ctr">
                    <a:lnL w="12700" cap="flat" cmpd="sng" algn="ctr">
                      <a:solidFill>
                        <a:schemeClr val="tx1"/>
                      </a:solidFill>
                      <a:prstDash val="solid"/>
                      <a:round/>
                      <a:headEnd type="none" w="med" len="med"/>
                      <a:tailEnd type="none" w="med" len="med"/>
                    </a:lnL>
                    <a:solidFill>
                      <a:schemeClr val="bg1">
                        <a:lumMod val="95000"/>
                      </a:schemeClr>
                    </a:solidFill>
                  </a:tcPr>
                </a:tc>
                <a:tc>
                  <a:txBody>
                    <a:bodyPr/>
                    <a:lstStyle/>
                    <a:p>
                      <a:pPr algn="ctr"/>
                      <a:r>
                        <a:rPr lang="en-US" b="1" dirty="0">
                          <a:latin typeface="Arial" panose="020B0604020202020204" pitchFamily="34" charset="0"/>
                          <a:cs typeface="Arial" panose="020B0604020202020204" pitchFamily="34" charset="0"/>
                        </a:rPr>
                        <a:t>Goal</a:t>
                      </a:r>
                    </a:p>
                  </a:txBody>
                  <a:tcPr anchor="ctr">
                    <a:solidFill>
                      <a:schemeClr val="bg1">
                        <a:lumMod val="95000"/>
                      </a:schemeClr>
                    </a:solidFill>
                  </a:tcPr>
                </a:tc>
                <a:extLst>
                  <a:ext uri="{0D108BD9-81ED-4DB2-BD59-A6C34878D82A}">
                    <a16:rowId xmlns:a16="http://schemas.microsoft.com/office/drawing/2014/main" val="3150909744"/>
                  </a:ext>
                </a:extLst>
              </a:tr>
              <a:tr h="370840">
                <a:tc>
                  <a:txBody>
                    <a:bodyPr/>
                    <a:lstStyle/>
                    <a:p>
                      <a:pPr algn="ctr"/>
                      <a:r>
                        <a:rPr lang="en-US" b="1" dirty="0">
                          <a:latin typeface="Arial" panose="020B0604020202020204" pitchFamily="34" charset="0"/>
                          <a:cs typeface="Arial" panose="020B0604020202020204" pitchFamily="34" charset="0"/>
                        </a:rPr>
                        <a:t>Horizons</a:t>
                      </a: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dirty="0">
                          <a:latin typeface="Arial" panose="020B0604020202020204" pitchFamily="34" charset="0"/>
                          <a:cs typeface="Arial" panose="020B0604020202020204" pitchFamily="34" charset="0"/>
                        </a:rPr>
                        <a:t>1-Week</a:t>
                      </a:r>
                    </a:p>
                  </a:txBody>
                  <a:tcPr anchor="ctr"/>
                </a:tc>
                <a:tc>
                  <a:txBody>
                    <a:bodyPr/>
                    <a:lstStyle/>
                    <a:p>
                      <a:pPr algn="ctr"/>
                      <a:r>
                        <a:rPr lang="en-US" dirty="0">
                          <a:latin typeface="Arial" panose="020B0604020202020204" pitchFamily="34" charset="0"/>
                          <a:cs typeface="Arial" panose="020B0604020202020204" pitchFamily="34" charset="0"/>
                        </a:rPr>
                        <a:t>1 Week - 3 Weeks</a:t>
                      </a:r>
                    </a:p>
                  </a:txBody>
                  <a:tcPr anchor="ctr"/>
                </a:tc>
                <a:extLst>
                  <a:ext uri="{0D108BD9-81ED-4DB2-BD59-A6C34878D82A}">
                    <a16:rowId xmlns:a16="http://schemas.microsoft.com/office/drawing/2014/main" val="3360757000"/>
                  </a:ext>
                </a:extLst>
              </a:tr>
              <a:tr h="370840">
                <a:tc>
                  <a:txBody>
                    <a:bodyPr/>
                    <a:lstStyle/>
                    <a:p>
                      <a:pPr algn="ctr"/>
                      <a:r>
                        <a:rPr lang="en-US" b="1" dirty="0">
                          <a:latin typeface="Arial" panose="020B0604020202020204" pitchFamily="34" charset="0"/>
                          <a:cs typeface="Arial" panose="020B0604020202020204" pitchFamily="34" charset="0"/>
                        </a:rPr>
                        <a:t>Quantiles</a:t>
                      </a:r>
                    </a:p>
                  </a:txBody>
                  <a:tcPr anchor="ctr">
                    <a:solidFill>
                      <a:schemeClr val="bg1">
                        <a:lumMod val="95000"/>
                      </a:schemeClr>
                    </a:solidFill>
                  </a:tcPr>
                </a:tc>
                <a:tc>
                  <a:txBody>
                    <a:bodyPr/>
                    <a:lstStyle/>
                    <a:p>
                      <a:pPr algn="ctr"/>
                      <a:r>
                        <a:rPr lang="en-US" sz="1800" b="0" kern="1200" dirty="0">
                          <a:solidFill>
                            <a:schemeClr val="tx1"/>
                          </a:solidFill>
                          <a:effectLst/>
                          <a:latin typeface="Arial" panose="020B0604020202020204" pitchFamily="34" charset="0"/>
                          <a:cs typeface="Arial" panose="020B0604020202020204" pitchFamily="34" charset="0"/>
                        </a:rPr>
                        <a:t>0.025, 0.5, 0.975</a:t>
                      </a:r>
                      <a:endParaRPr lang="en-US" dirty="0">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effectLst/>
                          <a:latin typeface="Arial" panose="020B0604020202020204" pitchFamily="34" charset="0"/>
                          <a:cs typeface="Arial" panose="020B0604020202020204" pitchFamily="34" charset="0"/>
                        </a:rPr>
                        <a:t>0.01, 0.025, 0.05, 0.1, 0.15, 0.2, 0.25, 0.3, 0.35, 0.4, 0.45, 0.5, 0.55, 0.6, 0.65, 0.7, 0.75, 0.8, 0.85, 0.9, 0.95, 0.975, and 0.99</a:t>
                      </a:r>
                      <a:endParaRPr lang="en-US" sz="1800" b="0" i="0" kern="1200" dirty="0">
                        <a:solidFill>
                          <a:schemeClr val="dk1"/>
                        </a:solidFill>
                        <a:effectLst/>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2594653142"/>
                  </a:ext>
                </a:extLst>
              </a:tr>
            </a:tbl>
          </a:graphicData>
        </a:graphic>
      </p:graphicFrame>
    </p:spTree>
    <p:extLst>
      <p:ext uri="{BB962C8B-B14F-4D97-AF65-F5344CB8AC3E}">
        <p14:creationId xmlns:p14="http://schemas.microsoft.com/office/powerpoint/2010/main" val="24746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AC985-78BF-F71F-CC84-C831D396D739}"/>
              </a:ext>
            </a:extLst>
          </p:cNvPr>
          <p:cNvSpPr>
            <a:spLocks noGrp="1"/>
          </p:cNvSpPr>
          <p:nvPr>
            <p:ph type="title"/>
          </p:nvPr>
        </p:nvSpPr>
        <p:spPr/>
        <p:txBody>
          <a:bodyPr/>
          <a:lstStyle/>
          <a:p>
            <a:pPr algn="ctr"/>
            <a:r>
              <a:rPr lang="en-US" b="1" dirty="0">
                <a:solidFill>
                  <a:srgbClr val="7030A0"/>
                </a:solidFill>
                <a:latin typeface="Arial" panose="020B0604020202020204" pitchFamily="34" charset="0"/>
                <a:cs typeface="Arial" panose="020B0604020202020204" pitchFamily="34" charset="0"/>
              </a:rPr>
              <a:t>Adding the 2- and 3-Week Forecasts </a:t>
            </a:r>
          </a:p>
        </p:txBody>
      </p:sp>
      <p:sp>
        <p:nvSpPr>
          <p:cNvPr id="3" name="Content Placeholder 2">
            <a:extLst>
              <a:ext uri="{FF2B5EF4-FFF2-40B4-BE49-F238E27FC236}">
                <a16:creationId xmlns:a16="http://schemas.microsoft.com/office/drawing/2014/main" id="{7CC91BF8-3761-E5F4-8D05-2543E25CF6D7}"/>
              </a:ext>
            </a:extLst>
          </p:cNvPr>
          <p:cNvSpPr>
            <a:spLocks noGrp="1"/>
          </p:cNvSpPr>
          <p:nvPr>
            <p:ph idx="1"/>
          </p:nvPr>
        </p:nvSpPr>
        <p:spPr/>
        <p:txBody>
          <a:bodyPr/>
          <a:lstStyle/>
          <a:p>
            <a:pPr>
              <a:spcAft>
                <a:spcPts val="600"/>
              </a:spcAft>
            </a:pPr>
            <a:r>
              <a:rPr lang="en-US" dirty="0">
                <a:latin typeface="Arial" panose="020B0604020202020204" pitchFamily="34" charset="0"/>
                <a:cs typeface="Arial" panose="020B0604020202020204" pitchFamily="34" charset="0"/>
              </a:rPr>
              <a:t>We reference our horizon (1-week) in many places — across the rules document and throughout the code. Rather than manually updating each one, </a:t>
            </a:r>
            <a:r>
              <a:rPr lang="en-US" b="1" dirty="0">
                <a:solidFill>
                  <a:schemeClr val="accent2"/>
                </a:solidFill>
                <a:latin typeface="Arial" panose="020B0604020202020204" pitchFamily="34" charset="0"/>
                <a:cs typeface="Arial" panose="020B0604020202020204" pitchFamily="34" charset="0"/>
              </a:rPr>
              <a:t>we can use AI to help</a:t>
            </a:r>
            <a:r>
              <a:rPr lang="en-US" dirty="0">
                <a:latin typeface="Arial" panose="020B0604020202020204" pitchFamily="34" charset="0"/>
                <a:cs typeface="Arial" panose="020B0604020202020204" pitchFamily="34" charset="0"/>
              </a:rPr>
              <a:t>.</a:t>
            </a:r>
          </a:p>
          <a:p>
            <a:pPr>
              <a:spcAft>
                <a:spcPts val="600"/>
              </a:spcAft>
            </a:pPr>
            <a:r>
              <a:rPr lang="en-US" dirty="0">
                <a:latin typeface="Arial" panose="020B0604020202020204" pitchFamily="34" charset="0"/>
                <a:cs typeface="Arial" panose="020B0604020202020204" pitchFamily="34" charset="0"/>
              </a:rPr>
              <a:t>There are two ways we can go about it: (1) Manually update the rules document or (2) Work with AI to update the rules document and subsequent code. </a:t>
            </a:r>
          </a:p>
          <a:p>
            <a:pPr>
              <a:spcAft>
                <a:spcPts val="600"/>
              </a:spcAft>
            </a:pPr>
            <a:r>
              <a:rPr lang="en-US" dirty="0">
                <a:latin typeface="Arial" panose="020B0604020202020204" pitchFamily="34" charset="0"/>
                <a:cs typeface="Arial" panose="020B0604020202020204" pitchFamily="34" charset="0"/>
              </a:rPr>
              <a:t>For this exercise, we will be </a:t>
            </a:r>
            <a:r>
              <a:rPr lang="en-US" b="1" dirty="0">
                <a:solidFill>
                  <a:schemeClr val="accent2"/>
                </a:solidFill>
                <a:latin typeface="Arial" panose="020B0604020202020204" pitchFamily="34" charset="0"/>
                <a:cs typeface="Arial" panose="020B0604020202020204" pitchFamily="34" charset="0"/>
              </a:rPr>
              <a:t>using AI to help </a:t>
            </a:r>
            <a:r>
              <a:rPr lang="en-US" dirty="0">
                <a:latin typeface="Arial" panose="020B0604020202020204" pitchFamily="34" charset="0"/>
                <a:cs typeface="Arial" panose="020B0604020202020204" pitchFamily="34" charset="0"/>
              </a:rPr>
              <a:t>us update the rules to get exactly what we want. </a:t>
            </a:r>
          </a:p>
        </p:txBody>
      </p:sp>
    </p:spTree>
    <p:extLst>
      <p:ext uri="{BB962C8B-B14F-4D97-AF65-F5344CB8AC3E}">
        <p14:creationId xmlns:p14="http://schemas.microsoft.com/office/powerpoint/2010/main" val="2282217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8D6028-17D2-1442-EAB8-DB0B1088C43C}"/>
              </a:ext>
            </a:extLst>
          </p:cNvPr>
          <p:cNvSpPr/>
          <p:nvPr/>
        </p:nvSpPr>
        <p:spPr>
          <a:xfrm>
            <a:off x="838200" y="4060374"/>
            <a:ext cx="2953512" cy="1012371"/>
          </a:xfrm>
          <a:prstGeom prst="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09D794-56E7-451D-F7D0-8FE8058907C1}"/>
              </a:ext>
            </a:extLst>
          </p:cNvPr>
          <p:cNvSpPr>
            <a:spLocks noGrp="1"/>
          </p:cNvSpPr>
          <p:nvPr>
            <p:ph type="title"/>
          </p:nvPr>
        </p:nvSpPr>
        <p:spPr>
          <a:xfrm>
            <a:off x="838200" y="269428"/>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Prompting &amp; Things to Consider</a:t>
            </a:r>
          </a:p>
        </p:txBody>
      </p:sp>
      <p:sp>
        <p:nvSpPr>
          <p:cNvPr id="3" name="Content Placeholder 2">
            <a:extLst>
              <a:ext uri="{FF2B5EF4-FFF2-40B4-BE49-F238E27FC236}">
                <a16:creationId xmlns:a16="http://schemas.microsoft.com/office/drawing/2014/main" id="{DED4BBF3-F4F2-C4B6-BBFD-C5E3F1ED34CE}"/>
              </a:ext>
            </a:extLst>
          </p:cNvPr>
          <p:cNvSpPr>
            <a:spLocks noGrp="1"/>
          </p:cNvSpPr>
          <p:nvPr>
            <p:ph idx="1"/>
          </p:nvPr>
        </p:nvSpPr>
        <p:spPr>
          <a:xfrm>
            <a:off x="838200" y="1825625"/>
            <a:ext cx="10515600" cy="1995261"/>
          </a:xfrm>
        </p:spPr>
        <p:txBody>
          <a:bodyPr>
            <a:normAutofit/>
          </a:bodyPr>
          <a:lstStyle/>
          <a:p>
            <a:pPr>
              <a:spcAft>
                <a:spcPts val="1200"/>
              </a:spcAft>
            </a:pPr>
            <a:r>
              <a:rPr lang="en-US" sz="2500" dirty="0">
                <a:latin typeface="Arial" panose="020B0604020202020204" pitchFamily="34" charset="0"/>
                <a:cs typeface="Arial" panose="020B0604020202020204" pitchFamily="34" charset="0"/>
              </a:rPr>
              <a:t>We are a </a:t>
            </a:r>
            <a:r>
              <a:rPr lang="en-US" sz="2500" b="1" dirty="0">
                <a:solidFill>
                  <a:schemeClr val="accent2"/>
                </a:solidFill>
                <a:latin typeface="Arial" panose="020B0604020202020204" pitchFamily="34" charset="0"/>
                <a:cs typeface="Arial" panose="020B0604020202020204" pitchFamily="34" charset="0"/>
              </a:rPr>
              <a:t>human-AI team</a:t>
            </a:r>
            <a:r>
              <a:rPr lang="en-US" sz="2500" dirty="0">
                <a:latin typeface="Arial" panose="020B0604020202020204" pitchFamily="34" charset="0"/>
                <a:cs typeface="Arial" panose="020B0604020202020204" pitchFamily="34" charset="0"/>
              </a:rPr>
              <a:t>, so we need to make sure we give the AI the domain instruction it needs to help us execute our updates. </a:t>
            </a:r>
          </a:p>
          <a:p>
            <a:r>
              <a:rPr lang="en-US" sz="2500" dirty="0">
                <a:latin typeface="Arial" panose="020B0604020202020204" pitchFamily="34" charset="0"/>
                <a:cs typeface="Arial" panose="020B0604020202020204" pitchFamily="34" charset="0"/>
              </a:rPr>
              <a:t>First, let’s think about the </a:t>
            </a:r>
            <a:r>
              <a:rPr lang="en-US" sz="2500" b="1" dirty="0">
                <a:solidFill>
                  <a:schemeClr val="accent2"/>
                </a:solidFill>
                <a:latin typeface="Arial" panose="020B0604020202020204" pitchFamily="34" charset="0"/>
                <a:cs typeface="Arial" panose="020B0604020202020204" pitchFamily="34" charset="0"/>
              </a:rPr>
              <a:t>different pieces </a:t>
            </a:r>
            <a:r>
              <a:rPr lang="en-US" sz="2500" dirty="0">
                <a:latin typeface="Arial" panose="020B0604020202020204" pitchFamily="34" charset="0"/>
                <a:cs typeface="Arial" panose="020B0604020202020204" pitchFamily="34" charset="0"/>
              </a:rPr>
              <a:t>of our forecasting system that incorporates our forecasting horizon specification:</a:t>
            </a:r>
          </a:p>
        </p:txBody>
      </p:sp>
      <p:sp>
        <p:nvSpPr>
          <p:cNvPr id="12" name="Rectangle 11">
            <a:extLst>
              <a:ext uri="{FF2B5EF4-FFF2-40B4-BE49-F238E27FC236}">
                <a16:creationId xmlns:a16="http://schemas.microsoft.com/office/drawing/2014/main" id="{C3D005A1-94F2-4AE2-F0AC-E7FE1227762A}"/>
              </a:ext>
            </a:extLst>
          </p:cNvPr>
          <p:cNvSpPr/>
          <p:nvPr/>
        </p:nvSpPr>
        <p:spPr>
          <a:xfrm>
            <a:off x="4618265" y="5072744"/>
            <a:ext cx="2955471" cy="1012371"/>
          </a:xfrm>
          <a:prstGeom prst="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97126D9-8A5B-9BE2-E404-A3B954648A9E}"/>
              </a:ext>
            </a:extLst>
          </p:cNvPr>
          <p:cNvSpPr txBox="1"/>
          <p:nvPr/>
        </p:nvSpPr>
        <p:spPr>
          <a:xfrm>
            <a:off x="1283153" y="4354287"/>
            <a:ext cx="2057400" cy="477054"/>
          </a:xfrm>
          <a:prstGeom prst="rect">
            <a:avLst/>
          </a:prstGeom>
          <a:noFill/>
        </p:spPr>
        <p:txBody>
          <a:bodyPr wrap="square" rtlCol="0">
            <a:spAutoFit/>
          </a:bodyPr>
          <a:lstStyle/>
          <a:p>
            <a:pPr algn="ctr"/>
            <a:r>
              <a:rPr lang="en-US" sz="2500" b="1" dirty="0">
                <a:latin typeface="Arial" panose="020B0604020202020204" pitchFamily="34" charset="0"/>
                <a:cs typeface="Arial" panose="020B0604020202020204" pitchFamily="34" charset="0"/>
              </a:rPr>
              <a:t>Forecasting </a:t>
            </a:r>
          </a:p>
        </p:txBody>
      </p:sp>
      <p:sp>
        <p:nvSpPr>
          <p:cNvPr id="7" name="TextBox 6">
            <a:extLst>
              <a:ext uri="{FF2B5EF4-FFF2-40B4-BE49-F238E27FC236}">
                <a16:creationId xmlns:a16="http://schemas.microsoft.com/office/drawing/2014/main" id="{1D15A2AC-58FB-C566-F23F-F394DA202C59}"/>
              </a:ext>
            </a:extLst>
          </p:cNvPr>
          <p:cNvSpPr txBox="1"/>
          <p:nvPr/>
        </p:nvSpPr>
        <p:spPr>
          <a:xfrm>
            <a:off x="4452257" y="5340402"/>
            <a:ext cx="3287486" cy="477054"/>
          </a:xfrm>
          <a:prstGeom prst="rect">
            <a:avLst/>
          </a:prstGeom>
          <a:noFill/>
        </p:spPr>
        <p:txBody>
          <a:bodyPr wrap="square" rtlCol="0">
            <a:spAutoFit/>
          </a:bodyPr>
          <a:lstStyle/>
          <a:p>
            <a:pPr algn="ctr"/>
            <a:r>
              <a:rPr lang="en-US" sz="2500" b="1" dirty="0">
                <a:latin typeface="Arial" panose="020B0604020202020204" pitchFamily="34" charset="0"/>
                <a:cs typeface="Arial" panose="020B0604020202020204" pitchFamily="34" charset="0"/>
              </a:rPr>
              <a:t>Data Formatting </a:t>
            </a:r>
          </a:p>
        </p:txBody>
      </p:sp>
      <p:sp>
        <p:nvSpPr>
          <p:cNvPr id="14" name="Rectangle 13">
            <a:extLst>
              <a:ext uri="{FF2B5EF4-FFF2-40B4-BE49-F238E27FC236}">
                <a16:creationId xmlns:a16="http://schemas.microsoft.com/office/drawing/2014/main" id="{25E7EF02-9A44-EF2E-B050-8FCBC9C73FE4}"/>
              </a:ext>
            </a:extLst>
          </p:cNvPr>
          <p:cNvSpPr/>
          <p:nvPr/>
        </p:nvSpPr>
        <p:spPr>
          <a:xfrm>
            <a:off x="8400288" y="4060373"/>
            <a:ext cx="2953512" cy="1012371"/>
          </a:xfrm>
          <a:prstGeom prst="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7A0EFAB-8587-7425-69D9-C1698587A8B9}"/>
              </a:ext>
            </a:extLst>
          </p:cNvPr>
          <p:cNvSpPr txBox="1"/>
          <p:nvPr/>
        </p:nvSpPr>
        <p:spPr>
          <a:xfrm>
            <a:off x="8798487" y="4328031"/>
            <a:ext cx="2157113" cy="477054"/>
          </a:xfrm>
          <a:prstGeom prst="rect">
            <a:avLst/>
          </a:prstGeom>
          <a:noFill/>
        </p:spPr>
        <p:txBody>
          <a:bodyPr wrap="square" rtlCol="0">
            <a:spAutoFit/>
          </a:bodyPr>
          <a:lstStyle/>
          <a:p>
            <a:pPr algn="ctr"/>
            <a:r>
              <a:rPr lang="en-US" sz="2500" b="1" dirty="0">
                <a:latin typeface="Arial" panose="020B0604020202020204" pitchFamily="34" charset="0"/>
                <a:cs typeface="Arial" panose="020B0604020202020204" pitchFamily="34" charset="0"/>
              </a:rPr>
              <a:t>Visualization</a:t>
            </a:r>
          </a:p>
        </p:txBody>
      </p:sp>
    </p:spTree>
    <p:extLst>
      <p:ext uri="{BB962C8B-B14F-4D97-AF65-F5344CB8AC3E}">
        <p14:creationId xmlns:p14="http://schemas.microsoft.com/office/powerpoint/2010/main" val="1696104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5" grpId="0"/>
      <p:bldP spid="7" grpId="0"/>
      <p:bldP spid="14" grpId="0" animBg="1"/>
      <p:bldP spid="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9315F-EDAD-BD85-8B85-90CC223D445B}"/>
              </a:ext>
            </a:extLst>
          </p:cNvPr>
          <p:cNvSpPr>
            <a:spLocks noGrp="1"/>
          </p:cNvSpPr>
          <p:nvPr>
            <p:ph type="title"/>
          </p:nvPr>
        </p:nvSpPr>
        <p:spPr>
          <a:xfrm>
            <a:off x="838200" y="118835"/>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Updating is Often Iterative</a:t>
            </a:r>
          </a:p>
        </p:txBody>
      </p:sp>
      <p:sp>
        <p:nvSpPr>
          <p:cNvPr id="3" name="Content Placeholder 2">
            <a:extLst>
              <a:ext uri="{FF2B5EF4-FFF2-40B4-BE49-F238E27FC236}">
                <a16:creationId xmlns:a16="http://schemas.microsoft.com/office/drawing/2014/main" id="{C873DC51-37AA-CF35-163E-080E7CBD4C74}"/>
              </a:ext>
            </a:extLst>
          </p:cNvPr>
          <p:cNvSpPr>
            <a:spLocks noGrp="1"/>
          </p:cNvSpPr>
          <p:nvPr>
            <p:ph idx="1"/>
          </p:nvPr>
        </p:nvSpPr>
        <p:spPr>
          <a:xfrm>
            <a:off x="838200" y="1519324"/>
            <a:ext cx="10515600" cy="4351338"/>
          </a:xfrm>
        </p:spPr>
        <p:txBody>
          <a:bodyPr/>
          <a:lstStyle/>
          <a:p>
            <a:r>
              <a:rPr lang="en-US" dirty="0"/>
              <a:t>AI is </a:t>
            </a:r>
            <a:r>
              <a:rPr lang="en-US" b="1" dirty="0">
                <a:solidFill>
                  <a:schemeClr val="accent2"/>
                </a:solidFill>
              </a:rPr>
              <a:t>NOT</a:t>
            </a:r>
            <a:r>
              <a:rPr lang="en-US" dirty="0"/>
              <a:t> perfect and may return different results each time you run it. It often may take a bit of </a:t>
            </a:r>
            <a:r>
              <a:rPr lang="en-US" b="1" dirty="0">
                <a:solidFill>
                  <a:schemeClr val="accent2"/>
                </a:solidFill>
              </a:rPr>
              <a:t>back-and-forth</a:t>
            </a:r>
            <a:r>
              <a:rPr lang="en-US" dirty="0"/>
              <a:t> to get to the final product you desire. </a:t>
            </a:r>
          </a:p>
          <a:p>
            <a:r>
              <a:rPr lang="en-US" dirty="0"/>
              <a:t>For each iteration, make sure to check </a:t>
            </a:r>
            <a:r>
              <a:rPr lang="en-US" b="1" dirty="0">
                <a:solidFill>
                  <a:schemeClr val="accent2"/>
                </a:solidFill>
              </a:rPr>
              <a:t>all</a:t>
            </a:r>
            <a:r>
              <a:rPr lang="en-US" dirty="0"/>
              <a:t> changes the AI makes. </a:t>
            </a:r>
          </a:p>
        </p:txBody>
      </p:sp>
      <p:sp>
        <p:nvSpPr>
          <p:cNvPr id="4" name="TextBox 3">
            <a:extLst>
              <a:ext uri="{FF2B5EF4-FFF2-40B4-BE49-F238E27FC236}">
                <a16:creationId xmlns:a16="http://schemas.microsoft.com/office/drawing/2014/main" id="{99D7E52C-A24F-62A9-8F45-FC6FCCF633B9}"/>
              </a:ext>
            </a:extLst>
          </p:cNvPr>
          <p:cNvSpPr txBox="1"/>
          <p:nvPr/>
        </p:nvSpPr>
        <p:spPr>
          <a:xfrm>
            <a:off x="1696820" y="3892579"/>
            <a:ext cx="1970314" cy="1015663"/>
          </a:xfrm>
          <a:prstGeom prst="rect">
            <a:avLst/>
          </a:prstGeom>
          <a:noFill/>
          <a:ln>
            <a:solidFill>
              <a:schemeClr val="bg2">
                <a:lumMod val="7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Prompt AI to update </a:t>
            </a:r>
            <a:r>
              <a:rPr lang="en-US" sz="2000" b="1" dirty="0">
                <a:latin typeface="Arial" panose="020B0604020202020204" pitchFamily="34" charset="0"/>
                <a:cs typeface="Arial" panose="020B0604020202020204" pitchFamily="34" charset="0"/>
              </a:rPr>
              <a:t>rules.md.</a:t>
            </a:r>
          </a:p>
        </p:txBody>
      </p:sp>
      <p:sp>
        <p:nvSpPr>
          <p:cNvPr id="6" name="TextBox 5">
            <a:extLst>
              <a:ext uri="{FF2B5EF4-FFF2-40B4-BE49-F238E27FC236}">
                <a16:creationId xmlns:a16="http://schemas.microsoft.com/office/drawing/2014/main" id="{AEAA3026-B8F8-38C2-E6A9-29D422CB181F}"/>
              </a:ext>
            </a:extLst>
          </p:cNvPr>
          <p:cNvSpPr txBox="1"/>
          <p:nvPr/>
        </p:nvSpPr>
        <p:spPr>
          <a:xfrm>
            <a:off x="3351443" y="5734433"/>
            <a:ext cx="1703613" cy="707886"/>
          </a:xfrm>
          <a:prstGeom prst="rect">
            <a:avLst/>
          </a:prstGeom>
          <a:noFill/>
          <a:ln>
            <a:solidFill>
              <a:schemeClr val="bg2">
                <a:lumMod val="7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Check the results.</a:t>
            </a:r>
          </a:p>
        </p:txBody>
      </p:sp>
      <p:sp>
        <p:nvSpPr>
          <p:cNvPr id="8" name="TextBox 7">
            <a:extLst>
              <a:ext uri="{FF2B5EF4-FFF2-40B4-BE49-F238E27FC236}">
                <a16:creationId xmlns:a16="http://schemas.microsoft.com/office/drawing/2014/main" id="{5CC18D28-B48C-694F-1ED9-E7E263881966}"/>
              </a:ext>
            </a:extLst>
          </p:cNvPr>
          <p:cNvSpPr txBox="1"/>
          <p:nvPr/>
        </p:nvSpPr>
        <p:spPr>
          <a:xfrm>
            <a:off x="4563837" y="3892578"/>
            <a:ext cx="1970314" cy="1015663"/>
          </a:xfrm>
          <a:prstGeom prst="rect">
            <a:avLst/>
          </a:prstGeom>
          <a:noFill/>
          <a:ln>
            <a:solidFill>
              <a:schemeClr val="bg2">
                <a:lumMod val="7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Prompt AI to update </a:t>
            </a:r>
            <a:r>
              <a:rPr lang="en-US" sz="2000" b="1" dirty="0">
                <a:latin typeface="Arial" panose="020B0604020202020204" pitchFamily="34" charset="0"/>
                <a:cs typeface="Arial" panose="020B0604020202020204" pitchFamily="34" charset="0"/>
              </a:rPr>
              <a:t>agents.md.</a:t>
            </a:r>
          </a:p>
        </p:txBody>
      </p:sp>
      <p:sp>
        <p:nvSpPr>
          <p:cNvPr id="12" name="TextBox 11">
            <a:extLst>
              <a:ext uri="{FF2B5EF4-FFF2-40B4-BE49-F238E27FC236}">
                <a16:creationId xmlns:a16="http://schemas.microsoft.com/office/drawing/2014/main" id="{4093FD2C-2F32-2CC8-A2DB-E9A2578C5A7F}"/>
              </a:ext>
            </a:extLst>
          </p:cNvPr>
          <p:cNvSpPr txBox="1"/>
          <p:nvPr/>
        </p:nvSpPr>
        <p:spPr>
          <a:xfrm>
            <a:off x="7462162" y="3738689"/>
            <a:ext cx="1970314" cy="1323439"/>
          </a:xfrm>
          <a:prstGeom prst="rect">
            <a:avLst/>
          </a:prstGeom>
          <a:noFill/>
          <a:ln>
            <a:solidFill>
              <a:schemeClr val="bg2">
                <a:lumMod val="7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Prompt AI to update the script &amp; run the script. </a:t>
            </a:r>
          </a:p>
        </p:txBody>
      </p:sp>
      <p:sp>
        <p:nvSpPr>
          <p:cNvPr id="16" name="TextBox 15">
            <a:extLst>
              <a:ext uri="{FF2B5EF4-FFF2-40B4-BE49-F238E27FC236}">
                <a16:creationId xmlns:a16="http://schemas.microsoft.com/office/drawing/2014/main" id="{995F627D-EC0C-69CB-7236-4343E63100C9}"/>
              </a:ext>
            </a:extLst>
          </p:cNvPr>
          <p:cNvSpPr txBox="1"/>
          <p:nvPr/>
        </p:nvSpPr>
        <p:spPr>
          <a:xfrm>
            <a:off x="6176964" y="5699752"/>
            <a:ext cx="1703613" cy="707886"/>
          </a:xfrm>
          <a:prstGeom prst="rect">
            <a:avLst/>
          </a:prstGeom>
          <a:noFill/>
          <a:ln>
            <a:solidFill>
              <a:schemeClr val="bg2">
                <a:lumMod val="7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Check the results.</a:t>
            </a:r>
          </a:p>
        </p:txBody>
      </p:sp>
      <p:sp>
        <p:nvSpPr>
          <p:cNvPr id="18" name="TextBox 17">
            <a:extLst>
              <a:ext uri="{FF2B5EF4-FFF2-40B4-BE49-F238E27FC236}">
                <a16:creationId xmlns:a16="http://schemas.microsoft.com/office/drawing/2014/main" id="{9B7D6915-8381-9C3F-5A0D-AB6547621283}"/>
              </a:ext>
            </a:extLst>
          </p:cNvPr>
          <p:cNvSpPr txBox="1"/>
          <p:nvPr/>
        </p:nvSpPr>
        <p:spPr>
          <a:xfrm>
            <a:off x="9002485" y="5708614"/>
            <a:ext cx="1703613" cy="707886"/>
          </a:xfrm>
          <a:prstGeom prst="rect">
            <a:avLst/>
          </a:prstGeom>
          <a:noFill/>
          <a:ln>
            <a:solidFill>
              <a:schemeClr val="bg2">
                <a:lumMod val="7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Check the results.</a:t>
            </a:r>
          </a:p>
        </p:txBody>
      </p:sp>
      <p:cxnSp>
        <p:nvCxnSpPr>
          <p:cNvPr id="20" name="Straight Arrow Connector 19">
            <a:extLst>
              <a:ext uri="{FF2B5EF4-FFF2-40B4-BE49-F238E27FC236}">
                <a16:creationId xmlns:a16="http://schemas.microsoft.com/office/drawing/2014/main" id="{B09C90CC-3C61-ED42-8804-ADBDB68C6DD3}"/>
              </a:ext>
            </a:extLst>
          </p:cNvPr>
          <p:cNvCxnSpPr/>
          <p:nvPr/>
        </p:nvCxnSpPr>
        <p:spPr>
          <a:xfrm>
            <a:off x="3548742" y="4908241"/>
            <a:ext cx="0" cy="800373"/>
          </a:xfrm>
          <a:prstGeom prst="straightConnector1">
            <a:avLst/>
          </a:prstGeom>
          <a:ln w="57150">
            <a:solidFill>
              <a:schemeClr val="accent1">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75E78DD6-1887-9047-1DEB-BEF5DB0D2A7F}"/>
              </a:ext>
            </a:extLst>
          </p:cNvPr>
          <p:cNvCxnSpPr>
            <a:cxnSpLocks/>
          </p:cNvCxnSpPr>
          <p:nvPr/>
        </p:nvCxnSpPr>
        <p:spPr>
          <a:xfrm flipV="1">
            <a:off x="4931228" y="4908241"/>
            <a:ext cx="0" cy="826192"/>
          </a:xfrm>
          <a:prstGeom prst="straightConnector1">
            <a:avLst/>
          </a:prstGeom>
          <a:ln w="5715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78A54FF-A05A-8EF0-01BC-13B487257A45}"/>
              </a:ext>
            </a:extLst>
          </p:cNvPr>
          <p:cNvCxnSpPr>
            <a:cxnSpLocks/>
          </p:cNvCxnSpPr>
          <p:nvPr/>
        </p:nvCxnSpPr>
        <p:spPr>
          <a:xfrm>
            <a:off x="6389914" y="4908241"/>
            <a:ext cx="0" cy="800373"/>
          </a:xfrm>
          <a:prstGeom prst="straightConnector1">
            <a:avLst/>
          </a:prstGeom>
          <a:ln w="57150">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8911FDF9-6051-1225-18A3-4E3D9D932274}"/>
              </a:ext>
            </a:extLst>
          </p:cNvPr>
          <p:cNvCxnSpPr/>
          <p:nvPr/>
        </p:nvCxnSpPr>
        <p:spPr>
          <a:xfrm flipV="1">
            <a:off x="7717971" y="5062128"/>
            <a:ext cx="0" cy="637624"/>
          </a:xfrm>
          <a:prstGeom prst="straightConnector1">
            <a:avLst/>
          </a:prstGeom>
          <a:ln w="5715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67B10C5A-EEF5-C9A0-38A0-D7269618456B}"/>
              </a:ext>
            </a:extLst>
          </p:cNvPr>
          <p:cNvCxnSpPr/>
          <p:nvPr/>
        </p:nvCxnSpPr>
        <p:spPr>
          <a:xfrm>
            <a:off x="9252857" y="5062128"/>
            <a:ext cx="0" cy="637624"/>
          </a:xfrm>
          <a:prstGeom prst="straightConnector1">
            <a:avLst/>
          </a:prstGeom>
          <a:ln w="5715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ctor: Elbow 31">
            <a:extLst>
              <a:ext uri="{FF2B5EF4-FFF2-40B4-BE49-F238E27FC236}">
                <a16:creationId xmlns:a16="http://schemas.microsoft.com/office/drawing/2014/main" id="{AB61C756-6D08-805D-6401-96F75892C77F}"/>
              </a:ext>
            </a:extLst>
          </p:cNvPr>
          <p:cNvCxnSpPr>
            <a:stCxn id="6" idx="1"/>
          </p:cNvCxnSpPr>
          <p:nvPr/>
        </p:nvCxnSpPr>
        <p:spPr>
          <a:xfrm rot="10800000">
            <a:off x="2166257" y="4908242"/>
            <a:ext cx="1185186" cy="1180135"/>
          </a:xfrm>
          <a:prstGeom prst="bentConnector3">
            <a:avLst>
              <a:gd name="adj1" fmla="val 100516"/>
            </a:avLst>
          </a:prstGeom>
          <a:ln w="57150">
            <a:solidFill>
              <a:schemeClr val="accent1">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ctor: Elbow 34">
            <a:extLst>
              <a:ext uri="{FF2B5EF4-FFF2-40B4-BE49-F238E27FC236}">
                <a16:creationId xmlns:a16="http://schemas.microsoft.com/office/drawing/2014/main" id="{820A8469-A52E-0D5F-3644-FE60DCE73E2A}"/>
              </a:ext>
            </a:extLst>
          </p:cNvPr>
          <p:cNvCxnSpPr>
            <a:stCxn id="16" idx="0"/>
            <a:endCxn id="8" idx="3"/>
          </p:cNvCxnSpPr>
          <p:nvPr/>
        </p:nvCxnSpPr>
        <p:spPr>
          <a:xfrm rot="16200000" flipV="1">
            <a:off x="6131790" y="4802771"/>
            <a:ext cx="1299342" cy="494620"/>
          </a:xfrm>
          <a:prstGeom prst="bentConnector2">
            <a:avLst/>
          </a:prstGeom>
          <a:ln w="57150">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Elbow 36">
            <a:extLst>
              <a:ext uri="{FF2B5EF4-FFF2-40B4-BE49-F238E27FC236}">
                <a16:creationId xmlns:a16="http://schemas.microsoft.com/office/drawing/2014/main" id="{77F62A5B-6098-6EB6-2A09-F77941670337}"/>
              </a:ext>
            </a:extLst>
          </p:cNvPr>
          <p:cNvCxnSpPr>
            <a:endCxn id="12" idx="3"/>
          </p:cNvCxnSpPr>
          <p:nvPr/>
        </p:nvCxnSpPr>
        <p:spPr>
          <a:xfrm rot="16200000" flipV="1">
            <a:off x="9221965" y="4610921"/>
            <a:ext cx="1308205" cy="887181"/>
          </a:xfrm>
          <a:prstGeom prst="bentConnector2">
            <a:avLst/>
          </a:prstGeom>
          <a:ln w="5715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73689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2" grpId="0" animBg="1"/>
      <p:bldP spid="16" grpId="0" animBg="1"/>
      <p:bldP spid="1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AB29B-5C35-71E3-8CF6-0C0F332ECA8A}"/>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6344C2D5-81F2-5EA2-4437-37C0DD25AB4B}"/>
              </a:ext>
            </a:extLst>
          </p:cNvPr>
          <p:cNvSpPr/>
          <p:nvPr/>
        </p:nvSpPr>
        <p:spPr>
          <a:xfrm>
            <a:off x="914400" y="5284175"/>
            <a:ext cx="10363200" cy="1330446"/>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9" name="Rectangle: Rounded Corners 18">
            <a:extLst>
              <a:ext uri="{FF2B5EF4-FFF2-40B4-BE49-F238E27FC236}">
                <a16:creationId xmlns:a16="http://schemas.microsoft.com/office/drawing/2014/main" id="{1F0FC565-2613-D114-C8B3-0D4A6AFBDDFA}"/>
              </a:ext>
            </a:extLst>
          </p:cNvPr>
          <p:cNvSpPr/>
          <p:nvPr/>
        </p:nvSpPr>
        <p:spPr>
          <a:xfrm>
            <a:off x="914400" y="3815502"/>
            <a:ext cx="10363200" cy="1120396"/>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 name="Text 0">
            <a:extLst>
              <a:ext uri="{FF2B5EF4-FFF2-40B4-BE49-F238E27FC236}">
                <a16:creationId xmlns:a16="http://schemas.microsoft.com/office/drawing/2014/main" id="{F8443979-9E8E-46C9-D092-E96676639F71}"/>
              </a:ext>
            </a:extLst>
          </p:cNvPr>
          <p:cNvSpPr/>
          <p:nvPr/>
        </p:nvSpPr>
        <p:spPr>
          <a:xfrm>
            <a:off x="914400" y="134519"/>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Adding in Diagnostics (a.k.a. Checks)</a:t>
            </a:r>
            <a:endParaRPr lang="en-US" sz="4000">
              <a:solidFill>
                <a:srgbClr val="7030A0"/>
              </a:solidFill>
              <a:latin typeface="Arial" panose="020B0604020202020204" pitchFamily="34" charset="0"/>
              <a:cs typeface="Arial" panose="020B0604020202020204" pitchFamily="34" charset="0"/>
            </a:endParaRPr>
          </a:p>
        </p:txBody>
      </p:sp>
      <p:sp>
        <p:nvSpPr>
          <p:cNvPr id="18" name="Rectangle: Rounded Corners 17">
            <a:extLst>
              <a:ext uri="{FF2B5EF4-FFF2-40B4-BE49-F238E27FC236}">
                <a16:creationId xmlns:a16="http://schemas.microsoft.com/office/drawing/2014/main" id="{98D63F4A-CACE-C37F-1791-1454DFDE3909}"/>
              </a:ext>
            </a:extLst>
          </p:cNvPr>
          <p:cNvSpPr/>
          <p:nvPr/>
        </p:nvSpPr>
        <p:spPr>
          <a:xfrm>
            <a:off x="914400" y="2049055"/>
            <a:ext cx="10363200" cy="1437839"/>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1EFEFF00-4B11-13CC-E710-2C3BCB779977}"/>
              </a:ext>
            </a:extLst>
          </p:cNvPr>
          <p:cNvSpPr txBox="1"/>
          <p:nvPr/>
        </p:nvSpPr>
        <p:spPr>
          <a:xfrm>
            <a:off x="914400" y="1253008"/>
            <a:ext cx="10363200" cy="477054"/>
          </a:xfrm>
          <a:prstGeom prst="rect">
            <a:avLst/>
          </a:prstGeom>
          <a:noFill/>
        </p:spPr>
        <p:txBody>
          <a:bodyPr wrap="square">
            <a:spAutoFit/>
          </a:bodyPr>
          <a:lstStyle/>
          <a:p>
            <a:r>
              <a:rPr lang="en-US" sz="2500" b="1" dirty="0">
                <a:latin typeface="Arial" panose="020B0604020202020204" pitchFamily="34" charset="0"/>
                <a:cs typeface="Arial" panose="020B0604020202020204" pitchFamily="34" charset="0"/>
              </a:rPr>
              <a:t>AI can make mistakes, so we need to make sure to stay in the loop!</a:t>
            </a:r>
          </a:p>
        </p:txBody>
      </p:sp>
      <p:sp>
        <p:nvSpPr>
          <p:cNvPr id="14" name="TextBox 13">
            <a:extLst>
              <a:ext uri="{FF2B5EF4-FFF2-40B4-BE49-F238E27FC236}">
                <a16:creationId xmlns:a16="http://schemas.microsoft.com/office/drawing/2014/main" id="{0CE5FB7D-FE8D-A2D6-B131-2880FAE06944}"/>
              </a:ext>
            </a:extLst>
          </p:cNvPr>
          <p:cNvSpPr txBox="1"/>
          <p:nvPr/>
        </p:nvSpPr>
        <p:spPr>
          <a:xfrm>
            <a:off x="1080063" y="2213293"/>
            <a:ext cx="10031874" cy="1107996"/>
          </a:xfrm>
          <a:prstGeom prst="rect">
            <a:avLst/>
          </a:prstGeom>
          <a:noFill/>
        </p:spPr>
        <p:txBody>
          <a:bodyPr wrap="square">
            <a:spAutoFit/>
          </a:bodyPr>
          <a:lstStyle/>
          <a:p>
            <a:pPr algn="ctr"/>
            <a:r>
              <a:rPr lang="en-US" sz="2200" b="1" dirty="0">
                <a:latin typeface="Arial" panose="020B0604020202020204" pitchFamily="34" charset="0"/>
                <a:cs typeface="Arial" panose="020B0604020202020204" pitchFamily="34" charset="0"/>
              </a:rPr>
              <a:t>**Validations:**</a:t>
            </a:r>
            <a:r>
              <a:rPr lang="en-US" sz="2200" dirty="0">
                <a:latin typeface="Arial" panose="020B0604020202020204" pitchFamily="34" charset="0"/>
                <a:cs typeface="Arial" panose="020B0604020202020204" pitchFamily="34" charset="0"/>
              </a:rPr>
              <a:t> Confirm intervals get wider (or stay equal) as the horizon grows: width at h=3 ≥ h=2 ≥ h=1. Print "[</a:t>
            </a:r>
            <a:r>
              <a:rPr lang="en-US" sz="2200" dirty="0" err="1">
                <a:latin typeface="Arial" panose="020B0604020202020204" pitchFamily="34" charset="0"/>
                <a:cs typeface="Arial" panose="020B0604020202020204" pitchFamily="34" charset="0"/>
              </a:rPr>
              <a:t>val</a:t>
            </a:r>
            <a:r>
              <a:rPr lang="en-US" sz="2200" dirty="0">
                <a:latin typeface="Arial" panose="020B0604020202020204" pitchFamily="34" charset="0"/>
                <a:cs typeface="Arial" panose="020B0604020202020204" pitchFamily="34" charset="0"/>
              </a:rPr>
              <a:t>] intervals widen with horizon: OK"; stop() otherwise.</a:t>
            </a:r>
          </a:p>
        </p:txBody>
      </p:sp>
      <p:sp>
        <p:nvSpPr>
          <p:cNvPr id="15" name="TextBox 14">
            <a:extLst>
              <a:ext uri="{FF2B5EF4-FFF2-40B4-BE49-F238E27FC236}">
                <a16:creationId xmlns:a16="http://schemas.microsoft.com/office/drawing/2014/main" id="{70A74F79-F5CC-1AB1-1FAF-5AAD6DC655DC}"/>
              </a:ext>
            </a:extLst>
          </p:cNvPr>
          <p:cNvSpPr txBox="1"/>
          <p:nvPr/>
        </p:nvSpPr>
        <p:spPr>
          <a:xfrm>
            <a:off x="1080063" y="3989976"/>
            <a:ext cx="10031874" cy="769441"/>
          </a:xfrm>
          <a:prstGeom prst="rect">
            <a:avLst/>
          </a:prstGeom>
          <a:noFill/>
        </p:spPr>
        <p:txBody>
          <a:bodyPr wrap="square">
            <a:spAutoFit/>
          </a:bodyPr>
          <a:lstStyle/>
          <a:p>
            <a:pPr algn="ctr"/>
            <a:r>
              <a:rPr lang="en-US" sz="2200" b="1" dirty="0">
                <a:latin typeface="Arial" panose="020B0604020202020204" pitchFamily="34" charset="0"/>
                <a:cs typeface="Arial" panose="020B0604020202020204" pitchFamily="34" charset="0"/>
              </a:rPr>
              <a:t>**Validations:**</a:t>
            </a:r>
            <a:r>
              <a:rPr lang="en-US" sz="2200" dirty="0">
                <a:latin typeface="Arial" panose="020B0604020202020204" pitchFamily="34" charset="0"/>
                <a:cs typeface="Arial" panose="020B0604020202020204" pitchFamily="34" charset="0"/>
              </a:rPr>
              <a:t> Confirm </a:t>
            </a:r>
            <a:r>
              <a:rPr lang="en-US" sz="2200" dirty="0" err="1">
                <a:latin typeface="Arial" panose="020B0604020202020204" pitchFamily="34" charset="0"/>
                <a:cs typeface="Arial" panose="020B0604020202020204" pitchFamily="34" charset="0"/>
              </a:rPr>
              <a:t>target_end_date</a:t>
            </a:r>
            <a:r>
              <a:rPr lang="en-US" sz="2200" dirty="0">
                <a:latin typeface="Arial" panose="020B0604020202020204" pitchFamily="34" charset="0"/>
                <a:cs typeface="Arial" panose="020B0604020202020204" pitchFamily="34" charset="0"/>
              </a:rPr>
              <a:t> == </a:t>
            </a:r>
            <a:r>
              <a:rPr lang="en-US" sz="2200" dirty="0" err="1">
                <a:latin typeface="Arial" panose="020B0604020202020204" pitchFamily="34" charset="0"/>
                <a:cs typeface="Arial" panose="020B0604020202020204" pitchFamily="34" charset="0"/>
              </a:rPr>
              <a:t>reference_date</a:t>
            </a:r>
            <a:r>
              <a:rPr lang="en-US" sz="2200" dirty="0">
                <a:latin typeface="Arial" panose="020B0604020202020204" pitchFamily="34" charset="0"/>
                <a:cs typeface="Arial" panose="020B0604020202020204" pitchFamily="34" charset="0"/>
              </a:rPr>
              <a:t> + 7 * horizon for every row. Print "[</a:t>
            </a:r>
            <a:r>
              <a:rPr lang="en-US" sz="2200" dirty="0" err="1">
                <a:latin typeface="Arial" panose="020B0604020202020204" pitchFamily="34" charset="0"/>
                <a:cs typeface="Arial" panose="020B0604020202020204" pitchFamily="34" charset="0"/>
              </a:rPr>
              <a:t>val</a:t>
            </a:r>
            <a:r>
              <a:rPr lang="en-US" sz="2200" dirty="0">
                <a:latin typeface="Arial" panose="020B0604020202020204" pitchFamily="34" charset="0"/>
                <a:cs typeface="Arial" panose="020B0604020202020204" pitchFamily="34" charset="0"/>
              </a:rPr>
              <a:t>] target dates correct: OK"; stop() otherwise.</a:t>
            </a:r>
          </a:p>
        </p:txBody>
      </p:sp>
      <p:sp>
        <p:nvSpPr>
          <p:cNvPr id="17" name="TextBox 16">
            <a:extLst>
              <a:ext uri="{FF2B5EF4-FFF2-40B4-BE49-F238E27FC236}">
                <a16:creationId xmlns:a16="http://schemas.microsoft.com/office/drawing/2014/main" id="{D65E199F-BCE6-9C2F-03FB-9459D61F34C4}"/>
              </a:ext>
            </a:extLst>
          </p:cNvPr>
          <p:cNvSpPr txBox="1"/>
          <p:nvPr/>
        </p:nvSpPr>
        <p:spPr>
          <a:xfrm>
            <a:off x="1519901" y="5416291"/>
            <a:ext cx="9152198" cy="1107996"/>
          </a:xfrm>
          <a:prstGeom prst="rect">
            <a:avLst/>
          </a:prstGeom>
          <a:noFill/>
        </p:spPr>
        <p:txBody>
          <a:bodyPr wrap="square">
            <a:spAutoFit/>
          </a:bodyPr>
          <a:lstStyle/>
          <a:p>
            <a:pPr algn="ctr"/>
            <a:r>
              <a:rPr lang="en-US" sz="2200" b="1" dirty="0">
                <a:latin typeface="Arial" panose="020B0604020202020204" pitchFamily="34" charset="0"/>
                <a:cs typeface="Arial" panose="020B0604020202020204" pitchFamily="34" charset="0"/>
              </a:rPr>
              <a:t>**Validations:**</a:t>
            </a:r>
            <a:r>
              <a:rPr lang="en-US" sz="2200" dirty="0">
                <a:latin typeface="Arial" panose="020B0604020202020204" pitchFamily="34" charset="0"/>
                <a:cs typeface="Arial" panose="020B0604020202020204" pitchFamily="34" charset="0"/>
              </a:rPr>
              <a:t> Confirm each reference date is fit once, with all three horizons taken from that single forecast. Print "[</a:t>
            </a:r>
            <a:r>
              <a:rPr lang="en-US" sz="2200" dirty="0" err="1">
                <a:latin typeface="Arial" panose="020B0604020202020204" pitchFamily="34" charset="0"/>
                <a:cs typeface="Arial" panose="020B0604020202020204" pitchFamily="34" charset="0"/>
              </a:rPr>
              <a:t>val</a:t>
            </a:r>
            <a:r>
              <a:rPr lang="en-US" sz="2200" dirty="0">
                <a:latin typeface="Arial" panose="020B0604020202020204" pitchFamily="34" charset="0"/>
                <a:cs typeface="Arial" panose="020B0604020202020204" pitchFamily="34" charset="0"/>
              </a:rPr>
              <a:t>] one fit, three horizons: OK"; stop() otherwise.</a:t>
            </a:r>
          </a:p>
        </p:txBody>
      </p:sp>
    </p:spTree>
    <p:extLst>
      <p:ext uri="{BB962C8B-B14F-4D97-AF65-F5344CB8AC3E}">
        <p14:creationId xmlns:p14="http://schemas.microsoft.com/office/powerpoint/2010/main" val="1828792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8" grpId="0" animBg="1"/>
      <p:bldP spid="14" grpId="0"/>
      <p:bldP spid="15" grpId="0"/>
      <p:bldP spid="1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E43BA-4D2C-864A-F41B-4EB7BF91E0F6}"/>
              </a:ext>
            </a:extLst>
          </p:cNvPr>
          <p:cNvSpPr>
            <a:spLocks noGrp="1"/>
          </p:cNvSpPr>
          <p:nvPr>
            <p:ph type="title"/>
          </p:nvPr>
        </p:nvSpPr>
        <p:spPr>
          <a:xfrm>
            <a:off x="838200" y="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Writing the Prompt</a:t>
            </a:r>
          </a:p>
        </p:txBody>
      </p:sp>
      <p:sp>
        <p:nvSpPr>
          <p:cNvPr id="6" name="Rectangle: Rounded Corners 5">
            <a:extLst>
              <a:ext uri="{FF2B5EF4-FFF2-40B4-BE49-F238E27FC236}">
                <a16:creationId xmlns:a16="http://schemas.microsoft.com/office/drawing/2014/main" id="{F205FC7D-83AF-00D5-986B-3041DD8C1F33}"/>
              </a:ext>
            </a:extLst>
          </p:cNvPr>
          <p:cNvSpPr/>
          <p:nvPr/>
        </p:nvSpPr>
        <p:spPr>
          <a:xfrm>
            <a:off x="745672" y="4332514"/>
            <a:ext cx="10700657" cy="2111829"/>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24C6549-FA13-BD9C-C49C-59F65EB3067E}"/>
              </a:ext>
            </a:extLst>
          </p:cNvPr>
          <p:cNvSpPr>
            <a:spLocks noGrp="1"/>
          </p:cNvSpPr>
          <p:nvPr>
            <p:ph idx="1"/>
          </p:nvPr>
        </p:nvSpPr>
        <p:spPr>
          <a:xfrm>
            <a:off x="838200" y="1325563"/>
            <a:ext cx="10515600" cy="4982255"/>
          </a:xfrm>
        </p:spPr>
        <p:txBody>
          <a:bodyPr>
            <a:normAutofit/>
          </a:bodyPr>
          <a:lstStyle/>
          <a:p>
            <a:r>
              <a:rPr lang="en-US" dirty="0">
                <a:latin typeface="Arial" panose="020B0604020202020204" pitchFamily="34" charset="0"/>
                <a:cs typeface="Arial" panose="020B0604020202020204" pitchFamily="34" charset="0"/>
              </a:rPr>
              <a:t>We are going to work with AI to help us write the </a:t>
            </a:r>
            <a:r>
              <a:rPr lang="en-US" b="1" dirty="0">
                <a:solidFill>
                  <a:schemeClr val="accent2"/>
                </a:solidFill>
                <a:latin typeface="Arial" panose="020B0604020202020204" pitchFamily="34" charset="0"/>
                <a:cs typeface="Arial" panose="020B0604020202020204" pitchFamily="34" charset="0"/>
              </a:rPr>
              <a:t>updated rules</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We want to make sure we are </a:t>
            </a:r>
            <a:r>
              <a:rPr lang="en-US" b="1" dirty="0">
                <a:solidFill>
                  <a:schemeClr val="accent2"/>
                </a:solidFill>
                <a:latin typeface="Arial" panose="020B0604020202020204" pitchFamily="34" charset="0"/>
                <a:cs typeface="Arial" panose="020B0604020202020204" pitchFamily="34" charset="0"/>
              </a:rPr>
              <a:t>explicit</a:t>
            </a:r>
            <a:r>
              <a:rPr lang="en-US" dirty="0">
                <a:latin typeface="Arial" panose="020B0604020202020204" pitchFamily="34" charset="0"/>
                <a:cs typeface="Arial" panose="020B0604020202020204" pitchFamily="34" charset="0"/>
              </a:rPr>
              <a:t> about the changes we want and review </a:t>
            </a:r>
            <a:r>
              <a:rPr lang="en-US" b="1" dirty="0">
                <a:solidFill>
                  <a:schemeClr val="accent2"/>
                </a:solidFill>
                <a:latin typeface="Arial" panose="020B0604020202020204" pitchFamily="34" charset="0"/>
                <a:cs typeface="Arial" panose="020B0604020202020204" pitchFamily="34" charset="0"/>
              </a:rPr>
              <a:t>ALL</a:t>
            </a:r>
            <a:r>
              <a:rPr lang="en-US" dirty="0">
                <a:latin typeface="Arial" panose="020B0604020202020204" pitchFamily="34" charset="0"/>
                <a:cs typeface="Arial" panose="020B0604020202020204" pitchFamily="34" charset="0"/>
              </a:rPr>
              <a:t> changes it suggests. </a:t>
            </a:r>
          </a:p>
          <a:p>
            <a:r>
              <a:rPr lang="en-US" dirty="0">
                <a:latin typeface="Arial" panose="020B0604020202020204" pitchFamily="34" charset="0"/>
                <a:cs typeface="Arial" panose="020B0604020202020204" pitchFamily="34" charset="0"/>
              </a:rPr>
              <a:t>Remember, we need to ask for changes </a:t>
            </a:r>
            <a:r>
              <a:rPr lang="en-US" b="1" dirty="0">
                <a:solidFill>
                  <a:schemeClr val="accent2"/>
                </a:solidFill>
                <a:latin typeface="Arial" panose="020B0604020202020204" pitchFamily="34" charset="0"/>
                <a:cs typeface="Arial" panose="020B0604020202020204" pitchFamily="34" charset="0"/>
              </a:rPr>
              <a:t>in all places</a:t>
            </a:r>
            <a:r>
              <a:rPr lang="en-US" dirty="0">
                <a:latin typeface="Arial" panose="020B0604020202020204" pitchFamily="34" charset="0"/>
                <a:cs typeface="Arial" panose="020B0604020202020204" pitchFamily="34" charset="0"/>
              </a:rPr>
              <a:t> where we specify the forecast horizons:</a:t>
            </a:r>
          </a:p>
        </p:txBody>
      </p:sp>
      <p:sp>
        <p:nvSpPr>
          <p:cNvPr id="5" name="TextBox 4">
            <a:extLst>
              <a:ext uri="{FF2B5EF4-FFF2-40B4-BE49-F238E27FC236}">
                <a16:creationId xmlns:a16="http://schemas.microsoft.com/office/drawing/2014/main" id="{93135EE4-8202-7E43-0C71-B65AF2E8F76C}"/>
              </a:ext>
            </a:extLst>
          </p:cNvPr>
          <p:cNvSpPr txBox="1"/>
          <p:nvPr/>
        </p:nvSpPr>
        <p:spPr>
          <a:xfrm>
            <a:off x="838200" y="4408975"/>
            <a:ext cx="10515600" cy="1785104"/>
          </a:xfrm>
          <a:prstGeom prst="rect">
            <a:avLst/>
          </a:prstGeom>
          <a:noFill/>
        </p:spPr>
        <p:txBody>
          <a:bodyPr wrap="square">
            <a:spAutoFit/>
          </a:bodyPr>
          <a:lstStyle/>
          <a:p>
            <a:pPr marL="0" indent="0" algn="ctr">
              <a:buNone/>
            </a:pPr>
            <a:r>
              <a:rPr lang="en-US" sz="2200" b="1" dirty="0">
                <a:latin typeface="Arial" panose="020B0604020202020204" pitchFamily="34" charset="0"/>
                <a:cs typeface="Arial" panose="020B0604020202020204" pitchFamily="34" charset="0"/>
              </a:rPr>
              <a:t>First Part of Prompt: Introducing the Ask</a:t>
            </a:r>
          </a:p>
          <a:p>
            <a:pPr marL="0" indent="0" algn="ctr">
              <a:buNone/>
            </a:pPr>
            <a:endParaRPr lang="en-US" sz="2200" b="1" dirty="0">
              <a:latin typeface="Arial" panose="020B0604020202020204" pitchFamily="34" charset="0"/>
              <a:cs typeface="Arial" panose="020B0604020202020204" pitchFamily="34" charset="0"/>
            </a:endParaRPr>
          </a:p>
          <a:p>
            <a:pPr marL="0" indent="0">
              <a:buNone/>
            </a:pPr>
            <a:r>
              <a:rPr lang="en-US" sz="2200" dirty="0">
                <a:latin typeface="Courier New" panose="02070309020205020404" pitchFamily="49" charset="0"/>
                <a:cs typeface="Courier New" panose="02070309020205020404" pitchFamily="49" charset="0"/>
              </a:rPr>
              <a:t>I want to extend my forecasting to include 1-, 2-, and 3-week forecasting horizons. Please update the rules document where we forecast, prepare the data file, and visualizations. </a:t>
            </a:r>
          </a:p>
        </p:txBody>
      </p:sp>
      <p:pic>
        <p:nvPicPr>
          <p:cNvPr id="8" name="Picture 7" descr="Your Turn Rubber Stamp Royalty Free SVG, Cliparts, Vectors, and Stock  Illustration. Image 68258628.">
            <a:extLst>
              <a:ext uri="{FF2B5EF4-FFF2-40B4-BE49-F238E27FC236}">
                <a16:creationId xmlns:a16="http://schemas.microsoft.com/office/drawing/2014/main" id="{80C11CDC-BCE4-6519-5B0D-F04486F6BCEE}"/>
              </a:ext>
            </a:extLst>
          </p:cNvPr>
          <p:cNvPicPr>
            <a:picLocks noChangeAspect="1"/>
          </p:cNvPicPr>
          <p:nvPr/>
        </p:nvPicPr>
        <p:blipFill>
          <a:blip r:embed="rId3"/>
          <a:stretch>
            <a:fillRect/>
          </a:stretch>
        </p:blipFill>
        <p:spPr>
          <a:xfrm>
            <a:off x="2053712" y="171929"/>
            <a:ext cx="981703" cy="981703"/>
          </a:xfrm>
          <a:prstGeom prst="rect">
            <a:avLst/>
          </a:prstGeom>
        </p:spPr>
      </p:pic>
    </p:spTree>
    <p:extLst>
      <p:ext uri="{BB962C8B-B14F-4D97-AF65-F5344CB8AC3E}">
        <p14:creationId xmlns:p14="http://schemas.microsoft.com/office/powerpoint/2010/main" val="3401542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3E60A-2531-6A79-034D-1F9C06D25820}"/>
              </a:ext>
            </a:extLst>
          </p:cNvPr>
          <p:cNvSpPr>
            <a:spLocks noGrp="1"/>
          </p:cNvSpPr>
          <p:nvPr>
            <p:ph type="title"/>
          </p:nvPr>
        </p:nvSpPr>
        <p:spPr>
          <a:xfrm>
            <a:off x="838199" y="12563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Writing the Prompt</a:t>
            </a:r>
            <a:endParaRPr lang="en-US" dirty="0"/>
          </a:p>
        </p:txBody>
      </p:sp>
      <p:sp>
        <p:nvSpPr>
          <p:cNvPr id="5" name="Rectangle: Rounded Corners 4">
            <a:extLst>
              <a:ext uri="{FF2B5EF4-FFF2-40B4-BE49-F238E27FC236}">
                <a16:creationId xmlns:a16="http://schemas.microsoft.com/office/drawing/2014/main" id="{5B6D8918-4CC0-6E1D-98D3-D0AC5FA5D35E}"/>
              </a:ext>
            </a:extLst>
          </p:cNvPr>
          <p:cNvSpPr/>
          <p:nvPr/>
        </p:nvSpPr>
        <p:spPr>
          <a:xfrm>
            <a:off x="745671" y="1699868"/>
            <a:ext cx="10700657" cy="1447805"/>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23A735D-144F-35DE-1519-0AC787A7FEA8}"/>
              </a:ext>
            </a:extLst>
          </p:cNvPr>
          <p:cNvSpPr txBox="1"/>
          <p:nvPr/>
        </p:nvSpPr>
        <p:spPr>
          <a:xfrm>
            <a:off x="838199" y="1776329"/>
            <a:ext cx="10515600" cy="1138773"/>
          </a:xfrm>
          <a:prstGeom prst="rect">
            <a:avLst/>
          </a:prstGeom>
          <a:noFill/>
        </p:spPr>
        <p:txBody>
          <a:bodyPr wrap="square">
            <a:spAutoFit/>
          </a:bodyPr>
          <a:lstStyle/>
          <a:p>
            <a:pPr marL="0" indent="0" algn="ctr">
              <a:buNone/>
            </a:pPr>
            <a:r>
              <a:rPr lang="en-US" sz="2200" b="1" dirty="0">
                <a:latin typeface="Arial" panose="020B0604020202020204" pitchFamily="34" charset="0"/>
                <a:cs typeface="Arial" panose="020B0604020202020204" pitchFamily="34" charset="0"/>
              </a:rPr>
              <a:t>Second Part of Prompt: Data Format</a:t>
            </a:r>
          </a:p>
          <a:p>
            <a:pPr marL="0" indent="0" algn="ctr">
              <a:buNone/>
            </a:pPr>
            <a:endParaRPr lang="en-US" sz="2200" b="1" dirty="0">
              <a:latin typeface="Arial" panose="020B0604020202020204" pitchFamily="34" charset="0"/>
              <a:cs typeface="Arial" panose="020B0604020202020204" pitchFamily="34" charset="0"/>
            </a:endParaRPr>
          </a:p>
          <a:p>
            <a:pPr algn="ctr"/>
            <a:r>
              <a:rPr lang="en-US" sz="2400" dirty="0">
                <a:latin typeface="Courier New" panose="02070309020205020404" pitchFamily="49" charset="0"/>
                <a:cs typeface="Courier New" panose="02070309020205020404" pitchFamily="49" charset="0"/>
              </a:rPr>
              <a:t>Please keep the </a:t>
            </a:r>
            <a:r>
              <a:rPr lang="en-US" sz="2400" dirty="0" err="1">
                <a:latin typeface="Courier New" panose="02070309020205020404" pitchFamily="49" charset="0"/>
                <a:cs typeface="Courier New" panose="02070309020205020404" pitchFamily="49" charset="0"/>
              </a:rPr>
              <a:t>flusight</a:t>
            </a:r>
            <a:r>
              <a:rPr lang="en-US" sz="2400" dirty="0">
                <a:latin typeface="Courier New" panose="02070309020205020404" pitchFamily="49" charset="0"/>
                <a:cs typeface="Courier New" panose="02070309020205020404" pitchFamily="49" charset="0"/>
              </a:rPr>
              <a:t> format for the data file. </a:t>
            </a:r>
          </a:p>
        </p:txBody>
      </p:sp>
      <p:pic>
        <p:nvPicPr>
          <p:cNvPr id="9" name="Picture 8" descr="Your Turn Rubber Stamp Royalty Free SVG, Cliparts, Vectors, and Stock  Illustration. Image 68258628.">
            <a:extLst>
              <a:ext uri="{FF2B5EF4-FFF2-40B4-BE49-F238E27FC236}">
                <a16:creationId xmlns:a16="http://schemas.microsoft.com/office/drawing/2014/main" id="{51D443CD-F2D2-532C-7370-E767FFBAF926}"/>
              </a:ext>
            </a:extLst>
          </p:cNvPr>
          <p:cNvPicPr>
            <a:picLocks noChangeAspect="1"/>
          </p:cNvPicPr>
          <p:nvPr/>
        </p:nvPicPr>
        <p:blipFill>
          <a:blip r:embed="rId2"/>
          <a:stretch>
            <a:fillRect/>
          </a:stretch>
        </p:blipFill>
        <p:spPr>
          <a:xfrm>
            <a:off x="2097255" y="297568"/>
            <a:ext cx="981703" cy="981703"/>
          </a:xfrm>
          <a:prstGeom prst="rect">
            <a:avLst/>
          </a:prstGeom>
        </p:spPr>
      </p:pic>
      <p:sp>
        <p:nvSpPr>
          <p:cNvPr id="13" name="Rectangle: Rounded Corners 12">
            <a:extLst>
              <a:ext uri="{FF2B5EF4-FFF2-40B4-BE49-F238E27FC236}">
                <a16:creationId xmlns:a16="http://schemas.microsoft.com/office/drawing/2014/main" id="{70471EF2-1339-9714-5BB4-9D8A1E14071A}"/>
              </a:ext>
            </a:extLst>
          </p:cNvPr>
          <p:cNvSpPr/>
          <p:nvPr/>
        </p:nvSpPr>
        <p:spPr>
          <a:xfrm>
            <a:off x="745672" y="3624942"/>
            <a:ext cx="10700657" cy="2612571"/>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2D4C93C-A94D-47F6-EA13-3FBA9910765E}"/>
              </a:ext>
            </a:extLst>
          </p:cNvPr>
          <p:cNvSpPr txBox="1"/>
          <p:nvPr/>
        </p:nvSpPr>
        <p:spPr>
          <a:xfrm>
            <a:off x="930728" y="3744690"/>
            <a:ext cx="10515600" cy="2246769"/>
          </a:xfrm>
          <a:prstGeom prst="rect">
            <a:avLst/>
          </a:prstGeom>
          <a:noFill/>
        </p:spPr>
        <p:txBody>
          <a:bodyPr wrap="square">
            <a:spAutoFit/>
          </a:bodyPr>
          <a:lstStyle/>
          <a:p>
            <a:pPr marL="0" indent="0" algn="ctr">
              <a:buNone/>
            </a:pPr>
            <a:r>
              <a:rPr lang="en-US" sz="2200" b="1" dirty="0">
                <a:latin typeface="Arial" panose="020B0604020202020204" pitchFamily="34" charset="0"/>
                <a:cs typeface="Arial" panose="020B0604020202020204" pitchFamily="34" charset="0"/>
              </a:rPr>
              <a:t>Third Part of Prompt: Visualizations</a:t>
            </a:r>
          </a:p>
          <a:p>
            <a:pPr marL="0" indent="0" algn="ctr">
              <a:buNone/>
            </a:pPr>
            <a:endParaRPr lang="en-US" sz="2200" b="1" dirty="0">
              <a:latin typeface="Arial" panose="020B0604020202020204" pitchFamily="34" charset="0"/>
              <a:cs typeface="Arial" panose="020B0604020202020204" pitchFamily="34" charset="0"/>
            </a:endParaRPr>
          </a:p>
          <a:p>
            <a:r>
              <a:rPr lang="en-US" sz="2400" dirty="0">
                <a:latin typeface="Courier New" panose="02070309020205020404" pitchFamily="49" charset="0"/>
                <a:cs typeface="Courier New" panose="02070309020205020404" pitchFamily="49" charset="0"/>
              </a:rPr>
              <a:t>For the visualizations, I want each horizon to have their own line like what we do currently for 1-week horizons. Make sure the colors are distinct, and the legend clearly includes all graph elements. </a:t>
            </a:r>
          </a:p>
        </p:txBody>
      </p:sp>
    </p:spTree>
    <p:extLst>
      <p:ext uri="{BB962C8B-B14F-4D97-AF65-F5344CB8AC3E}">
        <p14:creationId xmlns:p14="http://schemas.microsoft.com/office/powerpoint/2010/main" val="1025345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F65F2-46DC-ECFE-A0A2-A95FA297C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0F0FD-012A-C863-C8A0-D689FA17D603}"/>
              </a:ext>
            </a:extLst>
          </p:cNvPr>
          <p:cNvSpPr>
            <a:spLocks noGrp="1"/>
          </p:cNvSpPr>
          <p:nvPr>
            <p:ph type="title"/>
          </p:nvPr>
        </p:nvSpPr>
        <p:spPr>
          <a:xfrm>
            <a:off x="838200" y="-4629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Writing the Prompt</a:t>
            </a:r>
            <a:endParaRPr lang="en-US" dirty="0"/>
          </a:p>
        </p:txBody>
      </p:sp>
      <p:pic>
        <p:nvPicPr>
          <p:cNvPr id="9" name="Picture 8" descr="Your Turn Rubber Stamp Royalty Free SVG, Cliparts, Vectors, and Stock  Illustration. Image 68258628.">
            <a:extLst>
              <a:ext uri="{FF2B5EF4-FFF2-40B4-BE49-F238E27FC236}">
                <a16:creationId xmlns:a16="http://schemas.microsoft.com/office/drawing/2014/main" id="{202B1277-5899-6D6C-6FCC-C901B4E44EC3}"/>
              </a:ext>
            </a:extLst>
          </p:cNvPr>
          <p:cNvPicPr>
            <a:picLocks noChangeAspect="1"/>
          </p:cNvPicPr>
          <p:nvPr/>
        </p:nvPicPr>
        <p:blipFill>
          <a:blip r:embed="rId3"/>
          <a:stretch>
            <a:fillRect/>
          </a:stretch>
        </p:blipFill>
        <p:spPr>
          <a:xfrm>
            <a:off x="2151683" y="125637"/>
            <a:ext cx="981703" cy="981703"/>
          </a:xfrm>
          <a:prstGeom prst="rect">
            <a:avLst/>
          </a:prstGeom>
        </p:spPr>
      </p:pic>
      <p:sp>
        <p:nvSpPr>
          <p:cNvPr id="13" name="Rectangle: Rounded Corners 12">
            <a:extLst>
              <a:ext uri="{FF2B5EF4-FFF2-40B4-BE49-F238E27FC236}">
                <a16:creationId xmlns:a16="http://schemas.microsoft.com/office/drawing/2014/main" id="{7F67BDFB-9D8A-6CD6-3CD1-505A58E5F7C5}"/>
              </a:ext>
            </a:extLst>
          </p:cNvPr>
          <p:cNvSpPr/>
          <p:nvPr/>
        </p:nvSpPr>
        <p:spPr>
          <a:xfrm>
            <a:off x="304801" y="1279269"/>
            <a:ext cx="11484428" cy="5453094"/>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8764DDC-E181-AD21-446B-34466995F25F}"/>
              </a:ext>
            </a:extLst>
          </p:cNvPr>
          <p:cNvSpPr txBox="1"/>
          <p:nvPr/>
        </p:nvSpPr>
        <p:spPr>
          <a:xfrm>
            <a:off x="527957" y="1505630"/>
            <a:ext cx="11136085" cy="4770537"/>
          </a:xfrm>
          <a:prstGeom prst="rect">
            <a:avLst/>
          </a:prstGeom>
          <a:noFill/>
        </p:spPr>
        <p:txBody>
          <a:bodyPr wrap="square">
            <a:spAutoFit/>
          </a:bodyPr>
          <a:lstStyle/>
          <a:p>
            <a:pPr marL="0" indent="0" algn="ctr">
              <a:buNone/>
            </a:pPr>
            <a:r>
              <a:rPr lang="en-US" sz="2200" b="1" dirty="0">
                <a:latin typeface="Arial" panose="020B0604020202020204" pitchFamily="34" charset="0"/>
                <a:cs typeface="Arial" panose="020B0604020202020204" pitchFamily="34" charset="0"/>
              </a:rPr>
              <a:t>Final Part of Prompt: Validations</a:t>
            </a:r>
          </a:p>
          <a:p>
            <a:pPr marL="0" indent="0" algn="ctr">
              <a:buNone/>
            </a:pPr>
            <a:endParaRPr lang="en-US" sz="2200" b="1" dirty="0">
              <a:latin typeface="Arial" panose="020B0604020202020204" pitchFamily="34" charset="0"/>
              <a:cs typeface="Arial" panose="020B0604020202020204" pitchFamily="34" charset="0"/>
            </a:endParaRPr>
          </a:p>
          <a:p>
            <a:pPr>
              <a:spcAft>
                <a:spcPts val="1200"/>
              </a:spcAft>
            </a:pPr>
            <a:r>
              <a:rPr lang="en-US" sz="2300" dirty="0">
                <a:latin typeface="Courier New" panose="02070309020205020404" pitchFamily="49" charset="0"/>
                <a:cs typeface="Courier New" panose="02070309020205020404" pitchFamily="49" charset="0"/>
              </a:rPr>
              <a:t>Please also include the following data checks: </a:t>
            </a:r>
          </a:p>
          <a:p>
            <a:pPr>
              <a:spcAft>
                <a:spcPts val="1200"/>
              </a:spcAft>
            </a:pPr>
            <a:r>
              <a:rPr lang="en-US" sz="2300" dirty="0">
                <a:latin typeface="Courier New" panose="02070309020205020404" pitchFamily="49" charset="0"/>
                <a:cs typeface="Courier New" panose="02070309020205020404" pitchFamily="49" charset="0"/>
              </a:rPr>
              <a:t>Validations: Confirm intervals get wider (or stay equal) as the horizon grows: width at h=3 ≥ h=2 ≥ h=1. Print "[</a:t>
            </a:r>
            <a:r>
              <a:rPr lang="en-US" sz="2300" dirty="0" err="1">
                <a:latin typeface="Courier New" panose="02070309020205020404" pitchFamily="49" charset="0"/>
                <a:cs typeface="Courier New" panose="02070309020205020404" pitchFamily="49" charset="0"/>
              </a:rPr>
              <a:t>val</a:t>
            </a:r>
            <a:r>
              <a:rPr lang="en-US" sz="2300" dirty="0">
                <a:latin typeface="Courier New" panose="02070309020205020404" pitchFamily="49" charset="0"/>
                <a:cs typeface="Courier New" panose="02070309020205020404" pitchFamily="49" charset="0"/>
              </a:rPr>
              <a:t>] intervals widen with horizon: OK"; stop() otherwise. </a:t>
            </a:r>
          </a:p>
          <a:p>
            <a:pPr>
              <a:spcAft>
                <a:spcPts val="1200"/>
              </a:spcAft>
            </a:pPr>
            <a:r>
              <a:rPr lang="en-US" sz="2300" dirty="0">
                <a:latin typeface="Courier New" panose="02070309020205020404" pitchFamily="49" charset="0"/>
                <a:cs typeface="Courier New" panose="02070309020205020404" pitchFamily="49" charset="0"/>
              </a:rPr>
              <a:t>Validations: Confirm </a:t>
            </a:r>
            <a:r>
              <a:rPr lang="en-US" sz="2300" dirty="0" err="1">
                <a:latin typeface="Courier New" panose="02070309020205020404" pitchFamily="49" charset="0"/>
                <a:cs typeface="Courier New" panose="02070309020205020404" pitchFamily="49" charset="0"/>
              </a:rPr>
              <a:t>target_end_date</a:t>
            </a:r>
            <a:r>
              <a:rPr lang="en-US" sz="2300" dirty="0">
                <a:latin typeface="Courier New" panose="02070309020205020404" pitchFamily="49" charset="0"/>
                <a:cs typeface="Courier New" panose="02070309020205020404" pitchFamily="49" charset="0"/>
              </a:rPr>
              <a:t> == </a:t>
            </a:r>
            <a:r>
              <a:rPr lang="en-US" sz="2300" dirty="0" err="1">
                <a:latin typeface="Courier New" panose="02070309020205020404" pitchFamily="49" charset="0"/>
                <a:cs typeface="Courier New" panose="02070309020205020404" pitchFamily="49" charset="0"/>
              </a:rPr>
              <a:t>reference_date</a:t>
            </a:r>
            <a:r>
              <a:rPr lang="en-US" sz="2300" dirty="0">
                <a:latin typeface="Courier New" panose="02070309020205020404" pitchFamily="49" charset="0"/>
                <a:cs typeface="Courier New" panose="02070309020205020404" pitchFamily="49" charset="0"/>
              </a:rPr>
              <a:t> + 7 * horizon for every row. Print "[</a:t>
            </a:r>
            <a:r>
              <a:rPr lang="en-US" sz="2300" dirty="0" err="1">
                <a:latin typeface="Courier New" panose="02070309020205020404" pitchFamily="49" charset="0"/>
                <a:cs typeface="Courier New" panose="02070309020205020404" pitchFamily="49" charset="0"/>
              </a:rPr>
              <a:t>val</a:t>
            </a:r>
            <a:r>
              <a:rPr lang="en-US" sz="2300" dirty="0">
                <a:latin typeface="Courier New" panose="02070309020205020404" pitchFamily="49" charset="0"/>
                <a:cs typeface="Courier New" panose="02070309020205020404" pitchFamily="49" charset="0"/>
              </a:rPr>
              <a:t>] target dates correct: OK"; stop() otherwise. </a:t>
            </a:r>
          </a:p>
          <a:p>
            <a:r>
              <a:rPr lang="en-US" sz="2300" dirty="0">
                <a:latin typeface="Courier New" panose="02070309020205020404" pitchFamily="49" charset="0"/>
                <a:cs typeface="Courier New" panose="02070309020205020404" pitchFamily="49" charset="0"/>
              </a:rPr>
              <a:t>Validations: Confirm each reference date is fit once, with all three horizons taken from that single forecast. Print "[</a:t>
            </a:r>
            <a:r>
              <a:rPr lang="en-US" sz="2300" dirty="0" err="1">
                <a:latin typeface="Courier New" panose="02070309020205020404" pitchFamily="49" charset="0"/>
                <a:cs typeface="Courier New" panose="02070309020205020404" pitchFamily="49" charset="0"/>
              </a:rPr>
              <a:t>val</a:t>
            </a:r>
            <a:r>
              <a:rPr lang="en-US" sz="2300" dirty="0">
                <a:latin typeface="Courier New" panose="02070309020205020404" pitchFamily="49" charset="0"/>
                <a:cs typeface="Courier New" panose="02070309020205020404" pitchFamily="49" charset="0"/>
              </a:rPr>
              <a:t>] one fit, three horizons: OK"; stop() otherwise.</a:t>
            </a:r>
          </a:p>
        </p:txBody>
      </p:sp>
    </p:spTree>
    <p:extLst>
      <p:ext uri="{BB962C8B-B14F-4D97-AF65-F5344CB8AC3E}">
        <p14:creationId xmlns:p14="http://schemas.microsoft.com/office/powerpoint/2010/main" val="28194224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F7B3F8-29B2-DDCB-FB64-AF580306A9E4}"/>
              </a:ext>
            </a:extLst>
          </p:cNvPr>
          <p:cNvPicPr>
            <a:picLocks noChangeAspect="1"/>
          </p:cNvPicPr>
          <p:nvPr/>
        </p:nvPicPr>
        <p:blipFill>
          <a:blip r:embed="rId2"/>
          <a:stretch>
            <a:fillRect/>
          </a:stretch>
        </p:blipFill>
        <p:spPr>
          <a:xfrm>
            <a:off x="592853" y="177141"/>
            <a:ext cx="11006294" cy="6503719"/>
          </a:xfrm>
          <a:prstGeom prst="rect">
            <a:avLst/>
          </a:prstGeom>
        </p:spPr>
      </p:pic>
    </p:spTree>
    <p:extLst>
      <p:ext uri="{BB962C8B-B14F-4D97-AF65-F5344CB8AC3E}">
        <p14:creationId xmlns:p14="http://schemas.microsoft.com/office/powerpoint/2010/main" val="2364595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7A0F4-B55C-F324-BD2C-22D065E11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4D882B-1507-D585-316C-2E845961DE18}"/>
              </a:ext>
            </a:extLst>
          </p:cNvPr>
          <p:cNvSpPr>
            <a:spLocks noGrp="1"/>
          </p:cNvSpPr>
          <p:nvPr>
            <p:ph type="title"/>
          </p:nvPr>
        </p:nvSpPr>
        <p:spPr>
          <a:xfrm>
            <a:off x="838200" y="20773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Updating the Quantiles</a:t>
            </a:r>
          </a:p>
        </p:txBody>
      </p:sp>
      <p:sp>
        <p:nvSpPr>
          <p:cNvPr id="3" name="Content Placeholder 2">
            <a:extLst>
              <a:ext uri="{FF2B5EF4-FFF2-40B4-BE49-F238E27FC236}">
                <a16:creationId xmlns:a16="http://schemas.microsoft.com/office/drawing/2014/main" id="{C6DE218A-545A-F0A9-9E52-AF6B171C2A17}"/>
              </a:ext>
            </a:extLst>
          </p:cNvPr>
          <p:cNvSpPr>
            <a:spLocks noGrp="1"/>
          </p:cNvSpPr>
          <p:nvPr>
            <p:ph idx="1"/>
          </p:nvPr>
        </p:nvSpPr>
        <p:spPr>
          <a:xfrm>
            <a:off x="838200" y="1624417"/>
            <a:ext cx="10515600" cy="4667250"/>
          </a:xfrm>
        </p:spPr>
        <p:txBody>
          <a:bodyPr>
            <a:normAutofit/>
          </a:bodyPr>
          <a:lstStyle/>
          <a:p>
            <a:pPr fontAlgn="ctr">
              <a:spcAft>
                <a:spcPts val="1800"/>
              </a:spcAft>
            </a:pPr>
            <a:r>
              <a:rPr lang="en-US" dirty="0">
                <a:latin typeface="Arial" panose="020B0604020202020204" pitchFamily="34" charset="0"/>
                <a:cs typeface="Arial" panose="020B0604020202020204" pitchFamily="34" charset="0"/>
              </a:rPr>
              <a:t>Now that we have updated our forecasting horizons, we now need to update our pipeline to capture all </a:t>
            </a:r>
            <a:r>
              <a:rPr lang="en-US" b="1" dirty="0">
                <a:solidFill>
                  <a:schemeClr val="accent2"/>
                </a:solidFill>
                <a:latin typeface="Arial" panose="020B0604020202020204" pitchFamily="34" charset="0"/>
                <a:cs typeface="Arial" panose="020B0604020202020204" pitchFamily="34" charset="0"/>
              </a:rPr>
              <a:t>23 quantiles </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a:spcAft>
                <a:spcPts val="600"/>
              </a:spcAft>
            </a:pPr>
            <a:r>
              <a:rPr lang="en-US" dirty="0">
                <a:latin typeface="Arial" panose="020B0604020202020204" pitchFamily="34" charset="0"/>
                <a:cs typeface="Arial" panose="020B0604020202020204" pitchFamily="34" charset="0"/>
              </a:rPr>
              <a:t>For this exercise, we will be </a:t>
            </a:r>
            <a:r>
              <a:rPr lang="en-US" b="1" dirty="0">
                <a:solidFill>
                  <a:schemeClr val="accent2"/>
                </a:solidFill>
                <a:latin typeface="Arial" panose="020B0604020202020204" pitchFamily="34" charset="0"/>
                <a:cs typeface="Arial" panose="020B0604020202020204" pitchFamily="34" charset="0"/>
              </a:rPr>
              <a:t>using AI to help </a:t>
            </a:r>
            <a:r>
              <a:rPr lang="en-US" dirty="0">
                <a:latin typeface="Arial" panose="020B0604020202020204" pitchFamily="34" charset="0"/>
                <a:cs typeface="Arial" panose="020B0604020202020204" pitchFamily="34" charset="0"/>
              </a:rPr>
              <a:t>us update the rules to get exactly what we want. </a:t>
            </a:r>
          </a:p>
        </p:txBody>
      </p:sp>
      <p:graphicFrame>
        <p:nvGraphicFramePr>
          <p:cNvPr id="6" name="Table 5">
            <a:extLst>
              <a:ext uri="{FF2B5EF4-FFF2-40B4-BE49-F238E27FC236}">
                <a16:creationId xmlns:a16="http://schemas.microsoft.com/office/drawing/2014/main" id="{970BA442-1B4C-FDCB-E156-F1782058B22D}"/>
              </a:ext>
            </a:extLst>
          </p:cNvPr>
          <p:cNvGraphicFramePr>
            <a:graphicFrameLocks noGrp="1"/>
          </p:cNvGraphicFramePr>
          <p:nvPr>
            <p:extLst>
              <p:ext uri="{D42A27DB-BD31-4B8C-83A1-F6EECF244321}">
                <p14:modId xmlns:p14="http://schemas.microsoft.com/office/powerpoint/2010/main" val="556349483"/>
              </p:ext>
            </p:extLst>
          </p:nvPr>
        </p:nvGraphicFramePr>
        <p:xfrm>
          <a:off x="993847" y="3041102"/>
          <a:ext cx="10204305" cy="1833880"/>
        </p:xfrm>
        <a:graphic>
          <a:graphicData uri="http://schemas.openxmlformats.org/drawingml/2006/table">
            <a:tbl>
              <a:tblPr firstRow="1" bandRow="1">
                <a:tableStyleId>{5940675A-B579-460E-94D1-54222C63F5DA}</a:tableStyleId>
              </a:tblPr>
              <a:tblGrid>
                <a:gridCol w="3401435">
                  <a:extLst>
                    <a:ext uri="{9D8B030D-6E8A-4147-A177-3AD203B41FA5}">
                      <a16:colId xmlns:a16="http://schemas.microsoft.com/office/drawing/2014/main" val="3477913489"/>
                    </a:ext>
                  </a:extLst>
                </a:gridCol>
                <a:gridCol w="3401435">
                  <a:extLst>
                    <a:ext uri="{9D8B030D-6E8A-4147-A177-3AD203B41FA5}">
                      <a16:colId xmlns:a16="http://schemas.microsoft.com/office/drawing/2014/main" val="2711285860"/>
                    </a:ext>
                  </a:extLst>
                </a:gridCol>
                <a:gridCol w="3401435">
                  <a:extLst>
                    <a:ext uri="{9D8B030D-6E8A-4147-A177-3AD203B41FA5}">
                      <a16:colId xmlns:a16="http://schemas.microsoft.com/office/drawing/2014/main" val="3713721280"/>
                    </a:ext>
                  </a:extLst>
                </a:gridCol>
              </a:tblGrid>
              <a:tr h="370840">
                <a:tc>
                  <a:txBody>
                    <a:bodyPr/>
                    <a:lstStyle/>
                    <a:p>
                      <a:endParaRPr lang="en-US" dirty="0">
                        <a:latin typeface="Arial" panose="020B0604020202020204" pitchFamily="34" charset="0"/>
                        <a:cs typeface="Arial" panose="020B0604020202020204" pitchFamily="34"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tcPr>
                </a:tc>
                <a:tc>
                  <a:txBody>
                    <a:bodyPr/>
                    <a:lstStyle/>
                    <a:p>
                      <a:pPr algn="ctr"/>
                      <a:r>
                        <a:rPr lang="en-US" b="1" dirty="0">
                          <a:latin typeface="Arial" panose="020B0604020202020204" pitchFamily="34" charset="0"/>
                          <a:cs typeface="Arial" panose="020B0604020202020204" pitchFamily="34" charset="0"/>
                        </a:rPr>
                        <a:t>Current </a:t>
                      </a:r>
                    </a:p>
                  </a:txBody>
                  <a:tcPr anchor="ctr">
                    <a:lnL w="12700" cap="flat" cmpd="sng" algn="ctr">
                      <a:solidFill>
                        <a:schemeClr val="tx1"/>
                      </a:solidFill>
                      <a:prstDash val="solid"/>
                      <a:round/>
                      <a:headEnd type="none" w="med" len="med"/>
                      <a:tailEnd type="none" w="med" len="med"/>
                    </a:lnL>
                    <a:solidFill>
                      <a:schemeClr val="bg1">
                        <a:lumMod val="95000"/>
                      </a:schemeClr>
                    </a:solidFill>
                  </a:tcPr>
                </a:tc>
                <a:tc>
                  <a:txBody>
                    <a:bodyPr/>
                    <a:lstStyle/>
                    <a:p>
                      <a:pPr algn="ctr"/>
                      <a:r>
                        <a:rPr lang="en-US" b="1" dirty="0">
                          <a:latin typeface="Arial" panose="020B0604020202020204" pitchFamily="34" charset="0"/>
                          <a:cs typeface="Arial" panose="020B0604020202020204" pitchFamily="34" charset="0"/>
                        </a:rPr>
                        <a:t>Goal</a:t>
                      </a:r>
                    </a:p>
                  </a:txBody>
                  <a:tcPr anchor="ctr">
                    <a:solidFill>
                      <a:schemeClr val="bg1">
                        <a:lumMod val="95000"/>
                      </a:schemeClr>
                    </a:solidFill>
                  </a:tcPr>
                </a:tc>
                <a:extLst>
                  <a:ext uri="{0D108BD9-81ED-4DB2-BD59-A6C34878D82A}">
                    <a16:rowId xmlns:a16="http://schemas.microsoft.com/office/drawing/2014/main" val="3150909744"/>
                  </a:ext>
                </a:extLst>
              </a:tr>
              <a:tr h="394429">
                <a:tc>
                  <a:txBody>
                    <a:bodyPr/>
                    <a:lstStyle/>
                    <a:p>
                      <a:pPr algn="ctr"/>
                      <a:r>
                        <a:rPr lang="en-US" b="1" dirty="0">
                          <a:latin typeface="Arial" panose="020B0604020202020204" pitchFamily="34" charset="0"/>
                          <a:cs typeface="Arial" panose="020B0604020202020204" pitchFamily="34" charset="0"/>
                        </a:rPr>
                        <a:t>Quantiles</a:t>
                      </a: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sz="1800" b="0" kern="1200" dirty="0">
                          <a:solidFill>
                            <a:schemeClr val="tx1"/>
                          </a:solidFill>
                          <a:effectLst/>
                          <a:latin typeface="Arial" panose="020B0604020202020204" pitchFamily="34" charset="0"/>
                          <a:cs typeface="Arial" panose="020B0604020202020204" pitchFamily="34" charset="0"/>
                        </a:rPr>
                        <a:t>0.025, 0.5, 0.975</a:t>
                      </a:r>
                      <a:endParaRPr lang="en-US" dirty="0">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effectLst/>
                          <a:latin typeface="Arial" panose="020B0604020202020204" pitchFamily="34" charset="0"/>
                          <a:cs typeface="Arial" panose="020B0604020202020204" pitchFamily="34" charset="0"/>
                        </a:rPr>
                        <a:t>0.01, 0.025, 0.05, 0.1, 0.15, 0.2, 0.25, 0.3, 0.35, 0.4, 0.45, 0.5, 0.55, 0.6, 0.65, 0.7, 0.75, 0.8, 0.85, 0.9, 0.95, 0.975, and 0.99</a:t>
                      </a:r>
                      <a:endParaRPr lang="en-US" sz="1800" b="0" i="0" kern="1200" dirty="0">
                        <a:solidFill>
                          <a:schemeClr val="dk1"/>
                        </a:solidFill>
                        <a:effectLst/>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2594653142"/>
                  </a:ext>
                </a:extLst>
              </a:tr>
            </a:tbl>
          </a:graphicData>
        </a:graphic>
      </p:graphicFrame>
    </p:spTree>
    <p:extLst>
      <p:ext uri="{BB962C8B-B14F-4D97-AF65-F5344CB8AC3E}">
        <p14:creationId xmlns:p14="http://schemas.microsoft.com/office/powerpoint/2010/main" val="166236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B3331-A719-887B-123E-F0D5907006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AAA61F-DF41-648D-B31A-B1759A390388}"/>
              </a:ext>
            </a:extLst>
          </p:cNvPr>
          <p:cNvSpPr>
            <a:spLocks noGrp="1"/>
          </p:cNvSpPr>
          <p:nvPr>
            <p:ph type="title"/>
          </p:nvPr>
        </p:nvSpPr>
        <p:spPr>
          <a:xfrm>
            <a:off x="838200" y="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Writing the Prompt</a:t>
            </a:r>
          </a:p>
        </p:txBody>
      </p:sp>
      <p:sp>
        <p:nvSpPr>
          <p:cNvPr id="6" name="Rectangle: Rounded Corners 5">
            <a:extLst>
              <a:ext uri="{FF2B5EF4-FFF2-40B4-BE49-F238E27FC236}">
                <a16:creationId xmlns:a16="http://schemas.microsoft.com/office/drawing/2014/main" id="{2EF95FAA-E29D-C356-81F5-C721ADA41F4E}"/>
              </a:ext>
            </a:extLst>
          </p:cNvPr>
          <p:cNvSpPr/>
          <p:nvPr/>
        </p:nvSpPr>
        <p:spPr>
          <a:xfrm>
            <a:off x="838200" y="3701142"/>
            <a:ext cx="10700657" cy="2950533"/>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86F2204-4F57-8E04-EE95-B1AEDD8F38F0}"/>
              </a:ext>
            </a:extLst>
          </p:cNvPr>
          <p:cNvSpPr>
            <a:spLocks noGrp="1"/>
          </p:cNvSpPr>
          <p:nvPr>
            <p:ph idx="1"/>
          </p:nvPr>
        </p:nvSpPr>
        <p:spPr>
          <a:xfrm>
            <a:off x="838200" y="1497492"/>
            <a:ext cx="10515600" cy="4982255"/>
          </a:xfrm>
        </p:spPr>
        <p:txBody>
          <a:bodyPr>
            <a:normAutofit/>
          </a:bodyPr>
          <a:lstStyle/>
          <a:p>
            <a:pPr>
              <a:spcAft>
                <a:spcPts val="1200"/>
              </a:spcAft>
            </a:pPr>
            <a:r>
              <a:rPr lang="en-US" dirty="0">
                <a:latin typeface="Arial" panose="020B0604020202020204" pitchFamily="34" charset="0"/>
                <a:cs typeface="Arial" panose="020B0604020202020204" pitchFamily="34" charset="0"/>
              </a:rPr>
              <a:t>We are going to work with AI to help us write the </a:t>
            </a:r>
            <a:r>
              <a:rPr lang="en-US" b="1" dirty="0">
                <a:solidFill>
                  <a:schemeClr val="accent2"/>
                </a:solidFill>
                <a:latin typeface="Arial" panose="020B0604020202020204" pitchFamily="34" charset="0"/>
                <a:cs typeface="Arial" panose="020B0604020202020204" pitchFamily="34" charset="0"/>
              </a:rPr>
              <a:t>updated rules</a:t>
            </a:r>
            <a:r>
              <a:rPr lang="en-US" dirty="0">
                <a:latin typeface="Arial" panose="020B0604020202020204" pitchFamily="34" charset="0"/>
                <a:cs typeface="Arial" panose="020B0604020202020204" pitchFamily="34" charset="0"/>
              </a:rPr>
              <a:t> around adding additional quantiles. </a:t>
            </a:r>
          </a:p>
          <a:p>
            <a:r>
              <a:rPr lang="en-US" dirty="0">
                <a:latin typeface="Arial" panose="020B0604020202020204" pitchFamily="34" charset="0"/>
                <a:cs typeface="Arial" panose="020B0604020202020204" pitchFamily="34" charset="0"/>
              </a:rPr>
              <a:t>We want to make sure we are </a:t>
            </a:r>
            <a:r>
              <a:rPr lang="en-US" b="1" dirty="0">
                <a:solidFill>
                  <a:schemeClr val="accent2"/>
                </a:solidFill>
                <a:latin typeface="Arial" panose="020B0604020202020204" pitchFamily="34" charset="0"/>
                <a:cs typeface="Arial" panose="020B0604020202020204" pitchFamily="34" charset="0"/>
              </a:rPr>
              <a:t>explicit</a:t>
            </a:r>
            <a:r>
              <a:rPr lang="en-US" dirty="0">
                <a:latin typeface="Arial" panose="020B0604020202020204" pitchFamily="34" charset="0"/>
                <a:cs typeface="Arial" panose="020B0604020202020204" pitchFamily="34" charset="0"/>
              </a:rPr>
              <a:t> about the changes we want and review </a:t>
            </a:r>
            <a:r>
              <a:rPr lang="en-US" b="1" dirty="0">
                <a:solidFill>
                  <a:schemeClr val="accent2"/>
                </a:solidFill>
                <a:latin typeface="Arial" panose="020B0604020202020204" pitchFamily="34" charset="0"/>
                <a:cs typeface="Arial" panose="020B0604020202020204" pitchFamily="34" charset="0"/>
              </a:rPr>
              <a:t>ALL</a:t>
            </a:r>
            <a:r>
              <a:rPr lang="en-US" dirty="0">
                <a:latin typeface="Arial" panose="020B0604020202020204" pitchFamily="34" charset="0"/>
                <a:cs typeface="Arial" panose="020B0604020202020204" pitchFamily="34" charset="0"/>
              </a:rPr>
              <a:t> changes it suggests. </a:t>
            </a:r>
          </a:p>
        </p:txBody>
      </p:sp>
      <p:sp>
        <p:nvSpPr>
          <p:cNvPr id="5" name="TextBox 4">
            <a:extLst>
              <a:ext uri="{FF2B5EF4-FFF2-40B4-BE49-F238E27FC236}">
                <a16:creationId xmlns:a16="http://schemas.microsoft.com/office/drawing/2014/main" id="{BEA65079-B11E-5E30-4874-76759065F9A5}"/>
              </a:ext>
            </a:extLst>
          </p:cNvPr>
          <p:cNvSpPr txBox="1"/>
          <p:nvPr/>
        </p:nvSpPr>
        <p:spPr>
          <a:xfrm>
            <a:off x="1115786" y="3766459"/>
            <a:ext cx="10107385" cy="2616101"/>
          </a:xfrm>
          <a:prstGeom prst="rect">
            <a:avLst/>
          </a:prstGeom>
          <a:noFill/>
        </p:spPr>
        <p:txBody>
          <a:bodyPr wrap="square">
            <a:spAutoFit/>
          </a:bodyPr>
          <a:lstStyle/>
          <a:p>
            <a:pPr marL="0" indent="0" algn="ctr">
              <a:buNone/>
            </a:pPr>
            <a:r>
              <a:rPr lang="en-US" sz="2200" b="1" dirty="0">
                <a:latin typeface="Arial" panose="020B0604020202020204" pitchFamily="34" charset="0"/>
                <a:cs typeface="Arial" panose="020B0604020202020204" pitchFamily="34" charset="0"/>
              </a:rPr>
              <a:t>Prompt: Updating the Quantiles </a:t>
            </a:r>
          </a:p>
          <a:p>
            <a:pPr marL="0" indent="0" algn="ctr">
              <a:buNone/>
            </a:pPr>
            <a:endParaRPr lang="en-US" sz="2200" b="1" dirty="0">
              <a:latin typeface="Arial" panose="020B0604020202020204" pitchFamily="34" charset="0"/>
              <a:cs typeface="Arial" panose="020B0604020202020204" pitchFamily="34" charset="0"/>
            </a:endParaRPr>
          </a:p>
          <a:p>
            <a:pPr>
              <a:spcAft>
                <a:spcPts val="1200"/>
              </a:spcAft>
            </a:pPr>
            <a:r>
              <a:rPr lang="en-US" sz="2200" dirty="0">
                <a:latin typeface="Courier New" panose="02070309020205020404" pitchFamily="49" charset="0"/>
                <a:cs typeface="Courier New" panose="02070309020205020404" pitchFamily="49" charset="0"/>
              </a:rPr>
              <a:t>Now I want to update the quantiles we are forecasting. Please expand our forecasts and data files to capture the following quantiles (see attached). Please update the rules document to start.</a:t>
            </a:r>
          </a:p>
          <a:p>
            <a:r>
              <a:rPr lang="en-US" sz="2200" dirty="0">
                <a:latin typeface="Courier New" panose="02070309020205020404" pitchFamily="49" charset="0"/>
                <a:cs typeface="Courier New" panose="02070309020205020404" pitchFamily="49" charset="0"/>
              </a:rPr>
              <a:t>Then, update the agents.md and 03_forecast.R. </a:t>
            </a:r>
          </a:p>
        </p:txBody>
      </p:sp>
      <p:pic>
        <p:nvPicPr>
          <p:cNvPr id="8" name="Picture 7" descr="Your Turn Rubber Stamp Royalty Free SVG, Cliparts, Vectors, and Stock  Illustration. Image 68258628.">
            <a:extLst>
              <a:ext uri="{FF2B5EF4-FFF2-40B4-BE49-F238E27FC236}">
                <a16:creationId xmlns:a16="http://schemas.microsoft.com/office/drawing/2014/main" id="{85586771-7EE8-6380-2514-24AD0C70FBED}"/>
              </a:ext>
            </a:extLst>
          </p:cNvPr>
          <p:cNvPicPr>
            <a:picLocks noChangeAspect="1"/>
          </p:cNvPicPr>
          <p:nvPr/>
        </p:nvPicPr>
        <p:blipFill>
          <a:blip r:embed="rId3"/>
          <a:stretch>
            <a:fillRect/>
          </a:stretch>
        </p:blipFill>
        <p:spPr>
          <a:xfrm>
            <a:off x="2260540" y="171929"/>
            <a:ext cx="981703" cy="981703"/>
          </a:xfrm>
          <a:prstGeom prst="rect">
            <a:avLst/>
          </a:prstGeom>
        </p:spPr>
      </p:pic>
    </p:spTree>
    <p:extLst>
      <p:ext uri="{BB962C8B-B14F-4D97-AF65-F5344CB8AC3E}">
        <p14:creationId xmlns:p14="http://schemas.microsoft.com/office/powerpoint/2010/main" val="3587655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B7299-C2D3-7066-3390-57762001F9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96DC5B-1619-087F-94D5-D7DFDB82BB9B}"/>
              </a:ext>
            </a:extLst>
          </p:cNvPr>
          <p:cNvSpPr>
            <a:spLocks noGrp="1"/>
          </p:cNvSpPr>
          <p:nvPr>
            <p:ph type="title"/>
          </p:nvPr>
        </p:nvSpPr>
        <p:spPr>
          <a:xfrm>
            <a:off x="838200" y="-4629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Writing the Prompt</a:t>
            </a:r>
            <a:endParaRPr lang="en-US" dirty="0"/>
          </a:p>
        </p:txBody>
      </p:sp>
      <p:pic>
        <p:nvPicPr>
          <p:cNvPr id="9" name="Picture 8" descr="Your Turn Rubber Stamp Royalty Free SVG, Cliparts, Vectors, and Stock  Illustration. Image 68258628.">
            <a:extLst>
              <a:ext uri="{FF2B5EF4-FFF2-40B4-BE49-F238E27FC236}">
                <a16:creationId xmlns:a16="http://schemas.microsoft.com/office/drawing/2014/main" id="{66C90128-7CFB-3327-4F6A-7361C0E0D371}"/>
              </a:ext>
            </a:extLst>
          </p:cNvPr>
          <p:cNvPicPr>
            <a:picLocks noChangeAspect="1"/>
          </p:cNvPicPr>
          <p:nvPr/>
        </p:nvPicPr>
        <p:blipFill>
          <a:blip r:embed="rId3"/>
          <a:stretch>
            <a:fillRect/>
          </a:stretch>
        </p:blipFill>
        <p:spPr>
          <a:xfrm>
            <a:off x="2151683" y="125637"/>
            <a:ext cx="981703" cy="981703"/>
          </a:xfrm>
          <a:prstGeom prst="rect">
            <a:avLst/>
          </a:prstGeom>
        </p:spPr>
      </p:pic>
      <p:sp>
        <p:nvSpPr>
          <p:cNvPr id="13" name="Rectangle: Rounded Corners 12">
            <a:extLst>
              <a:ext uri="{FF2B5EF4-FFF2-40B4-BE49-F238E27FC236}">
                <a16:creationId xmlns:a16="http://schemas.microsoft.com/office/drawing/2014/main" id="{CC707DEB-02CE-05C0-D061-2A374F0EFA08}"/>
              </a:ext>
            </a:extLst>
          </p:cNvPr>
          <p:cNvSpPr/>
          <p:nvPr/>
        </p:nvSpPr>
        <p:spPr>
          <a:xfrm>
            <a:off x="244929" y="1214989"/>
            <a:ext cx="11702143" cy="5517373"/>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27888C97-1E1C-1608-613F-75D3301876FF}"/>
              </a:ext>
            </a:extLst>
          </p:cNvPr>
          <p:cNvSpPr txBox="1"/>
          <p:nvPr/>
        </p:nvSpPr>
        <p:spPr>
          <a:xfrm>
            <a:off x="527958" y="1225876"/>
            <a:ext cx="11136085" cy="5324535"/>
          </a:xfrm>
          <a:prstGeom prst="rect">
            <a:avLst/>
          </a:prstGeom>
          <a:noFill/>
        </p:spPr>
        <p:txBody>
          <a:bodyPr wrap="square">
            <a:spAutoFit/>
          </a:bodyPr>
          <a:lstStyle/>
          <a:p>
            <a:pPr marL="0" indent="0" algn="ctr">
              <a:buNone/>
            </a:pPr>
            <a:r>
              <a:rPr lang="en-US" sz="2300" b="1" dirty="0">
                <a:latin typeface="Arial" panose="020B0604020202020204" pitchFamily="34" charset="0"/>
                <a:cs typeface="Arial" panose="020B0604020202020204" pitchFamily="34" charset="0"/>
              </a:rPr>
              <a:t>Final Part of Prompt: Validations</a:t>
            </a:r>
          </a:p>
          <a:p>
            <a:pPr marL="0" indent="0" algn="ctr">
              <a:buNone/>
            </a:pPr>
            <a:endParaRPr lang="en-US" sz="2200" b="1" dirty="0">
              <a:latin typeface="Arial" panose="020B0604020202020204" pitchFamily="34" charset="0"/>
              <a:cs typeface="Arial" panose="020B0604020202020204" pitchFamily="34" charset="0"/>
            </a:endParaRPr>
          </a:p>
          <a:p>
            <a:pPr>
              <a:spcAft>
                <a:spcPts val="1200"/>
              </a:spcAft>
            </a:pPr>
            <a:r>
              <a:rPr lang="en-US" sz="2300" dirty="0">
                <a:latin typeface="Courier New" panose="02070309020205020404" pitchFamily="49" charset="0"/>
                <a:cs typeface="Courier New" panose="02070309020205020404" pitchFamily="49" charset="0"/>
              </a:rPr>
              <a:t>Please also include the following data checks: </a:t>
            </a:r>
          </a:p>
          <a:p>
            <a:pPr>
              <a:spcAft>
                <a:spcPts val="1200"/>
              </a:spcAft>
            </a:pPr>
            <a:r>
              <a:rPr lang="en-US" sz="2200" b="1" dirty="0">
                <a:latin typeface="Courier New" panose="02070309020205020404" pitchFamily="49" charset="0"/>
                <a:cs typeface="Courier New" panose="02070309020205020404" pitchFamily="49" charset="0"/>
              </a:rPr>
              <a:t>Validations:</a:t>
            </a:r>
            <a:r>
              <a:rPr lang="en-US" sz="2200" dirty="0">
                <a:latin typeface="Courier New" panose="02070309020205020404" pitchFamily="49" charset="0"/>
                <a:cs typeface="Courier New" panose="02070309020205020404" pitchFamily="49" charset="0"/>
              </a:rPr>
              <a:t> For each reference date and horizon, confirm the quantiles are non-decreasing across every level: 0.01 ≤ 0.025 ≤ … ≤ 0.975 ≤ 0.99. Print "[</a:t>
            </a:r>
            <a:r>
              <a:rPr lang="en-US" sz="2200" dirty="0" err="1">
                <a:latin typeface="Courier New" panose="02070309020205020404" pitchFamily="49" charset="0"/>
                <a:cs typeface="Courier New" panose="02070309020205020404" pitchFamily="49" charset="0"/>
              </a:rPr>
              <a:t>val</a:t>
            </a:r>
            <a:r>
              <a:rPr lang="en-US" sz="2200" dirty="0">
                <a:latin typeface="Courier New" panose="02070309020205020404" pitchFamily="49" charset="0"/>
                <a:cs typeface="Courier New" panose="02070309020205020404" pitchFamily="49" charset="0"/>
              </a:rPr>
              <a:t>] quantiles non-decreasing: OK"; stop() otherwise.</a:t>
            </a:r>
          </a:p>
          <a:p>
            <a:pPr>
              <a:spcAft>
                <a:spcPts val="1200"/>
              </a:spcAft>
            </a:pPr>
            <a:r>
              <a:rPr lang="en-US" sz="2200" b="1" dirty="0">
                <a:latin typeface="Courier New" panose="02070309020205020404" pitchFamily="49" charset="0"/>
                <a:cs typeface="Courier New" panose="02070309020205020404" pitchFamily="49" charset="0"/>
              </a:rPr>
              <a:t>Validations:</a:t>
            </a:r>
            <a:r>
              <a:rPr lang="en-US" sz="2200" dirty="0">
                <a:latin typeface="Courier New" panose="02070309020205020404" pitchFamily="49" charset="0"/>
                <a:cs typeface="Courier New" panose="02070309020205020404" pitchFamily="49" charset="0"/>
              </a:rPr>
              <a:t> Confirm every reference-date/horizon has the exact required set of quantile levels — none missing, none extra. Print "[</a:t>
            </a:r>
            <a:r>
              <a:rPr lang="en-US" sz="2200" dirty="0" err="1">
                <a:latin typeface="Courier New" panose="02070309020205020404" pitchFamily="49" charset="0"/>
                <a:cs typeface="Courier New" panose="02070309020205020404" pitchFamily="49" charset="0"/>
              </a:rPr>
              <a:t>val</a:t>
            </a:r>
            <a:r>
              <a:rPr lang="en-US" sz="2200" dirty="0">
                <a:latin typeface="Courier New" panose="02070309020205020404" pitchFamily="49" charset="0"/>
                <a:cs typeface="Courier New" panose="02070309020205020404" pitchFamily="49" charset="0"/>
              </a:rPr>
              <a:t>] all quantile levels present: OK"; stop() otherwise.</a:t>
            </a:r>
          </a:p>
          <a:p>
            <a:r>
              <a:rPr lang="en-US" sz="2200" b="1" dirty="0">
                <a:latin typeface="Courier New" panose="02070309020205020404" pitchFamily="49" charset="0"/>
                <a:cs typeface="Courier New" panose="02070309020205020404" pitchFamily="49" charset="0"/>
              </a:rPr>
              <a:t>Validations:</a:t>
            </a:r>
            <a:r>
              <a:rPr lang="en-US" sz="2200" dirty="0">
                <a:latin typeface="Courier New" panose="02070309020205020404" pitchFamily="49" charset="0"/>
                <a:cs typeface="Courier New" panose="02070309020205020404" pitchFamily="49" charset="0"/>
              </a:rPr>
              <a:t> Confirm the median (0.5) equals the point forecast and symmetric pairs are equidistant from it (e.g. 0.025 and 0.975). Print "[</a:t>
            </a:r>
            <a:r>
              <a:rPr lang="en-US" sz="2200" dirty="0" err="1">
                <a:latin typeface="Courier New" panose="02070309020205020404" pitchFamily="49" charset="0"/>
                <a:cs typeface="Courier New" panose="02070309020205020404" pitchFamily="49" charset="0"/>
              </a:rPr>
              <a:t>val</a:t>
            </a:r>
            <a:r>
              <a:rPr lang="en-US" sz="2200" dirty="0">
                <a:latin typeface="Courier New" panose="02070309020205020404" pitchFamily="49" charset="0"/>
                <a:cs typeface="Courier New" panose="02070309020205020404" pitchFamily="49" charset="0"/>
              </a:rPr>
              <a:t>] median centered, quantiles symmetric: OK"; stop() otherwise.</a:t>
            </a:r>
          </a:p>
        </p:txBody>
      </p:sp>
    </p:spTree>
    <p:extLst>
      <p:ext uri="{BB962C8B-B14F-4D97-AF65-F5344CB8AC3E}">
        <p14:creationId xmlns:p14="http://schemas.microsoft.com/office/powerpoint/2010/main" val="9381134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840B19-0269-7236-3982-DF4668E98077}"/>
              </a:ext>
            </a:extLst>
          </p:cNvPr>
          <p:cNvPicPr>
            <a:picLocks noChangeAspect="1"/>
          </p:cNvPicPr>
          <p:nvPr/>
        </p:nvPicPr>
        <p:blipFill>
          <a:blip r:embed="rId2"/>
          <a:stretch>
            <a:fillRect/>
          </a:stretch>
        </p:blipFill>
        <p:spPr>
          <a:xfrm>
            <a:off x="1382167" y="803007"/>
            <a:ext cx="9427666" cy="5251987"/>
          </a:xfrm>
          <a:prstGeom prst="rect">
            <a:avLst/>
          </a:prstGeom>
        </p:spPr>
      </p:pic>
    </p:spTree>
    <p:extLst>
      <p:ext uri="{BB962C8B-B14F-4D97-AF65-F5344CB8AC3E}">
        <p14:creationId xmlns:p14="http://schemas.microsoft.com/office/powerpoint/2010/main" val="34040592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26B1C62-3401-4549-BC43-D8669DF54923}">
  <we:reference id="WA200010001" version="1.0.0.1" store="Omex" storeType="OMEX"/>
  <we:alternateReferences>
    <we:reference id="WA200010001" version="1.0.0.1" store="WA200010001" storeType="OMEX"/>
  </we:alternateReferences>
  <we:properties>
    <we:property name="claude.fileId" value="&quot;bcb196ca-5759-4ff6-bd9b-0803c4ce2dd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3086</TotalTime>
  <Words>5394</Words>
  <Application>Microsoft Office PowerPoint</Application>
  <PresentationFormat>Widescreen</PresentationFormat>
  <Paragraphs>568</Paragraphs>
  <Slides>61</Slides>
  <Notes>45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61</vt:i4>
      </vt:variant>
    </vt:vector>
  </HeadingPairs>
  <TitlesOfParts>
    <vt:vector size="69" baseType="lpstr">
      <vt:lpstr>Aptos</vt:lpstr>
      <vt:lpstr>Aptos Display</vt:lpstr>
      <vt:lpstr>Arial</vt:lpstr>
      <vt:lpstr>Calibri</vt:lpstr>
      <vt:lpstr>Cambria Math</vt:lpstr>
      <vt:lpstr>Courier New</vt:lpstr>
      <vt:lpstr>Trebuchet MS</vt:lpstr>
      <vt:lpstr>Office Theme</vt:lpstr>
      <vt:lpstr>Activity 03: Modeling &amp; Forecasting</vt:lpstr>
      <vt:lpstr>PowerPoint Presentation</vt:lpstr>
      <vt:lpstr>PowerPoint Presentation</vt:lpstr>
      <vt:lpstr>PowerPoint Presentation</vt:lpstr>
      <vt:lpstr>Task Overviews</vt:lpstr>
      <vt:lpstr>Goal Output</vt:lpstr>
      <vt:lpstr>PowerPoint Presentation</vt:lpstr>
      <vt:lpstr>Task 0: Set-Up</vt:lpstr>
      <vt:lpstr># Forecasting</vt:lpstr>
      <vt:lpstr>## 1. Input Data</vt:lpstr>
      <vt:lpstr>Input Data Validations</vt:lpstr>
      <vt:lpstr>Task 1: Specifying the Training and Forecast Period </vt:lpstr>
      <vt:lpstr>PowerPoint Presentation</vt:lpstr>
      <vt:lpstr>PowerPoint Presentation</vt:lpstr>
      <vt:lpstr>PowerPoint Presentation</vt:lpstr>
      <vt:lpstr>PowerPoint Presentation</vt:lpstr>
      <vt:lpstr>Task 2: Baseline Model Specification</vt:lpstr>
      <vt:lpstr>Auto Regressive Integrated Moving Average (ARIMA)</vt:lpstr>
      <vt:lpstr>Model Specification Rules</vt:lpstr>
      <vt:lpstr>Rules for Model Specification </vt:lpstr>
      <vt:lpstr>PowerPoint Presentation</vt:lpstr>
      <vt:lpstr>PowerPoint Presentation</vt:lpstr>
      <vt:lpstr>Task 3: Forecasting </vt:lpstr>
      <vt:lpstr>What does our data look like? </vt:lpstr>
      <vt:lpstr>Reference Dates </vt:lpstr>
      <vt:lpstr>Target End Dates </vt:lpstr>
      <vt:lpstr>Things to Consider </vt:lpstr>
      <vt:lpstr>PowerPoint Presentation</vt:lpstr>
      <vt:lpstr>PowerPoint Presentation</vt:lpstr>
      <vt:lpstr>We have our date rules, now what?</vt:lpstr>
      <vt:lpstr>PowerPoint Presentation</vt:lpstr>
      <vt:lpstr>Forecasting (1-Week Ahead)</vt:lpstr>
      <vt:lpstr>Extracting the Median &amp; 95% PI Bounds</vt:lpstr>
      <vt:lpstr>PowerPoint Presentation</vt:lpstr>
      <vt:lpstr>PowerPoint Presentation</vt:lpstr>
      <vt:lpstr>PowerPoint Presentation</vt:lpstr>
      <vt:lpstr>PowerPoint Presentation</vt:lpstr>
      <vt:lpstr>First, Handling the Quantiles (Wide-to-Long)</vt:lpstr>
      <vt:lpstr>How do we get there?</vt:lpstr>
      <vt:lpstr>Why do we need the table? </vt:lpstr>
      <vt:lpstr>PowerPoint Presentation</vt:lpstr>
      <vt:lpstr>PowerPoint Presentation</vt:lpstr>
      <vt:lpstr>Task 4: Visualization</vt:lpstr>
      <vt:lpstr>Visualizing our Results</vt:lpstr>
      <vt:lpstr>PowerPoint Presentation</vt:lpstr>
      <vt:lpstr>PowerPoint Presentation</vt:lpstr>
      <vt:lpstr>PowerPoint Presentation</vt:lpstr>
      <vt:lpstr>Task 5: Extensions</vt:lpstr>
      <vt:lpstr>Expanding to full FluSight Format</vt:lpstr>
      <vt:lpstr>Adding the 2- and 3-Week Forecasts </vt:lpstr>
      <vt:lpstr>Prompting &amp; Things to Consider</vt:lpstr>
      <vt:lpstr>Updating is Often Iterative</vt:lpstr>
      <vt:lpstr>PowerPoint Presentation</vt:lpstr>
      <vt:lpstr>Writing the Prompt</vt:lpstr>
      <vt:lpstr>Writing the Prompt</vt:lpstr>
      <vt:lpstr>Writing the Prompt</vt:lpstr>
      <vt:lpstr>PowerPoint Presentation</vt:lpstr>
      <vt:lpstr>Updating the Quantiles</vt:lpstr>
      <vt:lpstr>Writing the Prompt</vt:lpstr>
      <vt:lpstr>Writing the Prompt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Marie Bleichrodt</dc:creator>
  <cp:lastModifiedBy>Amanda Marie Bleichrodt</cp:lastModifiedBy>
  <cp:revision>9</cp:revision>
  <dcterms:created xsi:type="dcterms:W3CDTF">2026-07-06T02:38:13Z</dcterms:created>
  <dcterms:modified xsi:type="dcterms:W3CDTF">2026-07-21T20:04:51Z</dcterms:modified>
</cp:coreProperties>
</file>