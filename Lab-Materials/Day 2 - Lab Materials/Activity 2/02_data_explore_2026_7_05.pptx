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405" r:id="rId2"/>
    <p:sldId id="425" r:id="rId3"/>
    <p:sldId id="426" r:id="rId4"/>
    <p:sldId id="406" r:id="rId5"/>
    <p:sldId id="419" r:id="rId6"/>
    <p:sldId id="420" r:id="rId7"/>
    <p:sldId id="448" r:id="rId8"/>
    <p:sldId id="279" r:id="rId9"/>
    <p:sldId id="281" r:id="rId10"/>
    <p:sldId id="280" r:id="rId11"/>
    <p:sldId id="446" r:id="rId12"/>
    <p:sldId id="433" r:id="rId13"/>
    <p:sldId id="436" r:id="rId14"/>
    <p:sldId id="451" r:id="rId15"/>
    <p:sldId id="437" r:id="rId16"/>
    <p:sldId id="411" r:id="rId17"/>
    <p:sldId id="438" r:id="rId18"/>
    <p:sldId id="453" r:id="rId19"/>
    <p:sldId id="455" r:id="rId20"/>
    <p:sldId id="440" r:id="rId21"/>
    <p:sldId id="441" r:id="rId22"/>
    <p:sldId id="422" r:id="rId23"/>
    <p:sldId id="452" r:id="rId24"/>
    <p:sldId id="442" r:id="rId25"/>
    <p:sldId id="412" r:id="rId26"/>
    <p:sldId id="454" r:id="rId27"/>
    <p:sldId id="450" r:id="rId28"/>
    <p:sldId id="444" r:id="rId29"/>
    <p:sldId id="409" r:id="rId30"/>
    <p:sldId id="42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CF8"/>
    <a:srgbClr val="FFF4EC"/>
    <a:srgbClr val="DCEAF7"/>
    <a:srgbClr val="E8F4F8"/>
    <a:srgbClr val="8B97A2"/>
    <a:srgbClr val="9BA5AF"/>
    <a:srgbClr val="F0F9FF"/>
    <a:srgbClr val="FFF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7308F-1B5F-45B1-9C72-F359A630F9F6}" v="1" dt="2026-07-12T22:52:35.478"/>
    <p1510:client id="{327DB742-6865-4B58-A14E-DEF3CB85DA00}" v="63" dt="2026-07-12T22:39:53.235"/>
    <p1510:client id="{B7AD5001-BF55-46B4-832A-BFF25F7D9A1A}" v="1" dt="2026-07-13T22:29:16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464" autoAdjust="0"/>
  </p:normalViewPr>
  <p:slideViewPr>
    <p:cSldViewPr snapToGrid="0">
      <p:cViewPr varScale="1">
        <p:scale>
          <a:sx n="83" d="100"/>
          <a:sy n="83" d="100"/>
        </p:scale>
        <p:origin x="165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8CD3F0DC-5380-413B-BA1A-8DCBF15377B9}"/>
    <pc:docChg chg="undo custSel modSld">
      <pc:chgData name="ambleic@clemson.edu" userId="43615028507_tp_box_2" providerId="OAuth2" clId="{8CD3F0DC-5380-413B-BA1A-8DCBF15377B9}" dt="2026-07-08T15:02:56.772" v="47" actId="20577"/>
      <pc:docMkLst>
        <pc:docMk/>
      </pc:docMkLst>
      <pc:sldChg chg="modSp mod">
        <pc:chgData name="ambleic@clemson.edu" userId="43615028507_tp_box_2" providerId="OAuth2" clId="{8CD3F0DC-5380-413B-BA1A-8DCBF15377B9}" dt="2026-07-06T13:18:25.520" v="0" actId="20577"/>
        <pc:sldMkLst>
          <pc:docMk/>
          <pc:sldMk cId="3675561247" sldId="433"/>
        </pc:sldMkLst>
        <pc:spChg chg="mod">
          <ac:chgData name="ambleic@clemson.edu" userId="43615028507_tp_box_2" providerId="OAuth2" clId="{8CD3F0DC-5380-413B-BA1A-8DCBF15377B9}" dt="2026-07-06T13:18:25.520" v="0" actId="20577"/>
          <ac:spMkLst>
            <pc:docMk/>
            <pc:sldMk cId="3675561247" sldId="433"/>
            <ac:spMk id="21" creationId="{ACE608AF-BF88-F5CD-D84C-1E48DEB0E4BD}"/>
          </ac:spMkLst>
        </pc:spChg>
      </pc:sldChg>
      <pc:sldChg chg="modSp mod">
        <pc:chgData name="ambleic@clemson.edu" userId="43615028507_tp_box_2" providerId="OAuth2" clId="{8CD3F0DC-5380-413B-BA1A-8DCBF15377B9}" dt="2026-07-06T13:18:35.863" v="2" actId="20577"/>
        <pc:sldMkLst>
          <pc:docMk/>
          <pc:sldMk cId="2254084080" sldId="440"/>
        </pc:sldMkLst>
        <pc:spChg chg="mod">
          <ac:chgData name="ambleic@clemson.edu" userId="43615028507_tp_box_2" providerId="OAuth2" clId="{8CD3F0DC-5380-413B-BA1A-8DCBF15377B9}" dt="2026-07-06T13:18:35.863" v="2" actId="20577"/>
          <ac:spMkLst>
            <pc:docMk/>
            <pc:sldMk cId="2254084080" sldId="440"/>
            <ac:spMk id="21" creationId="{6497CAFB-1E6B-462D-18FD-B1B33004E34A}"/>
          </ac:spMkLst>
        </pc:spChg>
      </pc:sldChg>
      <pc:sldChg chg="modSp mod">
        <pc:chgData name="ambleic@clemson.edu" userId="43615028507_tp_box_2" providerId="OAuth2" clId="{8CD3F0DC-5380-413B-BA1A-8DCBF15377B9}" dt="2026-07-08T15:02:56.772" v="47" actId="20577"/>
        <pc:sldMkLst>
          <pc:docMk/>
          <pc:sldMk cId="2792259037" sldId="441"/>
        </pc:sldMkLst>
        <pc:spChg chg="mod">
          <ac:chgData name="ambleic@clemson.edu" userId="43615028507_tp_box_2" providerId="OAuth2" clId="{8CD3F0DC-5380-413B-BA1A-8DCBF15377B9}" dt="2026-07-08T15:02:56.772" v="47" actId="20577"/>
          <ac:spMkLst>
            <pc:docMk/>
            <pc:sldMk cId="2792259037" sldId="441"/>
            <ac:spMk id="21" creationId="{6E10CC6F-141E-6C6E-22DF-BD5135819AB3}"/>
          </ac:spMkLst>
        </pc:spChg>
      </pc:sldChg>
      <pc:sldChg chg="modSp mod">
        <pc:chgData name="ambleic@clemson.edu" userId="43615028507_tp_box_2" providerId="OAuth2" clId="{8CD3F0DC-5380-413B-BA1A-8DCBF15377B9}" dt="2026-07-06T13:18:44.892" v="3" actId="20577"/>
        <pc:sldMkLst>
          <pc:docMk/>
          <pc:sldMk cId="191535080" sldId="444"/>
        </pc:sldMkLst>
        <pc:spChg chg="mod">
          <ac:chgData name="ambleic@clemson.edu" userId="43615028507_tp_box_2" providerId="OAuth2" clId="{8CD3F0DC-5380-413B-BA1A-8DCBF15377B9}" dt="2026-07-06T13:18:44.892" v="3" actId="20577"/>
          <ac:spMkLst>
            <pc:docMk/>
            <pc:sldMk cId="191535080" sldId="444"/>
            <ac:spMk id="21" creationId="{DB5B5F8F-147D-7C12-9ECB-A1D4EF826EBF}"/>
          </ac:spMkLst>
        </pc:spChg>
      </pc:sldChg>
    </pc:docChg>
  </pc:docChgLst>
  <pc:docChgLst>
    <pc:chgData name="ambleic@clemson.edu" userId="43615028507_tp_box_2" providerId="OAuth2" clId="{5F4B9ABB-DEB5-4DC3-A8F9-1752A2D02C85}"/>
    <pc:docChg chg="undo custSel modSld">
      <pc:chgData name="ambleic@clemson.edu" userId="43615028507_tp_box_2" providerId="OAuth2" clId="{5F4B9ABB-DEB5-4DC3-A8F9-1752A2D02C85}" dt="2026-07-12T22:52:35.478" v="186"/>
      <pc:docMkLst>
        <pc:docMk/>
      </pc:docMkLst>
      <pc:sldChg chg="modSp">
        <pc:chgData name="ambleic@clemson.edu" userId="43615028507_tp_box_2" providerId="OAuth2" clId="{5F4B9ABB-DEB5-4DC3-A8F9-1752A2D02C85}" dt="2026-07-12T22:32:22.958" v="11" actId="20577"/>
        <pc:sldMkLst>
          <pc:docMk/>
          <pc:sldMk cId="0" sldId="279"/>
        </pc:sldMkLst>
        <pc:spChg chg="mod">
          <ac:chgData name="ambleic@clemson.edu" userId="43615028507_tp_box_2" providerId="OAuth2" clId="{5F4B9ABB-DEB5-4DC3-A8F9-1752A2D02C85}" dt="2026-07-12T22:32:22.958" v="11" actId="20577"/>
          <ac:spMkLst>
            <pc:docMk/>
            <pc:sldMk cId="0" sldId="279"/>
            <ac:spMk id="8" creationId="{E7DD4A7F-2948-9907-3392-89C7C243C88F}"/>
          </ac:spMkLst>
        </pc:spChg>
      </pc:sldChg>
      <pc:sldChg chg="modSp">
        <pc:chgData name="ambleic@clemson.edu" userId="43615028507_tp_box_2" providerId="OAuth2" clId="{5F4B9ABB-DEB5-4DC3-A8F9-1752A2D02C85}" dt="2026-07-12T22:29:52.055" v="0"/>
        <pc:sldMkLst>
          <pc:docMk/>
          <pc:sldMk cId="4097132740" sldId="406"/>
        </pc:sldMkLst>
        <pc:spChg chg="mod">
          <ac:chgData name="ambleic@clemson.edu" userId="43615028507_tp_box_2" providerId="OAuth2" clId="{5F4B9ABB-DEB5-4DC3-A8F9-1752A2D02C85}" dt="2026-07-12T22:29:52.055" v="0"/>
          <ac:spMkLst>
            <pc:docMk/>
            <pc:sldMk cId="4097132740" sldId="406"/>
            <ac:spMk id="7" creationId="{2309C7BD-210F-83DC-53B0-6A7D6D98FD4C}"/>
          </ac:spMkLst>
        </pc:spChg>
      </pc:sldChg>
      <pc:sldChg chg="modSp mod">
        <pc:chgData name="ambleic@clemson.edu" userId="43615028507_tp_box_2" providerId="OAuth2" clId="{5F4B9ABB-DEB5-4DC3-A8F9-1752A2D02C85}" dt="2026-07-12T22:40:06.709" v="184" actId="20577"/>
        <pc:sldMkLst>
          <pc:docMk/>
          <pc:sldMk cId="2193672995" sldId="409"/>
        </pc:sldMkLst>
        <pc:spChg chg="mod">
          <ac:chgData name="ambleic@clemson.edu" userId="43615028507_tp_box_2" providerId="OAuth2" clId="{5F4B9ABB-DEB5-4DC3-A8F9-1752A2D02C85}" dt="2026-07-12T22:40:06.709" v="184" actId="20577"/>
          <ac:spMkLst>
            <pc:docMk/>
            <pc:sldMk cId="2193672995" sldId="409"/>
            <ac:spMk id="4" creationId="{1209DA11-B375-CAFC-D2A8-7A98652DD1AC}"/>
          </ac:spMkLst>
        </pc:spChg>
      </pc:sldChg>
      <pc:sldChg chg="modSp mod">
        <pc:chgData name="ambleic@clemson.edu" userId="43615028507_tp_box_2" providerId="OAuth2" clId="{5F4B9ABB-DEB5-4DC3-A8F9-1752A2D02C85}" dt="2026-07-12T22:38:40.585" v="169" actId="1035"/>
        <pc:sldMkLst>
          <pc:docMk/>
          <pc:sldMk cId="2888846883" sldId="412"/>
        </pc:sldMkLst>
        <pc:spChg chg="mod">
          <ac:chgData name="ambleic@clemson.edu" userId="43615028507_tp_box_2" providerId="OAuth2" clId="{5F4B9ABB-DEB5-4DC3-A8F9-1752A2D02C85}" dt="2026-07-12T22:38:40.585" v="169" actId="1035"/>
          <ac:spMkLst>
            <pc:docMk/>
            <pc:sldMk cId="2888846883" sldId="412"/>
            <ac:spMk id="4" creationId="{665FFAC9-8629-0053-D998-9DFFFCE5937A}"/>
          </ac:spMkLst>
        </pc:spChg>
        <pc:graphicFrameChg chg="modGraphic">
          <ac:chgData name="ambleic@clemson.edu" userId="43615028507_tp_box_2" providerId="OAuth2" clId="{5F4B9ABB-DEB5-4DC3-A8F9-1752A2D02C85}" dt="2026-07-12T22:38:35.370" v="167" actId="948"/>
          <ac:graphicFrameMkLst>
            <pc:docMk/>
            <pc:sldMk cId="2888846883" sldId="412"/>
            <ac:graphicFrameMk id="3" creationId="{A76CB0E7-0BC7-C4A3-7B28-20CA7A3EAB7D}"/>
          </ac:graphicFrameMkLst>
        </pc:graphicFrameChg>
      </pc:sldChg>
      <pc:sldChg chg="modSp mod">
        <pc:chgData name="ambleic@clemson.edu" userId="43615028507_tp_box_2" providerId="OAuth2" clId="{5F4B9ABB-DEB5-4DC3-A8F9-1752A2D02C85}" dt="2026-07-12T22:31:01.036" v="6" actId="207"/>
        <pc:sldMkLst>
          <pc:docMk/>
          <pc:sldMk cId="2996833465" sldId="419"/>
        </pc:sldMkLst>
        <pc:spChg chg="mod">
          <ac:chgData name="ambleic@clemson.edu" userId="43615028507_tp_box_2" providerId="OAuth2" clId="{5F4B9ABB-DEB5-4DC3-A8F9-1752A2D02C85}" dt="2026-07-12T22:31:01.036" v="6" actId="207"/>
          <ac:spMkLst>
            <pc:docMk/>
            <pc:sldMk cId="2996833465" sldId="419"/>
            <ac:spMk id="143" creationId="{00000000-0000-0000-0000-000000000000}"/>
          </ac:spMkLst>
        </pc:spChg>
      </pc:sldChg>
      <pc:sldChg chg="modSp mod">
        <pc:chgData name="ambleic@clemson.edu" userId="43615028507_tp_box_2" providerId="OAuth2" clId="{5F4B9ABB-DEB5-4DC3-A8F9-1752A2D02C85}" dt="2026-07-12T22:30:43.570" v="2" actId="113"/>
        <pc:sldMkLst>
          <pc:docMk/>
          <pc:sldMk cId="3845656810" sldId="420"/>
        </pc:sldMkLst>
        <pc:graphicFrameChg chg="mod modGraphic">
          <ac:chgData name="ambleic@clemson.edu" userId="43615028507_tp_box_2" providerId="OAuth2" clId="{5F4B9ABB-DEB5-4DC3-A8F9-1752A2D02C85}" dt="2026-07-12T22:30:43.570" v="2" actId="113"/>
          <ac:graphicFrameMkLst>
            <pc:docMk/>
            <pc:sldMk cId="3845656810" sldId="420"/>
            <ac:graphicFrameMk id="7" creationId="{00000000-0000-0000-0000-000000000000}"/>
          </ac:graphicFrameMkLst>
        </pc:graphicFrameChg>
      </pc:sldChg>
      <pc:sldChg chg="addSp delSp modSp mod">
        <pc:chgData name="ambleic@clemson.edu" userId="43615028507_tp_box_2" providerId="OAuth2" clId="{5F4B9ABB-DEB5-4DC3-A8F9-1752A2D02C85}" dt="2026-07-12T22:52:35.478" v="186"/>
        <pc:sldMkLst>
          <pc:docMk/>
          <pc:sldMk cId="3886218017" sldId="426"/>
        </pc:sldMkLst>
        <pc:spChg chg="mod">
          <ac:chgData name="ambleic@clemson.edu" userId="43615028507_tp_box_2" providerId="OAuth2" clId="{5F4B9ABB-DEB5-4DC3-A8F9-1752A2D02C85}" dt="2026-07-12T22:29:52.055" v="0"/>
          <ac:spMkLst>
            <pc:docMk/>
            <pc:sldMk cId="3886218017" sldId="426"/>
            <ac:spMk id="6" creationId="{9346C554-AF69-9E25-27D5-6D80026C616B}"/>
          </ac:spMkLst>
        </pc:spChg>
        <pc:spChg chg="del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7" creationId="{B7D6E1AA-9A8F-609B-2D13-AADCCD49A3AA}"/>
          </ac:spMkLst>
        </pc:spChg>
        <pc:spChg chg="del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8" creationId="{A3AFE840-78C4-310A-0C45-53437A09851F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12" creationId="{D6559FBC-2456-E003-3C93-29439FC58552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13" creationId="{F129C712-E636-827C-1320-6DEEAAFACAC2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14" creationId="{E6733176-4837-255F-0D6A-BC73120E4F5E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15" creationId="{C941DBE6-7CFE-E4BC-D4A0-B3BD71F7CAC5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16" creationId="{DCA81F95-D7F4-D400-B226-CF1CCDF94666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17" creationId="{CD563B77-68A2-F669-6417-231618030AFD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18" creationId="{CEC1F33A-DC42-EFCF-719F-C2BC82ED3614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20" creationId="{B09E3478-7A5D-093E-AFB4-4A78F63BBC1E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21" creationId="{AF943254-00E2-EF3E-7A27-79D552E94DA3}"/>
          </ac:spMkLst>
        </pc:spChg>
        <pc:spChg chg="add mod">
          <ac:chgData name="ambleic@clemson.edu" userId="43615028507_tp_box_2" providerId="OAuth2" clId="{5F4B9ABB-DEB5-4DC3-A8F9-1752A2D02C85}" dt="2026-07-12T22:52:35.478" v="186"/>
          <ac:spMkLst>
            <pc:docMk/>
            <pc:sldMk cId="3886218017" sldId="426"/>
            <ac:spMk id="26" creationId="{B77753AD-1182-2796-EBE1-12E5A2410759}"/>
          </ac:spMkLst>
        </pc:spChg>
        <pc:spChg chg="del mod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38" creationId="{B5A2C030-69C6-A503-4D93-82F93DFA82AC}"/>
          </ac:spMkLst>
        </pc:spChg>
        <pc:spChg chg="del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39" creationId="{DF68F927-E755-9F08-0573-D3F69468B7EF}"/>
          </ac:spMkLst>
        </pc:spChg>
        <pc:spChg chg="del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40" creationId="{0DE3EF12-735C-FAA3-8B8B-BF2D516439D7}"/>
          </ac:spMkLst>
        </pc:spChg>
        <pc:spChg chg="del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42" creationId="{2AE6D4BC-C9EA-856A-0269-FA67A4A5A092}"/>
          </ac:spMkLst>
        </pc:spChg>
        <pc:spChg chg="mod">
          <ac:chgData name="ambleic@clemson.edu" userId="43615028507_tp_box_2" providerId="OAuth2" clId="{5F4B9ABB-DEB5-4DC3-A8F9-1752A2D02C85}" dt="2026-07-12T22:29:52.055" v="0"/>
          <ac:spMkLst>
            <pc:docMk/>
            <pc:sldMk cId="3886218017" sldId="426"/>
            <ac:spMk id="43" creationId="{E49DB695-05A8-A4AE-830E-613EC6266BE6}"/>
          </ac:spMkLst>
        </pc:spChg>
        <pc:spChg chg="del mod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53" creationId="{E2A3B260-42AB-A407-0FE6-6DB7C065613D}"/>
          </ac:spMkLst>
        </pc:spChg>
        <pc:spChg chg="del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54" creationId="{0D93F6A1-6973-3CD0-9564-6B833D2E1B42}"/>
          </ac:spMkLst>
        </pc:spChg>
        <pc:spChg chg="del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55" creationId="{DEA07EBD-D7F2-F9FE-6A1A-DD4C34D5E52F}"/>
          </ac:spMkLst>
        </pc:spChg>
        <pc:spChg chg="del">
          <ac:chgData name="ambleic@clemson.edu" userId="43615028507_tp_box_2" providerId="OAuth2" clId="{5F4B9ABB-DEB5-4DC3-A8F9-1752A2D02C85}" dt="2026-07-12T22:52:35.011" v="185" actId="478"/>
          <ac:spMkLst>
            <pc:docMk/>
            <pc:sldMk cId="3886218017" sldId="426"/>
            <ac:spMk id="59" creationId="{EF477364-4BE7-32FC-3FC5-455C9C7B281B}"/>
          </ac:spMkLst>
        </pc:spChg>
        <pc:spChg chg="mod">
          <ac:chgData name="ambleic@clemson.edu" userId="43615028507_tp_box_2" providerId="OAuth2" clId="{5F4B9ABB-DEB5-4DC3-A8F9-1752A2D02C85}" dt="2026-07-12T22:29:52.055" v="0"/>
          <ac:spMkLst>
            <pc:docMk/>
            <pc:sldMk cId="3886218017" sldId="426"/>
            <ac:spMk id="69" creationId="{CC19D40A-C233-09BC-F21F-EE856438D91F}"/>
          </ac:spMkLst>
        </pc:spChg>
      </pc:sldChg>
      <pc:sldChg chg="modSp mod">
        <pc:chgData name="ambleic@clemson.edu" userId="43615028507_tp_box_2" providerId="OAuth2" clId="{5F4B9ABB-DEB5-4DC3-A8F9-1752A2D02C85}" dt="2026-07-12T22:32:40.609" v="13" actId="20577"/>
        <pc:sldMkLst>
          <pc:docMk/>
          <pc:sldMk cId="3675561247" sldId="433"/>
        </pc:sldMkLst>
        <pc:spChg chg="mod">
          <ac:chgData name="ambleic@clemson.edu" userId="43615028507_tp_box_2" providerId="OAuth2" clId="{5F4B9ABB-DEB5-4DC3-A8F9-1752A2D02C85}" dt="2026-07-12T22:32:40.609" v="13" actId="20577"/>
          <ac:spMkLst>
            <pc:docMk/>
            <pc:sldMk cId="3675561247" sldId="433"/>
            <ac:spMk id="5" creationId="{C74EC806-0E32-3193-EF8C-7DB452B56D0D}"/>
          </ac:spMkLst>
        </pc:spChg>
        <pc:spChg chg="mod">
          <ac:chgData name="ambleic@clemson.edu" userId="43615028507_tp_box_2" providerId="OAuth2" clId="{5F4B9ABB-DEB5-4DC3-A8F9-1752A2D02C85}" dt="2026-07-12T22:31:07.711" v="7"/>
          <ac:spMkLst>
            <pc:docMk/>
            <pc:sldMk cId="3675561247" sldId="433"/>
            <ac:spMk id="14" creationId="{7B6CA545-5518-EB58-5847-5A14FACE54FB}"/>
          </ac:spMkLst>
        </pc:spChg>
        <pc:spChg chg="mod">
          <ac:chgData name="ambleic@clemson.edu" userId="43615028507_tp_box_2" providerId="OAuth2" clId="{5F4B9ABB-DEB5-4DC3-A8F9-1752A2D02C85}" dt="2026-07-12T22:32:32.523" v="12" actId="20577"/>
          <ac:spMkLst>
            <pc:docMk/>
            <pc:sldMk cId="3675561247" sldId="433"/>
            <ac:spMk id="21" creationId="{ACE608AF-BF88-F5CD-D84C-1E48DEB0E4BD}"/>
          </ac:spMkLst>
        </pc:spChg>
      </pc:sldChg>
      <pc:sldChg chg="modSp">
        <pc:chgData name="ambleic@clemson.edu" userId="43615028507_tp_box_2" providerId="OAuth2" clId="{5F4B9ABB-DEB5-4DC3-A8F9-1752A2D02C85}" dt="2026-07-12T22:33:04.174" v="17" actId="20577"/>
        <pc:sldMkLst>
          <pc:docMk/>
          <pc:sldMk cId="929370114" sldId="437"/>
        </pc:sldMkLst>
        <pc:spChg chg="mod">
          <ac:chgData name="ambleic@clemson.edu" userId="43615028507_tp_box_2" providerId="OAuth2" clId="{5F4B9ABB-DEB5-4DC3-A8F9-1752A2D02C85}" dt="2026-07-12T22:33:04.174" v="17" actId="20577"/>
          <ac:spMkLst>
            <pc:docMk/>
            <pc:sldMk cId="929370114" sldId="437"/>
            <ac:spMk id="8" creationId="{13FF1216-316E-8DFD-57CF-84626E40C8A3}"/>
          </ac:spMkLst>
        </pc:spChg>
      </pc:sldChg>
      <pc:sldChg chg="modSp mod">
        <pc:chgData name="ambleic@clemson.edu" userId="43615028507_tp_box_2" providerId="OAuth2" clId="{5F4B9ABB-DEB5-4DC3-A8F9-1752A2D02C85}" dt="2026-07-12T22:34:39.385" v="99" actId="1036"/>
        <pc:sldMkLst>
          <pc:docMk/>
          <pc:sldMk cId="4126547631" sldId="438"/>
        </pc:sldMkLst>
        <pc:spChg chg="mod">
          <ac:chgData name="ambleic@clemson.edu" userId="43615028507_tp_box_2" providerId="OAuth2" clId="{5F4B9ABB-DEB5-4DC3-A8F9-1752A2D02C85}" dt="2026-07-12T22:34:39.385" v="99" actId="1036"/>
          <ac:spMkLst>
            <pc:docMk/>
            <pc:sldMk cId="4126547631" sldId="438"/>
            <ac:spMk id="4" creationId="{804AC924-1C69-AE9A-3D90-2D480F469A6F}"/>
          </ac:spMkLst>
        </pc:spChg>
        <pc:graphicFrameChg chg="mod modGraphic">
          <ac:chgData name="ambleic@clemson.edu" userId="43615028507_tp_box_2" providerId="OAuth2" clId="{5F4B9ABB-DEB5-4DC3-A8F9-1752A2D02C85}" dt="2026-07-12T22:34:35.741" v="95" actId="1036"/>
          <ac:graphicFrameMkLst>
            <pc:docMk/>
            <pc:sldMk cId="4126547631" sldId="438"/>
            <ac:graphicFrameMk id="25" creationId="{1E2BC3BD-209F-6E3E-3CD1-ABAC2CE875FF}"/>
          </ac:graphicFrameMkLst>
        </pc:graphicFrameChg>
      </pc:sldChg>
      <pc:sldChg chg="modSp mod">
        <pc:chgData name="ambleic@clemson.edu" userId="43615028507_tp_box_2" providerId="OAuth2" clId="{5F4B9ABB-DEB5-4DC3-A8F9-1752A2D02C85}" dt="2026-07-12T22:36:12.855" v="109" actId="20577"/>
        <pc:sldMkLst>
          <pc:docMk/>
          <pc:sldMk cId="2254084080" sldId="440"/>
        </pc:sldMkLst>
        <pc:spChg chg="mod">
          <ac:chgData name="ambleic@clemson.edu" userId="43615028507_tp_box_2" providerId="OAuth2" clId="{5F4B9ABB-DEB5-4DC3-A8F9-1752A2D02C85}" dt="2026-07-12T22:30:49.338" v="3"/>
          <ac:spMkLst>
            <pc:docMk/>
            <pc:sldMk cId="2254084080" sldId="440"/>
            <ac:spMk id="14" creationId="{0C65D749-E0B5-9B8C-326E-958AA14C213E}"/>
          </ac:spMkLst>
        </pc:spChg>
        <pc:spChg chg="mod">
          <ac:chgData name="ambleic@clemson.edu" userId="43615028507_tp_box_2" providerId="OAuth2" clId="{5F4B9ABB-DEB5-4DC3-A8F9-1752A2D02C85}" dt="2026-07-12T22:36:12.855" v="109" actId="20577"/>
          <ac:spMkLst>
            <pc:docMk/>
            <pc:sldMk cId="2254084080" sldId="440"/>
            <ac:spMk id="21" creationId="{6497CAFB-1E6B-462D-18FD-B1B33004E34A}"/>
          </ac:spMkLst>
        </pc:spChg>
      </pc:sldChg>
      <pc:sldChg chg="modSp mod">
        <pc:chgData name="ambleic@clemson.edu" userId="43615028507_tp_box_2" providerId="OAuth2" clId="{5F4B9ABB-DEB5-4DC3-A8F9-1752A2D02C85}" dt="2026-07-12T22:37:16.105" v="150" actId="1036"/>
        <pc:sldMkLst>
          <pc:docMk/>
          <pc:sldMk cId="2792259037" sldId="441"/>
        </pc:sldMkLst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3" creationId="{89957E3C-EA6E-C4DB-0689-11CF242797C8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4" creationId="{7328FDEB-7AB9-796C-363A-7317A42C9ABD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5" creationId="{6C88318B-A90F-7A60-742E-734450C0DFFA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6" creationId="{813074AE-B03C-A774-D775-7916CDDFF223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7" creationId="{2DD86848-528D-0043-FF8F-B53FB401A5C5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8" creationId="{70387D29-40D1-5559-C179-3A7D948E5554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0" creationId="{8FB61508-8AD9-9ABA-F1BD-C2F8CF773D92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2" creationId="{2CB6ED1E-A2E9-3EE0-F010-E3BF50B8D31E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3" creationId="{C2A63863-F0F9-C21D-ECB1-C2B235F8CA94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4" creationId="{FA5034CB-CA57-06A3-85E3-ADEC2DA8CF2D}"/>
          </ac:spMkLst>
        </pc:spChg>
        <pc:spChg chg="mod">
          <ac:chgData name="ambleic@clemson.edu" userId="43615028507_tp_box_2" providerId="OAuth2" clId="{5F4B9ABB-DEB5-4DC3-A8F9-1752A2D02C85}" dt="2026-07-12T22:37:10.382" v="147" actId="255"/>
          <ac:spMkLst>
            <pc:docMk/>
            <pc:sldMk cId="2792259037" sldId="441"/>
            <ac:spMk id="18" creationId="{084B7AAC-3246-E57F-4D52-ECA2175CD45D}"/>
          </ac:spMkLst>
        </pc:spChg>
      </pc:sldChg>
      <pc:sldChg chg="modSp">
        <pc:chgData name="ambleic@clemson.edu" userId="43615028507_tp_box_2" providerId="OAuth2" clId="{5F4B9ABB-DEB5-4DC3-A8F9-1752A2D02C85}" dt="2026-07-12T22:37:49.463" v="152" actId="20577"/>
        <pc:sldMkLst>
          <pc:docMk/>
          <pc:sldMk cId="2487690538" sldId="442"/>
        </pc:sldMkLst>
        <pc:spChg chg="mod">
          <ac:chgData name="ambleic@clemson.edu" userId="43615028507_tp_box_2" providerId="OAuth2" clId="{5F4B9ABB-DEB5-4DC3-A8F9-1752A2D02C85}" dt="2026-07-12T22:37:49.463" v="152" actId="20577"/>
          <ac:spMkLst>
            <pc:docMk/>
            <pc:sldMk cId="2487690538" sldId="442"/>
            <ac:spMk id="8" creationId="{17416612-E512-DC80-6259-819650088BD0}"/>
          </ac:spMkLst>
        </pc:spChg>
      </pc:sldChg>
      <pc:sldChg chg="modSp mod">
        <pc:chgData name="ambleic@clemson.edu" userId="43615028507_tp_box_2" providerId="OAuth2" clId="{5F4B9ABB-DEB5-4DC3-A8F9-1752A2D02C85}" dt="2026-07-12T22:39:53.234" v="182" actId="20577"/>
        <pc:sldMkLst>
          <pc:docMk/>
          <pc:sldMk cId="191535080" sldId="444"/>
        </pc:sldMkLst>
        <pc:spChg chg="mod">
          <ac:chgData name="ambleic@clemson.edu" userId="43615028507_tp_box_2" providerId="OAuth2" clId="{5F4B9ABB-DEB5-4DC3-A8F9-1752A2D02C85}" dt="2026-07-12T22:39:53.234" v="182" actId="20577"/>
          <ac:spMkLst>
            <pc:docMk/>
            <pc:sldMk cId="191535080" sldId="444"/>
            <ac:spMk id="5" creationId="{FF6037AE-3976-E8D5-DDAC-665AC35ECBB3}"/>
          </ac:spMkLst>
        </pc:spChg>
        <pc:spChg chg="mod">
          <ac:chgData name="ambleic@clemson.edu" userId="43615028507_tp_box_2" providerId="OAuth2" clId="{5F4B9ABB-DEB5-4DC3-A8F9-1752A2D02C85}" dt="2026-07-12T22:39:18.967" v="177" actId="20577"/>
          <ac:spMkLst>
            <pc:docMk/>
            <pc:sldMk cId="191535080" sldId="444"/>
            <ac:spMk id="8" creationId="{EDD3259E-9566-9C4E-C5E1-9A78049E802D}"/>
          </ac:spMkLst>
        </pc:spChg>
        <pc:spChg chg="mod">
          <ac:chgData name="ambleic@clemson.edu" userId="43615028507_tp_box_2" providerId="OAuth2" clId="{5F4B9ABB-DEB5-4DC3-A8F9-1752A2D02C85}" dt="2026-07-12T22:31:14.889" v="8"/>
          <ac:spMkLst>
            <pc:docMk/>
            <pc:sldMk cId="191535080" sldId="444"/>
            <ac:spMk id="14" creationId="{10ECE4ED-8FBE-8B8A-1BBE-0433DC10E814}"/>
          </ac:spMkLst>
        </pc:spChg>
        <pc:spChg chg="mod">
          <ac:chgData name="ambleic@clemson.edu" userId="43615028507_tp_box_2" providerId="OAuth2" clId="{5F4B9ABB-DEB5-4DC3-A8F9-1752A2D02C85}" dt="2026-07-12T22:39:03.912" v="173" actId="20577"/>
          <ac:spMkLst>
            <pc:docMk/>
            <pc:sldMk cId="191535080" sldId="444"/>
            <ac:spMk id="21" creationId="{DB5B5F8F-147D-7C12-9ECB-A1D4EF826EBF}"/>
          </ac:spMkLst>
        </pc:spChg>
      </pc:sldChg>
      <pc:sldChg chg="modSp mod">
        <pc:chgData name="ambleic@clemson.edu" userId="43615028507_tp_box_2" providerId="OAuth2" clId="{5F4B9ABB-DEB5-4DC3-A8F9-1752A2D02C85}" dt="2026-07-12T22:36:07.048" v="108" actId="20577"/>
        <pc:sldMkLst>
          <pc:docMk/>
          <pc:sldMk cId="3629320057" sldId="455"/>
        </pc:sldMkLst>
        <pc:spChg chg="mod">
          <ac:chgData name="ambleic@clemson.edu" userId="43615028507_tp_box_2" providerId="OAuth2" clId="{5F4B9ABB-DEB5-4DC3-A8F9-1752A2D02C85}" dt="2026-07-12T22:36:07.048" v="108" actId="20577"/>
          <ac:spMkLst>
            <pc:docMk/>
            <pc:sldMk cId="3629320057" sldId="455"/>
            <ac:spMk id="5" creationId="{CBE0FE98-645F-1C38-43FD-9E4447A14348}"/>
          </ac:spMkLst>
        </pc:spChg>
      </pc:sldChg>
    </pc:docChg>
  </pc:docChgLst>
  <pc:docChgLst>
    <pc:chgData name="Lior Rennert" userId="3892681948_tp_box_2" providerId="OAuth2" clId="{DBC9C590-A9C5-4303-BC05-B23A2856A570}"/>
    <pc:docChg chg="modSld">
      <pc:chgData name="Lior Rennert" userId="3892681948_tp_box_2" providerId="OAuth2" clId="{DBC9C590-A9C5-4303-BC05-B23A2856A570}" dt="2026-07-13T22:29:16.726" v="0" actId="20577"/>
      <pc:docMkLst>
        <pc:docMk/>
      </pc:docMkLst>
      <pc:sldChg chg="modSp">
        <pc:chgData name="Lior Rennert" userId="3892681948_tp_box_2" providerId="OAuth2" clId="{DBC9C590-A9C5-4303-BC05-B23A2856A570}" dt="2026-07-13T22:29:16.726" v="0" actId="20577"/>
        <pc:sldMkLst>
          <pc:docMk/>
          <pc:sldMk cId="2792259037" sldId="441"/>
        </pc:sldMkLst>
        <pc:spChg chg="mod">
          <ac:chgData name="Lior Rennert" userId="3892681948_tp_box_2" providerId="OAuth2" clId="{DBC9C590-A9C5-4303-BC05-B23A2856A570}" dt="2026-07-13T22:29:16.726" v="0" actId="20577"/>
          <ac:spMkLst>
            <pc:docMk/>
            <pc:sldMk cId="2792259037" sldId="441"/>
            <ac:spMk id="5" creationId="{6C88318B-A90F-7A60-742E-734450C0DF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3437B-B696-42BA-B397-5375F7BFE3F0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60299-BECB-47F9-950E-D077161DE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3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FF89-7C27-50AA-441C-F59B2572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7DD59-76F5-730B-E689-371561C0E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3EFF-722C-7A1B-75C3-5A52FD15A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7BAB4-EA8A-1015-3FDF-2B2C59D58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63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5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2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Current Season: `2025-26`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Season Start: first calendar date in the first year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epiweek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40. This is a fixed calendar week and should be the same every season. Please account for any leap years in this determination as well.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Season End: earliest calendar date in the second year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epiweek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20.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3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05646-91BD-04C7-A6A0-D16DF5A4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0E91E-B740-718C-3981-AA7FF67D7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46760-634A-2FDE-4557-13D4CCB1C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3157-D4EE-E565-23B8-443898849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85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04DE-5364-EDA7-0ED5-855F9B67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4E59D-31E1-C386-ECF9-241029351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973D7-2075-FE43-411B-E03D0278F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0FF41-866F-5586-280B-58BCBF053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25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B99F-2C41-9092-1678-84BD990E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1A01F-5291-FD2A-C718-B2D829C1F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F5B3A-2E2E-26C9-D964-BBBAAF2C2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E1E4-7226-D99E-CA9D-FF777CFA8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977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(2026, May 5).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Influenza Activity in the United States during the 2024–25 Season and Composition of the 2025–26 Influenza Vaccine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Influenza (Flu). https://www.cdc.gov/flu/whats-new/2025-2026-influenza-activity.html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75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C144-B1C6-1075-5898-F21E6265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AD8B4-51A2-3086-C145-E6EFED00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7BFB8-8B89-8AEC-478A-56D0278BE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D5AD-49A2-6076-D2DC-0D613BCA7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504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FE21A-732B-D0E4-F0C0-F5875F06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F1492-6970-E680-FD23-DAB207F2E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AC348-3F69-1747-B949-37507D6A9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Current Season: `2025-26`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Season Start: first calendar date in the first year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epiweek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40. This is a fixed calendar week and should be the same every season. Please account for any leap years in this determination as well.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Season End: earliest calendar date in the second year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epiweek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20.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23A20-C4CB-1CAC-BC2F-D18F5BC02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678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72CF-A636-C7E2-DA99-946EEBD9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08DA2-5D8C-36A3-37DE-C1E8D7D57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69298-F00D-07CA-0214-994FDD0BF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DB2E8-EB52-3664-1249-D3EAC9CFE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0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8EAA-CC62-DC5D-DE91-5DC891504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F541-5341-F98D-9EDF-D98DE78A9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EDCCC-C648-74F7-0EBE-2A590D40D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B27D-FCEC-9E84-0F5B-5934EBD76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30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B725-7A16-3ED8-322F-8696BCA0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7E592-21A0-E980-2B45-73A18EBFA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5874F-BB8F-267D-C266-2AEF3B0C6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61F84-56D9-904B-FE7B-633579963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93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CD99-3C91-8ADD-3022-90E0E7E2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F73AA-34E7-4E6B-0682-ADD046246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35E6B-36EB-0EA1-8A96-FA7FCDF54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838FD-36BC-51A6-5D6F-B4A32C644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611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was the peak? Was there more than one? When did the decline start? When did the season start and end?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4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95B8-2911-7D1D-1CEE-C7C38AD0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0534D-4657-2F41-4A12-9A76E96B9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3872E-A40B-A027-A45E-5587AE616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Current Season: `2025-26`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Season Start: first calendar date in the first year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epiweek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40. This is a fixed calendar week and should be the same every season. Please account for any leap years in this determination as well.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Season End: earliest calendar date in the second year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epiweek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20.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74504-EBC5-954D-CB5C-9B8241518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335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6C20-6FA0-D56A-88EC-5D007773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8E68A-9A41-CDF6-C149-D35FB51A0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C49B8-67B2-1780-328E-2233F969A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80CB9-5CBB-F4A3-ACAA-F722BF83F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031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1D2A-16AB-DC1F-4BEC-1C1E51B5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5D3C5-CC70-564B-785B-EF17F046C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D51C3-C8B3-0F06-5ACB-11AE957DD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8B68E-7ED3-A0E2-38D7-36A321B95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401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860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A79DE-573E-AD95-12F8-9CA373A82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16696-935E-1A1B-655A-545242D2D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ABC83-3124-D4DC-5473-593757FE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3B6C3-C2D5-F867-2F4F-8912CC6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A20EB-CEE4-B3E9-7CE0-1468D904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C80C-DC20-33CB-798E-45BF5CF1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1422-7143-4864-D5B3-DD62BB2B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B5AAC-A4A9-1C68-C636-8F92963A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5D377-CDD0-CADE-ADE4-E5FCE42F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E0FF9-C13A-A7A5-EBC4-ABB76CEA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7197-A48D-2041-1F45-F861BC0A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B6655-C47E-A68E-C048-0F80A2B3C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01338-6C94-F80E-87F0-39546264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03E44-162F-ACDF-2012-DF2DDF14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BD50-A791-EF11-DAFF-6EC04669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7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0577-2BF1-0488-9B7A-2B4975B1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EA455-0895-DB8C-9159-F96EC1E2C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D70C7-9239-2626-10EB-1013F11AE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F47DF-15BF-56AC-3777-30A16ACAF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C0ECE-3759-3DAC-87A2-D15CA320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F51A7-57D1-A892-4C01-B1D24C91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CA03-3DA9-8A2D-A84B-DF83FFCD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6662E-4F90-8B1B-B11C-A6ACFCF21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9F463-519C-A742-6240-857C6B3EE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89DAE-818E-AEF5-CD07-B96EEE2CC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7EAB2-0D0B-58CB-516A-AB74F433A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475F75-0A45-A7A2-1D62-21D98239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CDF6D-3F0D-A876-68A7-A3094BB8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56DBA-0360-527E-70E6-2760B590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0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E49C-7AEA-D8A2-B063-8D889903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E706B-21E5-C4C5-1D4D-373D0B04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1A92D-6B47-474C-205B-B7EF3804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17BF4-A0CA-64B1-3102-043BE530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1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80EDA-6647-DA0A-2FCC-18FF01CE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B8E44-C34D-DD21-CDCA-EBE76017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2F5BF-F9A5-7C8E-8143-C10A37A1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4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BE60-CC92-6234-FCA5-2F9A977D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4E49-C2AC-E626-BC98-D225C48C2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75D6F-7F09-07D1-C60E-16BEF531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04DD9-7EBA-D0E2-25F1-D1A1ECD9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1E2C7-18B2-AC38-8011-C75B1322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A815C-3418-97ED-A635-8415E209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4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F912-34E7-6663-B517-2F8C9AB5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24BD61-3179-3142-6E09-A6D2D8D8E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8104F-4DE8-DAC9-F0A6-BFB8BA7E7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43CD7-6B29-277D-35CA-8499CC99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297F1-F8C1-783C-CABC-04CF4DE6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F307A-BEFC-E143-3181-9602562B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5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B00E-FE56-59F8-B603-115C6DFA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B8507-3843-800E-7B2D-4987BEC62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90F75-82A7-9A67-602B-2C015D9C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1B19-0A4D-4903-E04A-34EDC6DA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AA912-ADB5-3B06-412F-6753D1FD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7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068BF-AC22-5399-CC04-E5CEE4A4E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16220-AC24-A67A-AABF-F92D7CA8A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D9FF-D279-F33C-205A-8354B7B5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1533C-ABC4-74D2-08DC-08D48538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557AC-1A4C-2534-271D-B54F545B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1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08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6990E-7FB7-9A8A-42BA-8DC4FAFB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09A7F-ADD5-599B-8862-2792ABB5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0C98B-D040-0385-3F3D-0E5D607B9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C2E1B-9D4D-4A6C-9CEE-8FB4CE3AFF3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21A0E-5EB9-DEA0-D36A-1AD09840F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F428B-968F-EB62-8325-B5EA1350E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1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02: Data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 – 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F726-9E5F-AB57-6346-7512C1C4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CF0019-CF23-77D6-BD88-212E5205DAB5}"/>
              </a:ext>
            </a:extLst>
          </p:cNvPr>
          <p:cNvSpPr/>
          <p:nvPr/>
        </p:nvSpPr>
        <p:spPr>
          <a:xfrm>
            <a:off x="3490452" y="1808306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EA35B4-F3D9-B1C0-0C84-8C0BA15E8932}"/>
              </a:ext>
            </a:extLst>
          </p:cNvPr>
          <p:cNvSpPr/>
          <p:nvPr/>
        </p:nvSpPr>
        <p:spPr>
          <a:xfrm>
            <a:off x="914400" y="241088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Housekeeping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F562BAD3-807E-90DC-48DF-6ED89758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83" y="4210588"/>
            <a:ext cx="2111552" cy="2111552"/>
          </a:xfrm>
          <a:prstGeom prst="rect">
            <a:avLst/>
          </a:prstGeom>
        </p:spPr>
      </p:pic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62747D9E-0CD4-F48E-D4EB-111C3643B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68" y="1682967"/>
            <a:ext cx="2182761" cy="2182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345B43-4698-0CF1-9CCC-C922B37C6628}"/>
              </a:ext>
            </a:extLst>
          </p:cNvPr>
          <p:cNvSpPr txBox="1"/>
          <p:nvPr/>
        </p:nvSpPr>
        <p:spPr>
          <a:xfrm>
            <a:off x="3702112" y="1921584"/>
            <a:ext cx="78055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Any slide with this icon contains the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expected outputs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for the activity. All outputs listed in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tables on these slides should be uploaded to the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course GitHub repository for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FD0BD9-3A02-3B90-E88E-E7D65070D184}"/>
              </a:ext>
            </a:extLst>
          </p:cNvPr>
          <p:cNvSpPr/>
          <p:nvPr/>
        </p:nvSpPr>
        <p:spPr>
          <a:xfrm>
            <a:off x="3490452" y="4325570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E982-51E2-2726-1C8C-4712524F1BCB}"/>
              </a:ext>
            </a:extLst>
          </p:cNvPr>
          <p:cNvSpPr txBox="1"/>
          <p:nvPr/>
        </p:nvSpPr>
        <p:spPr>
          <a:xfrm>
            <a:off x="3702111" y="4414058"/>
            <a:ext cx="7573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Any slide with this icon indicates that it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time to complete a hands-on activity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 Carefully follow the instructions provided, complete the required task, and verify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183337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  <p:bldP spid="15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33">
            <a:extLst>
              <a:ext uri="{FF2B5EF4-FFF2-40B4-BE49-F238E27FC236}">
                <a16:creationId xmlns:a16="http://schemas.microsoft.com/office/drawing/2014/main" id="{457AC859-6DCC-BE97-86ED-E048D25F6114}"/>
              </a:ext>
            </a:extLst>
          </p:cNvPr>
          <p:cNvSpPr/>
          <p:nvPr/>
        </p:nvSpPr>
        <p:spPr>
          <a:xfrm>
            <a:off x="4971069" y="1780097"/>
            <a:ext cx="0" cy="24384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216473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202393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200962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200714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201742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0CC4D98A-E089-7C28-0A6C-876F927952EC}"/>
              </a:ext>
            </a:extLst>
          </p:cNvPr>
          <p:cNvSpPr/>
          <p:nvPr/>
        </p:nvSpPr>
        <p:spPr>
          <a:xfrm>
            <a:off x="4430252" y="1443260"/>
            <a:ext cx="1243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6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are here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9C36A1D-8E0C-4F64-E655-26BCAA3F7A97}"/>
              </a:ext>
            </a:extLst>
          </p:cNvPr>
          <p:cNvSpPr/>
          <p:nvPr/>
        </p:nvSpPr>
        <p:spPr>
          <a:xfrm>
            <a:off x="1603016" y="271484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0853EE2-3C23-2F5C-C4E1-95E49560444C}"/>
              </a:ext>
            </a:extLst>
          </p:cNvPr>
          <p:cNvSpPr/>
          <p:nvPr/>
        </p:nvSpPr>
        <p:spPr>
          <a:xfrm>
            <a:off x="1700552" y="27947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1640AE8-866B-1A88-91B6-4AEF7DC42189}"/>
              </a:ext>
            </a:extLst>
          </p:cNvPr>
          <p:cNvSpPr/>
          <p:nvPr/>
        </p:nvSpPr>
        <p:spPr>
          <a:xfrm>
            <a:off x="1700552" y="325151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6559FBC-2456-E003-3C93-29439FC58552}"/>
              </a:ext>
            </a:extLst>
          </p:cNvPr>
          <p:cNvSpPr/>
          <p:nvPr/>
        </p:nvSpPr>
        <p:spPr>
          <a:xfrm>
            <a:off x="1681053" y="375123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F129C712-E636-827C-1320-6DEEAAFACAC2}"/>
              </a:ext>
            </a:extLst>
          </p:cNvPr>
          <p:cNvSpPr/>
          <p:nvPr/>
        </p:nvSpPr>
        <p:spPr>
          <a:xfrm>
            <a:off x="3957628" y="271484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6733176-4837-255F-0D6A-BC73120E4F5E}"/>
              </a:ext>
            </a:extLst>
          </p:cNvPr>
          <p:cNvSpPr/>
          <p:nvPr/>
        </p:nvSpPr>
        <p:spPr>
          <a:xfrm>
            <a:off x="4055164" y="28143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941DBE6-7CFE-E4BC-D4A0-B3BD71F7CAC5}"/>
              </a:ext>
            </a:extLst>
          </p:cNvPr>
          <p:cNvSpPr/>
          <p:nvPr/>
        </p:nvSpPr>
        <p:spPr>
          <a:xfrm>
            <a:off x="4055164" y="320253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DCA81F95-D7F4-D400-B226-CF1CCDF94666}"/>
              </a:ext>
            </a:extLst>
          </p:cNvPr>
          <p:cNvSpPr/>
          <p:nvPr/>
        </p:nvSpPr>
        <p:spPr>
          <a:xfrm>
            <a:off x="4055164" y="373066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CD563B77-68A2-F669-6417-231618030AFD}"/>
              </a:ext>
            </a:extLst>
          </p:cNvPr>
          <p:cNvSpPr/>
          <p:nvPr/>
        </p:nvSpPr>
        <p:spPr>
          <a:xfrm>
            <a:off x="6312240" y="271484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EC1F33A-DC42-EFCF-719F-C2BC82ED3614}"/>
              </a:ext>
            </a:extLst>
          </p:cNvPr>
          <p:cNvSpPr/>
          <p:nvPr/>
        </p:nvSpPr>
        <p:spPr>
          <a:xfrm>
            <a:off x="6403616" y="27947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0CC6DC18-2D9D-9276-9236-633FED1D61D0}"/>
              </a:ext>
            </a:extLst>
          </p:cNvPr>
          <p:cNvSpPr/>
          <p:nvPr/>
        </p:nvSpPr>
        <p:spPr>
          <a:xfrm>
            <a:off x="6409776" y="373637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B09E3478-7A5D-093E-AFB4-4A78F63BBC1E}"/>
              </a:ext>
            </a:extLst>
          </p:cNvPr>
          <p:cNvSpPr/>
          <p:nvPr/>
        </p:nvSpPr>
        <p:spPr>
          <a:xfrm>
            <a:off x="8680596" y="270196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AF943254-00E2-EF3E-7A27-79D552E94DA3}"/>
              </a:ext>
            </a:extLst>
          </p:cNvPr>
          <p:cNvSpPr/>
          <p:nvPr/>
        </p:nvSpPr>
        <p:spPr>
          <a:xfrm>
            <a:off x="8764388" y="279320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172F0799-C834-BF8E-6591-59D114E09007}"/>
              </a:ext>
            </a:extLst>
          </p:cNvPr>
          <p:cNvSpPr/>
          <p:nvPr/>
        </p:nvSpPr>
        <p:spPr>
          <a:xfrm>
            <a:off x="6417425" y="319464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C936E7A9-4F61-E4C4-8440-D47355CA7859}"/>
              </a:ext>
            </a:extLst>
          </p:cNvPr>
          <p:cNvSpPr/>
          <p:nvPr/>
        </p:nvSpPr>
        <p:spPr>
          <a:xfrm>
            <a:off x="8764388" y="373066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B46AC91E-2215-2C27-0E5F-C6C8A0173C64}"/>
              </a:ext>
            </a:extLst>
          </p:cNvPr>
          <p:cNvSpPr/>
          <p:nvPr/>
        </p:nvSpPr>
        <p:spPr>
          <a:xfrm>
            <a:off x="8779188" y="320358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F29087F-668A-428C-073E-EA642A8E2FC0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88414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B77753AD-1182-2796-EBE1-12E5A2410759}"/>
              </a:ext>
            </a:extLst>
          </p:cNvPr>
          <p:cNvSpPr/>
          <p:nvPr/>
        </p:nvSpPr>
        <p:spPr>
          <a:xfrm>
            <a:off x="8276705" y="553851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93F02301-F458-DC6D-91E2-4E879C6F7A67}"/>
              </a:ext>
            </a:extLst>
          </p:cNvPr>
          <p:cNvSpPr/>
          <p:nvPr/>
        </p:nvSpPr>
        <p:spPr>
          <a:xfrm>
            <a:off x="6976678" y="6149139"/>
            <a:ext cx="3289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</a:t>
            </a:r>
            <a:r>
              <a:rPr lang="en-US" sz="1467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Incremental Revisions</a:t>
            </a:r>
          </a:p>
        </p:txBody>
      </p:sp>
    </p:spTree>
    <p:extLst>
      <p:ext uri="{BB962C8B-B14F-4D97-AF65-F5344CB8AC3E}">
        <p14:creationId xmlns:p14="http://schemas.microsoft.com/office/powerpoint/2010/main" val="388621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914400" y="170589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Exploration &amp; Visualization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D0E918C-DE45-242B-7C02-8C92360411BB}"/>
              </a:ext>
            </a:extLst>
          </p:cNvPr>
          <p:cNvSpPr/>
          <p:nvPr/>
        </p:nvSpPr>
        <p:spPr>
          <a:xfrm>
            <a:off x="914400" y="1463035"/>
            <a:ext cx="10363200" cy="1356360"/>
          </a:xfrm>
          <a:prstGeom prst="roundRect">
            <a:avLst/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Purpose:</a:t>
            </a:r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explore the data before you model it and to write the rules that tell your agent what to plot and values to return. 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BD9DE2F-EF3D-98DD-FCDC-CC77F5C7DCEB}"/>
              </a:ext>
            </a:extLst>
          </p:cNvPr>
          <p:cNvSpPr/>
          <p:nvPr/>
        </p:nvSpPr>
        <p:spPr>
          <a:xfrm>
            <a:off x="914400" y="3291840"/>
            <a:ext cx="10363200" cy="1950720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0441D31-659F-49A8-2D47-75E07D35CE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47713" y="3560260"/>
            <a:ext cx="1268361" cy="1268361"/>
          </a:xfrm>
          <a:prstGeom prst="rect">
            <a:avLst/>
          </a:prstGeom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03AFE668-04D5-7150-B96C-544491F9AC4D}"/>
              </a:ext>
            </a:extLst>
          </p:cNvPr>
          <p:cNvSpPr/>
          <p:nvPr/>
        </p:nvSpPr>
        <p:spPr>
          <a:xfrm>
            <a:off x="2865120" y="3555345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700" b="1" dirty="0">
                <a:solidFill>
                  <a:schemeClr val="tx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What's different from Activity 1? </a:t>
            </a:r>
            <a:endParaRPr lang="en-US" sz="27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309C7BD-210F-83DC-53B0-6A7D6D98FD4C}"/>
              </a:ext>
            </a:extLst>
          </p:cNvPr>
          <p:cNvSpPr/>
          <p:nvPr/>
        </p:nvSpPr>
        <p:spPr>
          <a:xfrm>
            <a:off x="2865120" y="4115781"/>
            <a:ext cx="814111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spcAft>
                <a:spcPts val="600"/>
              </a:spcAft>
            </a:pP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Activity 1, the cleaning rules were provided for you.</a:t>
            </a:r>
            <a:endParaRPr lang="en-US" sz="23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/>
            <a:r>
              <a:rPr lang="en-US" sz="23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Activity 2, WE will write the rules.</a:t>
            </a:r>
            <a:endParaRPr lang="en-US" sz="23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8DCAD86-907C-04E0-B032-7DEFB4DAB92B}"/>
              </a:ext>
            </a:extLst>
          </p:cNvPr>
          <p:cNvSpPr/>
          <p:nvPr/>
        </p:nvSpPr>
        <p:spPr>
          <a:xfrm>
            <a:off x="963560" y="5715005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Remember: rules doc → agents.md → </a:t>
            </a:r>
            <a:r>
              <a:rPr lang="en-US" sz="2300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scripts/</a:t>
            </a:r>
            <a:r>
              <a:rPr lang="en-US" sz="2300" dirty="0">
                <a:latin typeface="Consolas" panose="020B0609020204030204" pitchFamily="49" charset="0"/>
                <a:cs typeface="Arial" panose="020B0604020202020204" pitchFamily="34" charset="0"/>
              </a:rPr>
              <a:t>02_data_explore</a:t>
            </a:r>
            <a:r>
              <a:rPr lang="en-US" sz="2300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.R</a:t>
            </a:r>
            <a:endParaRPr lang="en-US" sz="2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3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Roadmap</a:t>
            </a:r>
          </a:p>
        </p:txBody>
      </p:sp>
      <p:sp>
        <p:nvSpPr>
          <p:cNvPr id="3" name="Subtitle"/>
          <p:cNvSpPr/>
          <p:nvPr/>
        </p:nvSpPr>
        <p:spPr>
          <a:xfrm>
            <a:off x="729996" y="1307000"/>
            <a:ext cx="10732008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steps we will work through to explore and visualize the data.</a:t>
            </a:r>
          </a:p>
        </p:txBody>
      </p:sp>
      <p:sp>
        <p:nvSpPr>
          <p:cNvPr id="100" name="Connector"/>
          <p:cNvSpPr/>
          <p:nvPr/>
        </p:nvSpPr>
        <p:spPr>
          <a:xfrm>
            <a:off x="1716000" y="2442100"/>
            <a:ext cx="8760000" cy="0"/>
          </a:xfrm>
          <a:prstGeom prst="line">
            <a:avLst/>
          </a:prstGeom>
          <a:noFill/>
          <a:ln w="22225" cap="rnd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Card1"/>
          <p:cNvSpPr/>
          <p:nvPr/>
        </p:nvSpPr>
        <p:spPr>
          <a:xfrm>
            <a:off x="436000" y="2912100"/>
            <a:ext cx="2560000" cy="2300000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Card2"/>
          <p:cNvSpPr/>
          <p:nvPr/>
        </p:nvSpPr>
        <p:spPr>
          <a:xfrm>
            <a:off x="3356000" y="2912100"/>
            <a:ext cx="2560000" cy="2300000"/>
          </a:xfrm>
          <a:prstGeom prst="rect">
            <a:avLst/>
          </a:prstGeom>
          <a:solidFill>
            <a:srgbClr val="F0ECF8"/>
          </a:solidFill>
          <a:ln>
            <a:solidFill>
              <a:srgbClr val="F0EC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Card3"/>
          <p:cNvSpPr/>
          <p:nvPr/>
        </p:nvSpPr>
        <p:spPr>
          <a:xfrm>
            <a:off x="6276000" y="2912100"/>
            <a:ext cx="2560000" cy="2300000"/>
          </a:xfrm>
          <a:prstGeom prst="rect">
            <a:avLst/>
          </a:prstGeom>
          <a:solidFill>
            <a:srgbClr val="FFF4EC"/>
          </a:solidFill>
          <a:ln>
            <a:solidFill>
              <a:srgbClr val="FFF4EC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Card4"/>
          <p:cNvSpPr/>
          <p:nvPr/>
        </p:nvSpPr>
        <p:spPr>
          <a:xfrm>
            <a:off x="9196000" y="2912100"/>
            <a:ext cx="2560000" cy="2300000"/>
          </a:xfrm>
          <a:prstGeom prst="rect">
            <a:avLst/>
          </a:prstGeom>
          <a:solidFill>
            <a:srgbClr val="DCEAF7"/>
          </a:solidFill>
          <a:ln>
            <a:solidFill>
              <a:srgbClr val="DCEAF7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Num1"/>
          <p:cNvSpPr/>
          <p:nvPr/>
        </p:nvSpPr>
        <p:spPr>
          <a:xfrm>
            <a:off x="1396000" y="2122100"/>
            <a:ext cx="640000" cy="640000"/>
          </a:xfrm>
          <a:prstGeom prst="ellipse">
            <a:avLst/>
          </a:prstGeom>
          <a:solidFill>
            <a:srgbClr val="13678A"/>
          </a:solidFill>
          <a:ln/>
          <a:effectLst>
            <a:outerShdw blurRad="38100" dist="19050" dir="8100000" algn="bl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2" name="Num2"/>
          <p:cNvSpPr/>
          <p:nvPr/>
        </p:nvSpPr>
        <p:spPr>
          <a:xfrm>
            <a:off x="4316000" y="2122100"/>
            <a:ext cx="640000" cy="640000"/>
          </a:xfrm>
          <a:prstGeom prst="ellipse">
            <a:avLst/>
          </a:prstGeom>
          <a:solidFill>
            <a:srgbClr val="13678A"/>
          </a:solidFill>
          <a:ln/>
          <a:effectLst>
            <a:outerShdw blurRad="38100" dist="19050" dir="8100000" algn="bl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3" name="Num3"/>
          <p:cNvSpPr/>
          <p:nvPr/>
        </p:nvSpPr>
        <p:spPr>
          <a:xfrm>
            <a:off x="7236000" y="2122100"/>
            <a:ext cx="640000" cy="640000"/>
          </a:xfrm>
          <a:prstGeom prst="ellipse">
            <a:avLst/>
          </a:prstGeom>
          <a:solidFill>
            <a:srgbClr val="13678A"/>
          </a:solidFill>
          <a:ln/>
          <a:effectLst>
            <a:outerShdw blurRad="38100" dist="19050" dir="8100000" algn="bl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4" name="Num4"/>
          <p:cNvSpPr/>
          <p:nvPr/>
        </p:nvSpPr>
        <p:spPr>
          <a:xfrm>
            <a:off x="10156000" y="2122100"/>
            <a:ext cx="640000" cy="640000"/>
          </a:xfrm>
          <a:prstGeom prst="ellipse">
            <a:avLst/>
          </a:prstGeom>
          <a:solidFill>
            <a:srgbClr val="13678A"/>
          </a:solidFill>
          <a:ln/>
          <a:effectLst>
            <a:outerShdw blurRad="38100" dist="19050" dir="8100000" algn="bl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1" name="Card1Title"/>
          <p:cNvSpPr/>
          <p:nvPr/>
        </p:nvSpPr>
        <p:spPr>
          <a:xfrm>
            <a:off x="606000" y="3052100"/>
            <a:ext cx="22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the Rules</a:t>
            </a:r>
          </a:p>
        </p:txBody>
      </p:sp>
      <p:sp>
        <p:nvSpPr>
          <p:cNvPr id="132" name="Card2Title"/>
          <p:cNvSpPr/>
          <p:nvPr/>
        </p:nvSpPr>
        <p:spPr>
          <a:xfrm>
            <a:off x="3526000" y="3052100"/>
            <a:ext cx="22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the Agent</a:t>
            </a:r>
          </a:p>
        </p:txBody>
      </p:sp>
      <p:sp>
        <p:nvSpPr>
          <p:cNvPr id="133" name="Card3Title"/>
          <p:cNvSpPr/>
          <p:nvPr/>
        </p:nvSpPr>
        <p:spPr>
          <a:xfrm>
            <a:off x="6446000" y="3052100"/>
            <a:ext cx="22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the Script</a:t>
            </a:r>
          </a:p>
        </p:txBody>
      </p:sp>
      <p:sp>
        <p:nvSpPr>
          <p:cNvPr id="134" name="Card4Title"/>
          <p:cNvSpPr/>
          <p:nvPr/>
        </p:nvSpPr>
        <p:spPr>
          <a:xfrm>
            <a:off x="9366000" y="3052100"/>
            <a:ext cx="22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&amp; Commit</a:t>
            </a:r>
          </a:p>
        </p:txBody>
      </p:sp>
      <p:sp>
        <p:nvSpPr>
          <p:cNvPr id="141" name="Card1Desc"/>
          <p:cNvSpPr/>
          <p:nvPr/>
        </p:nvSpPr>
        <p:spPr>
          <a:xfrm>
            <a:off x="606000" y="3552100"/>
            <a:ext cx="2220000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Visualization section to our rules document with precise rules for Q1–Q3.</a:t>
            </a:r>
          </a:p>
        </p:txBody>
      </p:sp>
      <p:sp>
        <p:nvSpPr>
          <p:cNvPr id="142" name="Card2Desc"/>
          <p:cNvSpPr/>
          <p:nvPr/>
        </p:nvSpPr>
        <p:spPr>
          <a:xfrm>
            <a:off x="3526000" y="3552100"/>
            <a:ext cx="2220000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Regenerate agents.md from your updated rules so the agent follows your new instructions.</a:t>
            </a:r>
          </a:p>
        </p:txBody>
      </p:sp>
      <p:sp>
        <p:nvSpPr>
          <p:cNvPr id="143" name="Card3Desc"/>
          <p:cNvSpPr/>
          <p:nvPr/>
        </p:nvSpPr>
        <p:spPr>
          <a:xfrm>
            <a:off x="6446000" y="3552100"/>
            <a:ext cx="2220000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agents.md to have Copilot </a:t>
            </a:r>
            <a:r>
              <a:rPr lang="en-US" sz="1700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(or AI of your choosing) </a:t>
            </a:r>
            <a:r>
              <a:rPr lang="en-US" sz="1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the </a:t>
            </a:r>
            <a:r>
              <a:rPr lang="en-US" sz="1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scripts/02_data_explore</a:t>
            </a:r>
            <a:r>
              <a:rPr lang="en-US" sz="1700" i="1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.R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script.</a:t>
            </a:r>
          </a:p>
        </p:txBody>
      </p:sp>
      <p:sp>
        <p:nvSpPr>
          <p:cNvPr id="144" name="Card4Desc"/>
          <p:cNvSpPr/>
          <p:nvPr/>
        </p:nvSpPr>
        <p:spPr>
          <a:xfrm>
            <a:off x="9366000" y="3552100"/>
            <a:ext cx="2220000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it, check the figures and peak_description.csv, then commit your results to GitHub.</a:t>
            </a:r>
          </a:p>
        </p:txBody>
      </p:sp>
      <p:sp>
        <p:nvSpPr>
          <p:cNvPr id="160" name="Framer"/>
          <p:cNvSpPr/>
          <p:nvPr/>
        </p:nvSpPr>
        <p:spPr>
          <a:xfrm>
            <a:off x="436000" y="5652100"/>
            <a:ext cx="11320000" cy="560000"/>
          </a:xfrm>
          <a:prstGeom prst="rect">
            <a:avLst/>
          </a:prstGeom>
          <a:solidFill>
            <a:srgbClr val="EAEAEA"/>
          </a:solidFill>
          <a:ln/>
        </p:spPr>
        <p:txBody>
          <a:bodyPr wrap="square" lIns="91440" tIns="0" rIns="91440" bIns="0" rtlCol="0" anchor="ctr"/>
          <a:lstStyle/>
          <a:p>
            <a:pPr algn="ctr"/>
            <a:r>
              <a:rPr lang="en-US" sz="26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Vague rules = vague output.</a:t>
            </a:r>
            <a:r>
              <a:rPr lang="en-US" sz="26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precise about every detail.</a:t>
            </a:r>
          </a:p>
        </p:txBody>
      </p:sp>
    </p:spTree>
    <p:extLst>
      <p:ext uri="{BB962C8B-B14F-4D97-AF65-F5344CB8AC3E}">
        <p14:creationId xmlns:p14="http://schemas.microsoft.com/office/powerpoint/2010/main" val="299683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00C1-BD6A-D367-BE03-DC02A621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Task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D021-3291-F8EE-43B3-C66F6EC7F58D}"/>
              </a:ext>
            </a:extLst>
          </p:cNvPr>
          <p:cNvSpPr txBox="1"/>
          <p:nvPr/>
        </p:nvSpPr>
        <p:spPr>
          <a:xfrm>
            <a:off x="838200" y="1455900"/>
            <a:ext cx="10515600" cy="1280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We will write visualization and analysis rules for the three questions (</a:t>
            </a: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), then use them to generate the agent, the </a:t>
            </a: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02_data_explore.R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script, and its figures and peak table.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960814"/>
              </p:ext>
            </p:extLst>
          </p:nvPr>
        </p:nvGraphicFramePr>
        <p:xfrm>
          <a:off x="774700" y="3046100"/>
          <a:ext cx="106426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Output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Visualization rules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Q1–Q3 — plot types, axes, titles, colors, annotations, and output file names.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agents.md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Regenerated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your updated rules so the agent follows your new instructions.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scripts/02_data_explore.R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 code Copilot 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(or AI of your</a:t>
                      </a:r>
                      <a:r>
                        <a:rPr kumimoji="0" lang="en-US" sz="2000" b="1" i="0" u="none" strike="noStrike" kern="1200" cap="none" spc="0" normalizeH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choosing)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the agent to build the figures and the peak table.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figures + peak_description.csv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finished outputs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national_trend.png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seasonal_comparison.png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and </a:t>
                      </a:r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peak_description.csv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CC0AF3F-5972-9E6A-4E9A-DB5BBB0F2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1869" y="176520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5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ECCA-25B1-E611-92FB-430CABB6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 (Q1):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National Trend over Time Visualization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2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6D1BA9C0-2AED-705E-FDAE-9108078338D1}"/>
              </a:ext>
            </a:extLst>
          </p:cNvPr>
          <p:cNvSpPr/>
          <p:nvPr/>
        </p:nvSpPr>
        <p:spPr>
          <a:xfrm>
            <a:off x="660400" y="4854064"/>
            <a:ext cx="10960100" cy="1356236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499544CE-219A-1E2C-5C31-7A79345B0ADF}"/>
              </a:ext>
            </a:extLst>
          </p:cNvPr>
          <p:cNvSpPr/>
          <p:nvPr/>
        </p:nvSpPr>
        <p:spPr>
          <a:xfrm>
            <a:off x="660400" y="19431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58816" y="3915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9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Q1: National Trend over Time Visualization</a:t>
            </a:r>
            <a:endParaRPr lang="en-US" sz="39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D4A7F-2948-9907-3392-89C7C243C88F}"/>
              </a:ext>
            </a:extLst>
          </p:cNvPr>
          <p:cNvSpPr txBox="1"/>
          <p:nvPr/>
        </p:nvSpPr>
        <p:spPr>
          <a:xfrm>
            <a:off x="914400" y="21167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Plot all data available from the previous activity.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As a reminder, this includes counts of total influenza admissions for the entire United States from 2020 onward obtained from the CDC(NHSN) data set.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0BB5ACB5-E55B-C7BA-730D-A00F96A50F4C}"/>
              </a:ext>
            </a:extLst>
          </p:cNvPr>
          <p:cNvSpPr/>
          <p:nvPr/>
        </p:nvSpPr>
        <p:spPr>
          <a:xfrm>
            <a:off x="660400" y="3767795"/>
            <a:ext cx="10960100" cy="861774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40C2A-74D6-3133-E368-86084B3EBBEB}"/>
              </a:ext>
            </a:extLst>
          </p:cNvPr>
          <p:cNvSpPr txBox="1"/>
          <p:nvPr/>
        </p:nvSpPr>
        <p:spPr>
          <a:xfrm>
            <a:off x="914400" y="3980935"/>
            <a:ext cx="105029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Highlight the 2025-2026 season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with a gray shaded bar.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06C4B-E718-9A71-8DED-03DB3491E176}"/>
              </a:ext>
            </a:extLst>
          </p:cNvPr>
          <p:cNvSpPr txBox="1"/>
          <p:nvPr/>
        </p:nvSpPr>
        <p:spPr>
          <a:xfrm>
            <a:off x="914400" y="5088334"/>
            <a:ext cx="1036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Ensure that the figure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publication-ready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(i.e., cleaned up) and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in the correct folder as 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national_trend.png.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E2280DB5-A280-3DA2-7311-237075E09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24" y="262746"/>
            <a:ext cx="1289008" cy="1289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BD27D5A-EE05-03D4-87AC-56E36FF6F9E6}"/>
              </a:ext>
            </a:extLst>
          </p:cNvPr>
          <p:cNvSpPr/>
          <p:nvPr/>
        </p:nvSpPr>
        <p:spPr>
          <a:xfrm>
            <a:off x="401053" y="1168320"/>
            <a:ext cx="11389893" cy="10313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endParaRPr lang="en-US" sz="4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Writing the Visualization Rules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100" y="1257300"/>
            <a:ext cx="11181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should be </a:t>
            </a:r>
            <a:r>
              <a:rPr lang="en-US" sz="25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specific enough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that someone (or an AI) could produce the plot without asking any follow-up questions.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1054" y="241173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Things to think about: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19859AC-CB52-C499-7BF6-A441ADEA2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327546"/>
              </p:ext>
            </p:extLst>
          </p:nvPr>
        </p:nvGraphicFramePr>
        <p:xfrm>
          <a:off x="401054" y="3058160"/>
          <a:ext cx="11389893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550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833343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type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chart, bar chart, scatter,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X-Axis and Y-Axis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variable, label text, date format, start at zero?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title text for the 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Colors and highlights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color, shading, annotation colors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432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Annotations and markers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markers, reference lines, text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92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output/figures/02_data_explore/national_trend.png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44296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2025–26.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E98BA09-247C-8D82-037D-D10FA112F7CE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DFA826-3389-9223-A3F2-D24239768AD8}"/>
              </a:ext>
            </a:extLst>
          </p:cNvPr>
          <p:cNvSpPr txBox="1"/>
          <p:nvPr/>
        </p:nvSpPr>
        <p:spPr>
          <a:xfrm>
            <a:off x="463550" y="715139"/>
            <a:ext cx="112649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Season-to-Date Mapping Note</a:t>
            </a:r>
          </a:p>
          <a:p>
            <a:pPr algn="ctr"/>
            <a:endParaRPr lang="en-US" sz="35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When mapping calendar dates to MMWR epi-weeks, handle week numbers that fall in early January (for example epi-week 53) by using the calendar month to assign the season start year. Concretely, if a date's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is &gt;= 40 but its calendar month is January–August, attribute that date to the previous year's season (i.e.,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season_start_year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= year - 1).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32A03E9-5D1B-D685-ED20-414BEFD438AA}"/>
              </a:ext>
            </a:extLst>
          </p:cNvPr>
          <p:cNvSpPr/>
          <p:nvPr/>
        </p:nvSpPr>
        <p:spPr>
          <a:xfrm>
            <a:off x="800100" y="51359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 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77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0B28-49BA-FCF7-DEA0-38B92440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838894-502B-4D76-B39E-7CB7AF448D38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B7A5B421-68D9-A656-7E06-46532A3047F0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2B5E074-DE3B-4EC5-E777-8BD5C452731F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74EC806-0E32-3193-EF8C-7DB452B56D0D}"/>
              </a:ext>
            </a:extLst>
          </p:cNvPr>
          <p:cNvSpPr/>
          <p:nvPr/>
        </p:nvSpPr>
        <p:spPr>
          <a:xfrm>
            <a:off x="1858754" y="2387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 Visualizations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section 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and under that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National Plot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27145EC7-9C0E-FB4C-91A6-E1AAB23F6215}"/>
              </a:ext>
            </a:extLst>
          </p:cNvPr>
          <p:cNvSpPr/>
          <p:nvPr/>
        </p:nvSpPr>
        <p:spPr>
          <a:xfrm>
            <a:off x="1061194" y="36735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736F46-3433-3962-92B6-F79EA621DE55}"/>
              </a:ext>
            </a:extLst>
          </p:cNvPr>
          <p:cNvSpPr/>
          <p:nvPr/>
        </p:nvSpPr>
        <p:spPr>
          <a:xfrm>
            <a:off x="1061194" y="36735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0F23612-84FC-DDBB-E5E8-5286CABF54C9}"/>
              </a:ext>
            </a:extLst>
          </p:cNvPr>
          <p:cNvSpPr/>
          <p:nvPr/>
        </p:nvSpPr>
        <p:spPr>
          <a:xfrm>
            <a:off x="1858754" y="33768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visual for Q1. Make sure to specify input data details, season definitions, plot types, axes, colors, annotations, file names, etc. (vague rules = vague output).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542E53A-56BF-758D-20AD-5190372A7AC3}"/>
              </a:ext>
            </a:extLst>
          </p:cNvPr>
          <p:cNvSpPr/>
          <p:nvPr/>
        </p:nvSpPr>
        <p:spPr>
          <a:xfrm>
            <a:off x="1061194" y="48522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1B3C3A7-18C4-0146-48A9-80581D2045BC}"/>
              </a:ext>
            </a:extLst>
          </p:cNvPr>
          <p:cNvSpPr/>
          <p:nvPr/>
        </p:nvSpPr>
        <p:spPr>
          <a:xfrm>
            <a:off x="1061194" y="48522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C859B04-130D-289F-0F71-DCD0C462032D}"/>
              </a:ext>
            </a:extLst>
          </p:cNvPr>
          <p:cNvSpPr/>
          <p:nvPr/>
        </p:nvSpPr>
        <p:spPr>
          <a:xfrm>
            <a:off x="1061194" y="58456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4023CCA-87D9-FF31-B8F1-DB6D87F70A7E}"/>
              </a:ext>
            </a:extLst>
          </p:cNvPr>
          <p:cNvSpPr/>
          <p:nvPr/>
        </p:nvSpPr>
        <p:spPr>
          <a:xfrm>
            <a:off x="1061194" y="58456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B6CA545-5518-EB58-5847-5A14FACE54FB}"/>
              </a:ext>
            </a:extLst>
          </p:cNvPr>
          <p:cNvSpPr/>
          <p:nvPr/>
        </p:nvSpPr>
        <p:spPr>
          <a:xfrm>
            <a:off x="1858754" y="57474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(or AI of your choosing)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ACE608AF-BF88-F5CD-D84C-1E48DEB0E4BD}"/>
              </a:ext>
            </a:extLst>
          </p:cNvPr>
          <p:cNvSpPr/>
          <p:nvPr/>
        </p:nvSpPr>
        <p:spPr>
          <a:xfrm>
            <a:off x="800100" y="10996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Q1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574B12E-6FDE-AD97-13CE-75AF10C27361}"/>
              </a:ext>
            </a:extLst>
          </p:cNvPr>
          <p:cNvSpPr/>
          <p:nvPr/>
        </p:nvSpPr>
        <p:spPr>
          <a:xfrm>
            <a:off x="1858754" y="49589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CC3076B0-2162-2ECA-1CF8-F0B98FEB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6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0A87-1727-CB3C-702D-E8887C1D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4C9F6AC-9E66-E317-450A-FE5DAF5CF843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national_trend.png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D4521-20C9-4592-2026-E8805C72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206500"/>
            <a:ext cx="103632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51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E1F7-11C6-D569-382D-C9CFAF28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E3DA-19AF-D70C-C794-782CEB51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 (Q2):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Season Comparison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07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889B-CAF7-DE0A-8949-E18F5E38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2FE222B6-E0C0-F562-F3D9-B2DDAAED59D8}"/>
              </a:ext>
            </a:extLst>
          </p:cNvPr>
          <p:cNvSpPr/>
          <p:nvPr/>
        </p:nvSpPr>
        <p:spPr>
          <a:xfrm>
            <a:off x="660400" y="5069964"/>
            <a:ext cx="10960100" cy="1356236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ACBECD04-F71F-C0FA-F1BC-DAF0B23AF466}"/>
              </a:ext>
            </a:extLst>
          </p:cNvPr>
          <p:cNvSpPr/>
          <p:nvPr/>
        </p:nvSpPr>
        <p:spPr>
          <a:xfrm>
            <a:off x="660400" y="18288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C5277-EE4F-B15F-A76A-5EACD81C4D27}"/>
              </a:ext>
            </a:extLst>
          </p:cNvPr>
          <p:cNvSpPr/>
          <p:nvPr/>
        </p:nvSpPr>
        <p:spPr>
          <a:xfrm>
            <a:off x="1396916" y="3407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Q2: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Season Comparison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C2EAE9-DE99-3F86-FB7C-4C093ADD3A52}"/>
              </a:ext>
            </a:extLst>
          </p:cNvPr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F1216-316E-8DFD-57CF-84626E40C8A3}"/>
              </a:ext>
            </a:extLst>
          </p:cNvPr>
          <p:cNvSpPr txBox="1"/>
          <p:nvPr/>
        </p:nvSpPr>
        <p:spPr>
          <a:xfrm>
            <a:off x="914400" y="20024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Plot all data available from the previous activity.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Unlike Q1, we want to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overlay past seasons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compare trajectories. Therefore, we will need to standardize dates across seasons (example on next slide).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F6908798-8242-BC2E-78CE-D8C6DE1155AF}"/>
              </a:ext>
            </a:extLst>
          </p:cNvPr>
          <p:cNvSpPr/>
          <p:nvPr/>
        </p:nvSpPr>
        <p:spPr>
          <a:xfrm>
            <a:off x="660400" y="3653494"/>
            <a:ext cx="10960100" cy="1172959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DE15C-B8E8-985D-D169-019AD25E8566}"/>
              </a:ext>
            </a:extLst>
          </p:cNvPr>
          <p:cNvSpPr txBox="1"/>
          <p:nvPr/>
        </p:nvSpPr>
        <p:spPr>
          <a:xfrm>
            <a:off x="914400" y="3828535"/>
            <a:ext cx="10502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Change the formatting of the lines so that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season (2025-2026) stands out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CAB21-5DDD-F321-FA9D-1109381B2606}"/>
              </a:ext>
            </a:extLst>
          </p:cNvPr>
          <p:cNvSpPr txBox="1"/>
          <p:nvPr/>
        </p:nvSpPr>
        <p:spPr>
          <a:xfrm>
            <a:off x="914400" y="5304234"/>
            <a:ext cx="1036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Ensure that the figure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publication-ready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(i.e., cleaned up) and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in the correct folder as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seasonal_comparison.png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132F6E02-5AB3-0EB8-11B3-0D79B20B1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0624" y="288146"/>
            <a:ext cx="1289008" cy="12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7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rcentage of Influenza Positive Test Results Reported by Clinical Laboratories to CDC, National Summary by Week and Influenza Season — United States, 2024–25 and Selected Previous Seasons">
            <a:extLst>
              <a:ext uri="{FF2B5EF4-FFF2-40B4-BE49-F238E27FC236}">
                <a16:creationId xmlns:a16="http://schemas.microsoft.com/office/drawing/2014/main" id="{289C6CC8-8CA4-4C5F-BBAC-4CAE62243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577" y="1063374"/>
            <a:ext cx="8318926" cy="581025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2EA3F94-2D18-7D4D-E328-ECA9C73BB7E6}"/>
              </a:ext>
            </a:extLst>
          </p:cNvPr>
          <p:cNvSpPr/>
          <p:nvPr/>
        </p:nvSpPr>
        <p:spPr>
          <a:xfrm>
            <a:off x="853440" y="939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Example: Seasonal Comparison Plot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DA7B3-A4BD-879E-9CF7-F0EAFBFEE8B0}"/>
              </a:ext>
            </a:extLst>
          </p:cNvPr>
          <p:cNvSpPr txBox="1"/>
          <p:nvPr/>
        </p:nvSpPr>
        <p:spPr>
          <a:xfrm>
            <a:off x="5935452" y="6419113"/>
            <a:ext cx="609600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i="1" kern="100" dirty="0">
                <a:solidFill>
                  <a:srgbClr val="8B97A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(CDC, Influenza Activity in the US, 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7E436-B7F5-9DC7-01D7-E5D52F2E1E44}"/>
              </a:ext>
            </a:extLst>
          </p:cNvPr>
          <p:cNvSpPr txBox="1"/>
          <p:nvPr/>
        </p:nvSpPr>
        <p:spPr>
          <a:xfrm>
            <a:off x="2991115" y="866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Style reference only. </a:t>
            </a:r>
          </a:p>
        </p:txBody>
      </p:sp>
    </p:spTree>
    <p:extLst>
      <p:ext uri="{BB962C8B-B14F-4D97-AF65-F5344CB8AC3E}">
        <p14:creationId xmlns:p14="http://schemas.microsoft.com/office/powerpoint/2010/main" val="340861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868C-C5A3-A2E8-6C21-DA7066F1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C7F1511-9008-762C-CE0C-4E775056B41B}"/>
              </a:ext>
            </a:extLst>
          </p:cNvPr>
          <p:cNvSpPr/>
          <p:nvPr/>
        </p:nvSpPr>
        <p:spPr>
          <a:xfrm>
            <a:off x="401053" y="1168320"/>
            <a:ext cx="11389893" cy="10313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endParaRPr lang="en-US" sz="4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17A9679-66B1-09DF-771E-B9DA0D6FD761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Writing the Visualization Rules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021368-AE99-80DB-FE79-4994D68C7CC2}"/>
              </a:ext>
            </a:extLst>
          </p:cNvPr>
          <p:cNvSpPr/>
          <p:nvPr/>
        </p:nvSpPr>
        <p:spPr>
          <a:xfrm>
            <a:off x="546100" y="1257300"/>
            <a:ext cx="11181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should be </a:t>
            </a:r>
            <a:r>
              <a:rPr lang="en-US" sz="25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specific enough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that someone (or an AI) could produce the plot without asking any follow-up questions.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4AC924-1C69-AE9A-3D90-2D480F469A6F}"/>
              </a:ext>
            </a:extLst>
          </p:cNvPr>
          <p:cNvSpPr/>
          <p:nvPr/>
        </p:nvSpPr>
        <p:spPr>
          <a:xfrm>
            <a:off x="401054" y="2347562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Things to think about: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E2BC3BD-209F-6E3E-3CD1-ABAC2CE87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443206"/>
              </p:ext>
            </p:extLst>
          </p:nvPr>
        </p:nvGraphicFramePr>
        <p:xfrm>
          <a:off x="441826" y="2908890"/>
          <a:ext cx="11389893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0104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539789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type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chart, bar chart, scatter,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 title, item labels,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2125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X-Axis and Y-Axis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variable, label text, date format, start at zero?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title text for the 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Colors and highlights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color, shading, annotation colors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432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Annotations and markers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markers, reference lines, text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92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output/figures/02_data_explore/</a:t>
                      </a:r>
                      <a:r>
                        <a:rPr lang="en-US" sz="220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</a:t>
                      </a: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442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54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8526-87D8-81EC-48FF-89792FD3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66312F-A542-F37C-DAEB-B9045F00C0DA}"/>
              </a:ext>
            </a:extLst>
          </p:cNvPr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1F0F81-DBC2-47D0-4B00-9CF17C5D6204}"/>
              </a:ext>
            </a:extLst>
          </p:cNvPr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5E6300-1AD4-3D66-91BB-1184B9226666}"/>
              </a:ext>
            </a:extLst>
          </p:cNvPr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B9F7F6-42CC-BEE6-117A-DD9FB44B9016}"/>
              </a:ext>
            </a:extLst>
          </p:cNvPr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371F0A-24E9-73FF-56C1-A919C0E9A722}"/>
              </a:ext>
            </a:extLst>
          </p:cNvPr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4CFA2A-10DD-01FD-4370-EDB74A8B951C}"/>
              </a:ext>
            </a:extLst>
          </p:cNvPr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2025–26.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4618F46-BAE1-065A-5900-BB0202B9A073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71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E0FE98-645F-1C38-43FD-9E4447A14348}"/>
              </a:ext>
            </a:extLst>
          </p:cNvPr>
          <p:cNvSpPr txBox="1"/>
          <p:nvPr/>
        </p:nvSpPr>
        <p:spPr>
          <a:xfrm>
            <a:off x="1200150" y="569774"/>
            <a:ext cx="97917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Plotting Note: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The seasonal plot must present the full season chronologically by plotting MMWR weeks 40–53 followed by weeks 1–20 (so weeks 1–20 appear after 40–53 on the x-axis). The plotting implementation must ensure weeks 1–20 are not dropped and are positioned after weeks 40–53 so the full season displays continuously.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BF82943-0893-B9C7-1DF9-E2F37698E38F}"/>
              </a:ext>
            </a:extLst>
          </p:cNvPr>
          <p:cNvSpPr/>
          <p:nvPr/>
        </p:nvSpPr>
        <p:spPr>
          <a:xfrm>
            <a:off x="800100" y="53264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 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2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69E9-59A4-5091-CDCA-AF218A8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E30C68-F076-E244-B770-D1986693C46E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731BD9E-44DC-4ECD-5EDF-1CA969BE6EB3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C173C25-B8FD-B3DD-643A-C7D2049AC922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842E04-5CB2-2831-2D8C-4C9A891CA1C0}"/>
              </a:ext>
            </a:extLst>
          </p:cNvPr>
          <p:cNvSpPr/>
          <p:nvPr/>
        </p:nvSpPr>
        <p:spPr>
          <a:xfrm>
            <a:off x="1858754" y="2387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Season Plot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section header under </a:t>
            </a:r>
          </a:p>
          <a:p>
            <a:pPr defTabSz="1219170"/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 Visualizations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9D55DB9-52F1-B6EC-0CE3-0186385E063A}"/>
              </a:ext>
            </a:extLst>
          </p:cNvPr>
          <p:cNvSpPr/>
          <p:nvPr/>
        </p:nvSpPr>
        <p:spPr>
          <a:xfrm>
            <a:off x="1061194" y="34449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1E5D116-59E1-9BE4-CE0C-0173984FF3CC}"/>
              </a:ext>
            </a:extLst>
          </p:cNvPr>
          <p:cNvSpPr/>
          <p:nvPr/>
        </p:nvSpPr>
        <p:spPr>
          <a:xfrm>
            <a:off x="1061194" y="34449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A4D9455-3ECD-682C-B1A8-062ADD3D50E7}"/>
              </a:ext>
            </a:extLst>
          </p:cNvPr>
          <p:cNvSpPr/>
          <p:nvPr/>
        </p:nvSpPr>
        <p:spPr>
          <a:xfrm>
            <a:off x="1858754" y="31482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visual for Q2. Make sure to specify plot types, axes, colors, annotations, file names, etc. (vague rules = vague output).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A78F304-7611-F49B-BA73-9AB32B43F2B4}"/>
              </a:ext>
            </a:extLst>
          </p:cNvPr>
          <p:cNvSpPr/>
          <p:nvPr/>
        </p:nvSpPr>
        <p:spPr>
          <a:xfrm>
            <a:off x="1061194" y="45220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E0C45DD-4E91-004F-8AC2-FD08F3186D95}"/>
              </a:ext>
            </a:extLst>
          </p:cNvPr>
          <p:cNvSpPr/>
          <p:nvPr/>
        </p:nvSpPr>
        <p:spPr>
          <a:xfrm>
            <a:off x="1061194" y="45220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F59CB4-FCA9-3402-EE0C-FC5FB33AB3F3}"/>
              </a:ext>
            </a:extLst>
          </p:cNvPr>
          <p:cNvSpPr/>
          <p:nvPr/>
        </p:nvSpPr>
        <p:spPr>
          <a:xfrm>
            <a:off x="1061194" y="55154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AACBDDD-442F-1873-4FDD-C729F63D35B7}"/>
              </a:ext>
            </a:extLst>
          </p:cNvPr>
          <p:cNvSpPr/>
          <p:nvPr/>
        </p:nvSpPr>
        <p:spPr>
          <a:xfrm>
            <a:off x="1061194" y="55154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C65D749-E0B5-9B8C-326E-958AA14C213E}"/>
              </a:ext>
            </a:extLst>
          </p:cNvPr>
          <p:cNvSpPr/>
          <p:nvPr/>
        </p:nvSpPr>
        <p:spPr>
          <a:xfrm>
            <a:off x="1858754" y="54172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(or AI of your choosing)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update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497CAFB-1E6B-462D-18FD-B1B33004E34A}"/>
              </a:ext>
            </a:extLst>
          </p:cNvPr>
          <p:cNvSpPr/>
          <p:nvPr/>
        </p:nvSpPr>
        <p:spPr>
          <a:xfrm>
            <a:off x="800100" y="10996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Q2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CD433B3-FBF1-F83A-7FA4-667204D6965E}"/>
              </a:ext>
            </a:extLst>
          </p:cNvPr>
          <p:cNvSpPr/>
          <p:nvPr/>
        </p:nvSpPr>
        <p:spPr>
          <a:xfrm>
            <a:off x="1858754" y="46287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526226AE-C63F-FF6F-6D64-97C20629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8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0AC6-318D-5E47-8C3E-156D537A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1B3E7D-FE29-055C-B77D-920F87B9F87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9957E3C-EA6E-C4DB-0689-11CF242797C8}"/>
              </a:ext>
            </a:extLst>
          </p:cNvPr>
          <p:cNvSpPr/>
          <p:nvPr/>
        </p:nvSpPr>
        <p:spPr>
          <a:xfrm>
            <a:off x="1061194" y="225633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328FDEB-7AB9-796C-363A-7317A42C9ABD}"/>
              </a:ext>
            </a:extLst>
          </p:cNvPr>
          <p:cNvSpPr/>
          <p:nvPr/>
        </p:nvSpPr>
        <p:spPr>
          <a:xfrm>
            <a:off x="1061194" y="225633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88318B-A90F-7A60-742E-734450C0DFFA}"/>
              </a:ext>
            </a:extLst>
          </p:cNvPr>
          <p:cNvSpPr/>
          <p:nvPr/>
        </p:nvSpPr>
        <p:spPr>
          <a:xfrm>
            <a:off x="1858754" y="2283327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Increase the thickness of the current season plotted line and change the color of the line </a:t>
            </a:r>
            <a:r>
              <a:rPr lang="en-US" sz="220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blue.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13074AE-B03C-A774-D775-7916CDDFF223}"/>
              </a:ext>
            </a:extLst>
          </p:cNvPr>
          <p:cNvSpPr/>
          <p:nvPr/>
        </p:nvSpPr>
        <p:spPr>
          <a:xfrm>
            <a:off x="1061194" y="334066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DD86848-528D-0043-FF8F-B53FB401A5C5}"/>
              </a:ext>
            </a:extLst>
          </p:cNvPr>
          <p:cNvSpPr/>
          <p:nvPr/>
        </p:nvSpPr>
        <p:spPr>
          <a:xfrm>
            <a:off x="1061194" y="334066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0387D29-40D1-5559-C179-3A7D948E5554}"/>
              </a:ext>
            </a:extLst>
          </p:cNvPr>
          <p:cNvSpPr/>
          <p:nvPr/>
        </p:nvSpPr>
        <p:spPr>
          <a:xfrm>
            <a:off x="1858754" y="3043932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Change the non-season plotted lines style. For example, if they are solid lines change it to dashed; if they are dashed, change it to solid.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0914496-37AD-0336-DAB3-8D5C3352855B}"/>
              </a:ext>
            </a:extLst>
          </p:cNvPr>
          <p:cNvSpPr/>
          <p:nvPr/>
        </p:nvSpPr>
        <p:spPr>
          <a:xfrm>
            <a:off x="1061194" y="4417772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FB61508-8AD9-9ABA-F1BD-C2F8CF773D92}"/>
              </a:ext>
            </a:extLst>
          </p:cNvPr>
          <p:cNvSpPr/>
          <p:nvPr/>
        </p:nvSpPr>
        <p:spPr>
          <a:xfrm>
            <a:off x="1061194" y="44177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CB6ED1E-A2E9-3EE0-F010-E3BF50B8D31E}"/>
              </a:ext>
            </a:extLst>
          </p:cNvPr>
          <p:cNvSpPr/>
          <p:nvPr/>
        </p:nvSpPr>
        <p:spPr>
          <a:xfrm>
            <a:off x="1061194" y="561437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2A63863-F0F9-C21D-ECB1-C2B235F8CA94}"/>
              </a:ext>
            </a:extLst>
          </p:cNvPr>
          <p:cNvSpPr/>
          <p:nvPr/>
        </p:nvSpPr>
        <p:spPr>
          <a:xfrm>
            <a:off x="1061194" y="561437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A5034CB-CA57-06A3-85E3-ADEC2DA8CF2D}"/>
              </a:ext>
            </a:extLst>
          </p:cNvPr>
          <p:cNvSpPr/>
          <p:nvPr/>
        </p:nvSpPr>
        <p:spPr>
          <a:xfrm>
            <a:off x="1858754" y="5734486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the resulting rules document (</a:t>
            </a:r>
            <a:r>
              <a:rPr kumimoji="0" lang="en-US" sz="2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Prompt Copilot, or AI of your</a:t>
            </a:r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choosing, 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update the rules document with the new changes)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script and figure to GitHub. The figure should be named </a:t>
            </a:r>
            <a:r>
              <a:rPr kumimoji="0" lang="en-US" sz="2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seasonal_comparison.png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200" b="1" i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1219170"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E10CC6F-141E-6C6E-22DF-BD5135819AB3}"/>
              </a:ext>
            </a:extLst>
          </p:cNvPr>
          <p:cNvSpPr/>
          <p:nvPr/>
        </p:nvSpPr>
        <p:spPr>
          <a:xfrm>
            <a:off x="800100" y="9980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Now,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update your rules to make the following changes to your figure and upload the final outputs to the course GitHub. 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84B7AAC-3246-E57F-4D52-ECA2175CD45D}"/>
              </a:ext>
            </a:extLst>
          </p:cNvPr>
          <p:cNvSpPr/>
          <p:nvPr/>
        </p:nvSpPr>
        <p:spPr>
          <a:xfrm>
            <a:off x="1858754" y="4524452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Ensure that the x-axis label is “Week of Season” and the y-axis to “Weekly Total Influenza Admissions (USA)”.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A46FE5A3-6289-B393-4B21-D789AEE3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59D1031-A433-B9E3-67B6-8CB66991412D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seasonal_comparison.png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D07374-307E-3228-0977-A04FF1F7B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496" y="1219200"/>
            <a:ext cx="8255009" cy="49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27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E5B6-C527-1EED-086D-E458ACE4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1AB1-F18D-CE7F-B5E8-9D0D11F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(Q3):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Peak Analysis (2025-2026)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30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3E49-C9E3-18D5-CECF-BE4431EA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847220B8-B587-B20E-24A3-A22241224680}"/>
              </a:ext>
            </a:extLst>
          </p:cNvPr>
          <p:cNvSpPr/>
          <p:nvPr/>
        </p:nvSpPr>
        <p:spPr>
          <a:xfrm>
            <a:off x="660400" y="5511800"/>
            <a:ext cx="10960100" cy="787400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4D07A91-EC47-1E76-540C-2A52418DC99C}"/>
              </a:ext>
            </a:extLst>
          </p:cNvPr>
          <p:cNvSpPr/>
          <p:nvPr/>
        </p:nvSpPr>
        <p:spPr>
          <a:xfrm>
            <a:off x="660400" y="19304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52D7CC-1369-0569-C306-7B6902271000}"/>
              </a:ext>
            </a:extLst>
          </p:cNvPr>
          <p:cNvSpPr/>
          <p:nvPr/>
        </p:nvSpPr>
        <p:spPr>
          <a:xfrm>
            <a:off x="1396916" y="3407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Q3: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Peak Analysis (2025-2026)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8D515B-215C-2EEA-D00C-B3498C221C5B}"/>
              </a:ext>
            </a:extLst>
          </p:cNvPr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16612-E512-DC80-6259-819650088BD0}"/>
              </a:ext>
            </a:extLst>
          </p:cNvPr>
          <p:cNvSpPr txBox="1"/>
          <p:nvPr/>
        </p:nvSpPr>
        <p:spPr>
          <a:xfrm>
            <a:off x="914400" y="21040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Use the data created in Activity 1 to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answer the following questions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about the current season. Unlike Q1 and Q2,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will write the rules and obtain a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rather than a figure. 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B30DE247-A9D8-9B98-AB2C-5912E970E20A}"/>
              </a:ext>
            </a:extLst>
          </p:cNvPr>
          <p:cNvSpPr/>
          <p:nvPr/>
        </p:nvSpPr>
        <p:spPr>
          <a:xfrm>
            <a:off x="660400" y="3780494"/>
            <a:ext cx="10960100" cy="1439206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2DBE3C-473F-FBF8-0E05-DC22DB1E6003}"/>
              </a:ext>
            </a:extLst>
          </p:cNvPr>
          <p:cNvSpPr txBox="1"/>
          <p:nvPr/>
        </p:nvSpPr>
        <p:spPr>
          <a:xfrm>
            <a:off x="914400" y="4067349"/>
            <a:ext cx="10502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was the peak and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how big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was it?</a:t>
            </a:r>
          </a:p>
          <a:p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did 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decline start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35A8E-D669-12DD-BB15-975569E3DFEF}"/>
              </a:ext>
            </a:extLst>
          </p:cNvPr>
          <p:cNvSpPr txBox="1"/>
          <p:nvPr/>
        </p:nvSpPr>
        <p:spPr>
          <a:xfrm>
            <a:off x="914400" y="5671882"/>
            <a:ext cx="10363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did 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and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0B7C84DB-E504-E3D3-1B46-734B96011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924" y="295687"/>
            <a:ext cx="1289008" cy="12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9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8A9211-8771-917E-CF6C-4087973B5822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File Format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6CB0E7-0BC7-C4A3-7B28-20CA7A3EA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35949"/>
              </p:ext>
            </p:extLst>
          </p:nvPr>
        </p:nvGraphicFramePr>
        <p:xfrm>
          <a:off x="914400" y="1308100"/>
          <a:ext cx="10363200" cy="371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output/data/02_data_explore/peak_description.csv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Columns &amp; Order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Peak_Time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Peak_Intensity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Decline_Start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Season_End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Type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(YYYY-MM-DD):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Peak_Time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Decline_Start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Season_End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Numeric: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Peak_Intensity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665FFAC9-8629-0053-D998-9DFFFCE5937A}"/>
              </a:ext>
            </a:extLst>
          </p:cNvPr>
          <p:cNvSpPr/>
          <p:nvPr/>
        </p:nvSpPr>
        <p:spPr>
          <a:xfrm>
            <a:off x="914400" y="5282398"/>
            <a:ext cx="1036320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GitHub agent will check for these columns and file name upon submission. Please make sure to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explicitly reference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this structure as you develop the rules to answer the peak questions.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4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2B6D-AEF8-50F8-3FD5-0D975967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F705DA-31F9-936D-B690-87B0C692D244}"/>
              </a:ext>
            </a:extLst>
          </p:cNvPr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0640FC-3A2F-A33F-5BE5-104F93FC168F}"/>
              </a:ext>
            </a:extLst>
          </p:cNvPr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B01D92-F9C6-14B3-7583-22AB58B7F1E5}"/>
              </a:ext>
            </a:extLst>
          </p:cNvPr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CA8E76-7934-5FCB-7053-EE718C7A9DA4}"/>
              </a:ext>
            </a:extLst>
          </p:cNvPr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F506AA-2B8D-61F3-DE38-A884DCE8FBF2}"/>
              </a:ext>
            </a:extLst>
          </p:cNvPr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04887C-58B6-4102-D5DD-D7CE6224FC94}"/>
              </a:ext>
            </a:extLst>
          </p:cNvPr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2025–26.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F480694-1A34-31AB-0FB6-614A1741BE58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9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284E6-3CA0-DCF0-620B-A35E6AF1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9ADC9A-A341-554E-EC70-5310C0BD3E34}"/>
              </a:ext>
            </a:extLst>
          </p:cNvPr>
          <p:cNvSpPr txBox="1"/>
          <p:nvPr/>
        </p:nvSpPr>
        <p:spPr>
          <a:xfrm>
            <a:off x="463550" y="537339"/>
            <a:ext cx="112649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Note</a:t>
            </a:r>
          </a:p>
          <a:p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When computing `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season_start_year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for each `week`, use the calendar year of the date 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(`year(week)`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) as the base year passed to the assignment logic — do not use the `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MMWRyear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returned by `</a:t>
            </a:r>
            <a:r>
              <a:rPr lang="en-US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MMWRweek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as the</a:t>
            </a:r>
          </a:p>
          <a:p>
            <a:pPr algn="ctr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base. This avoids mis-attribution when MMWR week numbers span calendar-year boundaries.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C8D1199-6069-4882-19D7-B6F7063F48C0}"/>
              </a:ext>
            </a:extLst>
          </p:cNvPr>
          <p:cNvSpPr/>
          <p:nvPr/>
        </p:nvSpPr>
        <p:spPr>
          <a:xfrm>
            <a:off x="800100" y="53010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 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87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5849-55B8-2075-96B8-C80C31C48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187B17-AB06-C524-0A0C-FAFF1A1A682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42893BF-603D-16FD-2A99-D76283F741F8}"/>
              </a:ext>
            </a:extLst>
          </p:cNvPr>
          <p:cNvSpPr/>
          <p:nvPr/>
        </p:nvSpPr>
        <p:spPr>
          <a:xfrm>
            <a:off x="1061194" y="2614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B1306C9-2A2C-1E78-0B46-5743BF96E30A}"/>
              </a:ext>
            </a:extLst>
          </p:cNvPr>
          <p:cNvSpPr/>
          <p:nvPr/>
        </p:nvSpPr>
        <p:spPr>
          <a:xfrm>
            <a:off x="1061194" y="2614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F6037AE-3976-E8D5-DDAC-665AC35ECBB3}"/>
              </a:ext>
            </a:extLst>
          </p:cNvPr>
          <p:cNvSpPr/>
          <p:nvPr/>
        </p:nvSpPr>
        <p:spPr>
          <a:xfrm>
            <a:off x="1858754" y="2641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Peak Analysis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under the </a:t>
            </a:r>
          </a:p>
          <a:p>
            <a:pPr defTabSz="1219170"/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Season Plot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693CA8F-5464-B621-D726-CFED63B08868}"/>
              </a:ext>
            </a:extLst>
          </p:cNvPr>
          <p:cNvSpPr/>
          <p:nvPr/>
        </p:nvSpPr>
        <p:spPr>
          <a:xfrm>
            <a:off x="1061194" y="36989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8C3D2F1-6247-7CD1-A4AD-A6A8DC28C101}"/>
              </a:ext>
            </a:extLst>
          </p:cNvPr>
          <p:cNvSpPr/>
          <p:nvPr/>
        </p:nvSpPr>
        <p:spPr>
          <a:xfrm>
            <a:off x="1061194" y="36989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DD3259E-9566-9C4E-C5E1-9A78049E802D}"/>
              </a:ext>
            </a:extLst>
          </p:cNvPr>
          <p:cNvSpPr/>
          <p:nvPr/>
        </p:nvSpPr>
        <p:spPr>
          <a:xfrm>
            <a:off x="1858754" y="34530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CSV for Q3. Make sure to include where to call the data from, where to save, column headers and types, definition of a peak, etc.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D6C55FD-FA14-CA8B-6594-012A9E8619E2}"/>
              </a:ext>
            </a:extLst>
          </p:cNvPr>
          <p:cNvSpPr/>
          <p:nvPr/>
        </p:nvSpPr>
        <p:spPr>
          <a:xfrm>
            <a:off x="1061194" y="47760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33DFD9B-8AD1-6CF5-9CBA-56260151DCCA}"/>
              </a:ext>
            </a:extLst>
          </p:cNvPr>
          <p:cNvSpPr/>
          <p:nvPr/>
        </p:nvSpPr>
        <p:spPr>
          <a:xfrm>
            <a:off x="1061194" y="47760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D3E3820-32BC-D67A-265F-B2CC7344B25E}"/>
              </a:ext>
            </a:extLst>
          </p:cNvPr>
          <p:cNvSpPr/>
          <p:nvPr/>
        </p:nvSpPr>
        <p:spPr>
          <a:xfrm>
            <a:off x="1061194" y="57694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78EC8E8-4079-8C05-0CEA-EB6F87DFBE0D}"/>
              </a:ext>
            </a:extLst>
          </p:cNvPr>
          <p:cNvSpPr/>
          <p:nvPr/>
        </p:nvSpPr>
        <p:spPr>
          <a:xfrm>
            <a:off x="1061194" y="57694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0ECE4ED-8FBE-8B8A-1BBE-0433DC10E814}"/>
              </a:ext>
            </a:extLst>
          </p:cNvPr>
          <p:cNvSpPr/>
          <p:nvPr/>
        </p:nvSpPr>
        <p:spPr>
          <a:xfrm>
            <a:off x="1858754" y="56712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(or AI of your choosing)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update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B5B5F8F-147D-7C12-9ECB-A1D4EF826EBF}"/>
              </a:ext>
            </a:extLst>
          </p:cNvPr>
          <p:cNvSpPr/>
          <p:nvPr/>
        </p:nvSpPr>
        <p:spPr>
          <a:xfrm>
            <a:off x="800100" y="1003170"/>
            <a:ext cx="10591800" cy="136858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go through the following steps to add the next section to the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the answers for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Q3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Once you are finished,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your results to GitHub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CB02014-7799-90AE-0C7C-8405493CB06E}"/>
              </a:ext>
            </a:extLst>
          </p:cNvPr>
          <p:cNvSpPr/>
          <p:nvPr/>
        </p:nvSpPr>
        <p:spPr>
          <a:xfrm>
            <a:off x="1858754" y="48827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136230BF-00F6-F6A4-424C-B2E4BA126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209DA11-B375-CAFC-D2A8-7A98652DD1AC}"/>
              </a:ext>
            </a:extLst>
          </p:cNvPr>
          <p:cNvSpPr/>
          <p:nvPr/>
        </p:nvSpPr>
        <p:spPr>
          <a:xfrm>
            <a:off x="914400" y="30022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chemeClr val="accent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Remember, vague rules will result in vague output. Be precise about every detail!</a:t>
            </a:r>
            <a:endParaRPr lang="en-US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72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85A919B-D5AB-0506-6B71-AFCED31AACF3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peak_description.csv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324158-1160-971F-B54B-D4AD3E031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08353"/>
              </p:ext>
            </p:extLst>
          </p:nvPr>
        </p:nvGraphicFramePr>
        <p:xfrm>
          <a:off x="1410970" y="1915160"/>
          <a:ext cx="937006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5030">
                  <a:extLst>
                    <a:ext uri="{9D8B030D-6E8A-4147-A177-3AD203B41FA5}">
                      <a16:colId xmlns:a16="http://schemas.microsoft.com/office/drawing/2014/main" val="859925639"/>
                    </a:ext>
                  </a:extLst>
                </a:gridCol>
                <a:gridCol w="4685030">
                  <a:extLst>
                    <a:ext uri="{9D8B030D-6E8A-4147-A177-3AD203B41FA5}">
                      <a16:colId xmlns:a16="http://schemas.microsoft.com/office/drawing/2014/main" val="3386775927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Variable</a:t>
                      </a:r>
                      <a:endParaRPr lang="en-US" sz="2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Value</a:t>
                      </a:r>
                      <a:endParaRPr lang="en-US" sz="2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08377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Peak_Time</a:t>
                      </a:r>
                      <a:r>
                        <a:rPr lang="en-US" sz="2500" dirty="0"/>
                        <a:t> 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2026-01-03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64725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Peak_Intensity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42,634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12281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Decline_Start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2026-01-10 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03792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Season_Start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2025-09-28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69812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Season_End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2026-05-17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405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78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2548</TotalTime>
  <Words>2819</Words>
  <Application>Microsoft Office PowerPoint</Application>
  <PresentationFormat>Widescreen</PresentationFormat>
  <Paragraphs>261</Paragraphs>
  <Slides>30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Consolas</vt:lpstr>
      <vt:lpstr>Courier New</vt:lpstr>
      <vt:lpstr>Trebuchet MS</vt:lpstr>
      <vt:lpstr>Office Theme</vt:lpstr>
      <vt:lpstr>Activity 02: Data Exploration</vt:lpstr>
      <vt:lpstr>PowerPoint Presentation</vt:lpstr>
      <vt:lpstr>PowerPoint Presentation</vt:lpstr>
      <vt:lpstr>PowerPoint Presentation</vt:lpstr>
      <vt:lpstr>PowerPoint Presentation</vt:lpstr>
      <vt:lpstr>Your Task</vt:lpstr>
      <vt:lpstr>Task 1 (Q1): National Trend over Time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2 (Q2): Season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3 (Q3): Peak Analysis (2025-2026)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Lior Rennert</cp:lastModifiedBy>
  <cp:revision>9</cp:revision>
  <dcterms:created xsi:type="dcterms:W3CDTF">2026-06-30T23:35:53Z</dcterms:created>
  <dcterms:modified xsi:type="dcterms:W3CDTF">2026-07-13T22:29:25Z</dcterms:modified>
</cp:coreProperties>
</file>