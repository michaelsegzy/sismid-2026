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omments/modernComment_1F2_F67B9FBA.xml" ContentType="application/vnd.ms-powerpoint.comments+xml"/>
  <Override PartName="/ppt/notesSlides/notesSlide31.xml" ContentType="application/vnd.openxmlformats-officedocument.presentationml.notesSlide+xml"/>
  <Override PartName="/ppt/comments/modernComment_1EF_1F7F2EF8.xml" ContentType="application/vnd.ms-powerpoint.comment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405" r:id="rId2"/>
    <p:sldId id="425" r:id="rId3"/>
    <p:sldId id="426" r:id="rId4"/>
    <p:sldId id="419" r:id="rId5"/>
    <p:sldId id="555" r:id="rId6"/>
    <p:sldId id="554" r:id="rId7"/>
    <p:sldId id="420" r:id="rId8"/>
    <p:sldId id="458" r:id="rId9"/>
    <p:sldId id="537" r:id="rId10"/>
    <p:sldId id="541" r:id="rId11"/>
    <p:sldId id="542" r:id="rId12"/>
    <p:sldId id="553" r:id="rId13"/>
    <p:sldId id="454" r:id="rId14"/>
    <p:sldId id="450" r:id="rId15"/>
    <p:sldId id="543" r:id="rId16"/>
    <p:sldId id="448" r:id="rId17"/>
    <p:sldId id="288" r:id="rId18"/>
    <p:sldId id="427" r:id="rId19"/>
    <p:sldId id="465" r:id="rId20"/>
    <p:sldId id="433" r:id="rId21"/>
    <p:sldId id="449" r:id="rId22"/>
    <p:sldId id="258" r:id="rId23"/>
    <p:sldId id="474" r:id="rId24"/>
    <p:sldId id="556" r:id="rId25"/>
    <p:sldId id="455" r:id="rId26"/>
    <p:sldId id="467" r:id="rId27"/>
    <p:sldId id="468" r:id="rId28"/>
    <p:sldId id="470" r:id="rId29"/>
    <p:sldId id="479" r:id="rId30"/>
    <p:sldId id="485" r:id="rId31"/>
    <p:sldId id="486" r:id="rId32"/>
    <p:sldId id="480" r:id="rId33"/>
    <p:sldId id="489" r:id="rId34"/>
    <p:sldId id="557" r:id="rId35"/>
    <p:sldId id="487" r:id="rId36"/>
    <p:sldId id="558" r:id="rId37"/>
    <p:sldId id="481" r:id="rId38"/>
    <p:sldId id="482" r:id="rId39"/>
    <p:sldId id="490" r:id="rId40"/>
    <p:sldId id="498" r:id="rId41"/>
    <p:sldId id="495" r:id="rId42"/>
    <p:sldId id="500" r:id="rId43"/>
    <p:sldId id="301" r:id="rId44"/>
    <p:sldId id="501" r:id="rId45"/>
    <p:sldId id="504" r:id="rId46"/>
    <p:sldId id="505" r:id="rId47"/>
    <p:sldId id="507" r:id="rId48"/>
    <p:sldId id="506" r:id="rId49"/>
    <p:sldId id="476" r:id="rId50"/>
    <p:sldId id="512" r:id="rId51"/>
    <p:sldId id="513" r:id="rId52"/>
    <p:sldId id="281" r:id="rId53"/>
    <p:sldId id="440" r:id="rId54"/>
    <p:sldId id="477" r:id="rId55"/>
    <p:sldId id="517" r:id="rId56"/>
    <p:sldId id="530" r:id="rId57"/>
    <p:sldId id="534" r:id="rId58"/>
    <p:sldId id="533" r:id="rId59"/>
    <p:sldId id="536" r:id="rId60"/>
    <p:sldId id="535" r:id="rId61"/>
    <p:sldId id="545" r:id="rId62"/>
    <p:sldId id="546" r:id="rId63"/>
    <p:sldId id="547" r:id="rId64"/>
    <p:sldId id="548" r:id="rId65"/>
    <p:sldId id="550" r:id="rId66"/>
    <p:sldId id="552" r:id="rId67"/>
    <p:sldId id="549"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0629F7-5A47-5B8E-9C4B-3A9098474FDE}" name="Lior Rennert" initials="LR" userId="Lior Rennert"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EC"/>
    <a:srgbClr val="E8F4F8"/>
    <a:srgbClr val="F0ECF8"/>
    <a:srgbClr val="DCEA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69422F-17D9-42FD-AE94-367A6E4D18E7}" v="72" dt="2026-07-14T16:02:06.0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925" autoAdjust="0"/>
  </p:normalViewPr>
  <p:slideViewPr>
    <p:cSldViewPr snapToGrid="0">
      <p:cViewPr varScale="1">
        <p:scale>
          <a:sx n="60" d="100"/>
          <a:sy n="60" d="100"/>
        </p:scale>
        <p:origin x="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8/10/relationships/authors" Target="authors.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or Rennert" userId="3892681948_tp_box_2" providerId="OAuth2" clId="{DBC9C590-A9C5-4303-BC05-B23A2856A570}"/>
    <pc:docChg chg="custSel addSld delSld modSld">
      <pc:chgData name="Lior Rennert" userId="3892681948_tp_box_2" providerId="OAuth2" clId="{DBC9C590-A9C5-4303-BC05-B23A2856A570}" dt="2026-07-14T16:05:55.416" v="1288" actId="20577"/>
      <pc:docMkLst>
        <pc:docMk/>
      </pc:docMkLst>
      <pc:sldChg chg="modSp">
        <pc:chgData name="Lior Rennert" userId="3892681948_tp_box_2" providerId="OAuth2" clId="{DBC9C590-A9C5-4303-BC05-B23A2856A570}" dt="2026-07-14T16:01:24.173" v="931" actId="20577"/>
        <pc:sldMkLst>
          <pc:docMk/>
          <pc:sldMk cId="69104533" sldId="481"/>
        </pc:sldMkLst>
        <pc:spChg chg="mod">
          <ac:chgData name="Lior Rennert" userId="3892681948_tp_box_2" providerId="OAuth2" clId="{DBC9C590-A9C5-4303-BC05-B23A2856A570}" dt="2026-07-14T16:01:24.173" v="931" actId="20577"/>
          <ac:spMkLst>
            <pc:docMk/>
            <pc:sldMk cId="69104533" sldId="481"/>
            <ac:spMk id="3" creationId="{FF92620D-AA04-2A66-24A0-124FFE481206}"/>
          </ac:spMkLst>
        </pc:spChg>
      </pc:sldChg>
      <pc:sldChg chg="modSp new mod">
        <pc:chgData name="Lior Rennert" userId="3892681948_tp_box_2" providerId="OAuth2" clId="{DBC9C590-A9C5-4303-BC05-B23A2856A570}" dt="2026-07-14T14:18:06.603" v="399" actId="20577"/>
        <pc:sldMkLst>
          <pc:docMk/>
          <pc:sldMk cId="2795519920" sldId="553"/>
        </pc:sldMkLst>
        <pc:spChg chg="mod">
          <ac:chgData name="Lior Rennert" userId="3892681948_tp_box_2" providerId="OAuth2" clId="{DBC9C590-A9C5-4303-BC05-B23A2856A570}" dt="2026-07-14T14:10:27.921" v="12" actId="20577"/>
          <ac:spMkLst>
            <pc:docMk/>
            <pc:sldMk cId="2795519920" sldId="553"/>
            <ac:spMk id="2" creationId="{A36CE469-9D96-6D0B-67A6-793336890692}"/>
          </ac:spMkLst>
        </pc:spChg>
        <pc:spChg chg="mod">
          <ac:chgData name="Lior Rennert" userId="3892681948_tp_box_2" providerId="OAuth2" clId="{DBC9C590-A9C5-4303-BC05-B23A2856A570}" dt="2026-07-14T14:18:06.603" v="399" actId="20577"/>
          <ac:spMkLst>
            <pc:docMk/>
            <pc:sldMk cId="2795519920" sldId="553"/>
            <ac:spMk id="3" creationId="{656C2C3B-594F-ED81-EC70-E841A591A62E}"/>
          </ac:spMkLst>
        </pc:spChg>
      </pc:sldChg>
      <pc:sldChg chg="addSp modSp new mod">
        <pc:chgData name="Lior Rennert" userId="3892681948_tp_box_2" providerId="OAuth2" clId="{DBC9C590-A9C5-4303-BC05-B23A2856A570}" dt="2026-07-14T14:32:51.437" v="408" actId="20577"/>
        <pc:sldMkLst>
          <pc:docMk/>
          <pc:sldMk cId="787045581" sldId="554"/>
        </pc:sldMkLst>
        <pc:spChg chg="add mod">
          <ac:chgData name="Lior Rennert" userId="3892681948_tp_box_2" providerId="OAuth2" clId="{DBC9C590-A9C5-4303-BC05-B23A2856A570}" dt="2026-07-14T14:32:51.437" v="408" actId="20577"/>
          <ac:spMkLst>
            <pc:docMk/>
            <pc:sldMk cId="787045581" sldId="554"/>
            <ac:spMk id="2" creationId="{387B46F9-1738-6F4B-5119-29AFE84AFF8D}"/>
          </ac:spMkLst>
        </pc:spChg>
      </pc:sldChg>
      <pc:sldChg chg="new del">
        <pc:chgData name="Lior Rennert" userId="3892681948_tp_box_2" providerId="OAuth2" clId="{DBC9C590-A9C5-4303-BC05-B23A2856A570}" dt="2026-07-14T14:11:33.331" v="219" actId="47"/>
        <pc:sldMkLst>
          <pc:docMk/>
          <pc:sldMk cId="3527199661" sldId="554"/>
        </pc:sldMkLst>
      </pc:sldChg>
      <pc:sldChg chg="addSp modSp new mod">
        <pc:chgData name="Lior Rennert" userId="3892681948_tp_box_2" providerId="OAuth2" clId="{DBC9C590-A9C5-4303-BC05-B23A2856A570}" dt="2026-07-14T14:33:18.974" v="520" actId="20577"/>
        <pc:sldMkLst>
          <pc:docMk/>
          <pc:sldMk cId="938676809" sldId="555"/>
        </pc:sldMkLst>
        <pc:spChg chg="add mod">
          <ac:chgData name="Lior Rennert" userId="3892681948_tp_box_2" providerId="OAuth2" clId="{DBC9C590-A9C5-4303-BC05-B23A2856A570}" dt="2026-07-14T14:33:18.974" v="520" actId="20577"/>
          <ac:spMkLst>
            <pc:docMk/>
            <pc:sldMk cId="938676809" sldId="555"/>
            <ac:spMk id="3" creationId="{4386D3BB-777E-7487-CABB-02B71B826E6D}"/>
          </ac:spMkLst>
        </pc:spChg>
      </pc:sldChg>
      <pc:sldChg chg="modSp new mod">
        <pc:chgData name="Lior Rennert" userId="3892681948_tp_box_2" providerId="OAuth2" clId="{DBC9C590-A9C5-4303-BC05-B23A2856A570}" dt="2026-07-14T15:46:49.479" v="628" actId="20577"/>
        <pc:sldMkLst>
          <pc:docMk/>
          <pc:sldMk cId="4123797473" sldId="556"/>
        </pc:sldMkLst>
        <pc:spChg chg="mod">
          <ac:chgData name="Lior Rennert" userId="3892681948_tp_box_2" providerId="OAuth2" clId="{DBC9C590-A9C5-4303-BC05-B23A2856A570}" dt="2026-07-14T15:46:49.479" v="628" actId="20577"/>
          <ac:spMkLst>
            <pc:docMk/>
            <pc:sldMk cId="4123797473" sldId="556"/>
            <ac:spMk id="3" creationId="{3D8FF611-8D64-5D72-4FFF-FBB3E5E7EA91}"/>
          </ac:spMkLst>
        </pc:spChg>
      </pc:sldChg>
      <pc:sldChg chg="modSp new mod">
        <pc:chgData name="Lior Rennert" userId="3892681948_tp_box_2" providerId="OAuth2" clId="{DBC9C590-A9C5-4303-BC05-B23A2856A570}" dt="2026-07-14T15:59:00.930" v="861" actId="20577"/>
        <pc:sldMkLst>
          <pc:docMk/>
          <pc:sldMk cId="306684089" sldId="557"/>
        </pc:sldMkLst>
        <pc:spChg chg="mod">
          <ac:chgData name="Lior Rennert" userId="3892681948_tp_box_2" providerId="OAuth2" clId="{DBC9C590-A9C5-4303-BC05-B23A2856A570}" dt="2026-07-14T15:58:20.016" v="689" actId="20577"/>
          <ac:spMkLst>
            <pc:docMk/>
            <pc:sldMk cId="306684089" sldId="557"/>
            <ac:spMk id="2" creationId="{3AE72913-9823-9253-0913-CAC5CDA54E1F}"/>
          </ac:spMkLst>
        </pc:spChg>
        <pc:spChg chg="mod">
          <ac:chgData name="Lior Rennert" userId="3892681948_tp_box_2" providerId="OAuth2" clId="{DBC9C590-A9C5-4303-BC05-B23A2856A570}" dt="2026-07-14T15:59:00.930" v="861" actId="20577"/>
          <ac:spMkLst>
            <pc:docMk/>
            <pc:sldMk cId="306684089" sldId="557"/>
            <ac:spMk id="3" creationId="{DC9CB599-BB7B-28E3-317E-E198D4D6764F}"/>
          </ac:spMkLst>
        </pc:spChg>
      </pc:sldChg>
      <pc:sldChg chg="new del">
        <pc:chgData name="Lior Rennert" userId="3892681948_tp_box_2" providerId="OAuth2" clId="{DBC9C590-A9C5-4303-BC05-B23A2856A570}" dt="2026-07-14T16:01:59.660" v="933" actId="2696"/>
        <pc:sldMkLst>
          <pc:docMk/>
          <pc:sldMk cId="2268232947" sldId="558"/>
        </pc:sldMkLst>
      </pc:sldChg>
      <pc:sldChg chg="modSp add mod">
        <pc:chgData name="Lior Rennert" userId="3892681948_tp_box_2" providerId="OAuth2" clId="{DBC9C590-A9C5-4303-BC05-B23A2856A570}" dt="2026-07-14T16:05:55.416" v="1288" actId="20577"/>
        <pc:sldMkLst>
          <pc:docMk/>
          <pc:sldMk cId="3873052933" sldId="558"/>
        </pc:sldMkLst>
        <pc:spChg chg="mod">
          <ac:chgData name="Lior Rennert" userId="3892681948_tp_box_2" providerId="OAuth2" clId="{DBC9C590-A9C5-4303-BC05-B23A2856A570}" dt="2026-07-14T16:02:12.412" v="971" actId="20577"/>
          <ac:spMkLst>
            <pc:docMk/>
            <pc:sldMk cId="3873052933" sldId="558"/>
            <ac:spMk id="2" creationId="{3B33A6A6-66DC-44B7-52C7-01B49A9049B0}"/>
          </ac:spMkLst>
        </pc:spChg>
        <pc:spChg chg="mod">
          <ac:chgData name="Lior Rennert" userId="3892681948_tp_box_2" providerId="OAuth2" clId="{DBC9C590-A9C5-4303-BC05-B23A2856A570}" dt="2026-07-14T16:05:55.416" v="1288" actId="20577"/>
          <ac:spMkLst>
            <pc:docMk/>
            <pc:sldMk cId="3873052933" sldId="558"/>
            <ac:spMk id="3" creationId="{E2F24AB5-9F5C-BB3A-D592-705A38D043DC}"/>
          </ac:spMkLst>
        </pc:spChg>
      </pc:sldChg>
    </pc:docChg>
  </pc:docChgLst>
</pc:chgInfo>
</file>

<file path=ppt/comments/modernComment_1EF_1F7F2EF8.xml><?xml version="1.0" encoding="utf-8"?>
<p188:cmLst xmlns:a="http://schemas.openxmlformats.org/drawingml/2006/main" xmlns:r="http://schemas.openxmlformats.org/officeDocument/2006/relationships" xmlns:p188="http://schemas.microsoft.com/office/powerpoint/2018/8/main">
  <p188:cm id="{E0019B68-34FE-45B5-8210-99E95BD4BC70}" authorId="{A20629F7-5A47-5B8E-9C4B-3A9098474FDE}" created="2026-07-14T16:07:08.916">
    <ac:txMkLst xmlns:ac="http://schemas.microsoft.com/office/drawing/2013/main/command">
      <pc:docMk xmlns:pc="http://schemas.microsoft.com/office/powerpoint/2013/main/command"/>
      <pc:sldMk xmlns:pc="http://schemas.microsoft.com/office/powerpoint/2013/main/command" cId="528428792" sldId="495"/>
      <ac:spMk id="8" creationId="{8720B151-5CEA-5F47-302B-7F3431548D8C}"/>
      <ac:txMk cp="0" len="45">
        <ac:context len="275" hash="2968167772"/>
      </ac:txMk>
    </ac:txMkLst>
    <p188:pos x="5573404" y="214898"/>
    <p188:txBody>
      <a:bodyPr/>
      <a:lstStyle/>
      <a:p>
        <a:r>
          <a:rPr lang="en-US"/>
          <a:t>What information? Aren’t you just handing over the code? Doesn’t that defeat the purpose of vs code generating it?</a:t>
        </a:r>
      </a:p>
    </p188:txBody>
  </p188:cm>
</p188:cmLst>
</file>

<file path=ppt/comments/modernComment_1F2_F67B9FBA.xml><?xml version="1.0" encoding="utf-8"?>
<p188:cmLst xmlns:a="http://schemas.openxmlformats.org/drawingml/2006/main" xmlns:r="http://schemas.openxmlformats.org/officeDocument/2006/relationships" xmlns:p188="http://schemas.microsoft.com/office/powerpoint/2018/8/main">
  <p188:cm id="{BA09B890-79A8-49C8-87D1-14E387296F3C}" authorId="{A20629F7-5A47-5B8E-9C4B-3A9098474FDE}" created="2026-07-14T16:04:02.381">
    <ac:txMkLst xmlns:ac="http://schemas.microsoft.com/office/drawing/2013/main/command">
      <pc:docMk xmlns:pc="http://schemas.microsoft.com/office/powerpoint/2013/main/command"/>
      <pc:sldMk xmlns:pc="http://schemas.microsoft.com/office/powerpoint/2013/main/command" cId="4135296954" sldId="498"/>
      <ac:spMk id="15" creationId="{E398AF0A-C99D-6FB0-E01B-64FB3BA6F465}"/>
      <ac:txMk cp="17" len="27">
        <ac:context len="136" hash="1018425044"/>
      </ac:txMk>
    </ac:txMkLst>
    <p188:pos x="5958690" y="298469"/>
    <p188:replyLst>
      <p188:reply id="{E430FA2E-1C62-4DF4-B813-6F7BECF295E2}" authorId="{A20629F7-5A47-5B8E-9C4B-3A9098474FDE}" created="2026-07-14T16:04:16.863">
        <p188:txBody>
          <a:bodyPr/>
          <a:lstStyle/>
          <a:p>
            <a:r>
              <a:rPr lang="en-US"/>
              <a:t>.025 is obviously less than .5 and .975.</a:t>
            </a:r>
          </a:p>
        </p188:txBody>
      </p188:reply>
    </p188:replyLst>
    <p188:txBody>
      <a:bodyPr/>
      <a:lstStyle/>
      <a:p>
        <a:r>
          <a:rPr lang="en-US"/>
          <a:t>Quantiles?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22984-EFDE-4153-A917-6AF90D5995E8}"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FB17BE-BED3-4AB9-8286-10A56C371049}" type="slidenum">
              <a:rPr lang="en-US" smtClean="0"/>
              <a:t>‹#›</a:t>
            </a:fld>
            <a:endParaRPr lang="en-US"/>
          </a:p>
        </p:txBody>
      </p:sp>
    </p:spTree>
    <p:extLst>
      <p:ext uri="{BB962C8B-B14F-4D97-AF65-F5344CB8AC3E}">
        <p14:creationId xmlns:p14="http://schemas.microsoft.com/office/powerpoint/2010/main" val="4131094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7</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66DAB-09CD-204F-9BD5-CF9C2132C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47A4B-2330-76DE-76EE-F58F694F2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C8372-542B-D1E9-2107-990FD6772B70}"/>
              </a:ext>
            </a:extLst>
          </p:cNvPr>
          <p:cNvSpPr>
            <a:spLocks noGrp="1"/>
          </p:cNvSpPr>
          <p:nvPr>
            <p:ph type="body" idx="1"/>
          </p:nvPr>
        </p:nvSpPr>
        <p:spPr/>
        <p:txBody>
          <a:bodyPr/>
          <a:lstStyle/>
          <a:p>
            <a:r>
              <a:rPr lang="en-US"/>
              <a:t>We Provide </a:t>
            </a:r>
          </a:p>
        </p:txBody>
      </p:sp>
      <p:sp>
        <p:nvSpPr>
          <p:cNvPr id="4" name="Slide Number Placeholder 3">
            <a:extLst>
              <a:ext uri="{FF2B5EF4-FFF2-40B4-BE49-F238E27FC236}">
                <a16:creationId xmlns:a16="http://schemas.microsoft.com/office/drawing/2014/main" id="{1034AEDD-45DF-40B4-69C4-49FA724B31B3}"/>
              </a:ext>
            </a:extLst>
          </p:cNvPr>
          <p:cNvSpPr>
            <a:spLocks noGrp="1"/>
          </p:cNvSpPr>
          <p:nvPr>
            <p:ph type="sldNum" sz="quarter" idx="5"/>
          </p:nvPr>
        </p:nvSpPr>
        <p:spPr/>
        <p:txBody>
          <a:bodyPr/>
          <a:lstStyle/>
          <a:p>
            <a:fld id="{D0E60299-BECB-47F9-950E-D077161DE286}" type="slidenum">
              <a:rPr lang="en-US" smtClean="0"/>
              <a:t>8</a:t>
            </a:fld>
            <a:endParaRPr lang="en-US"/>
          </a:p>
        </p:txBody>
      </p:sp>
    </p:spTree>
    <p:extLst>
      <p:ext uri="{BB962C8B-B14F-4D97-AF65-F5344CB8AC3E}">
        <p14:creationId xmlns:p14="http://schemas.microsoft.com/office/powerpoint/2010/main" val="1654351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9</a:t>
            </a:fld>
            <a:endParaRPr lang="en-US"/>
          </a:p>
        </p:txBody>
      </p:sp>
    </p:spTree>
    <p:extLst>
      <p:ext uri="{BB962C8B-B14F-4D97-AF65-F5344CB8AC3E}">
        <p14:creationId xmlns:p14="http://schemas.microsoft.com/office/powerpoint/2010/main" val="2502024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8A2D7-9737-4252-22CC-F35F23CBE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4CF43-677D-642E-806A-1D57380BC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95D95-F2ED-1B57-2FF3-5EA8E9BD33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F8E53D-02A1-D9EF-E308-8E51FD3A95C2}"/>
              </a:ext>
            </a:extLst>
          </p:cNvPr>
          <p:cNvSpPr>
            <a:spLocks noGrp="1"/>
          </p:cNvSpPr>
          <p:nvPr>
            <p:ph type="sldNum" sz="quarter" idx="5"/>
          </p:nvPr>
        </p:nvSpPr>
        <p:spPr/>
        <p:txBody>
          <a:bodyPr/>
          <a:lstStyle/>
          <a:p>
            <a:fld id="{7AFB17BE-BED3-4AB9-8286-10A56C371049}" type="slidenum">
              <a:rPr lang="en-US" smtClean="0"/>
              <a:t>10</a:t>
            </a:fld>
            <a:endParaRPr lang="en-US"/>
          </a:p>
        </p:txBody>
      </p:sp>
    </p:spTree>
    <p:extLst>
      <p:ext uri="{BB962C8B-B14F-4D97-AF65-F5344CB8AC3E}">
        <p14:creationId xmlns:p14="http://schemas.microsoft.com/office/powerpoint/2010/main" val="2269262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95B8-2911-7D1D-1CEE-C7C38AD0E6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0534D-4657-2F41-4A12-9A76E96B93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3872E-A40B-A027-A45E-5587AE61634C}"/>
              </a:ext>
            </a:extLst>
          </p:cNvPr>
          <p:cNvSpPr>
            <a:spLocks noGrp="1"/>
          </p:cNvSpPr>
          <p:nvPr>
            <p:ph type="body" idx="1"/>
          </p:nvPr>
        </p:nvSpPr>
        <p:spPr/>
        <p:txBody>
          <a:bodyPr/>
          <a:lstStyle/>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 CDC. (2025, December 2). </a:t>
            </a:r>
            <a:r>
              <a:rPr lang="en-US" sz="1200" i="1" kern="1200">
                <a:solidFill>
                  <a:schemeClr val="tx1"/>
                </a:solidFill>
                <a:effectLst/>
                <a:latin typeface="+mn-lt"/>
                <a:ea typeface="+mn-ea"/>
                <a:cs typeface="+mn-cs"/>
              </a:rPr>
              <a:t>U.S. Influenza Surveillance: Purpose and Methods</a:t>
            </a:r>
            <a:r>
              <a:rPr lang="en-US" sz="1200" kern="1200">
                <a:solidFill>
                  <a:schemeClr val="tx1"/>
                </a:solidFill>
                <a:effectLst/>
                <a:latin typeface="+mn-lt"/>
                <a:ea typeface="+mn-ea"/>
                <a:cs typeface="+mn-cs"/>
              </a:rPr>
              <a:t>. </a:t>
            </a:r>
            <a:r>
              <a:rPr lang="en-US" sz="1200" kern="1200" err="1">
                <a:solidFill>
                  <a:schemeClr val="tx1"/>
                </a:solidFill>
                <a:effectLst/>
                <a:latin typeface="+mn-lt"/>
                <a:ea typeface="+mn-ea"/>
                <a:cs typeface="+mn-cs"/>
              </a:rPr>
              <a:t>FluView</a:t>
            </a:r>
            <a:r>
              <a:rPr lang="en-US" sz="1200" kern="1200">
                <a:solidFill>
                  <a:schemeClr val="tx1"/>
                </a:solidFill>
                <a:effectLst/>
                <a:latin typeface="+mn-lt"/>
                <a:ea typeface="+mn-ea"/>
                <a:cs typeface="+mn-cs"/>
              </a:rPr>
              <a:t>. https://www.cdc.gov/fluview/overview/index.html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 - Current Season: `2025-26`</a:t>
            </a:r>
          </a:p>
          <a:p>
            <a:r>
              <a:rPr lang="en-US" sz="1200" b="0" kern="1200">
                <a:solidFill>
                  <a:schemeClr val="tx1"/>
                </a:solidFill>
                <a:effectLst/>
                <a:latin typeface="+mn-lt"/>
                <a:ea typeface="+mn-ea"/>
                <a:cs typeface="+mn-cs"/>
              </a:rPr>
              <a:t> - Season Start: first calendar date in the first year with </a:t>
            </a:r>
            <a:r>
              <a:rPr lang="en-US" sz="1200" b="0" kern="1200" err="1">
                <a:solidFill>
                  <a:schemeClr val="tx1"/>
                </a:solidFill>
                <a:effectLst/>
                <a:latin typeface="+mn-lt"/>
                <a:ea typeface="+mn-ea"/>
                <a:cs typeface="+mn-cs"/>
              </a:rPr>
              <a:t>epiweek</a:t>
            </a:r>
            <a:r>
              <a:rPr lang="en-US" sz="1200" b="0" kern="1200">
                <a:solidFill>
                  <a:schemeClr val="tx1"/>
                </a:solidFill>
                <a:effectLst/>
                <a:latin typeface="+mn-lt"/>
                <a:ea typeface="+mn-ea"/>
                <a:cs typeface="+mn-cs"/>
              </a:rPr>
              <a:t> == 40. This is a fixed calendar week and should be the same every season. Please account for any leap years in this determination as well.</a:t>
            </a:r>
          </a:p>
          <a:p>
            <a:r>
              <a:rPr lang="en-US" sz="1200" b="0" kern="1200">
                <a:solidFill>
                  <a:schemeClr val="tx1"/>
                </a:solidFill>
                <a:effectLst/>
                <a:latin typeface="+mn-lt"/>
                <a:ea typeface="+mn-ea"/>
                <a:cs typeface="+mn-cs"/>
              </a:rPr>
              <a:t> - Season End: earliest calendar date in the second year with </a:t>
            </a:r>
            <a:r>
              <a:rPr lang="en-US" sz="1200" b="0" kern="1200" err="1">
                <a:solidFill>
                  <a:schemeClr val="tx1"/>
                </a:solidFill>
                <a:effectLst/>
                <a:latin typeface="+mn-lt"/>
                <a:ea typeface="+mn-ea"/>
                <a:cs typeface="+mn-cs"/>
              </a:rPr>
              <a:t>epiweek</a:t>
            </a:r>
            <a:r>
              <a:rPr lang="en-US" sz="1200" b="0" kern="1200">
                <a:solidFill>
                  <a:schemeClr val="tx1"/>
                </a:solidFill>
                <a:effectLst/>
                <a:latin typeface="+mn-lt"/>
                <a:ea typeface="+mn-ea"/>
                <a:cs typeface="+mn-cs"/>
              </a:rPr>
              <a:t> == 20.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endParaRPr lang="en-US"/>
          </a:p>
        </p:txBody>
      </p:sp>
      <p:sp>
        <p:nvSpPr>
          <p:cNvPr id="4" name="Slide Number Placeholder 3">
            <a:extLst>
              <a:ext uri="{FF2B5EF4-FFF2-40B4-BE49-F238E27FC236}">
                <a16:creationId xmlns:a16="http://schemas.microsoft.com/office/drawing/2014/main" id="{39874504-EBC5-954D-CB5C-9B82415184B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19335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26C20-6FA0-D56A-88EC-5D0077737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8E68A-9A41-CDF6-C149-D35FB51A0A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0C49B8-67B2-1780-328E-2233F969A1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480CB9-5CBB-F4A3-ACAA-F722BF83F954}"/>
              </a:ext>
            </a:extLst>
          </p:cNvPr>
          <p:cNvSpPr>
            <a:spLocks noGrp="1"/>
          </p:cNvSpPr>
          <p:nvPr>
            <p:ph type="sldNum" sz="quarter" idx="5"/>
          </p:nvPr>
        </p:nvSpPr>
        <p:spPr/>
        <p:txBody>
          <a:bodyPr/>
          <a:lstStyle/>
          <a:p>
            <a:fld id="{D0E60299-BECB-47F9-950E-D077161DE286}" type="slidenum">
              <a:rPr lang="en-US" smtClean="0"/>
              <a:t>14</a:t>
            </a:fld>
            <a:endParaRPr lang="en-US"/>
          </a:p>
        </p:txBody>
      </p:sp>
    </p:spTree>
    <p:extLst>
      <p:ext uri="{BB962C8B-B14F-4D97-AF65-F5344CB8AC3E}">
        <p14:creationId xmlns:p14="http://schemas.microsoft.com/office/powerpoint/2010/main" val="2346703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05646-91BD-04C7-A6A0-D16DF5A4F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0E91E-B740-718C-3981-AA7FF67D7C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46760-634A-2FDE-4557-13D4CCB1C4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183157-D4EE-E565-23B8-4438988490EA}"/>
              </a:ext>
            </a:extLst>
          </p:cNvPr>
          <p:cNvSpPr>
            <a:spLocks noGrp="1"/>
          </p:cNvSpPr>
          <p:nvPr>
            <p:ph type="sldNum" sz="quarter" idx="5"/>
          </p:nvPr>
        </p:nvSpPr>
        <p:spPr/>
        <p:txBody>
          <a:bodyPr/>
          <a:lstStyle/>
          <a:p>
            <a:fld id="{D0E60299-BECB-47F9-950E-D077161DE286}" type="slidenum">
              <a:rPr lang="en-US" smtClean="0"/>
              <a:t>15</a:t>
            </a:fld>
            <a:endParaRPr lang="en-US"/>
          </a:p>
        </p:txBody>
      </p:sp>
    </p:spTree>
    <p:extLst>
      <p:ext uri="{BB962C8B-B14F-4D97-AF65-F5344CB8AC3E}">
        <p14:creationId xmlns:p14="http://schemas.microsoft.com/office/powerpoint/2010/main" val="1536785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0E60299-BECB-47F9-950E-D077161DE286}" type="slidenum">
              <a:rPr lang="en-US" smtClean="0"/>
              <a:t>16</a:t>
            </a:fld>
            <a:endParaRPr lang="en-US"/>
          </a:p>
        </p:txBody>
      </p:sp>
    </p:spTree>
    <p:extLst>
      <p:ext uri="{BB962C8B-B14F-4D97-AF65-F5344CB8AC3E}">
        <p14:creationId xmlns:p14="http://schemas.microsoft.com/office/powerpoint/2010/main" val="79232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n-ea"/>
                <a:cs typeface="+mn-cs"/>
              </a:rPr>
              <a:t>## 3. Training and Testing Periods</a:t>
            </a:r>
            <a:endParaRPr lang="en-US" sz="1200" b="0" kern="1200">
              <a:solidFill>
                <a:schemeClr val="tx1"/>
              </a:solidFill>
              <a:effectLst/>
              <a:latin typeface="+mn-lt"/>
              <a:ea typeface="+mn-ea"/>
              <a:cs typeface="+mn-cs"/>
            </a:endParaRP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 `Training Period`: all observed weeks strictly before the first week of the testing period present in the data. Use these rows as the fixed initial training set; subsequent forecasts use an expanding window that adds earlier test-season weeks as they become observed.</a:t>
            </a:r>
          </a:p>
          <a:p>
            <a:r>
              <a:rPr lang="en-US" sz="1200" b="0" kern="1200">
                <a:solidFill>
                  <a:schemeClr val="tx1"/>
                </a:solidFill>
                <a:effectLst/>
                <a:latin typeface="+mn-lt"/>
                <a:ea typeface="+mn-ea"/>
                <a:cs typeface="+mn-cs"/>
              </a:rPr>
              <a:t>- `Testing Period`: the `2025-26` season only.</a:t>
            </a:r>
          </a:p>
          <a:p>
            <a:r>
              <a:rPr lang="en-US" sz="1200" b="0" kern="1200">
                <a:solidFill>
                  <a:schemeClr val="tx1"/>
                </a:solidFill>
                <a:effectLst/>
                <a:latin typeface="+mn-lt"/>
                <a:ea typeface="+mn-ea"/>
                <a:cs typeface="+mn-cs"/>
              </a:rPr>
              <a:t>- `Forecast Horizon`: 1 week ahead only (`horizon = 1`). Do not forecast any other horizon.</a:t>
            </a:r>
          </a:p>
          <a:p>
            <a:r>
              <a:rPr lang="en-US" sz="1200" b="1" kern="1200">
                <a:solidFill>
                  <a:schemeClr val="tx1"/>
                </a:solidFill>
                <a:effectLst/>
                <a:latin typeface="+mn-lt"/>
                <a:ea typeface="+mn-ea"/>
                <a:cs typeface="+mn-cs"/>
              </a:rPr>
              <a:t>**`STRICT RULE`:**</a:t>
            </a:r>
            <a:r>
              <a:rPr lang="en-US" sz="1200" b="0" kern="1200">
                <a:solidFill>
                  <a:schemeClr val="tx1"/>
                </a:solidFill>
                <a:effectLst/>
                <a:latin typeface="+mn-lt"/>
                <a:ea typeface="+mn-ea"/>
                <a:cs typeface="+mn-cs"/>
              </a:rPr>
              <a:t> Forecasts are produced with an </a:t>
            </a:r>
            <a:r>
              <a:rPr lang="en-US" sz="1200" b="1" kern="1200">
                <a:solidFill>
                  <a:schemeClr val="tx1"/>
                </a:solidFill>
                <a:effectLst/>
                <a:latin typeface="+mn-lt"/>
                <a:ea typeface="+mn-ea"/>
                <a:cs typeface="+mn-cs"/>
              </a:rPr>
              <a:t>**expanding window**</a:t>
            </a:r>
            <a:r>
              <a:rPr lang="en-US" sz="1200" b="0" kern="1200">
                <a:solidFill>
                  <a:schemeClr val="tx1"/>
                </a:solidFill>
                <a:effectLst/>
                <a:latin typeface="+mn-lt"/>
                <a:ea typeface="+mn-ea"/>
                <a:cs typeface="+mn-cs"/>
              </a:rPr>
              <a:t>. For each</a:t>
            </a:r>
          </a:p>
          <a:p>
            <a:r>
              <a:rPr lang="en-US" sz="1200" b="0" kern="1200">
                <a:solidFill>
                  <a:schemeClr val="tx1"/>
                </a:solidFill>
                <a:effectLst/>
                <a:latin typeface="+mn-lt"/>
                <a:ea typeface="+mn-ea"/>
                <a:cs typeface="+mn-cs"/>
              </a:rPr>
              <a:t>target week in the testing period, the model is refit on all observed weeks that</a:t>
            </a:r>
          </a:p>
          <a:p>
            <a:r>
              <a:rPr lang="en-US" sz="1200" b="0" kern="1200">
                <a:solidFill>
                  <a:schemeClr val="tx1"/>
                </a:solidFill>
                <a:effectLst/>
                <a:latin typeface="+mn-lt"/>
                <a:ea typeface="+mn-ea"/>
                <a:cs typeface="+mn-cs"/>
              </a:rPr>
              <a:t>fall strictly before that target week. The initial training data is the set of</a:t>
            </a:r>
          </a:p>
          <a:p>
            <a:r>
              <a:rPr lang="en-US" sz="1200" b="0" kern="1200">
                <a:solidFill>
                  <a:schemeClr val="tx1"/>
                </a:solidFill>
                <a:effectLst/>
                <a:latin typeface="+mn-lt"/>
                <a:ea typeface="+mn-ea"/>
                <a:cs typeface="+mn-cs"/>
              </a:rPr>
              <a:t>weeks strictly before the first testing-week present in the data; as each test</a:t>
            </a:r>
          </a:p>
          <a:p>
            <a:r>
              <a:rPr lang="en-US" sz="1200" b="0" kern="1200">
                <a:solidFill>
                  <a:schemeClr val="tx1"/>
                </a:solidFill>
                <a:effectLst/>
                <a:latin typeface="+mn-lt"/>
                <a:ea typeface="+mn-ea"/>
                <a:cs typeface="+mn-cs"/>
              </a:rPr>
              <a:t>week becomes observed it is added to the fitting window for subsequent targets.</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**`STRICT RULE`:**</a:t>
            </a:r>
            <a:r>
              <a:rPr lang="en-US" sz="1200" b="0" kern="1200">
                <a:solidFill>
                  <a:schemeClr val="tx1"/>
                </a:solidFill>
                <a:effectLst/>
                <a:latin typeface="+mn-lt"/>
                <a:ea typeface="+mn-ea"/>
                <a:cs typeface="+mn-cs"/>
              </a:rPr>
              <a:t> Only produce a forecast for a target week that is actually</a:t>
            </a:r>
          </a:p>
          <a:p>
            <a:r>
              <a:rPr lang="en-US" sz="1200" b="0" kern="1200">
                <a:solidFill>
                  <a:schemeClr val="tx1"/>
                </a:solidFill>
                <a:effectLst/>
                <a:latin typeface="+mn-lt"/>
                <a:ea typeface="+mn-ea"/>
                <a:cs typeface="+mn-cs"/>
              </a:rPr>
              <a:t>present in the input data (so each forecast has an observed value to compare</a:t>
            </a:r>
          </a:p>
          <a:p>
            <a:r>
              <a:rPr lang="en-US" sz="1200" b="0" kern="1200">
                <a:solidFill>
                  <a:schemeClr val="tx1"/>
                </a:solidFill>
                <a:effectLst/>
                <a:latin typeface="+mn-lt"/>
                <a:ea typeface="+mn-ea"/>
                <a:cs typeface="+mn-cs"/>
              </a:rPr>
              <a:t>against).</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**Validations:**</a:t>
            </a:r>
            <a:r>
              <a:rPr lang="en-US" sz="1200" b="0" kern="1200">
                <a:solidFill>
                  <a:schemeClr val="tx1"/>
                </a:solidFill>
                <a:effectLst/>
                <a:latin typeface="+mn-lt"/>
                <a:ea typeface="+mn-ea"/>
                <a:cs typeface="+mn-cs"/>
              </a:rPr>
              <a:t> Print the `Training Period` start date, and rolling window end dates. </a:t>
            </a:r>
          </a:p>
          <a:p>
            <a:r>
              <a:rPr lang="en-US" sz="1200" b="1" kern="1200">
                <a:solidFill>
                  <a:schemeClr val="tx1"/>
                </a:solidFill>
                <a:effectLst/>
                <a:latin typeface="+mn-lt"/>
                <a:ea typeface="+mn-ea"/>
                <a:cs typeface="+mn-cs"/>
              </a:rPr>
              <a:t>**Validations:**</a:t>
            </a:r>
            <a:r>
              <a:rPr lang="en-US" sz="1200" b="0" kern="1200">
                <a:solidFill>
                  <a:schemeClr val="tx1"/>
                </a:solidFill>
                <a:effectLst/>
                <a:latin typeface="+mn-lt"/>
                <a:ea typeface="+mn-ea"/>
                <a:cs typeface="+mn-cs"/>
              </a:rPr>
              <a:t> Print the `Testing Period` start date, and each forecast date. </a:t>
            </a:r>
          </a:p>
          <a:p>
            <a:r>
              <a:rPr lang="en-US" sz="1200" b="1" kern="1200">
                <a:solidFill>
                  <a:schemeClr val="tx1"/>
                </a:solidFill>
                <a:effectLst/>
                <a:latin typeface="+mn-lt"/>
                <a:ea typeface="+mn-ea"/>
                <a:cs typeface="+mn-cs"/>
              </a:rPr>
              <a:t>**Validations:**</a:t>
            </a:r>
            <a:r>
              <a:rPr lang="en-US" sz="1200" b="0" kern="1200">
                <a:solidFill>
                  <a:schemeClr val="tx1"/>
                </a:solidFill>
                <a:effectLst/>
                <a:latin typeface="+mn-lt"/>
                <a:ea typeface="+mn-ea"/>
                <a:cs typeface="+mn-cs"/>
              </a:rPr>
              <a:t> Print the specified forecasting horizon that will be used. </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Student Task: Add in the details </a:t>
            </a:r>
          </a:p>
        </p:txBody>
      </p:sp>
      <p:sp>
        <p:nvSpPr>
          <p:cNvPr id="4" name="Slide Number Placeholder 3"/>
          <p:cNvSpPr>
            <a:spLocks noGrp="1"/>
          </p:cNvSpPr>
          <p:nvPr>
            <p:ph type="sldNum" sz="quarter" idx="5"/>
          </p:nvPr>
        </p:nvSpPr>
        <p:spPr/>
        <p:txBody>
          <a:bodyPr/>
          <a:lstStyle/>
          <a:p>
            <a:fld id="{7AFB17BE-BED3-4AB9-8286-10A56C371049}" type="slidenum">
              <a:rPr lang="en-US" smtClean="0"/>
              <a:t>18</a:t>
            </a:fld>
            <a:endParaRPr lang="en-US"/>
          </a:p>
        </p:txBody>
      </p:sp>
    </p:spTree>
    <p:extLst>
      <p:ext uri="{BB962C8B-B14F-4D97-AF65-F5344CB8AC3E}">
        <p14:creationId xmlns:p14="http://schemas.microsoft.com/office/powerpoint/2010/main" val="3189073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647BD-D2E4-6A03-79C8-1DB5A4B30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AC9E7-45EA-E1F6-10B4-37F7DED8C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207F9-E8F4-64CE-5C79-8403AE5DB0D3}"/>
              </a:ext>
            </a:extLst>
          </p:cNvPr>
          <p:cNvSpPr>
            <a:spLocks noGrp="1"/>
          </p:cNvSpPr>
          <p:nvPr>
            <p:ph type="body" idx="1"/>
          </p:nvPr>
        </p:nvSpPr>
        <p:spPr/>
        <p:txBody>
          <a:bodyPr/>
          <a:lstStyle/>
          <a:p>
            <a:r>
              <a:rPr lang="en-US" b="1"/>
              <a:t>**Validations:**</a:t>
            </a:r>
            <a:r>
              <a:rPr lang="en-US"/>
              <a:t> Print the `Training Period` start date, and rolling window end dates. </a:t>
            </a:r>
          </a:p>
          <a:p>
            <a:r>
              <a:rPr lang="en-US" b="1"/>
              <a:t>**Validations:**</a:t>
            </a:r>
            <a:r>
              <a:rPr lang="en-US"/>
              <a:t> Print the `Testing Period` start date, and each forecast date. </a:t>
            </a:r>
          </a:p>
          <a:p>
            <a:r>
              <a:rPr lang="en-US" b="1"/>
              <a:t>**Validations:**</a:t>
            </a:r>
            <a:r>
              <a:rPr lang="en-US"/>
              <a:t> Print the specified forecasting horizon that will be used. </a:t>
            </a:r>
          </a:p>
          <a:p>
            <a:endParaRPr lang="en-US"/>
          </a:p>
        </p:txBody>
      </p:sp>
      <p:sp>
        <p:nvSpPr>
          <p:cNvPr id="4" name="Slide Number Placeholder 3">
            <a:extLst>
              <a:ext uri="{FF2B5EF4-FFF2-40B4-BE49-F238E27FC236}">
                <a16:creationId xmlns:a16="http://schemas.microsoft.com/office/drawing/2014/main" id="{105C2757-99E2-0EA5-12FC-02F0DD81F376}"/>
              </a:ext>
            </a:extLst>
          </p:cNvPr>
          <p:cNvSpPr>
            <a:spLocks noGrp="1"/>
          </p:cNvSpPr>
          <p:nvPr>
            <p:ph type="sldNum" sz="quarter" idx="5"/>
          </p:nvPr>
        </p:nvSpPr>
        <p:spPr/>
        <p:txBody>
          <a:bodyPr/>
          <a:lstStyle/>
          <a:p>
            <a:fld id="{7AFB17BE-BED3-4AB9-8286-10A56C371049}" type="slidenum">
              <a:rPr lang="en-US" smtClean="0"/>
              <a:t>19</a:t>
            </a:fld>
            <a:endParaRPr lang="en-US"/>
          </a:p>
        </p:txBody>
      </p:sp>
    </p:spTree>
    <p:extLst>
      <p:ext uri="{BB962C8B-B14F-4D97-AF65-F5344CB8AC3E}">
        <p14:creationId xmlns:p14="http://schemas.microsoft.com/office/powerpoint/2010/main" val="16188218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05646-91BD-04C7-A6A0-D16DF5A4F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0E91E-B740-718C-3981-AA7FF67D7C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46760-634A-2FDE-4557-13D4CCB1C4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183157-D4EE-E565-23B8-4438988490EA}"/>
              </a:ext>
            </a:extLst>
          </p:cNvPr>
          <p:cNvSpPr>
            <a:spLocks noGrp="1"/>
          </p:cNvSpPr>
          <p:nvPr>
            <p:ph type="sldNum" sz="quarter" idx="5"/>
          </p:nvPr>
        </p:nvSpPr>
        <p:spPr/>
        <p:txBody>
          <a:bodyPr/>
          <a:lstStyle/>
          <a:p>
            <a:fld id="{D0E60299-BECB-47F9-950E-D077161DE286}" type="slidenum">
              <a:rPr lang="en-US" smtClean="0"/>
              <a:t>20</a:t>
            </a:fld>
            <a:endParaRPr lang="en-US"/>
          </a:p>
        </p:txBody>
      </p:sp>
    </p:spTree>
    <p:extLst>
      <p:ext uri="{BB962C8B-B14F-4D97-AF65-F5344CB8AC3E}">
        <p14:creationId xmlns:p14="http://schemas.microsoft.com/office/powerpoint/2010/main" val="1536785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D3D3C-00B3-29D9-B93C-DFBF58B35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D62C9-9EB5-36E0-B439-A3087A4A5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5C276-CFF3-48C5-8D03-06F2A43D02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756E61-D892-3169-258F-A2375F595FFE}"/>
              </a:ext>
            </a:extLst>
          </p:cNvPr>
          <p:cNvSpPr>
            <a:spLocks noGrp="1"/>
          </p:cNvSpPr>
          <p:nvPr>
            <p:ph type="sldNum" sz="quarter" idx="5"/>
          </p:nvPr>
        </p:nvSpPr>
        <p:spPr/>
        <p:txBody>
          <a:bodyPr/>
          <a:lstStyle/>
          <a:p>
            <a:fld id="{D0E60299-BECB-47F9-950E-D077161DE286}" type="slidenum">
              <a:rPr lang="en-US" smtClean="0"/>
              <a:t>21</a:t>
            </a:fld>
            <a:endParaRPr lang="en-US"/>
          </a:p>
        </p:txBody>
      </p:sp>
    </p:spTree>
    <p:extLst>
      <p:ext uri="{BB962C8B-B14F-4D97-AF65-F5344CB8AC3E}">
        <p14:creationId xmlns:p14="http://schemas.microsoft.com/office/powerpoint/2010/main" val="2069541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1440" marR="0" lvl="0" indent="-9144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Char char="o"/>
              <a:tabLst/>
              <a:defRPr/>
            </a:pPr>
            <a:endParaRPr lang="en-US"/>
          </a:p>
        </p:txBody>
      </p:sp>
      <p:sp>
        <p:nvSpPr>
          <p:cNvPr id="4" name="Slide Number Placeholder 3"/>
          <p:cNvSpPr>
            <a:spLocks noGrp="1"/>
          </p:cNvSpPr>
          <p:nvPr>
            <p:ph type="sldNum" sz="quarter" idx="5"/>
          </p:nvPr>
        </p:nvSpPr>
        <p:spPr/>
        <p:txBody>
          <a:bodyPr/>
          <a:lstStyle/>
          <a:p>
            <a:fld id="{714AA50D-1954-4E07-B31A-F11C899FC54D}" type="slidenum">
              <a:rPr lang="en-US" smtClean="0"/>
              <a:t>22</a:t>
            </a:fld>
            <a:endParaRPr lang="en-US"/>
          </a:p>
        </p:txBody>
      </p:sp>
    </p:spTree>
    <p:extLst>
      <p:ext uri="{BB962C8B-B14F-4D97-AF65-F5344CB8AC3E}">
        <p14:creationId xmlns:p14="http://schemas.microsoft.com/office/powerpoint/2010/main" val="285992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n-ea"/>
                <a:cs typeface="+mn-cs"/>
              </a:rPr>
              <a:t>## 4. Model Specification</a:t>
            </a:r>
            <a:endParaRPr lang="en-US" sz="1200" b="0" kern="1200">
              <a:solidFill>
                <a:schemeClr val="tx1"/>
              </a:solidFill>
              <a:effectLst/>
              <a:latin typeface="+mn-lt"/>
              <a:ea typeface="+mn-ea"/>
              <a:cs typeface="+mn-cs"/>
            </a:endParaRP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 Package: </a:t>
            </a:r>
            <a:r>
              <a:rPr lang="en-US" sz="1200" b="1" kern="1200">
                <a:solidFill>
                  <a:schemeClr val="tx1"/>
                </a:solidFill>
                <a:effectLst/>
                <a:latin typeface="+mn-lt"/>
                <a:ea typeface="+mn-ea"/>
                <a:cs typeface="+mn-cs"/>
              </a:rPr>
              <a:t>**forecast**</a:t>
            </a:r>
            <a:r>
              <a:rPr lang="en-US" sz="1200" b="0" kern="1200">
                <a:solidFill>
                  <a:schemeClr val="tx1"/>
                </a:solidFill>
                <a:effectLst/>
                <a:latin typeface="+mn-lt"/>
                <a:ea typeface="+mn-ea"/>
                <a:cs typeface="+mn-cs"/>
              </a:rPr>
              <a:t> (`forecast::</a:t>
            </a:r>
            <a:r>
              <a:rPr lang="en-US" sz="1200" b="0" kern="1200" err="1">
                <a:solidFill>
                  <a:schemeClr val="tx1"/>
                </a:solidFill>
                <a:effectLst/>
                <a:latin typeface="+mn-lt"/>
                <a:ea typeface="+mn-ea"/>
                <a:cs typeface="+mn-cs"/>
              </a:rPr>
              <a:t>auto.arima</a:t>
            </a:r>
            <a:r>
              <a:rPr lang="en-US" sz="1200" b="0" kern="1200">
                <a:solidFill>
                  <a:schemeClr val="tx1"/>
                </a:solidFill>
                <a:effectLst/>
                <a:latin typeface="+mn-lt"/>
                <a:ea typeface="+mn-ea"/>
                <a:cs typeface="+mn-cs"/>
              </a:rPr>
              <a:t>()`).</a:t>
            </a:r>
          </a:p>
          <a:p>
            <a:r>
              <a:rPr lang="en-US" sz="1200" b="0" kern="1200">
                <a:solidFill>
                  <a:schemeClr val="tx1"/>
                </a:solidFill>
                <a:effectLst/>
                <a:latin typeface="+mn-lt"/>
                <a:ea typeface="+mn-ea"/>
                <a:cs typeface="+mn-cs"/>
              </a:rPr>
              <a:t>- Response: the influenza admissions series </a:t>
            </a:r>
            <a:r>
              <a:rPr lang="en-US" sz="1200" b="1" kern="1200">
                <a:solidFill>
                  <a:schemeClr val="tx1"/>
                </a:solidFill>
                <a:effectLst/>
                <a:latin typeface="+mn-lt"/>
                <a:ea typeface="+mn-ea"/>
                <a:cs typeface="+mn-cs"/>
              </a:rPr>
              <a:t>**only.**</a:t>
            </a:r>
            <a:r>
              <a:rPr lang="en-US" sz="1200" b="0" kern="1200">
                <a:solidFill>
                  <a:schemeClr val="tx1"/>
                </a:solidFill>
                <a:effectLst/>
                <a:latin typeface="+mn-lt"/>
                <a:ea typeface="+mn-ea"/>
                <a:cs typeface="+mn-cs"/>
              </a:rPr>
              <a:t> Sort the training window by `week`, extract the ordered value vector (for example `y &lt;- </a:t>
            </a:r>
            <a:r>
              <a:rPr lang="en-US" sz="1200" b="0" kern="1200" err="1">
                <a:solidFill>
                  <a:schemeClr val="tx1"/>
                </a:solidFill>
                <a:effectLst/>
                <a:latin typeface="+mn-lt"/>
                <a:ea typeface="+mn-ea"/>
                <a:cs typeface="+mn-cs"/>
              </a:rPr>
              <a:t>as.numeric</a:t>
            </a:r>
            <a:r>
              <a:rPr lang="en-US" sz="1200" b="0" kern="1200">
                <a:solidFill>
                  <a:schemeClr val="tx1"/>
                </a:solidFill>
                <a:effectLst/>
                <a:latin typeface="+mn-lt"/>
                <a:ea typeface="+mn-ea"/>
                <a:cs typeface="+mn-cs"/>
              </a:rPr>
              <a:t>(</a:t>
            </a:r>
            <a:r>
              <a:rPr lang="en-US" sz="1200" b="0" kern="1200" err="1">
                <a:solidFill>
                  <a:schemeClr val="tx1"/>
                </a:solidFill>
                <a:effectLst/>
                <a:latin typeface="+mn-lt"/>
                <a:ea typeface="+mn-ea"/>
                <a:cs typeface="+mn-cs"/>
              </a:rPr>
              <a:t>train_df$value</a:t>
            </a:r>
            <a:r>
              <a:rPr lang="en-US" sz="1200" b="0" kern="1200">
                <a:solidFill>
                  <a:schemeClr val="tx1"/>
                </a:solidFill>
                <a:effectLst/>
                <a:latin typeface="+mn-lt"/>
                <a:ea typeface="+mn-ea"/>
                <a:cs typeface="+mn-cs"/>
              </a:rPr>
              <a:t>)`), and fit `forecast::</a:t>
            </a:r>
            <a:r>
              <a:rPr lang="en-US" sz="1200" b="0" kern="1200" err="1">
                <a:solidFill>
                  <a:schemeClr val="tx1"/>
                </a:solidFill>
                <a:effectLst/>
                <a:latin typeface="+mn-lt"/>
                <a:ea typeface="+mn-ea"/>
                <a:cs typeface="+mn-cs"/>
              </a:rPr>
              <a:t>auto.arima</a:t>
            </a:r>
            <a:r>
              <a:rPr lang="en-US" sz="1200" b="0" kern="1200">
                <a:solidFill>
                  <a:schemeClr val="tx1"/>
                </a:solidFill>
                <a:effectLst/>
                <a:latin typeface="+mn-lt"/>
                <a:ea typeface="+mn-ea"/>
                <a:cs typeface="+mn-cs"/>
              </a:rPr>
              <a:t>(y)`. No covariates or external regressors are permitted.</a:t>
            </a:r>
          </a:p>
          <a:p>
            <a:r>
              <a:rPr lang="en-US" sz="1200" b="0" kern="1200">
                <a:solidFill>
                  <a:schemeClr val="tx1"/>
                </a:solidFill>
                <a:effectLst/>
                <a:latin typeface="+mn-lt"/>
                <a:ea typeface="+mn-ea"/>
                <a:cs typeface="+mn-cs"/>
              </a:rPr>
              <a:t>- Model class: a non-seasonal ARIMA whose order is selected automatically by `</a:t>
            </a:r>
            <a:r>
              <a:rPr lang="en-US" sz="1200" b="0" kern="1200" err="1">
                <a:solidFill>
                  <a:schemeClr val="tx1"/>
                </a:solidFill>
                <a:effectLst/>
                <a:latin typeface="+mn-lt"/>
                <a:ea typeface="+mn-ea"/>
                <a:cs typeface="+mn-cs"/>
              </a:rPr>
              <a:t>auto.arima</a:t>
            </a:r>
            <a:r>
              <a:rPr lang="en-US" sz="1200" b="0" kern="1200">
                <a:solidFill>
                  <a:schemeClr val="tx1"/>
                </a:solidFill>
                <a:effectLst/>
                <a:latin typeface="+mn-lt"/>
                <a:ea typeface="+mn-ea"/>
                <a:cs typeface="+mn-cs"/>
              </a:rPr>
              <a:t>()`. The series is passed as a plain numeric vector, so `</a:t>
            </a:r>
            <a:r>
              <a:rPr lang="en-US" sz="1200" b="0" kern="1200" err="1">
                <a:solidFill>
                  <a:schemeClr val="tx1"/>
                </a:solidFill>
                <a:effectLst/>
                <a:latin typeface="+mn-lt"/>
                <a:ea typeface="+mn-ea"/>
                <a:cs typeface="+mn-cs"/>
              </a:rPr>
              <a:t>auto.arima</a:t>
            </a:r>
            <a:r>
              <a:rPr lang="en-US" sz="1200" b="0" kern="1200">
                <a:solidFill>
                  <a:schemeClr val="tx1"/>
                </a:solidFill>
                <a:effectLst/>
                <a:latin typeface="+mn-lt"/>
                <a:ea typeface="+mn-ea"/>
                <a:cs typeface="+mn-cs"/>
              </a:rPr>
              <a:t>()` performs its own `(p, d, q)` selection.</a:t>
            </a:r>
          </a:p>
          <a:p>
            <a:r>
              <a:rPr lang="en-US" sz="1200" b="0" kern="1200">
                <a:solidFill>
                  <a:schemeClr val="tx1"/>
                </a:solidFill>
                <a:effectLst/>
                <a:latin typeface="+mn-lt"/>
                <a:ea typeface="+mn-ea"/>
                <a:cs typeface="+mn-cs"/>
              </a:rPr>
              <a:t>- The model is refit at every expanding-window step described in Rule 3.</a:t>
            </a:r>
          </a:p>
          <a:p>
            <a:r>
              <a:rPr lang="en-US" sz="1200" b="0" kern="1200">
                <a:solidFill>
                  <a:schemeClr val="tx1"/>
                </a:solidFill>
                <a:effectLst/>
                <a:latin typeface="+mn-lt"/>
                <a:ea typeface="+mn-ea"/>
                <a:cs typeface="+mn-cs"/>
              </a:rPr>
              <a:t>Implementation note: `</a:t>
            </a:r>
            <a:r>
              <a:rPr lang="en-US" sz="1200" b="0" kern="1200" err="1">
                <a:solidFill>
                  <a:schemeClr val="tx1"/>
                </a:solidFill>
                <a:effectLst/>
                <a:latin typeface="+mn-lt"/>
                <a:ea typeface="+mn-ea"/>
                <a:cs typeface="+mn-cs"/>
              </a:rPr>
              <a:t>auto.arima</a:t>
            </a:r>
            <a:r>
              <a:rPr lang="en-US" sz="1200" b="0" kern="1200">
                <a:solidFill>
                  <a:schemeClr val="tx1"/>
                </a:solidFill>
                <a:effectLst/>
                <a:latin typeface="+mn-lt"/>
                <a:ea typeface="+mn-ea"/>
                <a:cs typeface="+mn-cs"/>
              </a:rPr>
              <a:t>()` on a bare numeric vector fits a </a:t>
            </a:r>
            <a:r>
              <a:rPr lang="en-US" sz="1200" b="1" kern="1200">
                <a:solidFill>
                  <a:schemeClr val="tx1"/>
                </a:solidFill>
                <a:effectLst/>
                <a:latin typeface="+mn-lt"/>
                <a:ea typeface="+mn-ea"/>
                <a:cs typeface="+mn-cs"/>
              </a:rPr>
              <a:t>**non-seasonal**</a:t>
            </a:r>
            <a:r>
              <a:rPr lang="en-US" sz="1200" b="0" kern="1200">
                <a:solidFill>
                  <a:schemeClr val="tx1"/>
                </a:solidFill>
                <a:effectLst/>
                <a:latin typeface="+mn-lt"/>
                <a:ea typeface="+mn-ea"/>
                <a:cs typeface="+mn-cs"/>
              </a:rPr>
              <a:t> ARIMA and relies on short-lag autocorrelation, so it will not capture the annual seasonal cycle — acceptable for a 1-week-ahead baseline. For a seasonal fit, pass `</a:t>
            </a:r>
            <a:r>
              <a:rPr lang="en-US" sz="1200" b="0" kern="1200" err="1">
                <a:solidFill>
                  <a:schemeClr val="tx1"/>
                </a:solidFill>
                <a:effectLst/>
                <a:latin typeface="+mn-lt"/>
                <a:ea typeface="+mn-ea"/>
                <a:cs typeface="+mn-cs"/>
              </a:rPr>
              <a:t>ts</a:t>
            </a:r>
            <a:r>
              <a:rPr lang="en-US" sz="1200" b="0" kern="1200">
                <a:solidFill>
                  <a:schemeClr val="tx1"/>
                </a:solidFill>
                <a:effectLst/>
                <a:latin typeface="+mn-lt"/>
                <a:ea typeface="+mn-ea"/>
                <a:cs typeface="+mn-cs"/>
              </a:rPr>
              <a:t>(y, frequency = 52)` or add Fourier terms via `</a:t>
            </a:r>
            <a:r>
              <a:rPr lang="en-US" sz="1200" b="0" kern="1200" err="1">
                <a:solidFill>
                  <a:schemeClr val="tx1"/>
                </a:solidFill>
                <a:effectLst/>
                <a:latin typeface="+mn-lt"/>
                <a:ea typeface="+mn-ea"/>
                <a:cs typeface="+mn-cs"/>
              </a:rPr>
              <a:t>xreg</a:t>
            </a:r>
            <a:r>
              <a:rPr lang="en-US" sz="1200" b="0" kern="1200">
                <a:solidFill>
                  <a:schemeClr val="tx1"/>
                </a:solidFill>
                <a:effectLst/>
                <a:latin typeface="+mn-lt"/>
                <a:ea typeface="+mn-ea"/>
                <a:cs typeface="+mn-cs"/>
              </a:rPr>
              <a:t>`; for non-negative, right-skewed counts, `lambda = "auto"` forecasts on a transformed scale. Both are optional and not required here.</a:t>
            </a:r>
          </a:p>
          <a:p>
            <a:r>
              <a:rPr lang="en-US" sz="1200" b="0" kern="1200">
                <a:solidFill>
                  <a:schemeClr val="tx1"/>
                </a:solidFill>
                <a:effectLst/>
                <a:latin typeface="+mn-lt"/>
                <a:ea typeface="+mn-ea"/>
                <a:cs typeface="+mn-cs"/>
              </a:rPr>
              <a:t> </a:t>
            </a:r>
          </a:p>
          <a:p>
            <a:endParaRPr lang="en-US"/>
          </a:p>
        </p:txBody>
      </p:sp>
      <p:sp>
        <p:nvSpPr>
          <p:cNvPr id="4" name="Slide Number Placeholder 3"/>
          <p:cNvSpPr>
            <a:spLocks noGrp="1"/>
          </p:cNvSpPr>
          <p:nvPr>
            <p:ph type="sldNum" sz="quarter" idx="5"/>
          </p:nvPr>
        </p:nvSpPr>
        <p:spPr/>
        <p:txBody>
          <a:bodyPr/>
          <a:lstStyle/>
          <a:p>
            <a:fld id="{7AFB17BE-BED3-4AB9-8286-10A56C371049}" type="slidenum">
              <a:rPr lang="en-US" smtClean="0"/>
              <a:t>25</a:t>
            </a:fld>
            <a:endParaRPr lang="en-US"/>
          </a:p>
        </p:txBody>
      </p:sp>
    </p:spTree>
    <p:extLst>
      <p:ext uri="{BB962C8B-B14F-4D97-AF65-F5344CB8AC3E}">
        <p14:creationId xmlns:p14="http://schemas.microsoft.com/office/powerpoint/2010/main" val="29564900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A3324-9D29-ACAB-CCB5-6AA7D2907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F8A4B-3500-2CF7-80AF-EB6C7C3BFC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3C5947-882F-795A-6F59-7BE11BE29745}"/>
              </a:ext>
            </a:extLst>
          </p:cNvPr>
          <p:cNvSpPr>
            <a:spLocks noGrp="1"/>
          </p:cNvSpPr>
          <p:nvPr>
            <p:ph type="body" idx="1"/>
          </p:nvPr>
        </p:nvSpPr>
        <p:spPr/>
        <p:txBody>
          <a:bodyPr/>
          <a:lstStyle/>
          <a:p>
            <a:r>
              <a:rPr lang="en-US" b="0"/>
              <a:t>**Validations:** Print confirmation that the training window is sorted ascending by `week` with no missing or duplicate weeks.</a:t>
            </a:r>
          </a:p>
          <a:p>
            <a:r>
              <a:rPr lang="en-US" b="0"/>
              <a:t>**Validations:** Print confirmation that the `week` index is evenly spaced (no skipped weeks); halt if this fails.</a:t>
            </a:r>
          </a:p>
          <a:p>
            <a:r>
              <a:rPr lang="en-US" b="0"/>
              <a:t>**Validations:** Print the extracted response vector's length, and confirm it is numeric, non-negative, and free of `NA` values.</a:t>
            </a:r>
          </a:p>
          <a:p>
            <a:r>
              <a:rPr lang="en-US" b="0"/>
              <a:t>**Validations:** Print confirmation that the series is not constant before fitting.</a:t>
            </a:r>
          </a:p>
          <a:p>
            <a:r>
              <a:rPr lang="en-US" b="0"/>
              <a:t>**Validations:** Print the `(p, d, q)` order that `</a:t>
            </a:r>
            <a:r>
              <a:rPr lang="en-US" b="0" err="1"/>
              <a:t>auto.arima</a:t>
            </a:r>
            <a:r>
              <a:rPr lang="en-US" b="0"/>
              <a:t>()` selected at each refit step.</a:t>
            </a:r>
          </a:p>
          <a:p>
            <a:r>
              <a:rPr lang="en-US" b="0"/>
              <a:t>**Validations:** Print confirmation that the fit succeeded at each step (a non-null model was returned).</a:t>
            </a:r>
            <a:br>
              <a:rPr lang="en-US" b="1"/>
            </a:br>
            <a:br>
              <a:rPr lang="en-US" b="1"/>
            </a:br>
            <a:r>
              <a:rPr lang="en-US" b="1"/>
              <a:t>** Ask students for suggestions here</a:t>
            </a:r>
            <a:endParaRPr lang="en-US"/>
          </a:p>
        </p:txBody>
      </p:sp>
      <p:sp>
        <p:nvSpPr>
          <p:cNvPr id="4" name="Slide Number Placeholder 3">
            <a:extLst>
              <a:ext uri="{FF2B5EF4-FFF2-40B4-BE49-F238E27FC236}">
                <a16:creationId xmlns:a16="http://schemas.microsoft.com/office/drawing/2014/main" id="{B1425B47-0621-1FD9-B4C1-D1F0E573C292}"/>
              </a:ext>
            </a:extLst>
          </p:cNvPr>
          <p:cNvSpPr>
            <a:spLocks noGrp="1"/>
          </p:cNvSpPr>
          <p:nvPr>
            <p:ph type="sldNum" sz="quarter" idx="5"/>
          </p:nvPr>
        </p:nvSpPr>
        <p:spPr/>
        <p:txBody>
          <a:bodyPr/>
          <a:lstStyle/>
          <a:p>
            <a:fld id="{7AFB17BE-BED3-4AB9-8286-10A56C371049}" type="slidenum">
              <a:rPr lang="en-US" smtClean="0"/>
              <a:t>26</a:t>
            </a:fld>
            <a:endParaRPr lang="en-US"/>
          </a:p>
        </p:txBody>
      </p:sp>
    </p:spTree>
    <p:extLst>
      <p:ext uri="{BB962C8B-B14F-4D97-AF65-F5344CB8AC3E}">
        <p14:creationId xmlns:p14="http://schemas.microsoft.com/office/powerpoint/2010/main" val="25726454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76F5C-9A18-DBC1-81C5-3CB01FC21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83D07-C4CC-5E06-8AAE-123D981C8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F9FF9-9026-5AF8-D6B6-206A8CAE93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4AF7D4-D757-E084-2C57-FD32BD18D348}"/>
              </a:ext>
            </a:extLst>
          </p:cNvPr>
          <p:cNvSpPr>
            <a:spLocks noGrp="1"/>
          </p:cNvSpPr>
          <p:nvPr>
            <p:ph type="sldNum" sz="quarter" idx="5"/>
          </p:nvPr>
        </p:nvSpPr>
        <p:spPr/>
        <p:txBody>
          <a:bodyPr/>
          <a:lstStyle/>
          <a:p>
            <a:fld id="{D0E60299-BECB-47F9-950E-D077161DE286}" type="slidenum">
              <a:rPr lang="en-US" smtClean="0"/>
              <a:t>27</a:t>
            </a:fld>
            <a:endParaRPr lang="en-US"/>
          </a:p>
        </p:txBody>
      </p:sp>
    </p:spTree>
    <p:extLst>
      <p:ext uri="{BB962C8B-B14F-4D97-AF65-F5344CB8AC3E}">
        <p14:creationId xmlns:p14="http://schemas.microsoft.com/office/powerpoint/2010/main" val="24360358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AA95-567A-CE4C-0439-F690EC99D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B07DB-49CC-C5C3-9E6D-1C9A3C986A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6A5669-1C66-2579-9A2A-4025B3FD6628}"/>
              </a:ext>
            </a:extLst>
          </p:cNvPr>
          <p:cNvSpPr>
            <a:spLocks noGrp="1"/>
          </p:cNvSpPr>
          <p:nvPr>
            <p:ph type="body" idx="1"/>
          </p:nvPr>
        </p:nvSpPr>
        <p:spPr/>
        <p:txBody>
          <a:bodyPr/>
          <a:lstStyle/>
          <a:p>
            <a:r>
              <a:rPr lang="en-US" sz="1200" b="1" kern="1200">
                <a:solidFill>
                  <a:schemeClr val="tx1"/>
                </a:solidFill>
                <a:effectLst/>
                <a:latin typeface="+mn-lt"/>
                <a:ea typeface="+mn-ea"/>
                <a:cs typeface="+mn-cs"/>
              </a:rPr>
              <a:t>## 5. Forecast Generation</a:t>
            </a:r>
            <a:endParaRPr lang="en-US" sz="1200" b="0" kern="1200">
              <a:solidFill>
                <a:schemeClr val="tx1"/>
              </a:solidFill>
              <a:effectLst/>
              <a:latin typeface="+mn-lt"/>
              <a:ea typeface="+mn-ea"/>
              <a:cs typeface="+mn-cs"/>
            </a:endParaRP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For each target week `t` in the testing period that is present in the data:</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1. Compute the reference date as the calendar Date exactly one week before the target: `</a:t>
            </a:r>
            <a:r>
              <a:rPr lang="en-US" sz="1200" b="0" kern="1200" err="1">
                <a:solidFill>
                  <a:schemeClr val="tx1"/>
                </a:solidFill>
                <a:effectLst/>
                <a:latin typeface="+mn-lt"/>
                <a:ea typeface="+mn-ea"/>
                <a:cs typeface="+mn-cs"/>
              </a:rPr>
              <a:t>reference_date</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as_date</a:t>
            </a:r>
            <a:r>
              <a:rPr lang="en-US" sz="1200" b="0" kern="1200">
                <a:solidFill>
                  <a:schemeClr val="tx1"/>
                </a:solidFill>
                <a:effectLst/>
                <a:latin typeface="+mn-lt"/>
                <a:ea typeface="+mn-ea"/>
                <a:cs typeface="+mn-cs"/>
              </a:rPr>
              <a:t>(t) - days(7)`. Use this Date for both training-window selection and for output. When writing CSVs, format `</a:t>
            </a:r>
            <a:r>
              <a:rPr lang="en-US" sz="1200" b="0" kern="1200" err="1">
                <a:solidFill>
                  <a:schemeClr val="tx1"/>
                </a:solidFill>
                <a:effectLst/>
                <a:latin typeface="+mn-lt"/>
                <a:ea typeface="+mn-ea"/>
                <a:cs typeface="+mn-cs"/>
              </a:rPr>
              <a:t>reference_date</a:t>
            </a:r>
            <a:r>
              <a:rPr lang="en-US" sz="1200" b="0" kern="1200">
                <a:solidFill>
                  <a:schemeClr val="tx1"/>
                </a:solidFill>
                <a:effectLst/>
                <a:latin typeface="+mn-lt"/>
                <a:ea typeface="+mn-ea"/>
                <a:cs typeface="+mn-cs"/>
              </a:rPr>
              <a:t>` and `</a:t>
            </a:r>
            <a:r>
              <a:rPr lang="en-US" sz="1200" b="0" kern="1200" err="1">
                <a:solidFill>
                  <a:schemeClr val="tx1"/>
                </a:solidFill>
                <a:effectLst/>
                <a:latin typeface="+mn-lt"/>
                <a:ea typeface="+mn-ea"/>
                <a:cs typeface="+mn-cs"/>
              </a:rPr>
              <a:t>target_end_date</a:t>
            </a:r>
            <a:r>
              <a:rPr lang="en-US" sz="1200" b="0" kern="1200">
                <a:solidFill>
                  <a:schemeClr val="tx1"/>
                </a:solidFill>
                <a:effectLst/>
                <a:latin typeface="+mn-lt"/>
                <a:ea typeface="+mn-ea"/>
                <a:cs typeface="+mn-cs"/>
              </a:rPr>
              <a:t>` as ISO dates (`YYYY-MM-DD`).</a:t>
            </a:r>
          </a:p>
          <a:p>
            <a:r>
              <a:rPr lang="en-US" sz="1200" b="0" kern="1200">
                <a:solidFill>
                  <a:schemeClr val="tx1"/>
                </a:solidFill>
                <a:effectLst/>
                <a:latin typeface="+mn-lt"/>
                <a:ea typeface="+mn-ea"/>
                <a:cs typeface="+mn-cs"/>
              </a:rPr>
              <a:t>2. Fit the ARIMA model (Rule 4) on all rows with `week &lt;= </a:t>
            </a:r>
            <a:r>
              <a:rPr lang="en-US" sz="1200" b="0" kern="1200" err="1">
                <a:solidFill>
                  <a:schemeClr val="tx1"/>
                </a:solidFill>
                <a:effectLst/>
                <a:latin typeface="+mn-lt"/>
                <a:ea typeface="+mn-ea"/>
                <a:cs typeface="+mn-cs"/>
              </a:rPr>
              <a:t>reference_date</a:t>
            </a:r>
            <a:r>
              <a:rPr lang="en-US" sz="1200" b="0" kern="1200">
                <a:solidFill>
                  <a:schemeClr val="tx1"/>
                </a:solidFill>
                <a:effectLst/>
                <a:latin typeface="+mn-lt"/>
                <a:ea typeface="+mn-ea"/>
                <a:cs typeface="+mn-cs"/>
              </a:rPr>
              <a:t>` (expanding-window).</a:t>
            </a:r>
          </a:p>
          <a:p>
            <a:r>
              <a:rPr lang="en-US" sz="1200" b="0" kern="1200">
                <a:solidFill>
                  <a:schemeClr val="tx1"/>
                </a:solidFill>
                <a:effectLst/>
                <a:latin typeface="+mn-lt"/>
                <a:ea typeface="+mn-ea"/>
                <a:cs typeface="+mn-cs"/>
              </a:rPr>
              <a:t>3. Forecast one step ahead with `pr &lt;- predict(fit, </a:t>
            </a:r>
            <a:r>
              <a:rPr lang="en-US" sz="1200" b="0" kern="1200" err="1">
                <a:solidFill>
                  <a:schemeClr val="tx1"/>
                </a:solidFill>
                <a:effectLst/>
                <a:latin typeface="+mn-lt"/>
                <a:ea typeface="+mn-ea"/>
                <a:cs typeface="+mn-cs"/>
              </a:rPr>
              <a:t>n.ahead</a:t>
            </a:r>
            <a:r>
              <a:rPr lang="en-US" sz="1200" b="0" kern="1200">
                <a:solidFill>
                  <a:schemeClr val="tx1"/>
                </a:solidFill>
                <a:effectLst/>
                <a:latin typeface="+mn-lt"/>
                <a:ea typeface="+mn-ea"/>
                <a:cs typeface="+mn-cs"/>
              </a:rPr>
              <a:t> = 1)`. Take the forecast mean from `</a:t>
            </a:r>
            <a:r>
              <a:rPr lang="en-US" sz="1200" b="0" kern="1200" err="1">
                <a:solidFill>
                  <a:schemeClr val="tx1"/>
                </a:solidFill>
                <a:effectLst/>
                <a:latin typeface="+mn-lt"/>
                <a:ea typeface="+mn-ea"/>
                <a:cs typeface="+mn-cs"/>
              </a:rPr>
              <a:t>pr$pred</a:t>
            </a:r>
            <a:r>
              <a:rPr lang="en-US" sz="1200" b="0" kern="1200">
                <a:solidFill>
                  <a:schemeClr val="tx1"/>
                </a:solidFill>
                <a:effectLst/>
                <a:latin typeface="+mn-lt"/>
                <a:ea typeface="+mn-ea"/>
                <a:cs typeface="+mn-cs"/>
              </a:rPr>
              <a:t>` and its standard error from `</a:t>
            </a:r>
            <a:r>
              <a:rPr lang="en-US" sz="1200" b="0" kern="1200" err="1">
                <a:solidFill>
                  <a:schemeClr val="tx1"/>
                </a:solidFill>
                <a:effectLst/>
                <a:latin typeface="+mn-lt"/>
                <a:ea typeface="+mn-ea"/>
                <a:cs typeface="+mn-cs"/>
              </a:rPr>
              <a:t>pr$se</a:t>
            </a:r>
            <a:r>
              <a:rPr lang="en-US" sz="1200" b="0" kern="1200">
                <a:solidFill>
                  <a:schemeClr val="tx1"/>
                </a:solidFill>
                <a:effectLst/>
                <a:latin typeface="+mn-lt"/>
                <a:ea typeface="+mn-ea"/>
                <a:cs typeface="+mn-cs"/>
              </a:rPr>
              <a:t>`.</a:t>
            </a:r>
          </a:p>
          <a:p>
            <a:r>
              <a:rPr lang="en-US" sz="1200" b="0" kern="1200">
                <a:solidFill>
                  <a:schemeClr val="tx1"/>
                </a:solidFill>
                <a:effectLst/>
                <a:latin typeface="+mn-lt"/>
                <a:ea typeface="+mn-ea"/>
                <a:cs typeface="+mn-cs"/>
              </a:rPr>
              <a:t>4. Use the ARIMA forecast standard error </a:t>
            </a:r>
            <a:r>
              <a:rPr lang="en-US" sz="1200" b="1" kern="1200">
                <a:solidFill>
                  <a:schemeClr val="tx1"/>
                </a:solidFill>
                <a:effectLst/>
                <a:latin typeface="+mn-lt"/>
                <a:ea typeface="+mn-ea"/>
                <a:cs typeface="+mn-cs"/>
              </a:rPr>
              <a:t>**directly**</a:t>
            </a:r>
            <a:r>
              <a:rPr lang="en-US" sz="1200" b="0" kern="1200">
                <a:solidFill>
                  <a:schemeClr val="tx1"/>
                </a:solidFill>
                <a:effectLst/>
                <a:latin typeface="+mn-lt"/>
                <a:ea typeface="+mn-ea"/>
                <a:cs typeface="+mn-cs"/>
              </a:rPr>
              <a:t> as the 1-week-ahead predictive standard deviation: `</a:t>
            </a:r>
            <a:r>
              <a:rPr lang="en-US" sz="1200" b="0" kern="1200" err="1">
                <a:solidFill>
                  <a:schemeClr val="tx1"/>
                </a:solidFill>
                <a:effectLst/>
                <a:latin typeface="+mn-lt"/>
                <a:ea typeface="+mn-ea"/>
                <a:cs typeface="+mn-cs"/>
              </a:rPr>
              <a:t>sd_pred</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as.numeric</a:t>
            </a:r>
            <a:r>
              <a:rPr lang="en-US" sz="1200" b="0" kern="1200">
                <a:solidFill>
                  <a:schemeClr val="tx1"/>
                </a:solidFill>
                <a:effectLst/>
                <a:latin typeface="+mn-lt"/>
                <a:ea typeface="+mn-ea"/>
                <a:cs typeface="+mn-cs"/>
              </a:rPr>
              <a:t>(</a:t>
            </a:r>
            <a:r>
              <a:rPr lang="en-US" sz="1200" b="0" kern="1200" err="1">
                <a:solidFill>
                  <a:schemeClr val="tx1"/>
                </a:solidFill>
                <a:effectLst/>
                <a:latin typeface="+mn-lt"/>
                <a:ea typeface="+mn-ea"/>
                <a:cs typeface="+mn-cs"/>
              </a:rPr>
              <a:t>pr$se</a:t>
            </a:r>
            <a:r>
              <a:rPr lang="en-US" sz="1200" b="0" kern="1200">
                <a:solidFill>
                  <a:schemeClr val="tx1"/>
                </a:solidFill>
                <a:effectLst/>
                <a:latin typeface="+mn-lt"/>
                <a:ea typeface="+mn-ea"/>
                <a:cs typeface="+mn-cs"/>
              </a:rPr>
              <a:t>)`. At horizon 1 this already incorporates the model's innovation variance, so do </a:t>
            </a:r>
            <a:r>
              <a:rPr lang="en-US" sz="1200" b="1" kern="1200">
                <a:solidFill>
                  <a:schemeClr val="tx1"/>
                </a:solidFill>
                <a:effectLst/>
                <a:latin typeface="+mn-lt"/>
                <a:ea typeface="+mn-ea"/>
                <a:cs typeface="+mn-cs"/>
              </a:rPr>
              <a:t>**not**</a:t>
            </a:r>
            <a:r>
              <a:rPr lang="en-US" sz="1200" b="0" kern="1200">
                <a:solidFill>
                  <a:schemeClr val="tx1"/>
                </a:solidFill>
                <a:effectLst/>
                <a:latin typeface="+mn-lt"/>
                <a:ea typeface="+mn-ea"/>
                <a:cs typeface="+mn-cs"/>
              </a:rPr>
              <a:t> add a separate residual-variance term (doing so double-counts the innovation variance and inflates the interval).</a:t>
            </a:r>
          </a:p>
          <a:p>
            <a:r>
              <a:rPr lang="en-US" sz="1200" b="0" kern="1200">
                <a:solidFill>
                  <a:schemeClr val="tx1"/>
                </a:solidFill>
                <a:effectLst/>
                <a:latin typeface="+mn-lt"/>
                <a:ea typeface="+mn-ea"/>
                <a:cs typeface="+mn-cs"/>
              </a:rPr>
              <a:t>5. Compute the required quantiles from a normal predictive distribution:</a:t>
            </a:r>
          </a:p>
          <a:p>
            <a:r>
              <a:rPr lang="en-US" sz="1200" b="0" kern="1200">
                <a:solidFill>
                  <a:schemeClr val="tx1"/>
                </a:solidFill>
                <a:effectLst/>
                <a:latin typeface="+mn-lt"/>
                <a:ea typeface="+mn-ea"/>
                <a:cs typeface="+mn-cs"/>
              </a:rPr>
              <a:t>  `</a:t>
            </a:r>
            <a:r>
              <a:rPr lang="en-US" sz="1200" b="0" kern="1200" err="1">
                <a:solidFill>
                  <a:schemeClr val="tx1"/>
                </a:solidFill>
                <a:effectLst/>
                <a:latin typeface="+mn-lt"/>
                <a:ea typeface="+mn-ea"/>
                <a:cs typeface="+mn-cs"/>
              </a:rPr>
              <a:t>q_value</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qnorm</a:t>
            </a:r>
            <a:r>
              <a:rPr lang="en-US" sz="1200" b="0" kern="1200">
                <a:solidFill>
                  <a:schemeClr val="tx1"/>
                </a:solidFill>
                <a:effectLst/>
                <a:latin typeface="+mn-lt"/>
                <a:ea typeface="+mn-ea"/>
                <a:cs typeface="+mn-cs"/>
              </a:rPr>
              <a:t>(p, mean = </a:t>
            </a:r>
            <a:r>
              <a:rPr lang="en-US" sz="1200" b="0" kern="1200" err="1">
                <a:solidFill>
                  <a:schemeClr val="tx1"/>
                </a:solidFill>
                <a:effectLst/>
                <a:latin typeface="+mn-lt"/>
                <a:ea typeface="+mn-ea"/>
                <a:cs typeface="+mn-cs"/>
              </a:rPr>
              <a:t>pred_mean</a:t>
            </a:r>
            <a:r>
              <a:rPr lang="en-US" sz="1200" b="0" kern="1200">
                <a:solidFill>
                  <a:schemeClr val="tx1"/>
                </a:solidFill>
                <a:effectLst/>
                <a:latin typeface="+mn-lt"/>
                <a:ea typeface="+mn-ea"/>
                <a:cs typeface="+mn-cs"/>
              </a:rPr>
              <a:t>, </a:t>
            </a:r>
            <a:r>
              <a:rPr lang="en-US" sz="1200" b="0" kern="1200" err="1">
                <a:solidFill>
                  <a:schemeClr val="tx1"/>
                </a:solidFill>
                <a:effectLst/>
                <a:latin typeface="+mn-lt"/>
                <a:ea typeface="+mn-ea"/>
                <a:cs typeface="+mn-cs"/>
              </a:rPr>
              <a:t>sd</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sd_pred</a:t>
            </a:r>
            <a:r>
              <a:rPr lang="en-US" sz="1200" b="0" kern="1200">
                <a:solidFill>
                  <a:schemeClr val="tx1"/>
                </a:solidFill>
                <a:effectLst/>
                <a:latin typeface="+mn-lt"/>
                <a:ea typeface="+mn-ea"/>
                <a:cs typeface="+mn-cs"/>
              </a:rPr>
              <a:t>)`.</a:t>
            </a:r>
          </a:p>
          <a:p>
            <a:r>
              <a:rPr lang="en-US" sz="1200" b="0" kern="1200">
                <a:solidFill>
                  <a:schemeClr val="tx1"/>
                </a:solidFill>
                <a:effectLst/>
                <a:latin typeface="+mn-lt"/>
                <a:ea typeface="+mn-ea"/>
                <a:cs typeface="+mn-cs"/>
              </a:rPr>
              <a:t>Quantiles to output (`</a:t>
            </a:r>
            <a:r>
              <a:rPr lang="en-US" sz="1200" b="0" kern="1200" err="1">
                <a:solidFill>
                  <a:schemeClr val="tx1"/>
                </a:solidFill>
                <a:effectLst/>
                <a:latin typeface="+mn-lt"/>
                <a:ea typeface="+mn-ea"/>
                <a:cs typeface="+mn-cs"/>
              </a:rPr>
              <a:t>output_type_id</a:t>
            </a:r>
            <a:r>
              <a:rPr lang="en-US" sz="1200" b="0" kern="1200">
                <a:solidFill>
                  <a:schemeClr val="tx1"/>
                </a:solidFill>
                <a:effectLst/>
                <a:latin typeface="+mn-lt"/>
                <a:ea typeface="+mn-ea"/>
                <a:cs typeface="+mn-cs"/>
              </a:rPr>
              <a:t>`): `0.025`, `0.5`, `0.975`.</a:t>
            </a:r>
          </a:p>
          <a:p>
            <a:r>
              <a:rPr lang="en-US" sz="1200" b="0" kern="1200">
                <a:solidFill>
                  <a:schemeClr val="tx1"/>
                </a:solidFill>
                <a:effectLst/>
                <a:latin typeface="+mn-lt"/>
                <a:ea typeface="+mn-ea"/>
                <a:cs typeface="+mn-cs"/>
              </a:rPr>
              <a:t> </a:t>
            </a:r>
          </a:p>
          <a:p>
            <a:r>
              <a:rPr lang="en-US" sz="1200" b="0" kern="1200">
                <a:solidFill>
                  <a:schemeClr val="tx1"/>
                </a:solidFill>
                <a:effectLst/>
                <a:latin typeface="+mn-lt"/>
                <a:ea typeface="+mn-ea"/>
                <a:cs typeface="+mn-cs"/>
              </a:rPr>
              <a:t>- `0.5` = median (point forecast).</a:t>
            </a:r>
          </a:p>
          <a:p>
            <a:r>
              <a:rPr lang="en-US" sz="1200" b="0" kern="1200">
                <a:solidFill>
                  <a:schemeClr val="tx1"/>
                </a:solidFill>
                <a:effectLst/>
                <a:latin typeface="+mn-lt"/>
                <a:ea typeface="+mn-ea"/>
                <a:cs typeface="+mn-cs"/>
              </a:rPr>
              <a:t>- `0.025` and `0.975` = lower/upper bounds of the </a:t>
            </a:r>
            <a:r>
              <a:rPr lang="en-US" sz="1200" b="1" kern="1200">
                <a:solidFill>
                  <a:schemeClr val="tx1"/>
                </a:solidFill>
                <a:effectLst/>
                <a:latin typeface="+mn-lt"/>
                <a:ea typeface="+mn-ea"/>
                <a:cs typeface="+mn-cs"/>
              </a:rPr>
              <a:t>**95% prediction interval**</a:t>
            </a:r>
            <a:r>
              <a:rPr lang="en-US" sz="1200" b="0" kern="1200">
                <a:solidFill>
                  <a:schemeClr val="tx1"/>
                </a:solidFill>
                <a:effectLst/>
                <a:latin typeface="+mn-lt"/>
                <a:ea typeface="+mn-ea"/>
                <a:cs typeface="+mn-cs"/>
              </a:rPr>
              <a:t>.</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**`STRICT RULE`:**</a:t>
            </a:r>
            <a:r>
              <a:rPr lang="en-US" sz="1200" b="0" kern="1200">
                <a:solidFill>
                  <a:schemeClr val="tx1"/>
                </a:solidFill>
                <a:effectLst/>
                <a:latin typeface="+mn-lt"/>
                <a:ea typeface="+mn-ea"/>
                <a:cs typeface="+mn-cs"/>
              </a:rPr>
              <a:t> Clamp all forecast values at a floor of 0 (`</a:t>
            </a:r>
            <a:r>
              <a:rPr lang="en-US" sz="1200" b="0" kern="1200" err="1">
                <a:solidFill>
                  <a:schemeClr val="tx1"/>
                </a:solidFill>
                <a:effectLst/>
                <a:latin typeface="+mn-lt"/>
                <a:ea typeface="+mn-ea"/>
                <a:cs typeface="+mn-cs"/>
              </a:rPr>
              <a:t>pmax</a:t>
            </a:r>
            <a:r>
              <a:rPr lang="en-US" sz="1200" b="0" kern="1200">
                <a:solidFill>
                  <a:schemeClr val="tx1"/>
                </a:solidFill>
                <a:effectLst/>
                <a:latin typeface="+mn-lt"/>
                <a:ea typeface="+mn-ea"/>
                <a:cs typeface="+mn-cs"/>
              </a:rPr>
              <a:t>(value, 0)`)</a:t>
            </a:r>
          </a:p>
          <a:p>
            <a:r>
              <a:rPr lang="en-US" sz="1200" b="0" kern="1200">
                <a:solidFill>
                  <a:schemeClr val="tx1"/>
                </a:solidFill>
                <a:effectLst/>
                <a:latin typeface="+mn-lt"/>
                <a:ea typeface="+mn-ea"/>
                <a:cs typeface="+mn-cs"/>
              </a:rPr>
              <a:t>and round to the nearest integer (admissions are non-negative counts).</a:t>
            </a:r>
          </a:p>
          <a:p>
            <a:r>
              <a:rPr lang="en-US" sz="1200" b="0" kern="1200">
                <a:solidFill>
                  <a:schemeClr val="tx1"/>
                </a:solidFill>
                <a:effectLst/>
                <a:latin typeface="+mn-lt"/>
                <a:ea typeface="+mn-ea"/>
                <a:cs typeface="+mn-cs"/>
              </a:rPr>
              <a:t> </a:t>
            </a:r>
          </a:p>
          <a:p>
            <a:r>
              <a:rPr lang="en-US" sz="1200" b="1" kern="1200">
                <a:solidFill>
                  <a:schemeClr val="tx1"/>
                </a:solidFill>
                <a:effectLst/>
                <a:latin typeface="+mn-lt"/>
                <a:ea typeface="+mn-ea"/>
                <a:cs typeface="+mn-cs"/>
              </a:rPr>
              <a:t>**`STRICT RULE`:**</a:t>
            </a:r>
            <a:r>
              <a:rPr lang="en-US" sz="1200" b="0" kern="1200">
                <a:solidFill>
                  <a:schemeClr val="tx1"/>
                </a:solidFill>
                <a:effectLst/>
                <a:latin typeface="+mn-lt"/>
                <a:ea typeface="+mn-ea"/>
                <a:cs typeface="+mn-cs"/>
              </a:rPr>
              <a:t> Quantiles must be non-decreasing within each target week</a:t>
            </a:r>
          </a:p>
          <a:p>
            <a:r>
              <a:rPr lang="en-US" sz="1200" b="0" kern="1200">
                <a:solidFill>
                  <a:schemeClr val="tx1"/>
                </a:solidFill>
                <a:effectLst/>
                <a:latin typeface="+mn-lt"/>
                <a:ea typeface="+mn-ea"/>
                <a:cs typeface="+mn-cs"/>
              </a:rPr>
              <a:t>(`0.025 &lt;= 0.5 &lt;= 0.975`); sort/enforce after clamping.</a:t>
            </a:r>
          </a:p>
          <a:p>
            <a:endParaRPr lang="en-US"/>
          </a:p>
        </p:txBody>
      </p:sp>
      <p:sp>
        <p:nvSpPr>
          <p:cNvPr id="4" name="Slide Number Placeholder 3">
            <a:extLst>
              <a:ext uri="{FF2B5EF4-FFF2-40B4-BE49-F238E27FC236}">
                <a16:creationId xmlns:a16="http://schemas.microsoft.com/office/drawing/2014/main" id="{BCBEA171-2F9C-A2A5-422F-C3F66516F3B2}"/>
              </a:ext>
            </a:extLst>
          </p:cNvPr>
          <p:cNvSpPr>
            <a:spLocks noGrp="1"/>
          </p:cNvSpPr>
          <p:nvPr>
            <p:ph type="sldNum" sz="quarter" idx="5"/>
          </p:nvPr>
        </p:nvSpPr>
        <p:spPr/>
        <p:txBody>
          <a:bodyPr/>
          <a:lstStyle/>
          <a:p>
            <a:fld id="{D0E60299-BECB-47F9-950E-D077161DE286}" type="slidenum">
              <a:rPr lang="en-US" smtClean="0"/>
              <a:t>28</a:t>
            </a:fld>
            <a:endParaRPr lang="en-US"/>
          </a:p>
        </p:txBody>
      </p:sp>
    </p:spTree>
    <p:extLst>
      <p:ext uri="{BB962C8B-B14F-4D97-AF65-F5344CB8AC3E}">
        <p14:creationId xmlns:p14="http://schemas.microsoft.com/office/powerpoint/2010/main" val="3483660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FB17BE-BED3-4AB9-8286-10A56C371049}" type="slidenum">
              <a:rPr lang="en-US" smtClean="0"/>
              <a:t>29</a:t>
            </a:fld>
            <a:endParaRPr lang="en-US"/>
          </a:p>
        </p:txBody>
      </p:sp>
    </p:spTree>
    <p:extLst>
      <p:ext uri="{BB962C8B-B14F-4D97-AF65-F5344CB8AC3E}">
        <p14:creationId xmlns:p14="http://schemas.microsoft.com/office/powerpoint/2010/main" val="1323133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FB17BE-BED3-4AB9-8286-10A56C371049}" type="slidenum">
              <a:rPr lang="en-US" smtClean="0"/>
              <a:t>30</a:t>
            </a:fld>
            <a:endParaRPr lang="en-US"/>
          </a:p>
        </p:txBody>
      </p:sp>
    </p:spTree>
    <p:extLst>
      <p:ext uri="{BB962C8B-B14F-4D97-AF65-F5344CB8AC3E}">
        <p14:creationId xmlns:p14="http://schemas.microsoft.com/office/powerpoint/2010/main" val="11058298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A79B4-74D2-72EC-6554-BD140002C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49FFC-2BBF-8BBA-A580-801361F48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A4B99D-0C42-B9D6-048F-F728B65750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AB4501-0B1E-79FC-F942-ECBB4E33AE07}"/>
              </a:ext>
            </a:extLst>
          </p:cNvPr>
          <p:cNvSpPr>
            <a:spLocks noGrp="1"/>
          </p:cNvSpPr>
          <p:nvPr>
            <p:ph type="sldNum" sz="quarter" idx="5"/>
          </p:nvPr>
        </p:nvSpPr>
        <p:spPr/>
        <p:txBody>
          <a:bodyPr/>
          <a:lstStyle/>
          <a:p>
            <a:fld id="{7AFB17BE-BED3-4AB9-8286-10A56C371049}" type="slidenum">
              <a:rPr lang="en-US" smtClean="0"/>
              <a:t>31</a:t>
            </a:fld>
            <a:endParaRPr lang="en-US"/>
          </a:p>
        </p:txBody>
      </p:sp>
    </p:spTree>
    <p:extLst>
      <p:ext uri="{BB962C8B-B14F-4D97-AF65-F5344CB8AC3E}">
        <p14:creationId xmlns:p14="http://schemas.microsoft.com/office/powerpoint/2010/main" val="2646698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32</a:t>
            </a:fld>
            <a:endParaRPr lang="en-US"/>
          </a:p>
        </p:txBody>
      </p:sp>
    </p:spTree>
    <p:extLst>
      <p:ext uri="{BB962C8B-B14F-4D97-AF65-F5344CB8AC3E}">
        <p14:creationId xmlns:p14="http://schemas.microsoft.com/office/powerpoint/2010/main" val="492822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CAA06-BE13-C24C-291F-7C99AA1CD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6998F-FAE4-D9D7-0D78-9271868EE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97819-DEF4-3675-B1BF-0760F37BF722}"/>
              </a:ext>
            </a:extLst>
          </p:cNvPr>
          <p:cNvSpPr>
            <a:spLocks noGrp="1"/>
          </p:cNvSpPr>
          <p:nvPr>
            <p:ph type="body" idx="1"/>
          </p:nvPr>
        </p:nvSpPr>
        <p:spPr/>
        <p:txBody>
          <a:bodyPr/>
          <a:lstStyle/>
          <a:p>
            <a:r>
              <a:rPr lang="en-US" b="1"/>
              <a:t>Validations:</a:t>
            </a:r>
            <a:r>
              <a:rPr lang="en-US"/>
              <a:t> Print confirmation that </a:t>
            </a:r>
            <a:r>
              <a:rPr lang="en-US" sz="1200" kern="1200" err="1">
                <a:solidFill>
                  <a:schemeClr val="tx1"/>
                </a:solidFill>
                <a:latin typeface="+mn-lt"/>
                <a:ea typeface="+mn-ea"/>
                <a:cs typeface="+mn-cs"/>
              </a:rPr>
              <a:t>reference_date</a:t>
            </a:r>
            <a:r>
              <a:rPr lang="en-US"/>
              <a:t> and the target </a:t>
            </a:r>
            <a:r>
              <a:rPr lang="en-US" sz="1200" kern="1200">
                <a:solidFill>
                  <a:schemeClr val="tx1"/>
                </a:solidFill>
                <a:latin typeface="+mn-lt"/>
                <a:ea typeface="+mn-ea"/>
                <a:cs typeface="+mn-cs"/>
              </a:rPr>
              <a:t>t</a:t>
            </a:r>
            <a:r>
              <a:rPr lang="en-US"/>
              <a:t> are both </a:t>
            </a:r>
            <a:r>
              <a:rPr lang="en-US" sz="1200" kern="1200">
                <a:solidFill>
                  <a:schemeClr val="tx1"/>
                </a:solidFill>
                <a:latin typeface="+mn-lt"/>
                <a:ea typeface="+mn-ea"/>
                <a:cs typeface="+mn-cs"/>
              </a:rPr>
              <a:t>Date</a:t>
            </a:r>
            <a:r>
              <a:rPr lang="en-US"/>
              <a:t> objects (not character or </a:t>
            </a:r>
            <a:r>
              <a:rPr lang="en-US" sz="1200" kern="1200" err="1">
                <a:solidFill>
                  <a:schemeClr val="tx1"/>
                </a:solidFill>
                <a:latin typeface="+mn-lt"/>
                <a:ea typeface="+mn-ea"/>
                <a:cs typeface="+mn-cs"/>
              </a:rPr>
              <a:t>POSIXct</a:t>
            </a:r>
            <a:r>
              <a:rPr lang="en-US"/>
              <a:t>); halt if either fails the class check.</a:t>
            </a:r>
            <a:br>
              <a:rPr lang="en-US"/>
            </a:br>
            <a:r>
              <a:rPr lang="en-US" b="1"/>
              <a:t>Validations:</a:t>
            </a:r>
            <a:r>
              <a:rPr lang="en-US"/>
              <a:t> Print confirmation that </a:t>
            </a:r>
            <a:r>
              <a:rPr lang="en-US" sz="1200" kern="1200" err="1">
                <a:solidFill>
                  <a:schemeClr val="tx1"/>
                </a:solidFill>
                <a:latin typeface="+mn-lt"/>
                <a:ea typeface="+mn-ea"/>
                <a:cs typeface="+mn-cs"/>
              </a:rPr>
              <a:t>target_end_date</a:t>
            </a:r>
            <a:r>
              <a:rPr lang="en-US" sz="1200" kern="1200">
                <a:solidFill>
                  <a:schemeClr val="tx1"/>
                </a:solidFill>
                <a:latin typeface="+mn-lt"/>
                <a:ea typeface="+mn-ea"/>
                <a:cs typeface="+mn-cs"/>
              </a:rPr>
              <a:t> - </a:t>
            </a:r>
            <a:r>
              <a:rPr lang="en-US" sz="1200" kern="1200" err="1">
                <a:solidFill>
                  <a:schemeClr val="tx1"/>
                </a:solidFill>
                <a:latin typeface="+mn-lt"/>
                <a:ea typeface="+mn-ea"/>
                <a:cs typeface="+mn-cs"/>
              </a:rPr>
              <a:t>reference_date</a:t>
            </a:r>
            <a:r>
              <a:rPr lang="en-US"/>
              <a:t> equals exactly 7 days for every row; halt if this fails.</a:t>
            </a:r>
            <a:br>
              <a:rPr lang="en-US"/>
            </a:br>
            <a:r>
              <a:rPr lang="en-US" b="1"/>
              <a:t>Validations:</a:t>
            </a:r>
            <a:r>
              <a:rPr lang="en-US"/>
              <a:t> Print confirmation that both </a:t>
            </a:r>
            <a:r>
              <a:rPr lang="en-US" sz="1200" kern="1200" err="1">
                <a:solidFill>
                  <a:schemeClr val="tx1"/>
                </a:solidFill>
                <a:latin typeface="+mn-lt"/>
                <a:ea typeface="+mn-ea"/>
                <a:cs typeface="+mn-cs"/>
              </a:rPr>
              <a:t>reference_date</a:t>
            </a:r>
            <a:r>
              <a:rPr lang="en-US"/>
              <a:t> and </a:t>
            </a:r>
            <a:r>
              <a:rPr lang="en-US" sz="1200" kern="1200" err="1">
                <a:solidFill>
                  <a:schemeClr val="tx1"/>
                </a:solidFill>
                <a:latin typeface="+mn-lt"/>
                <a:ea typeface="+mn-ea"/>
                <a:cs typeface="+mn-cs"/>
              </a:rPr>
              <a:t>target_end_date</a:t>
            </a:r>
            <a:r>
              <a:rPr lang="en-US"/>
              <a:t> fall on a Saturday (</a:t>
            </a:r>
            <a:r>
              <a:rPr lang="en-US" sz="1200" kern="1200" err="1">
                <a:solidFill>
                  <a:schemeClr val="tx1"/>
                </a:solidFill>
                <a:latin typeface="+mn-lt"/>
                <a:ea typeface="+mn-ea"/>
                <a:cs typeface="+mn-cs"/>
              </a:rPr>
              <a:t>wday</a:t>
            </a:r>
            <a:r>
              <a:rPr lang="en-US" sz="1200" kern="1200">
                <a:solidFill>
                  <a:schemeClr val="tx1"/>
                </a:solidFill>
                <a:latin typeface="+mn-lt"/>
                <a:ea typeface="+mn-ea"/>
                <a:cs typeface="+mn-cs"/>
              </a:rPr>
              <a:t>(x) == 7</a:t>
            </a:r>
            <a:r>
              <a:rPr lang="en-US"/>
              <a:t>); halt if any date does not.</a:t>
            </a:r>
            <a:br>
              <a:rPr lang="en-US"/>
            </a:br>
            <a:r>
              <a:rPr lang="en-US" b="1"/>
              <a:t>Validations:</a:t>
            </a:r>
            <a:r>
              <a:rPr lang="en-US"/>
              <a:t> Print confirmation that </a:t>
            </a:r>
            <a:r>
              <a:rPr lang="en-US" sz="1200" kern="1200" err="1">
                <a:solidFill>
                  <a:schemeClr val="tx1"/>
                </a:solidFill>
                <a:latin typeface="+mn-lt"/>
                <a:ea typeface="+mn-ea"/>
                <a:cs typeface="+mn-cs"/>
              </a:rPr>
              <a:t>reference_date</a:t>
            </a:r>
            <a:r>
              <a:rPr lang="en-US"/>
              <a:t> and </a:t>
            </a:r>
            <a:r>
              <a:rPr lang="en-US" sz="1200" kern="1200" err="1">
                <a:solidFill>
                  <a:schemeClr val="tx1"/>
                </a:solidFill>
                <a:latin typeface="+mn-lt"/>
                <a:ea typeface="+mn-ea"/>
                <a:cs typeface="+mn-cs"/>
              </a:rPr>
              <a:t>target_end_date</a:t>
            </a:r>
            <a:r>
              <a:rPr lang="en-US"/>
              <a:t> contain no </a:t>
            </a:r>
            <a:r>
              <a:rPr lang="en-US" sz="1200" kern="1200">
                <a:solidFill>
                  <a:schemeClr val="tx1"/>
                </a:solidFill>
                <a:latin typeface="+mn-lt"/>
                <a:ea typeface="+mn-ea"/>
                <a:cs typeface="+mn-cs"/>
              </a:rPr>
              <a:t>NA</a:t>
            </a:r>
            <a:r>
              <a:rPr lang="en-US"/>
              <a:t> values after computation; halt if any are present.</a:t>
            </a:r>
            <a:br>
              <a:rPr lang="en-US"/>
            </a:br>
            <a:r>
              <a:rPr lang="en-US" b="1"/>
              <a:t>Validations:</a:t>
            </a:r>
            <a:r>
              <a:rPr lang="en-US"/>
              <a:t> Print confirmation that the maximum </a:t>
            </a:r>
            <a:r>
              <a:rPr lang="en-US" sz="1200" kern="1200">
                <a:solidFill>
                  <a:schemeClr val="tx1"/>
                </a:solidFill>
                <a:latin typeface="+mn-lt"/>
                <a:ea typeface="+mn-ea"/>
                <a:cs typeface="+mn-cs"/>
              </a:rPr>
              <a:t>week</a:t>
            </a:r>
            <a:r>
              <a:rPr lang="en-US"/>
              <a:t> in the training window is </a:t>
            </a:r>
            <a:r>
              <a:rPr lang="en-US" sz="1200" kern="1200">
                <a:solidFill>
                  <a:schemeClr val="tx1"/>
                </a:solidFill>
                <a:latin typeface="+mn-lt"/>
                <a:ea typeface="+mn-ea"/>
                <a:cs typeface="+mn-cs"/>
              </a:rPr>
              <a:t>&lt;= </a:t>
            </a:r>
            <a:r>
              <a:rPr lang="en-US" sz="1200" kern="1200" err="1">
                <a:solidFill>
                  <a:schemeClr val="tx1"/>
                </a:solidFill>
                <a:latin typeface="+mn-lt"/>
                <a:ea typeface="+mn-ea"/>
                <a:cs typeface="+mn-cs"/>
              </a:rPr>
              <a:t>reference_date</a:t>
            </a:r>
            <a:r>
              <a:rPr lang="en-US"/>
              <a:t> and strictly less than the target week (no look-ahead leakage); halt if this fails.</a:t>
            </a:r>
            <a:br>
              <a:rPr lang="en-US"/>
            </a:br>
            <a:r>
              <a:rPr lang="en-US" b="1"/>
              <a:t>Validations:</a:t>
            </a:r>
            <a:r>
              <a:rPr lang="en-US"/>
              <a:t> Print confirmation that </a:t>
            </a:r>
            <a:r>
              <a:rPr lang="en-US" sz="1200" kern="1200" err="1">
                <a:solidFill>
                  <a:schemeClr val="tx1"/>
                </a:solidFill>
                <a:latin typeface="+mn-lt"/>
                <a:ea typeface="+mn-ea"/>
                <a:cs typeface="+mn-cs"/>
              </a:rPr>
              <a:t>reference_date</a:t>
            </a:r>
            <a:r>
              <a:rPr lang="en-US"/>
              <a:t> and </a:t>
            </a:r>
            <a:r>
              <a:rPr lang="en-US" sz="1200" kern="1200" err="1">
                <a:solidFill>
                  <a:schemeClr val="tx1"/>
                </a:solidFill>
                <a:latin typeface="+mn-lt"/>
                <a:ea typeface="+mn-ea"/>
                <a:cs typeface="+mn-cs"/>
              </a:rPr>
              <a:t>target_end_date</a:t>
            </a:r>
            <a:r>
              <a:rPr lang="en-US"/>
              <a:t> match the ISO pattern </a:t>
            </a:r>
            <a:r>
              <a:rPr lang="en-US" sz="1200" kern="1200">
                <a:solidFill>
                  <a:schemeClr val="tx1"/>
                </a:solidFill>
                <a:latin typeface="+mn-lt"/>
                <a:ea typeface="+mn-ea"/>
                <a:cs typeface="+mn-cs"/>
              </a:rPr>
              <a:t>^\d{4}-\d{2}-\d{2}$</a:t>
            </a:r>
            <a:r>
              <a:rPr lang="en-US"/>
              <a:t> as written to the CSV.</a:t>
            </a:r>
            <a:br>
              <a:rPr lang="en-US" b="1"/>
            </a:br>
            <a:br>
              <a:rPr lang="en-US" b="1"/>
            </a:br>
            <a:r>
              <a:rPr lang="en-US" b="1"/>
              <a:t>** Ask students for suggestions here</a:t>
            </a:r>
            <a:endParaRPr lang="en-US"/>
          </a:p>
        </p:txBody>
      </p:sp>
      <p:sp>
        <p:nvSpPr>
          <p:cNvPr id="4" name="Slide Number Placeholder 3">
            <a:extLst>
              <a:ext uri="{FF2B5EF4-FFF2-40B4-BE49-F238E27FC236}">
                <a16:creationId xmlns:a16="http://schemas.microsoft.com/office/drawing/2014/main" id="{9FC70212-0D74-22F9-2897-1E62D42B8816}"/>
              </a:ext>
            </a:extLst>
          </p:cNvPr>
          <p:cNvSpPr>
            <a:spLocks noGrp="1"/>
          </p:cNvSpPr>
          <p:nvPr>
            <p:ph type="sldNum" sz="quarter" idx="5"/>
          </p:nvPr>
        </p:nvSpPr>
        <p:spPr/>
        <p:txBody>
          <a:bodyPr/>
          <a:lstStyle/>
          <a:p>
            <a:fld id="{7AFB17BE-BED3-4AB9-8286-10A56C371049}" type="slidenum">
              <a:rPr lang="en-US" smtClean="0"/>
              <a:t>33</a:t>
            </a:fld>
            <a:endParaRPr lang="en-US"/>
          </a:p>
        </p:txBody>
      </p:sp>
    </p:spTree>
    <p:extLst>
      <p:ext uri="{BB962C8B-B14F-4D97-AF65-F5344CB8AC3E}">
        <p14:creationId xmlns:p14="http://schemas.microsoft.com/office/powerpoint/2010/main" val="185196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5A68F-CA4F-8CAB-2E24-19C67A55E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F5F4A-D9BB-84A6-F5A9-62988C799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172E2-0F52-74B8-ED00-3BC377120823}"/>
              </a:ext>
            </a:extLst>
          </p:cNvPr>
          <p:cNvSpPr>
            <a:spLocks noGrp="1"/>
          </p:cNvSpPr>
          <p:nvPr>
            <p:ph type="body" idx="1"/>
          </p:nvPr>
        </p:nvSpPr>
        <p:spPr/>
        <p:txBody>
          <a:bodyPr/>
          <a:lstStyle/>
          <a:p>
            <a:r>
              <a:rPr lang="en-US" sz="1200" b="1" kern="1200">
                <a:solidFill>
                  <a:schemeClr val="tx1"/>
                </a:solidFill>
                <a:effectLst/>
                <a:latin typeface="+mn-lt"/>
                <a:ea typeface="+mn-ea"/>
                <a:cs typeface="+mn-cs"/>
              </a:rPr>
              <a:t>## 5. Forecast Generation</a:t>
            </a:r>
            <a:endParaRPr lang="en-US" sz="1200" b="0" kern="1200">
              <a:solidFill>
                <a:schemeClr val="tx1"/>
              </a:solidFill>
              <a:effectLst/>
              <a:latin typeface="+mn-lt"/>
              <a:ea typeface="+mn-ea"/>
              <a:cs typeface="+mn-cs"/>
            </a:endParaRP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For each target week `t` in the testing period that is present in the data:</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1. Compute the reference date as the calendar Date exactly one week before the target: `</a:t>
            </a:r>
            <a:r>
              <a:rPr lang="en-US" sz="1200" b="0" kern="1200" err="1">
                <a:solidFill>
                  <a:schemeClr val="tx1"/>
                </a:solidFill>
                <a:effectLst/>
                <a:latin typeface="+mn-lt"/>
                <a:ea typeface="+mn-ea"/>
                <a:cs typeface="+mn-cs"/>
              </a:rPr>
              <a:t>reference_date</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as_date</a:t>
            </a:r>
            <a:r>
              <a:rPr lang="en-US" sz="1200" b="0" kern="1200">
                <a:solidFill>
                  <a:schemeClr val="tx1"/>
                </a:solidFill>
                <a:effectLst/>
                <a:latin typeface="+mn-lt"/>
                <a:ea typeface="+mn-ea"/>
                <a:cs typeface="+mn-cs"/>
              </a:rPr>
              <a:t>(t) - days(7)`. Use this Date for both training-window selection and for output. When writing CSVs, format `</a:t>
            </a:r>
            <a:r>
              <a:rPr lang="en-US" sz="1200" b="0" kern="1200" err="1">
                <a:solidFill>
                  <a:schemeClr val="tx1"/>
                </a:solidFill>
                <a:effectLst/>
                <a:latin typeface="+mn-lt"/>
                <a:ea typeface="+mn-ea"/>
                <a:cs typeface="+mn-cs"/>
              </a:rPr>
              <a:t>reference_date</a:t>
            </a:r>
            <a:r>
              <a:rPr lang="en-US" sz="1200" b="0" kern="1200">
                <a:solidFill>
                  <a:schemeClr val="tx1"/>
                </a:solidFill>
                <a:effectLst/>
                <a:latin typeface="+mn-lt"/>
                <a:ea typeface="+mn-ea"/>
                <a:cs typeface="+mn-cs"/>
              </a:rPr>
              <a:t>` and `</a:t>
            </a:r>
            <a:r>
              <a:rPr lang="en-US" sz="1200" b="0" kern="1200" err="1">
                <a:solidFill>
                  <a:schemeClr val="tx1"/>
                </a:solidFill>
                <a:effectLst/>
                <a:latin typeface="+mn-lt"/>
                <a:ea typeface="+mn-ea"/>
                <a:cs typeface="+mn-cs"/>
              </a:rPr>
              <a:t>target_end_date</a:t>
            </a:r>
            <a:r>
              <a:rPr lang="en-US" sz="1200" b="0" kern="1200">
                <a:solidFill>
                  <a:schemeClr val="tx1"/>
                </a:solidFill>
                <a:effectLst/>
                <a:latin typeface="+mn-lt"/>
                <a:ea typeface="+mn-ea"/>
                <a:cs typeface="+mn-cs"/>
              </a:rPr>
              <a:t>` as ISO dates (`YYYY-MM-DD`).</a:t>
            </a:r>
          </a:p>
          <a:p>
            <a:endParaRPr lang="en-US"/>
          </a:p>
        </p:txBody>
      </p:sp>
      <p:sp>
        <p:nvSpPr>
          <p:cNvPr id="4" name="Slide Number Placeholder 3">
            <a:extLst>
              <a:ext uri="{FF2B5EF4-FFF2-40B4-BE49-F238E27FC236}">
                <a16:creationId xmlns:a16="http://schemas.microsoft.com/office/drawing/2014/main" id="{EE8F256D-FAD1-2D3B-C079-4F10473E87F1}"/>
              </a:ext>
            </a:extLst>
          </p:cNvPr>
          <p:cNvSpPr>
            <a:spLocks noGrp="1"/>
          </p:cNvSpPr>
          <p:nvPr>
            <p:ph type="sldNum" sz="quarter" idx="5"/>
          </p:nvPr>
        </p:nvSpPr>
        <p:spPr/>
        <p:txBody>
          <a:bodyPr/>
          <a:lstStyle/>
          <a:p>
            <a:fld id="{D0E60299-BECB-47F9-950E-D077161DE286}" type="slidenum">
              <a:rPr lang="en-US" smtClean="0"/>
              <a:t>35</a:t>
            </a:fld>
            <a:endParaRPr lang="en-US"/>
          </a:p>
        </p:txBody>
      </p:sp>
    </p:spTree>
    <p:extLst>
      <p:ext uri="{BB962C8B-B14F-4D97-AF65-F5344CB8AC3E}">
        <p14:creationId xmlns:p14="http://schemas.microsoft.com/office/powerpoint/2010/main" val="37390626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Thinking this as a quick live-demo as we are going through slides. </a:t>
            </a:r>
          </a:p>
          <a:p>
            <a:endParaRPr lang="en-US"/>
          </a:p>
        </p:txBody>
      </p:sp>
      <p:sp>
        <p:nvSpPr>
          <p:cNvPr id="4" name="Slide Number Placeholder 3"/>
          <p:cNvSpPr>
            <a:spLocks noGrp="1"/>
          </p:cNvSpPr>
          <p:nvPr>
            <p:ph type="sldNum" sz="quarter" idx="5"/>
          </p:nvPr>
        </p:nvSpPr>
        <p:spPr/>
        <p:txBody>
          <a:bodyPr/>
          <a:lstStyle/>
          <a:p>
            <a:fld id="{7AFB17BE-BED3-4AB9-8286-10A56C371049}" type="slidenum">
              <a:rPr lang="en-US" smtClean="0"/>
              <a:t>37</a:t>
            </a:fld>
            <a:endParaRPr lang="en-US"/>
          </a:p>
        </p:txBody>
      </p:sp>
    </p:spTree>
    <p:extLst>
      <p:ext uri="{BB962C8B-B14F-4D97-AF65-F5344CB8AC3E}">
        <p14:creationId xmlns:p14="http://schemas.microsoft.com/office/powerpoint/2010/main" val="3904983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a:solidFill>
                  <a:schemeClr val="tx1"/>
                </a:solidFill>
                <a:effectLst/>
                <a:latin typeface="+mn-lt"/>
                <a:ea typeface="+mn-ea"/>
                <a:cs typeface="+mn-cs"/>
              </a:rPr>
              <a:t>3. Forecast with `forecast(fit, h = 1, level = 95)`. Take the point forecast</a:t>
            </a:r>
          </a:p>
          <a:p>
            <a:r>
              <a:rPr lang="en-US" sz="1200" b="0" kern="1200">
                <a:solidFill>
                  <a:schemeClr val="tx1"/>
                </a:solidFill>
                <a:effectLst/>
                <a:latin typeface="+mn-lt"/>
                <a:ea typeface="+mn-ea"/>
                <a:cs typeface="+mn-cs"/>
              </a:rPr>
              <a:t>   (`mean`), lower bound, and upper bound; round each to 2 decimals and clamp</a:t>
            </a:r>
          </a:p>
          <a:p>
            <a:r>
              <a:rPr lang="en-US" sz="1200" b="0" kern="1200">
                <a:solidFill>
                  <a:schemeClr val="tx1"/>
                </a:solidFill>
                <a:effectLst/>
                <a:latin typeface="+mn-lt"/>
                <a:ea typeface="+mn-ea"/>
                <a:cs typeface="+mn-cs"/>
              </a:rPr>
              <a:t>   negatives to 0 (counts are non-negative).</a:t>
            </a:r>
          </a:p>
          <a:p>
            <a:r>
              <a:rPr lang="en-US" sz="1200" b="0" kern="1200">
                <a:solidFill>
                  <a:schemeClr val="tx1"/>
                </a:solidFill>
                <a:effectLst/>
                <a:latin typeface="+mn-lt"/>
                <a:ea typeface="+mn-ea"/>
                <a:cs typeface="+mn-cs"/>
              </a:rPr>
              <a:t>4. Reshape to long — three rows for the week, one per quantile:</a:t>
            </a:r>
          </a:p>
          <a:p>
            <a:r>
              <a:rPr lang="en-US" sz="1200" b="0" kern="1200">
                <a:solidFill>
                  <a:schemeClr val="tx1"/>
                </a:solidFill>
                <a:effectLst/>
                <a:latin typeface="+mn-lt"/>
                <a:ea typeface="+mn-ea"/>
                <a:cs typeface="+mn-cs"/>
              </a:rPr>
              <a:t>   mean -&gt; `0.5`, lower → c(`0.025`), upper → c(`0.975`). Tag the bound columns before</a:t>
            </a:r>
          </a:p>
          <a:p>
            <a:r>
              <a:rPr lang="en-US" sz="1200" b="0" kern="1200">
                <a:solidFill>
                  <a:schemeClr val="tx1"/>
                </a:solidFill>
                <a:effectLst/>
                <a:latin typeface="+mn-lt"/>
                <a:ea typeface="+mn-ea"/>
                <a:cs typeface="+mn-cs"/>
              </a:rPr>
              <a:t>   combining so the two `"95%"` names don't collide.</a:t>
            </a:r>
          </a:p>
          <a:p>
            <a:r>
              <a:rPr lang="en-US" sz="1200" b="0" kern="1200">
                <a:solidFill>
                  <a:schemeClr val="tx1"/>
                </a:solidFill>
                <a:effectLst/>
                <a:latin typeface="+mn-lt"/>
                <a:ea typeface="+mn-ea"/>
                <a:cs typeface="+mn-cs"/>
              </a:rPr>
              <a:t>5. Attach the fixed §6 columns in order and bind across weeks. </a:t>
            </a:r>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 `0.5` = median = point forecast (mean = median: the untransformed Gaussian</a:t>
            </a:r>
          </a:p>
          <a:p>
            <a:r>
              <a:rPr lang="en-US" sz="1200" b="0" kern="1200">
                <a:solidFill>
                  <a:schemeClr val="tx1"/>
                </a:solidFill>
                <a:effectLst/>
                <a:latin typeface="+mn-lt"/>
                <a:ea typeface="+mn-ea"/>
                <a:cs typeface="+mn-cs"/>
              </a:rPr>
              <a:t>  predictive distribution is symmetric).</a:t>
            </a:r>
          </a:p>
          <a:p>
            <a:r>
              <a:rPr lang="en-US" sz="1200" b="0" kern="1200">
                <a:solidFill>
                  <a:schemeClr val="tx1"/>
                </a:solidFill>
                <a:effectLst/>
                <a:latin typeface="+mn-lt"/>
                <a:ea typeface="+mn-ea"/>
                <a:cs typeface="+mn-cs"/>
              </a:rPr>
              <a:t>- `0.025` / `0.975` = the 95% prediction-interval bounds.</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**`STRICT RULE`:**</a:t>
            </a:r>
            <a:r>
              <a:rPr lang="en-US" sz="1200" b="0" kern="1200">
                <a:solidFill>
                  <a:schemeClr val="tx1"/>
                </a:solidFill>
                <a:effectLst/>
                <a:latin typeface="+mn-lt"/>
                <a:ea typeface="+mn-ea"/>
                <a:cs typeface="+mn-cs"/>
              </a:rPr>
              <a:t> Clamp at 0 — applied in Rule 3.</a:t>
            </a:r>
          </a:p>
          <a:p>
            <a:r>
              <a:rPr lang="en-US" sz="1200" b="1" kern="1200">
                <a:solidFill>
                  <a:schemeClr val="tx1"/>
                </a:solidFill>
                <a:effectLst/>
                <a:latin typeface="+mn-lt"/>
                <a:ea typeface="+mn-ea"/>
                <a:cs typeface="+mn-cs"/>
              </a:rPr>
              <a:t>**`STRICT RULE`:**</a:t>
            </a:r>
            <a:r>
              <a:rPr lang="en-US" sz="1200" b="0" kern="1200">
                <a:solidFill>
                  <a:schemeClr val="tx1"/>
                </a:solidFill>
                <a:effectLst/>
                <a:latin typeface="+mn-lt"/>
                <a:ea typeface="+mn-ea"/>
                <a:cs typeface="+mn-cs"/>
              </a:rPr>
              <a:t> Non-decreasing within each week — holds since lower ≤ mean ≤</a:t>
            </a:r>
          </a:p>
          <a:p>
            <a:r>
              <a:rPr lang="en-US" sz="1200" b="0" kern="1200">
                <a:solidFill>
                  <a:schemeClr val="tx1"/>
                </a:solidFill>
                <a:effectLst/>
                <a:latin typeface="+mn-lt"/>
                <a:ea typeface="+mn-ea"/>
                <a:cs typeface="+mn-cs"/>
              </a:rPr>
              <a:t>upper by construction.</a:t>
            </a:r>
          </a:p>
          <a:p>
            <a:r>
              <a:rPr lang="en-US" sz="1200" b="1" kern="1200">
                <a:solidFill>
                  <a:schemeClr val="tx1"/>
                </a:solidFill>
                <a:effectLst/>
                <a:latin typeface="+mn-lt"/>
                <a:ea typeface="+mn-ea"/>
                <a:cs typeface="+mn-cs"/>
              </a:rPr>
              <a:t>**`STRICT RULE`:**</a:t>
            </a:r>
            <a:r>
              <a:rPr lang="en-US" sz="1200" b="0" kern="1200">
                <a:solidFill>
                  <a:schemeClr val="tx1"/>
                </a:solidFill>
                <a:effectLst/>
                <a:latin typeface="+mn-lt"/>
                <a:ea typeface="+mn-ea"/>
                <a:cs typeface="+mn-cs"/>
              </a:rPr>
              <a:t> Exactly three rows per target week — one per quantile.</a:t>
            </a:r>
          </a:p>
          <a:p>
            <a:endParaRPr lang="en-US"/>
          </a:p>
        </p:txBody>
      </p:sp>
      <p:sp>
        <p:nvSpPr>
          <p:cNvPr id="4" name="Slide Number Placeholder 3"/>
          <p:cNvSpPr>
            <a:spLocks noGrp="1"/>
          </p:cNvSpPr>
          <p:nvPr>
            <p:ph type="sldNum" sz="quarter" idx="5"/>
          </p:nvPr>
        </p:nvSpPr>
        <p:spPr/>
        <p:txBody>
          <a:bodyPr/>
          <a:lstStyle/>
          <a:p>
            <a:fld id="{7AFB17BE-BED3-4AB9-8286-10A56C371049}" type="slidenum">
              <a:rPr lang="en-US" smtClean="0"/>
              <a:t>38</a:t>
            </a:fld>
            <a:endParaRPr lang="en-US"/>
          </a:p>
        </p:txBody>
      </p:sp>
    </p:spTree>
    <p:extLst>
      <p:ext uri="{BB962C8B-B14F-4D97-AF65-F5344CB8AC3E}">
        <p14:creationId xmlns:p14="http://schemas.microsoft.com/office/powerpoint/2010/main" val="26188055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2A8ED-A7A6-F1D6-135A-D11FB820B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57BDD-473C-4E29-72E6-5895B2358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25BBA-4ABF-7C0B-EF10-1F34C677610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From the forecast object, pull three pieces: the point forecast, the lower bound, and the upper bound. The lower and upper bounds should come back with one column per level.</a:t>
            </a:r>
            <a:endParaRPr lang="en-US" dirty="0"/>
          </a:p>
        </p:txBody>
      </p:sp>
      <p:sp>
        <p:nvSpPr>
          <p:cNvPr id="4" name="Slide Number Placeholder 3">
            <a:extLst>
              <a:ext uri="{FF2B5EF4-FFF2-40B4-BE49-F238E27FC236}">
                <a16:creationId xmlns:a16="http://schemas.microsoft.com/office/drawing/2014/main" id="{D63D33FD-5BC6-F44F-F04C-F9704E032A2F}"/>
              </a:ext>
            </a:extLst>
          </p:cNvPr>
          <p:cNvSpPr>
            <a:spLocks noGrp="1"/>
          </p:cNvSpPr>
          <p:nvPr>
            <p:ph type="sldNum" sz="quarter" idx="5"/>
          </p:nvPr>
        </p:nvSpPr>
        <p:spPr/>
        <p:txBody>
          <a:bodyPr/>
          <a:lstStyle/>
          <a:p>
            <a:fld id="{7AFB17BE-BED3-4AB9-8286-10A56C371049}" type="slidenum">
              <a:rPr lang="en-US" smtClean="0"/>
              <a:t>39</a:t>
            </a:fld>
            <a:endParaRPr lang="en-US"/>
          </a:p>
        </p:txBody>
      </p:sp>
    </p:spTree>
    <p:extLst>
      <p:ext uri="{BB962C8B-B14F-4D97-AF65-F5344CB8AC3E}">
        <p14:creationId xmlns:p14="http://schemas.microsoft.com/office/powerpoint/2010/main" val="28385478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685B1-3C4D-1CA5-3359-673AAC4FB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21625-351E-A12A-7038-F9721A694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281EFA-3CEA-C067-74B8-4BD1748646FD}"/>
              </a:ext>
            </a:extLst>
          </p:cNvPr>
          <p:cNvSpPr>
            <a:spLocks noGrp="1"/>
          </p:cNvSpPr>
          <p:nvPr>
            <p:ph type="body" idx="1"/>
          </p:nvPr>
        </p:nvSpPr>
        <p:spPr/>
        <p:txBody>
          <a:bodyPr/>
          <a:lstStyle/>
          <a:p>
            <a:br>
              <a:rPr lang="en-US" b="1" dirty="0"/>
            </a:br>
            <a:r>
              <a:rPr lang="en-US" b="1" dirty="0"/>
              <a:t>** Ask students for suggestions here</a:t>
            </a:r>
            <a:endParaRPr lang="en-US" dirty="0"/>
          </a:p>
        </p:txBody>
      </p:sp>
      <p:sp>
        <p:nvSpPr>
          <p:cNvPr id="4" name="Slide Number Placeholder 3">
            <a:extLst>
              <a:ext uri="{FF2B5EF4-FFF2-40B4-BE49-F238E27FC236}">
                <a16:creationId xmlns:a16="http://schemas.microsoft.com/office/drawing/2014/main" id="{4D97146C-4FB8-4117-1B70-3438C3E8DA21}"/>
              </a:ext>
            </a:extLst>
          </p:cNvPr>
          <p:cNvSpPr>
            <a:spLocks noGrp="1"/>
          </p:cNvSpPr>
          <p:nvPr>
            <p:ph type="sldNum" sz="quarter" idx="5"/>
          </p:nvPr>
        </p:nvSpPr>
        <p:spPr/>
        <p:txBody>
          <a:bodyPr/>
          <a:lstStyle/>
          <a:p>
            <a:fld id="{7AFB17BE-BED3-4AB9-8286-10A56C371049}" type="slidenum">
              <a:rPr lang="en-US" smtClean="0"/>
              <a:t>40</a:t>
            </a:fld>
            <a:endParaRPr lang="en-US"/>
          </a:p>
        </p:txBody>
      </p:sp>
    </p:spTree>
    <p:extLst>
      <p:ext uri="{BB962C8B-B14F-4D97-AF65-F5344CB8AC3E}">
        <p14:creationId xmlns:p14="http://schemas.microsoft.com/office/powerpoint/2010/main" val="806999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5A14A-50EB-6BE5-7B45-E73AF872FA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E85CF-7E5C-70B3-CDC9-F8006ACBF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67F16-02F8-FA05-7932-3BECFEAAE9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From the forecast object, pull three pieces: the point forecast (</a:t>
            </a:r>
            <a:r>
              <a:rPr lang="en-US" dirty="0" err="1"/>
              <a:t>fcst$mean</a:t>
            </a:r>
            <a:r>
              <a:rPr lang="en-US" sz="1200" dirty="0"/>
              <a:t>), the lower bound (</a:t>
            </a:r>
            <a:r>
              <a:rPr lang="en-US" dirty="0" err="1"/>
              <a:t>fcst$lower</a:t>
            </a:r>
            <a:r>
              <a:rPr lang="en-US" sz="1200" dirty="0"/>
              <a:t>), and the upper bound (</a:t>
            </a:r>
            <a:r>
              <a:rPr lang="en-US" dirty="0" err="1"/>
              <a:t>fcst$upper</a:t>
            </a:r>
            <a:r>
              <a:rPr lang="en-US" sz="1200" dirty="0"/>
              <a:t>). The lower and upper bounds come back with one column per level.</a:t>
            </a:r>
          </a:p>
          <a:p>
            <a:endParaRPr lang="en-US" dirty="0"/>
          </a:p>
        </p:txBody>
      </p:sp>
      <p:sp>
        <p:nvSpPr>
          <p:cNvPr id="4" name="Slide Number Placeholder 3">
            <a:extLst>
              <a:ext uri="{FF2B5EF4-FFF2-40B4-BE49-F238E27FC236}">
                <a16:creationId xmlns:a16="http://schemas.microsoft.com/office/drawing/2014/main" id="{DBC22344-C631-8910-40CA-9809D5992584}"/>
              </a:ext>
            </a:extLst>
          </p:cNvPr>
          <p:cNvSpPr>
            <a:spLocks noGrp="1"/>
          </p:cNvSpPr>
          <p:nvPr>
            <p:ph type="sldNum" sz="quarter" idx="5"/>
          </p:nvPr>
        </p:nvSpPr>
        <p:spPr/>
        <p:txBody>
          <a:bodyPr/>
          <a:lstStyle/>
          <a:p>
            <a:fld id="{D0E60299-BECB-47F9-950E-D077161DE286}" type="slidenum">
              <a:rPr lang="en-US" smtClean="0"/>
              <a:t>41</a:t>
            </a:fld>
            <a:endParaRPr lang="en-US"/>
          </a:p>
        </p:txBody>
      </p:sp>
    </p:spTree>
    <p:extLst>
      <p:ext uri="{BB962C8B-B14F-4D97-AF65-F5344CB8AC3E}">
        <p14:creationId xmlns:p14="http://schemas.microsoft.com/office/powerpoint/2010/main" val="6154820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46</a:t>
            </a:fld>
            <a:endParaRPr lang="en-US"/>
          </a:p>
        </p:txBody>
      </p:sp>
    </p:spTree>
    <p:extLst>
      <p:ext uri="{BB962C8B-B14F-4D97-AF65-F5344CB8AC3E}">
        <p14:creationId xmlns:p14="http://schemas.microsoft.com/office/powerpoint/2010/main" val="1252433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597A7-2667-7780-2041-DA818A8B8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4A02F-089D-4605-B830-C73324885B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7BC047-D939-51B3-6B16-AD50B2556A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From the forecast object, pull three pieces: the point forecast (</a:t>
            </a:r>
            <a:r>
              <a:rPr lang="en-US" dirty="0" err="1"/>
              <a:t>fcst$mean</a:t>
            </a:r>
            <a:r>
              <a:rPr lang="en-US" sz="1200" dirty="0"/>
              <a:t>), the lower bound (</a:t>
            </a:r>
            <a:r>
              <a:rPr lang="en-US" dirty="0" err="1"/>
              <a:t>fcst$lower</a:t>
            </a:r>
            <a:r>
              <a:rPr lang="en-US" sz="1200" dirty="0"/>
              <a:t>), and the upper bound (</a:t>
            </a:r>
            <a:r>
              <a:rPr lang="en-US" dirty="0" err="1"/>
              <a:t>fcst$upper</a:t>
            </a:r>
            <a:r>
              <a:rPr lang="en-US" sz="1200" dirty="0"/>
              <a:t>). The lower and upper bounds come back with one column per level.</a:t>
            </a:r>
          </a:p>
          <a:p>
            <a:endParaRPr lang="en-US" dirty="0"/>
          </a:p>
        </p:txBody>
      </p:sp>
      <p:sp>
        <p:nvSpPr>
          <p:cNvPr id="4" name="Slide Number Placeholder 3">
            <a:extLst>
              <a:ext uri="{FF2B5EF4-FFF2-40B4-BE49-F238E27FC236}">
                <a16:creationId xmlns:a16="http://schemas.microsoft.com/office/drawing/2014/main" id="{4334CED3-72DB-37B0-ED90-40C8D0B8C9C6}"/>
              </a:ext>
            </a:extLst>
          </p:cNvPr>
          <p:cNvSpPr>
            <a:spLocks noGrp="1"/>
          </p:cNvSpPr>
          <p:nvPr>
            <p:ph type="sldNum" sz="quarter" idx="5"/>
          </p:nvPr>
        </p:nvSpPr>
        <p:spPr/>
        <p:txBody>
          <a:bodyPr/>
          <a:lstStyle/>
          <a:p>
            <a:fld id="{D0E60299-BECB-47F9-950E-D077161DE286}" type="slidenum">
              <a:rPr lang="en-US" smtClean="0"/>
              <a:t>48</a:t>
            </a:fld>
            <a:endParaRPr lang="en-US"/>
          </a:p>
        </p:txBody>
      </p:sp>
    </p:spTree>
    <p:extLst>
      <p:ext uri="{BB962C8B-B14F-4D97-AF65-F5344CB8AC3E}">
        <p14:creationId xmlns:p14="http://schemas.microsoft.com/office/powerpoint/2010/main" val="5457024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0E615-074F-9A58-B0E5-F854B7FB9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8CA46-6E13-C5D5-90A7-FD56C0AE1C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B53538-5F91-0DC5-744D-3D283DB212AC}"/>
              </a:ext>
            </a:extLst>
          </p:cNvPr>
          <p:cNvSpPr>
            <a:spLocks noGrp="1"/>
          </p:cNvSpPr>
          <p:nvPr>
            <p:ph type="body" idx="1"/>
          </p:nvPr>
        </p:nvSpPr>
        <p:spPr/>
        <p:txBody>
          <a:bodyPr/>
          <a:lstStyle/>
          <a:p>
            <a:r>
              <a:rPr lang="en-US" sz="1200" b="1" kern="1200">
                <a:solidFill>
                  <a:schemeClr val="tx1"/>
                </a:solidFill>
                <a:effectLst/>
                <a:latin typeface="+mn-lt"/>
                <a:ea typeface="+mn-ea"/>
                <a:cs typeface="+mn-cs"/>
              </a:rPr>
              <a:t>## 5. Forecast Generation</a:t>
            </a:r>
            <a:endParaRPr lang="en-US" sz="1200" b="0" kern="1200">
              <a:solidFill>
                <a:schemeClr val="tx1"/>
              </a:solidFill>
              <a:effectLst/>
              <a:latin typeface="+mn-lt"/>
              <a:ea typeface="+mn-ea"/>
              <a:cs typeface="+mn-cs"/>
            </a:endParaRP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For each target week `t` in the testing period that is present in the data:</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1. Compute the reference date as the calendar Date exactly one week before the target: `</a:t>
            </a:r>
            <a:r>
              <a:rPr lang="en-US" sz="1200" b="0" kern="1200" err="1">
                <a:solidFill>
                  <a:schemeClr val="tx1"/>
                </a:solidFill>
                <a:effectLst/>
                <a:latin typeface="+mn-lt"/>
                <a:ea typeface="+mn-ea"/>
                <a:cs typeface="+mn-cs"/>
              </a:rPr>
              <a:t>reference_date</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as_date</a:t>
            </a:r>
            <a:r>
              <a:rPr lang="en-US" sz="1200" b="0" kern="1200">
                <a:solidFill>
                  <a:schemeClr val="tx1"/>
                </a:solidFill>
                <a:effectLst/>
                <a:latin typeface="+mn-lt"/>
                <a:ea typeface="+mn-ea"/>
                <a:cs typeface="+mn-cs"/>
              </a:rPr>
              <a:t>(t) - days(7)`. Use this Date for both training-window selection and for output. When writing CSVs, format `</a:t>
            </a:r>
            <a:r>
              <a:rPr lang="en-US" sz="1200" b="0" kern="1200" err="1">
                <a:solidFill>
                  <a:schemeClr val="tx1"/>
                </a:solidFill>
                <a:effectLst/>
                <a:latin typeface="+mn-lt"/>
                <a:ea typeface="+mn-ea"/>
                <a:cs typeface="+mn-cs"/>
              </a:rPr>
              <a:t>reference_date</a:t>
            </a:r>
            <a:r>
              <a:rPr lang="en-US" sz="1200" b="0" kern="1200">
                <a:solidFill>
                  <a:schemeClr val="tx1"/>
                </a:solidFill>
                <a:effectLst/>
                <a:latin typeface="+mn-lt"/>
                <a:ea typeface="+mn-ea"/>
                <a:cs typeface="+mn-cs"/>
              </a:rPr>
              <a:t>` and `</a:t>
            </a:r>
            <a:r>
              <a:rPr lang="en-US" sz="1200" b="0" kern="1200" err="1">
                <a:solidFill>
                  <a:schemeClr val="tx1"/>
                </a:solidFill>
                <a:effectLst/>
                <a:latin typeface="+mn-lt"/>
                <a:ea typeface="+mn-ea"/>
                <a:cs typeface="+mn-cs"/>
              </a:rPr>
              <a:t>target_end_date</a:t>
            </a:r>
            <a:r>
              <a:rPr lang="en-US" sz="1200" b="0" kern="1200">
                <a:solidFill>
                  <a:schemeClr val="tx1"/>
                </a:solidFill>
                <a:effectLst/>
                <a:latin typeface="+mn-lt"/>
                <a:ea typeface="+mn-ea"/>
                <a:cs typeface="+mn-cs"/>
              </a:rPr>
              <a:t>` as ISO dates (`YYYY-MM-DD`).</a:t>
            </a:r>
          </a:p>
          <a:p>
            <a:r>
              <a:rPr lang="en-US" sz="1200" b="0" kern="1200">
                <a:solidFill>
                  <a:schemeClr val="tx1"/>
                </a:solidFill>
                <a:effectLst/>
                <a:latin typeface="+mn-lt"/>
                <a:ea typeface="+mn-ea"/>
                <a:cs typeface="+mn-cs"/>
              </a:rPr>
              <a:t>2. Fit the ARIMA model (Rule 4) on all rows with `week &lt;= </a:t>
            </a:r>
            <a:r>
              <a:rPr lang="en-US" sz="1200" b="0" kern="1200" err="1">
                <a:solidFill>
                  <a:schemeClr val="tx1"/>
                </a:solidFill>
                <a:effectLst/>
                <a:latin typeface="+mn-lt"/>
                <a:ea typeface="+mn-ea"/>
                <a:cs typeface="+mn-cs"/>
              </a:rPr>
              <a:t>reference_date</a:t>
            </a:r>
            <a:r>
              <a:rPr lang="en-US" sz="1200" b="0" kern="1200">
                <a:solidFill>
                  <a:schemeClr val="tx1"/>
                </a:solidFill>
                <a:effectLst/>
                <a:latin typeface="+mn-lt"/>
                <a:ea typeface="+mn-ea"/>
                <a:cs typeface="+mn-cs"/>
              </a:rPr>
              <a:t>` (expanding-window).</a:t>
            </a:r>
          </a:p>
          <a:p>
            <a:r>
              <a:rPr lang="en-US" sz="1200" b="0" kern="1200">
                <a:solidFill>
                  <a:schemeClr val="tx1"/>
                </a:solidFill>
                <a:effectLst/>
                <a:latin typeface="+mn-lt"/>
                <a:ea typeface="+mn-ea"/>
                <a:cs typeface="+mn-cs"/>
              </a:rPr>
              <a:t>3. Forecast one step ahead with `pr &lt;- predict(fit, </a:t>
            </a:r>
            <a:r>
              <a:rPr lang="en-US" sz="1200" b="0" kern="1200" err="1">
                <a:solidFill>
                  <a:schemeClr val="tx1"/>
                </a:solidFill>
                <a:effectLst/>
                <a:latin typeface="+mn-lt"/>
                <a:ea typeface="+mn-ea"/>
                <a:cs typeface="+mn-cs"/>
              </a:rPr>
              <a:t>n.ahead</a:t>
            </a:r>
            <a:r>
              <a:rPr lang="en-US" sz="1200" b="0" kern="1200">
                <a:solidFill>
                  <a:schemeClr val="tx1"/>
                </a:solidFill>
                <a:effectLst/>
                <a:latin typeface="+mn-lt"/>
                <a:ea typeface="+mn-ea"/>
                <a:cs typeface="+mn-cs"/>
              </a:rPr>
              <a:t> = 1)`. Take the forecast mean from `</a:t>
            </a:r>
            <a:r>
              <a:rPr lang="en-US" sz="1200" b="0" kern="1200" err="1">
                <a:solidFill>
                  <a:schemeClr val="tx1"/>
                </a:solidFill>
                <a:effectLst/>
                <a:latin typeface="+mn-lt"/>
                <a:ea typeface="+mn-ea"/>
                <a:cs typeface="+mn-cs"/>
              </a:rPr>
              <a:t>pr$pred</a:t>
            </a:r>
            <a:r>
              <a:rPr lang="en-US" sz="1200" b="0" kern="1200">
                <a:solidFill>
                  <a:schemeClr val="tx1"/>
                </a:solidFill>
                <a:effectLst/>
                <a:latin typeface="+mn-lt"/>
                <a:ea typeface="+mn-ea"/>
                <a:cs typeface="+mn-cs"/>
              </a:rPr>
              <a:t>` and its standard error from `</a:t>
            </a:r>
            <a:r>
              <a:rPr lang="en-US" sz="1200" b="0" kern="1200" err="1">
                <a:solidFill>
                  <a:schemeClr val="tx1"/>
                </a:solidFill>
                <a:effectLst/>
                <a:latin typeface="+mn-lt"/>
                <a:ea typeface="+mn-ea"/>
                <a:cs typeface="+mn-cs"/>
              </a:rPr>
              <a:t>pr$se</a:t>
            </a:r>
            <a:r>
              <a:rPr lang="en-US" sz="1200" b="0" kern="1200">
                <a:solidFill>
                  <a:schemeClr val="tx1"/>
                </a:solidFill>
                <a:effectLst/>
                <a:latin typeface="+mn-lt"/>
                <a:ea typeface="+mn-ea"/>
                <a:cs typeface="+mn-cs"/>
              </a:rPr>
              <a:t>`.</a:t>
            </a:r>
          </a:p>
          <a:p>
            <a:r>
              <a:rPr lang="en-US" sz="1200" b="0" kern="1200">
                <a:solidFill>
                  <a:schemeClr val="tx1"/>
                </a:solidFill>
                <a:effectLst/>
                <a:latin typeface="+mn-lt"/>
                <a:ea typeface="+mn-ea"/>
                <a:cs typeface="+mn-cs"/>
              </a:rPr>
              <a:t>4. Use the ARIMA forecast standard error </a:t>
            </a:r>
            <a:r>
              <a:rPr lang="en-US" sz="1200" b="1" kern="1200">
                <a:solidFill>
                  <a:schemeClr val="tx1"/>
                </a:solidFill>
                <a:effectLst/>
                <a:latin typeface="+mn-lt"/>
                <a:ea typeface="+mn-ea"/>
                <a:cs typeface="+mn-cs"/>
              </a:rPr>
              <a:t>**directly**</a:t>
            </a:r>
            <a:r>
              <a:rPr lang="en-US" sz="1200" b="0" kern="1200">
                <a:solidFill>
                  <a:schemeClr val="tx1"/>
                </a:solidFill>
                <a:effectLst/>
                <a:latin typeface="+mn-lt"/>
                <a:ea typeface="+mn-ea"/>
                <a:cs typeface="+mn-cs"/>
              </a:rPr>
              <a:t> as the 1-week-ahead predictive standard deviation: `</a:t>
            </a:r>
            <a:r>
              <a:rPr lang="en-US" sz="1200" b="0" kern="1200" err="1">
                <a:solidFill>
                  <a:schemeClr val="tx1"/>
                </a:solidFill>
                <a:effectLst/>
                <a:latin typeface="+mn-lt"/>
                <a:ea typeface="+mn-ea"/>
                <a:cs typeface="+mn-cs"/>
              </a:rPr>
              <a:t>sd_pred</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as.numeric</a:t>
            </a:r>
            <a:r>
              <a:rPr lang="en-US" sz="1200" b="0" kern="1200">
                <a:solidFill>
                  <a:schemeClr val="tx1"/>
                </a:solidFill>
                <a:effectLst/>
                <a:latin typeface="+mn-lt"/>
                <a:ea typeface="+mn-ea"/>
                <a:cs typeface="+mn-cs"/>
              </a:rPr>
              <a:t>(</a:t>
            </a:r>
            <a:r>
              <a:rPr lang="en-US" sz="1200" b="0" kern="1200" err="1">
                <a:solidFill>
                  <a:schemeClr val="tx1"/>
                </a:solidFill>
                <a:effectLst/>
                <a:latin typeface="+mn-lt"/>
                <a:ea typeface="+mn-ea"/>
                <a:cs typeface="+mn-cs"/>
              </a:rPr>
              <a:t>pr$se</a:t>
            </a:r>
            <a:r>
              <a:rPr lang="en-US" sz="1200" b="0" kern="1200">
                <a:solidFill>
                  <a:schemeClr val="tx1"/>
                </a:solidFill>
                <a:effectLst/>
                <a:latin typeface="+mn-lt"/>
                <a:ea typeface="+mn-ea"/>
                <a:cs typeface="+mn-cs"/>
              </a:rPr>
              <a:t>)`. At horizon 1 this already incorporates the model's innovation variance, so do </a:t>
            </a:r>
            <a:r>
              <a:rPr lang="en-US" sz="1200" b="1" kern="1200">
                <a:solidFill>
                  <a:schemeClr val="tx1"/>
                </a:solidFill>
                <a:effectLst/>
                <a:latin typeface="+mn-lt"/>
                <a:ea typeface="+mn-ea"/>
                <a:cs typeface="+mn-cs"/>
              </a:rPr>
              <a:t>**not**</a:t>
            </a:r>
            <a:r>
              <a:rPr lang="en-US" sz="1200" b="0" kern="1200">
                <a:solidFill>
                  <a:schemeClr val="tx1"/>
                </a:solidFill>
                <a:effectLst/>
                <a:latin typeface="+mn-lt"/>
                <a:ea typeface="+mn-ea"/>
                <a:cs typeface="+mn-cs"/>
              </a:rPr>
              <a:t> add a separate residual-variance term (doing so double-counts the innovation variance and inflates the interval).</a:t>
            </a:r>
          </a:p>
          <a:p>
            <a:r>
              <a:rPr lang="en-US" sz="1200" b="0" kern="1200">
                <a:solidFill>
                  <a:schemeClr val="tx1"/>
                </a:solidFill>
                <a:effectLst/>
                <a:latin typeface="+mn-lt"/>
                <a:ea typeface="+mn-ea"/>
                <a:cs typeface="+mn-cs"/>
              </a:rPr>
              <a:t>5. Compute the required quantiles from a normal predictive distribution:</a:t>
            </a:r>
          </a:p>
          <a:p>
            <a:r>
              <a:rPr lang="en-US" sz="1200" b="0" kern="1200">
                <a:solidFill>
                  <a:schemeClr val="tx1"/>
                </a:solidFill>
                <a:effectLst/>
                <a:latin typeface="+mn-lt"/>
                <a:ea typeface="+mn-ea"/>
                <a:cs typeface="+mn-cs"/>
              </a:rPr>
              <a:t>  `</a:t>
            </a:r>
            <a:r>
              <a:rPr lang="en-US" sz="1200" b="0" kern="1200" err="1">
                <a:solidFill>
                  <a:schemeClr val="tx1"/>
                </a:solidFill>
                <a:effectLst/>
                <a:latin typeface="+mn-lt"/>
                <a:ea typeface="+mn-ea"/>
                <a:cs typeface="+mn-cs"/>
              </a:rPr>
              <a:t>q_value</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qnorm</a:t>
            </a:r>
            <a:r>
              <a:rPr lang="en-US" sz="1200" b="0" kern="1200">
                <a:solidFill>
                  <a:schemeClr val="tx1"/>
                </a:solidFill>
                <a:effectLst/>
                <a:latin typeface="+mn-lt"/>
                <a:ea typeface="+mn-ea"/>
                <a:cs typeface="+mn-cs"/>
              </a:rPr>
              <a:t>(p, mean = </a:t>
            </a:r>
            <a:r>
              <a:rPr lang="en-US" sz="1200" b="0" kern="1200" err="1">
                <a:solidFill>
                  <a:schemeClr val="tx1"/>
                </a:solidFill>
                <a:effectLst/>
                <a:latin typeface="+mn-lt"/>
                <a:ea typeface="+mn-ea"/>
                <a:cs typeface="+mn-cs"/>
              </a:rPr>
              <a:t>pred_mean</a:t>
            </a:r>
            <a:r>
              <a:rPr lang="en-US" sz="1200" b="0" kern="1200">
                <a:solidFill>
                  <a:schemeClr val="tx1"/>
                </a:solidFill>
                <a:effectLst/>
                <a:latin typeface="+mn-lt"/>
                <a:ea typeface="+mn-ea"/>
                <a:cs typeface="+mn-cs"/>
              </a:rPr>
              <a:t>, </a:t>
            </a:r>
            <a:r>
              <a:rPr lang="en-US" sz="1200" b="0" kern="1200" err="1">
                <a:solidFill>
                  <a:schemeClr val="tx1"/>
                </a:solidFill>
                <a:effectLst/>
                <a:latin typeface="+mn-lt"/>
                <a:ea typeface="+mn-ea"/>
                <a:cs typeface="+mn-cs"/>
              </a:rPr>
              <a:t>sd</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sd_pred</a:t>
            </a:r>
            <a:r>
              <a:rPr lang="en-US" sz="1200" b="0" kern="1200">
                <a:solidFill>
                  <a:schemeClr val="tx1"/>
                </a:solidFill>
                <a:effectLst/>
                <a:latin typeface="+mn-lt"/>
                <a:ea typeface="+mn-ea"/>
                <a:cs typeface="+mn-cs"/>
              </a:rPr>
              <a:t>)`.</a:t>
            </a:r>
          </a:p>
          <a:p>
            <a:r>
              <a:rPr lang="en-US" sz="1200" b="0" kern="1200">
                <a:solidFill>
                  <a:schemeClr val="tx1"/>
                </a:solidFill>
                <a:effectLst/>
                <a:latin typeface="+mn-lt"/>
                <a:ea typeface="+mn-ea"/>
                <a:cs typeface="+mn-cs"/>
              </a:rPr>
              <a:t>Quantiles to output (`</a:t>
            </a:r>
            <a:r>
              <a:rPr lang="en-US" sz="1200" b="0" kern="1200" err="1">
                <a:solidFill>
                  <a:schemeClr val="tx1"/>
                </a:solidFill>
                <a:effectLst/>
                <a:latin typeface="+mn-lt"/>
                <a:ea typeface="+mn-ea"/>
                <a:cs typeface="+mn-cs"/>
              </a:rPr>
              <a:t>output_type_id</a:t>
            </a:r>
            <a:r>
              <a:rPr lang="en-US" sz="1200" b="0" kern="1200">
                <a:solidFill>
                  <a:schemeClr val="tx1"/>
                </a:solidFill>
                <a:effectLst/>
                <a:latin typeface="+mn-lt"/>
                <a:ea typeface="+mn-ea"/>
                <a:cs typeface="+mn-cs"/>
              </a:rPr>
              <a:t>`): `0.025`, `0.5`, `0.975`.</a:t>
            </a:r>
          </a:p>
          <a:p>
            <a:r>
              <a:rPr lang="en-US" sz="1200" b="0" kern="1200">
                <a:solidFill>
                  <a:schemeClr val="tx1"/>
                </a:solidFill>
                <a:effectLst/>
                <a:latin typeface="+mn-lt"/>
                <a:ea typeface="+mn-ea"/>
                <a:cs typeface="+mn-cs"/>
              </a:rPr>
              <a:t> </a:t>
            </a:r>
          </a:p>
          <a:p>
            <a:r>
              <a:rPr lang="en-US" sz="1200" b="0" kern="1200">
                <a:solidFill>
                  <a:schemeClr val="tx1"/>
                </a:solidFill>
                <a:effectLst/>
                <a:latin typeface="+mn-lt"/>
                <a:ea typeface="+mn-ea"/>
                <a:cs typeface="+mn-cs"/>
              </a:rPr>
              <a:t>- `0.5` = median (point forecast).</a:t>
            </a:r>
          </a:p>
          <a:p>
            <a:r>
              <a:rPr lang="en-US" sz="1200" b="0" kern="1200">
                <a:solidFill>
                  <a:schemeClr val="tx1"/>
                </a:solidFill>
                <a:effectLst/>
                <a:latin typeface="+mn-lt"/>
                <a:ea typeface="+mn-ea"/>
                <a:cs typeface="+mn-cs"/>
              </a:rPr>
              <a:t>- `0.025` and `0.975` = lower/upper bounds of the </a:t>
            </a:r>
            <a:r>
              <a:rPr lang="en-US" sz="1200" b="1" kern="1200">
                <a:solidFill>
                  <a:schemeClr val="tx1"/>
                </a:solidFill>
                <a:effectLst/>
                <a:latin typeface="+mn-lt"/>
                <a:ea typeface="+mn-ea"/>
                <a:cs typeface="+mn-cs"/>
              </a:rPr>
              <a:t>**95% prediction interval**</a:t>
            </a:r>
            <a:r>
              <a:rPr lang="en-US" sz="1200" b="0" kern="1200">
                <a:solidFill>
                  <a:schemeClr val="tx1"/>
                </a:solidFill>
                <a:effectLst/>
                <a:latin typeface="+mn-lt"/>
                <a:ea typeface="+mn-ea"/>
                <a:cs typeface="+mn-cs"/>
              </a:rPr>
              <a:t>.</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**`STRICT RULE`:**</a:t>
            </a:r>
            <a:r>
              <a:rPr lang="en-US" sz="1200" b="0" kern="1200">
                <a:solidFill>
                  <a:schemeClr val="tx1"/>
                </a:solidFill>
                <a:effectLst/>
                <a:latin typeface="+mn-lt"/>
                <a:ea typeface="+mn-ea"/>
                <a:cs typeface="+mn-cs"/>
              </a:rPr>
              <a:t> Clamp all forecast values at a floor of 0 (`</a:t>
            </a:r>
            <a:r>
              <a:rPr lang="en-US" sz="1200" b="0" kern="1200" err="1">
                <a:solidFill>
                  <a:schemeClr val="tx1"/>
                </a:solidFill>
                <a:effectLst/>
                <a:latin typeface="+mn-lt"/>
                <a:ea typeface="+mn-ea"/>
                <a:cs typeface="+mn-cs"/>
              </a:rPr>
              <a:t>pmax</a:t>
            </a:r>
            <a:r>
              <a:rPr lang="en-US" sz="1200" b="0" kern="1200">
                <a:solidFill>
                  <a:schemeClr val="tx1"/>
                </a:solidFill>
                <a:effectLst/>
                <a:latin typeface="+mn-lt"/>
                <a:ea typeface="+mn-ea"/>
                <a:cs typeface="+mn-cs"/>
              </a:rPr>
              <a:t>(value, 0)`)</a:t>
            </a:r>
          </a:p>
          <a:p>
            <a:r>
              <a:rPr lang="en-US" sz="1200" b="0" kern="1200">
                <a:solidFill>
                  <a:schemeClr val="tx1"/>
                </a:solidFill>
                <a:effectLst/>
                <a:latin typeface="+mn-lt"/>
                <a:ea typeface="+mn-ea"/>
                <a:cs typeface="+mn-cs"/>
              </a:rPr>
              <a:t>and round to the nearest integer (admissions are non-negative counts).</a:t>
            </a:r>
          </a:p>
          <a:p>
            <a:r>
              <a:rPr lang="en-US" sz="1200" b="0" kern="1200">
                <a:solidFill>
                  <a:schemeClr val="tx1"/>
                </a:solidFill>
                <a:effectLst/>
                <a:latin typeface="+mn-lt"/>
                <a:ea typeface="+mn-ea"/>
                <a:cs typeface="+mn-cs"/>
              </a:rPr>
              <a:t> </a:t>
            </a:r>
          </a:p>
          <a:p>
            <a:r>
              <a:rPr lang="en-US" sz="1200" b="1" kern="1200">
                <a:solidFill>
                  <a:schemeClr val="tx1"/>
                </a:solidFill>
                <a:effectLst/>
                <a:latin typeface="+mn-lt"/>
                <a:ea typeface="+mn-ea"/>
                <a:cs typeface="+mn-cs"/>
              </a:rPr>
              <a:t>**`STRICT RULE`:**</a:t>
            </a:r>
            <a:r>
              <a:rPr lang="en-US" sz="1200" b="0" kern="1200">
                <a:solidFill>
                  <a:schemeClr val="tx1"/>
                </a:solidFill>
                <a:effectLst/>
                <a:latin typeface="+mn-lt"/>
                <a:ea typeface="+mn-ea"/>
                <a:cs typeface="+mn-cs"/>
              </a:rPr>
              <a:t> Quantiles must be non-decreasing within each target week</a:t>
            </a:r>
          </a:p>
          <a:p>
            <a:r>
              <a:rPr lang="en-US" sz="1200" b="0" kern="1200">
                <a:solidFill>
                  <a:schemeClr val="tx1"/>
                </a:solidFill>
                <a:effectLst/>
                <a:latin typeface="+mn-lt"/>
                <a:ea typeface="+mn-ea"/>
                <a:cs typeface="+mn-cs"/>
              </a:rPr>
              <a:t>(`0.025 &lt;= 0.5 &lt;= 0.975`); sort/enforce after clamping.</a:t>
            </a:r>
          </a:p>
          <a:p>
            <a:endParaRPr lang="en-US"/>
          </a:p>
        </p:txBody>
      </p:sp>
      <p:sp>
        <p:nvSpPr>
          <p:cNvPr id="4" name="Slide Number Placeholder 3">
            <a:extLst>
              <a:ext uri="{FF2B5EF4-FFF2-40B4-BE49-F238E27FC236}">
                <a16:creationId xmlns:a16="http://schemas.microsoft.com/office/drawing/2014/main" id="{2690F299-E050-BF5F-6091-038904CBD608}"/>
              </a:ext>
            </a:extLst>
          </p:cNvPr>
          <p:cNvSpPr>
            <a:spLocks noGrp="1"/>
          </p:cNvSpPr>
          <p:nvPr>
            <p:ph type="sldNum" sz="quarter" idx="5"/>
          </p:nvPr>
        </p:nvSpPr>
        <p:spPr/>
        <p:txBody>
          <a:bodyPr/>
          <a:lstStyle/>
          <a:p>
            <a:fld id="{D0E60299-BECB-47F9-950E-D077161DE286}" type="slidenum">
              <a:rPr lang="en-US" smtClean="0"/>
              <a:t>49</a:t>
            </a:fld>
            <a:endParaRPr lang="en-US"/>
          </a:p>
        </p:txBody>
      </p:sp>
    </p:spTree>
    <p:extLst>
      <p:ext uri="{BB962C8B-B14F-4D97-AF65-F5344CB8AC3E}">
        <p14:creationId xmlns:p14="http://schemas.microsoft.com/office/powerpoint/2010/main" val="8881528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6. Forecast Figure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Output the figure to:</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`output/figures/03_forecast/forecast_vs_observed.png`</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If the folder path is not present, create the folder prior to saving the image.</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Image save requirements:</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- 300 DPI</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`Figure Specifications:`</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`Plot Type`: Line chart of observed `value` over the testing period</a:t>
            </a:r>
          </a:p>
          <a:p>
            <a:r>
              <a:rPr lang="en-US" sz="1200" b="0" kern="1200" dirty="0">
                <a:solidFill>
                  <a:schemeClr val="tx1"/>
                </a:solidFill>
                <a:effectLst/>
                <a:latin typeface="+mn-lt"/>
                <a:ea typeface="+mn-ea"/>
                <a:cs typeface="+mn-cs"/>
              </a:rPr>
              <a:t>  (`2025-26` season) with the 1-week-ahead forecast overlaid on the same axes.</a:t>
            </a:r>
          </a:p>
          <a:p>
            <a:r>
              <a:rPr lang="en-US" sz="1200" b="0" kern="1200" dirty="0">
                <a:solidFill>
                  <a:schemeClr val="tx1"/>
                </a:solidFill>
                <a:effectLst/>
                <a:latin typeface="+mn-lt"/>
                <a:ea typeface="+mn-ea"/>
                <a:cs typeface="+mn-cs"/>
              </a:rPr>
              <a:t>- `Observed`: solid line plus points for observed weekly admissions.</a:t>
            </a:r>
          </a:p>
          <a:p>
            <a:r>
              <a:rPr lang="en-US" sz="1200" b="0" kern="1200" dirty="0">
                <a:solidFill>
                  <a:schemeClr val="tx1"/>
                </a:solidFill>
                <a:effectLst/>
                <a:latin typeface="+mn-lt"/>
                <a:ea typeface="+mn-ea"/>
                <a:cs typeface="+mn-cs"/>
              </a:rPr>
              <a:t>- `Forecast Median`: line/points for the `0.5` quantile at each `</a:t>
            </a:r>
            <a:r>
              <a:rPr lang="en-US" sz="1200" b="0" kern="1200" dirty="0" err="1">
                <a:solidFill>
                  <a:schemeClr val="tx1"/>
                </a:solidFill>
                <a:effectLst/>
                <a:latin typeface="+mn-lt"/>
                <a:ea typeface="+mn-ea"/>
                <a:cs typeface="+mn-cs"/>
              </a:rPr>
              <a:t>target_end_date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`Forecast Interval`: shaded ribbon spanning the `0.025`–`0.975` quantiles</a:t>
            </a:r>
          </a:p>
          <a:p>
            <a:r>
              <a:rPr lang="en-US" sz="1200" b="0" kern="1200" dirty="0">
                <a:solidFill>
                  <a:schemeClr val="tx1"/>
                </a:solidFill>
                <a:effectLst/>
                <a:latin typeface="+mn-lt"/>
                <a:ea typeface="+mn-ea"/>
                <a:cs typeface="+mn-cs"/>
              </a:rPr>
              <a:t>  (the 95% PI) at each `</a:t>
            </a:r>
            <a:r>
              <a:rPr lang="en-US" sz="1200" b="0" kern="1200" dirty="0" err="1">
                <a:solidFill>
                  <a:schemeClr val="tx1"/>
                </a:solidFill>
                <a:effectLst/>
                <a:latin typeface="+mn-lt"/>
                <a:ea typeface="+mn-ea"/>
                <a:cs typeface="+mn-cs"/>
              </a:rPr>
              <a:t>target_end_date</a:t>
            </a:r>
            <a:r>
              <a:rPr lang="en-US" sz="1200" b="0" kern="1200" dirty="0">
                <a:solidFill>
                  <a:schemeClr val="tx1"/>
                </a:solidFill>
                <a:effectLst/>
                <a:latin typeface="+mn-lt"/>
                <a:ea typeface="+mn-ea"/>
                <a:cs typeface="+mn-cs"/>
              </a:rPr>
              <a:t>`. The ribbon must sit </a:t>
            </a:r>
            <a:r>
              <a:rPr lang="en-US" sz="1200" b="1" kern="1200" dirty="0">
                <a:solidFill>
                  <a:schemeClr val="tx1"/>
                </a:solidFill>
                <a:effectLst/>
                <a:latin typeface="+mn-lt"/>
                <a:ea typeface="+mn-ea"/>
                <a:cs typeface="+mn-cs"/>
              </a:rPr>
              <a:t>**behind**</a:t>
            </a:r>
            <a:r>
              <a:rPr lang="en-US" sz="1200" b="0" kern="1200" dirty="0">
                <a:solidFill>
                  <a:schemeClr val="tx1"/>
                </a:solidFill>
                <a:effectLst/>
                <a:latin typeface="+mn-lt"/>
                <a:ea typeface="+mn-ea"/>
                <a:cs typeface="+mn-cs"/>
              </a:rPr>
              <a:t> the</a:t>
            </a:r>
          </a:p>
          <a:p>
            <a:r>
              <a:rPr lang="en-US" sz="1200" b="0" kern="1200" dirty="0">
                <a:solidFill>
                  <a:schemeClr val="tx1"/>
                </a:solidFill>
                <a:effectLst/>
                <a:latin typeface="+mn-lt"/>
                <a:ea typeface="+mn-ea"/>
                <a:cs typeface="+mn-cs"/>
              </a:rPr>
              <a:t>  observed and median lines.</a:t>
            </a:r>
          </a:p>
          <a:p>
            <a:r>
              <a:rPr lang="en-US" sz="1200" b="0" kern="1200" dirty="0">
                <a:solidFill>
                  <a:schemeClr val="tx1"/>
                </a:solidFill>
                <a:effectLst/>
                <a:latin typeface="+mn-lt"/>
                <a:ea typeface="+mn-ea"/>
                <a:cs typeface="+mn-cs"/>
              </a:rPr>
              <a:t>- `X-Axis Label`: 'Week'</a:t>
            </a:r>
          </a:p>
          <a:p>
            <a:r>
              <a:rPr lang="en-US" sz="1200" b="0" kern="1200" dirty="0">
                <a:solidFill>
                  <a:schemeClr val="tx1"/>
                </a:solidFill>
                <a:effectLst/>
                <a:latin typeface="+mn-lt"/>
                <a:ea typeface="+mn-ea"/>
                <a:cs typeface="+mn-cs"/>
              </a:rPr>
              <a:t>- `Y-Axis Label`: 'Weekly Influenza Hospitalizations'</a:t>
            </a:r>
          </a:p>
          <a:p>
            <a:r>
              <a:rPr lang="en-US" sz="1200" b="0" kern="1200" dirty="0">
                <a:solidFill>
                  <a:schemeClr val="tx1"/>
                </a:solidFill>
                <a:effectLst/>
                <a:latin typeface="+mn-lt"/>
                <a:ea typeface="+mn-ea"/>
                <a:cs typeface="+mn-cs"/>
              </a:rPr>
              <a:t>- `Y-Axis Range/Tick Labels`: Start at 0 and max label at 10000 past the max</a:t>
            </a:r>
          </a:p>
          <a:p>
            <a:r>
              <a:rPr lang="en-US" sz="1200" b="0" kern="1200" dirty="0">
                <a:solidFill>
                  <a:schemeClr val="tx1"/>
                </a:solidFill>
                <a:effectLst/>
                <a:latin typeface="+mn-lt"/>
                <a:ea typeface="+mn-ea"/>
                <a:cs typeface="+mn-cs"/>
              </a:rPr>
              <a:t>  plotted value (whichever is larger: observed or the upper PI bound).</a:t>
            </a:r>
          </a:p>
          <a:p>
            <a:r>
              <a:rPr lang="en-US" sz="1200" b="0" kern="1200" dirty="0">
                <a:solidFill>
                  <a:schemeClr val="tx1"/>
                </a:solidFill>
                <a:effectLst/>
                <a:latin typeface="+mn-lt"/>
                <a:ea typeface="+mn-ea"/>
                <a:cs typeface="+mn-cs"/>
              </a:rPr>
              <a:t>- `X-Axis Range/Tick Labels:` Use calendar dates from the first to last observed week in the 2025-26 testing period, with weekly  spacing (7-day increments). Show every 4 date labels, and tilt labels 45 degrees.  </a:t>
            </a:r>
          </a:p>
          <a:p>
            <a:r>
              <a:rPr lang="en-US" sz="1200" b="0" kern="1200" dirty="0">
                <a:solidFill>
                  <a:schemeClr val="tx1"/>
                </a:solidFill>
                <a:effectLst/>
                <a:latin typeface="+mn-lt"/>
                <a:ea typeface="+mn-ea"/>
                <a:cs typeface="+mn-cs"/>
              </a:rPr>
              <a:t>- `Plot Title`: 'USA 1-Week-Ahead Influenza Hospitalization Forecast (2025-26 Season)';</a:t>
            </a:r>
          </a:p>
          <a:p>
            <a:r>
              <a:rPr lang="en-US" sz="1200" b="0" kern="1200" dirty="0">
                <a:solidFill>
                  <a:schemeClr val="tx1"/>
                </a:solidFill>
                <a:effectLst/>
                <a:latin typeface="+mn-lt"/>
                <a:ea typeface="+mn-ea"/>
                <a:cs typeface="+mn-cs"/>
              </a:rPr>
              <a:t>  Bold; Centered</a:t>
            </a:r>
          </a:p>
          <a:p>
            <a:r>
              <a:rPr lang="en-US" sz="1200" b="0" kern="1200" dirty="0">
                <a:solidFill>
                  <a:schemeClr val="tx1"/>
                </a:solidFill>
                <a:effectLst/>
                <a:latin typeface="+mn-lt"/>
                <a:ea typeface="+mn-ea"/>
                <a:cs typeface="+mn-cs"/>
              </a:rPr>
              <a:t>- `Legend`: A single legend distinguishing </a:t>
            </a:r>
            <a:r>
              <a:rPr lang="en-US" sz="1200" b="1" kern="1200" dirty="0">
                <a:solidFill>
                  <a:schemeClr val="tx1"/>
                </a:solidFill>
                <a:effectLst/>
                <a:latin typeface="+mn-lt"/>
                <a:ea typeface="+mn-ea"/>
                <a:cs typeface="+mn-cs"/>
              </a:rPr>
              <a:t>**Observed**</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**Forecast Median**</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**95% PI**</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50</a:t>
            </a:fld>
            <a:endParaRPr lang="en-US"/>
          </a:p>
        </p:txBody>
      </p:sp>
    </p:spTree>
    <p:extLst>
      <p:ext uri="{BB962C8B-B14F-4D97-AF65-F5344CB8AC3E}">
        <p14:creationId xmlns:p14="http://schemas.microsoft.com/office/powerpoint/2010/main" val="20060907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6. Forecast Figure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Output the figure to:</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`output/figures/03_forecast/forecast_vs_observed.png`</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If the folder path is not present, create the folder prior to saving the image.</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Image save requirements:</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- 300 DPI</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`Figure Specifications:`</a:t>
            </a:r>
          </a:p>
          <a:p>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 `Plot Type`: Line chart of observed `value` over the testing period</a:t>
            </a:r>
          </a:p>
          <a:p>
            <a:r>
              <a:rPr lang="en-US" sz="1200" b="0" kern="1200" dirty="0">
                <a:solidFill>
                  <a:schemeClr val="tx1"/>
                </a:solidFill>
                <a:effectLst/>
                <a:latin typeface="+mn-lt"/>
                <a:ea typeface="+mn-ea"/>
                <a:cs typeface="+mn-cs"/>
              </a:rPr>
              <a:t>  (`2025-26` season) with the 1-week-ahead forecast overlaid on the same axes.</a:t>
            </a:r>
          </a:p>
          <a:p>
            <a:r>
              <a:rPr lang="en-US" sz="1200" b="0" kern="1200" dirty="0">
                <a:solidFill>
                  <a:schemeClr val="tx1"/>
                </a:solidFill>
                <a:effectLst/>
                <a:latin typeface="+mn-lt"/>
                <a:ea typeface="+mn-ea"/>
                <a:cs typeface="+mn-cs"/>
              </a:rPr>
              <a:t>- `Observed`: solid line plus points for observed weekly admissions.</a:t>
            </a:r>
          </a:p>
          <a:p>
            <a:r>
              <a:rPr lang="en-US" sz="1200" b="0" kern="1200" dirty="0">
                <a:solidFill>
                  <a:schemeClr val="tx1"/>
                </a:solidFill>
                <a:effectLst/>
                <a:latin typeface="+mn-lt"/>
                <a:ea typeface="+mn-ea"/>
                <a:cs typeface="+mn-cs"/>
              </a:rPr>
              <a:t>- `Forecast Median`: line/points for the `0.5` quantile at each `</a:t>
            </a:r>
            <a:r>
              <a:rPr lang="en-US" sz="1200" b="0" kern="1200" dirty="0" err="1">
                <a:solidFill>
                  <a:schemeClr val="tx1"/>
                </a:solidFill>
                <a:effectLst/>
                <a:latin typeface="+mn-lt"/>
                <a:ea typeface="+mn-ea"/>
                <a:cs typeface="+mn-cs"/>
              </a:rPr>
              <a:t>target_end_date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`Forecast Interval`: shaded ribbon spanning the `0.025`–`0.975` quantiles</a:t>
            </a:r>
          </a:p>
          <a:p>
            <a:r>
              <a:rPr lang="en-US" sz="1200" b="0" kern="1200" dirty="0">
                <a:solidFill>
                  <a:schemeClr val="tx1"/>
                </a:solidFill>
                <a:effectLst/>
                <a:latin typeface="+mn-lt"/>
                <a:ea typeface="+mn-ea"/>
                <a:cs typeface="+mn-cs"/>
              </a:rPr>
              <a:t>  (the 95% PI) at each `</a:t>
            </a:r>
            <a:r>
              <a:rPr lang="en-US" sz="1200" b="0" kern="1200" dirty="0" err="1">
                <a:solidFill>
                  <a:schemeClr val="tx1"/>
                </a:solidFill>
                <a:effectLst/>
                <a:latin typeface="+mn-lt"/>
                <a:ea typeface="+mn-ea"/>
                <a:cs typeface="+mn-cs"/>
              </a:rPr>
              <a:t>target_end_date</a:t>
            </a:r>
            <a:r>
              <a:rPr lang="en-US" sz="1200" b="0" kern="1200" dirty="0">
                <a:solidFill>
                  <a:schemeClr val="tx1"/>
                </a:solidFill>
                <a:effectLst/>
                <a:latin typeface="+mn-lt"/>
                <a:ea typeface="+mn-ea"/>
                <a:cs typeface="+mn-cs"/>
              </a:rPr>
              <a:t>`. The ribbon must sit </a:t>
            </a:r>
            <a:r>
              <a:rPr lang="en-US" sz="1200" b="1" kern="1200" dirty="0">
                <a:solidFill>
                  <a:schemeClr val="tx1"/>
                </a:solidFill>
                <a:effectLst/>
                <a:latin typeface="+mn-lt"/>
                <a:ea typeface="+mn-ea"/>
                <a:cs typeface="+mn-cs"/>
              </a:rPr>
              <a:t>**behind**</a:t>
            </a:r>
            <a:r>
              <a:rPr lang="en-US" sz="1200" b="0" kern="1200" dirty="0">
                <a:solidFill>
                  <a:schemeClr val="tx1"/>
                </a:solidFill>
                <a:effectLst/>
                <a:latin typeface="+mn-lt"/>
                <a:ea typeface="+mn-ea"/>
                <a:cs typeface="+mn-cs"/>
              </a:rPr>
              <a:t> the</a:t>
            </a:r>
          </a:p>
          <a:p>
            <a:r>
              <a:rPr lang="en-US" sz="1200" b="0" kern="1200" dirty="0">
                <a:solidFill>
                  <a:schemeClr val="tx1"/>
                </a:solidFill>
                <a:effectLst/>
                <a:latin typeface="+mn-lt"/>
                <a:ea typeface="+mn-ea"/>
                <a:cs typeface="+mn-cs"/>
              </a:rPr>
              <a:t>  observed and median lines.</a:t>
            </a:r>
          </a:p>
          <a:p>
            <a:r>
              <a:rPr lang="en-US" sz="1200" b="0" kern="1200" dirty="0">
                <a:solidFill>
                  <a:schemeClr val="tx1"/>
                </a:solidFill>
                <a:effectLst/>
                <a:latin typeface="+mn-lt"/>
                <a:ea typeface="+mn-ea"/>
                <a:cs typeface="+mn-cs"/>
              </a:rPr>
              <a:t>- `X-Axis Label`: 'Week'</a:t>
            </a:r>
          </a:p>
          <a:p>
            <a:r>
              <a:rPr lang="en-US" sz="1200" b="0" kern="1200" dirty="0">
                <a:solidFill>
                  <a:schemeClr val="tx1"/>
                </a:solidFill>
                <a:effectLst/>
                <a:latin typeface="+mn-lt"/>
                <a:ea typeface="+mn-ea"/>
                <a:cs typeface="+mn-cs"/>
              </a:rPr>
              <a:t>- `Y-Axis Label`: 'Weekly Influenza Hospitalizations'</a:t>
            </a:r>
          </a:p>
          <a:p>
            <a:r>
              <a:rPr lang="en-US" sz="1200" b="0" kern="1200" dirty="0">
                <a:solidFill>
                  <a:schemeClr val="tx1"/>
                </a:solidFill>
                <a:effectLst/>
                <a:latin typeface="+mn-lt"/>
                <a:ea typeface="+mn-ea"/>
                <a:cs typeface="+mn-cs"/>
              </a:rPr>
              <a:t>- `Y-Axis Range/Tick Labels`: Start at 0 and max label at 10000 past the max</a:t>
            </a:r>
          </a:p>
          <a:p>
            <a:r>
              <a:rPr lang="en-US" sz="1200" b="0" kern="1200" dirty="0">
                <a:solidFill>
                  <a:schemeClr val="tx1"/>
                </a:solidFill>
                <a:effectLst/>
                <a:latin typeface="+mn-lt"/>
                <a:ea typeface="+mn-ea"/>
                <a:cs typeface="+mn-cs"/>
              </a:rPr>
              <a:t>  plotted value (whichever is larger: observed or the upper PI bound).</a:t>
            </a:r>
          </a:p>
          <a:p>
            <a:r>
              <a:rPr lang="en-US" sz="1200" b="0" kern="1200" dirty="0">
                <a:solidFill>
                  <a:schemeClr val="tx1"/>
                </a:solidFill>
                <a:effectLst/>
                <a:latin typeface="+mn-lt"/>
                <a:ea typeface="+mn-ea"/>
                <a:cs typeface="+mn-cs"/>
              </a:rPr>
              <a:t>- `X-Axis Range/Tick Labels:` Use calendar dates from the first to last observed week in the 2025-26 testing period, with weekly  spacing (7-day increments). Show every 4 date labels, and tilt labels 45 degrees.  </a:t>
            </a:r>
          </a:p>
          <a:p>
            <a:r>
              <a:rPr lang="en-US" sz="1200" b="0" kern="1200" dirty="0">
                <a:solidFill>
                  <a:schemeClr val="tx1"/>
                </a:solidFill>
                <a:effectLst/>
                <a:latin typeface="+mn-lt"/>
                <a:ea typeface="+mn-ea"/>
                <a:cs typeface="+mn-cs"/>
              </a:rPr>
              <a:t>- `Plot Title`: 'USA 1-Week-Ahead Influenza Hospitalization Forecast (2025-26 Season)';</a:t>
            </a:r>
          </a:p>
          <a:p>
            <a:r>
              <a:rPr lang="en-US" sz="1200" b="0" kern="1200" dirty="0">
                <a:solidFill>
                  <a:schemeClr val="tx1"/>
                </a:solidFill>
                <a:effectLst/>
                <a:latin typeface="+mn-lt"/>
                <a:ea typeface="+mn-ea"/>
                <a:cs typeface="+mn-cs"/>
              </a:rPr>
              <a:t>  Bold; Centered</a:t>
            </a:r>
          </a:p>
          <a:p>
            <a:r>
              <a:rPr lang="en-US" sz="1200" b="0" kern="1200" dirty="0">
                <a:solidFill>
                  <a:schemeClr val="tx1"/>
                </a:solidFill>
                <a:effectLst/>
                <a:latin typeface="+mn-lt"/>
                <a:ea typeface="+mn-ea"/>
                <a:cs typeface="+mn-cs"/>
              </a:rPr>
              <a:t>- `Legend`: A single legend distinguishing </a:t>
            </a:r>
            <a:r>
              <a:rPr lang="en-US" sz="1200" b="1" kern="1200" dirty="0">
                <a:solidFill>
                  <a:schemeClr val="tx1"/>
                </a:solidFill>
                <a:effectLst/>
                <a:latin typeface="+mn-lt"/>
                <a:ea typeface="+mn-ea"/>
                <a:cs typeface="+mn-cs"/>
              </a:rPr>
              <a:t>**Observed**</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**Forecast Median**</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**95% PI**</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B72CF-A636-C7E2-DA99-946EEBD94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08DA2-5D8C-36A3-37DE-C1E8D7D57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69298-F00D-07CA-0214-994FDD0BFC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8DB2E8-EB52-3664-1249-D3EAC9CFE7E3}"/>
              </a:ext>
            </a:extLst>
          </p:cNvPr>
          <p:cNvSpPr>
            <a:spLocks noGrp="1"/>
          </p:cNvSpPr>
          <p:nvPr>
            <p:ph type="sldNum" sz="quarter" idx="5"/>
          </p:nvPr>
        </p:nvSpPr>
        <p:spPr/>
        <p:txBody>
          <a:bodyPr/>
          <a:lstStyle/>
          <a:p>
            <a:fld id="{D0E60299-BECB-47F9-950E-D077161DE286}" type="slidenum">
              <a:rPr lang="en-US" smtClean="0"/>
              <a:t>53</a:t>
            </a:fld>
            <a:endParaRPr lang="en-US"/>
          </a:p>
        </p:txBody>
      </p:sp>
    </p:spTree>
    <p:extLst>
      <p:ext uri="{BB962C8B-B14F-4D97-AF65-F5344CB8AC3E}">
        <p14:creationId xmlns:p14="http://schemas.microsoft.com/office/powerpoint/2010/main" val="32657106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CB197-E7A4-5C9F-14D2-D13F249E4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2B405-0836-8BB2-67C7-4C59134EF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CE5C8-70B5-75D6-3578-CBE7C5D6B0BF}"/>
              </a:ext>
            </a:extLst>
          </p:cNvPr>
          <p:cNvSpPr>
            <a:spLocks noGrp="1"/>
          </p:cNvSpPr>
          <p:nvPr>
            <p:ph type="body" idx="1"/>
          </p:nvPr>
        </p:nvSpPr>
        <p:spPr/>
        <p:txBody>
          <a:bodyPr/>
          <a:lstStyle/>
          <a:p>
            <a:r>
              <a:rPr lang="en-US" sz="1200" b="1" kern="1200">
                <a:solidFill>
                  <a:schemeClr val="tx1"/>
                </a:solidFill>
                <a:effectLst/>
                <a:latin typeface="+mn-lt"/>
                <a:ea typeface="+mn-ea"/>
                <a:cs typeface="+mn-cs"/>
              </a:rPr>
              <a:t>## 5. Forecast Generation</a:t>
            </a:r>
            <a:endParaRPr lang="en-US" sz="1200" b="0" kern="1200">
              <a:solidFill>
                <a:schemeClr val="tx1"/>
              </a:solidFill>
              <a:effectLst/>
              <a:latin typeface="+mn-lt"/>
              <a:ea typeface="+mn-ea"/>
              <a:cs typeface="+mn-cs"/>
            </a:endParaRP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For each target week `t` in the testing period that is present in the data:</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1. Compute the reference date as the calendar Date exactly one week before the target: `</a:t>
            </a:r>
            <a:r>
              <a:rPr lang="en-US" sz="1200" b="0" kern="1200" err="1">
                <a:solidFill>
                  <a:schemeClr val="tx1"/>
                </a:solidFill>
                <a:effectLst/>
                <a:latin typeface="+mn-lt"/>
                <a:ea typeface="+mn-ea"/>
                <a:cs typeface="+mn-cs"/>
              </a:rPr>
              <a:t>reference_date</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as_date</a:t>
            </a:r>
            <a:r>
              <a:rPr lang="en-US" sz="1200" b="0" kern="1200">
                <a:solidFill>
                  <a:schemeClr val="tx1"/>
                </a:solidFill>
                <a:effectLst/>
                <a:latin typeface="+mn-lt"/>
                <a:ea typeface="+mn-ea"/>
                <a:cs typeface="+mn-cs"/>
              </a:rPr>
              <a:t>(t) - days(7)`. Use this Date for both training-window selection and for output. When writing CSVs, format `</a:t>
            </a:r>
            <a:r>
              <a:rPr lang="en-US" sz="1200" b="0" kern="1200" err="1">
                <a:solidFill>
                  <a:schemeClr val="tx1"/>
                </a:solidFill>
                <a:effectLst/>
                <a:latin typeface="+mn-lt"/>
                <a:ea typeface="+mn-ea"/>
                <a:cs typeface="+mn-cs"/>
              </a:rPr>
              <a:t>reference_date</a:t>
            </a:r>
            <a:r>
              <a:rPr lang="en-US" sz="1200" b="0" kern="1200">
                <a:solidFill>
                  <a:schemeClr val="tx1"/>
                </a:solidFill>
                <a:effectLst/>
                <a:latin typeface="+mn-lt"/>
                <a:ea typeface="+mn-ea"/>
                <a:cs typeface="+mn-cs"/>
              </a:rPr>
              <a:t>` and `</a:t>
            </a:r>
            <a:r>
              <a:rPr lang="en-US" sz="1200" b="0" kern="1200" err="1">
                <a:solidFill>
                  <a:schemeClr val="tx1"/>
                </a:solidFill>
                <a:effectLst/>
                <a:latin typeface="+mn-lt"/>
                <a:ea typeface="+mn-ea"/>
                <a:cs typeface="+mn-cs"/>
              </a:rPr>
              <a:t>target_end_date</a:t>
            </a:r>
            <a:r>
              <a:rPr lang="en-US" sz="1200" b="0" kern="1200">
                <a:solidFill>
                  <a:schemeClr val="tx1"/>
                </a:solidFill>
                <a:effectLst/>
                <a:latin typeface="+mn-lt"/>
                <a:ea typeface="+mn-ea"/>
                <a:cs typeface="+mn-cs"/>
              </a:rPr>
              <a:t>` as ISO dates (`YYYY-MM-DD`).</a:t>
            </a:r>
          </a:p>
          <a:p>
            <a:r>
              <a:rPr lang="en-US" sz="1200" b="0" kern="1200">
                <a:solidFill>
                  <a:schemeClr val="tx1"/>
                </a:solidFill>
                <a:effectLst/>
                <a:latin typeface="+mn-lt"/>
                <a:ea typeface="+mn-ea"/>
                <a:cs typeface="+mn-cs"/>
              </a:rPr>
              <a:t>2. Fit the ARIMA model (Rule 4) on all rows with `week &lt;= </a:t>
            </a:r>
            <a:r>
              <a:rPr lang="en-US" sz="1200" b="0" kern="1200" err="1">
                <a:solidFill>
                  <a:schemeClr val="tx1"/>
                </a:solidFill>
                <a:effectLst/>
                <a:latin typeface="+mn-lt"/>
                <a:ea typeface="+mn-ea"/>
                <a:cs typeface="+mn-cs"/>
              </a:rPr>
              <a:t>reference_date</a:t>
            </a:r>
            <a:r>
              <a:rPr lang="en-US" sz="1200" b="0" kern="1200">
                <a:solidFill>
                  <a:schemeClr val="tx1"/>
                </a:solidFill>
                <a:effectLst/>
                <a:latin typeface="+mn-lt"/>
                <a:ea typeface="+mn-ea"/>
                <a:cs typeface="+mn-cs"/>
              </a:rPr>
              <a:t>` (expanding-window).</a:t>
            </a:r>
          </a:p>
          <a:p>
            <a:r>
              <a:rPr lang="en-US" sz="1200" b="0" kern="1200">
                <a:solidFill>
                  <a:schemeClr val="tx1"/>
                </a:solidFill>
                <a:effectLst/>
                <a:latin typeface="+mn-lt"/>
                <a:ea typeface="+mn-ea"/>
                <a:cs typeface="+mn-cs"/>
              </a:rPr>
              <a:t>3. Forecast one step ahead with `pr &lt;- predict(fit, </a:t>
            </a:r>
            <a:r>
              <a:rPr lang="en-US" sz="1200" b="0" kern="1200" err="1">
                <a:solidFill>
                  <a:schemeClr val="tx1"/>
                </a:solidFill>
                <a:effectLst/>
                <a:latin typeface="+mn-lt"/>
                <a:ea typeface="+mn-ea"/>
                <a:cs typeface="+mn-cs"/>
              </a:rPr>
              <a:t>n.ahead</a:t>
            </a:r>
            <a:r>
              <a:rPr lang="en-US" sz="1200" b="0" kern="1200">
                <a:solidFill>
                  <a:schemeClr val="tx1"/>
                </a:solidFill>
                <a:effectLst/>
                <a:latin typeface="+mn-lt"/>
                <a:ea typeface="+mn-ea"/>
                <a:cs typeface="+mn-cs"/>
              </a:rPr>
              <a:t> = 1)`. Take the forecast mean from `</a:t>
            </a:r>
            <a:r>
              <a:rPr lang="en-US" sz="1200" b="0" kern="1200" err="1">
                <a:solidFill>
                  <a:schemeClr val="tx1"/>
                </a:solidFill>
                <a:effectLst/>
                <a:latin typeface="+mn-lt"/>
                <a:ea typeface="+mn-ea"/>
                <a:cs typeface="+mn-cs"/>
              </a:rPr>
              <a:t>pr$pred</a:t>
            </a:r>
            <a:r>
              <a:rPr lang="en-US" sz="1200" b="0" kern="1200">
                <a:solidFill>
                  <a:schemeClr val="tx1"/>
                </a:solidFill>
                <a:effectLst/>
                <a:latin typeface="+mn-lt"/>
                <a:ea typeface="+mn-ea"/>
                <a:cs typeface="+mn-cs"/>
              </a:rPr>
              <a:t>` and its standard error from `</a:t>
            </a:r>
            <a:r>
              <a:rPr lang="en-US" sz="1200" b="0" kern="1200" err="1">
                <a:solidFill>
                  <a:schemeClr val="tx1"/>
                </a:solidFill>
                <a:effectLst/>
                <a:latin typeface="+mn-lt"/>
                <a:ea typeface="+mn-ea"/>
                <a:cs typeface="+mn-cs"/>
              </a:rPr>
              <a:t>pr$se</a:t>
            </a:r>
            <a:r>
              <a:rPr lang="en-US" sz="1200" b="0" kern="1200">
                <a:solidFill>
                  <a:schemeClr val="tx1"/>
                </a:solidFill>
                <a:effectLst/>
                <a:latin typeface="+mn-lt"/>
                <a:ea typeface="+mn-ea"/>
                <a:cs typeface="+mn-cs"/>
              </a:rPr>
              <a:t>`.</a:t>
            </a:r>
          </a:p>
          <a:p>
            <a:r>
              <a:rPr lang="en-US" sz="1200" b="0" kern="1200">
                <a:solidFill>
                  <a:schemeClr val="tx1"/>
                </a:solidFill>
                <a:effectLst/>
                <a:latin typeface="+mn-lt"/>
                <a:ea typeface="+mn-ea"/>
                <a:cs typeface="+mn-cs"/>
              </a:rPr>
              <a:t>4. Use the ARIMA forecast standard error </a:t>
            </a:r>
            <a:r>
              <a:rPr lang="en-US" sz="1200" b="1" kern="1200">
                <a:solidFill>
                  <a:schemeClr val="tx1"/>
                </a:solidFill>
                <a:effectLst/>
                <a:latin typeface="+mn-lt"/>
                <a:ea typeface="+mn-ea"/>
                <a:cs typeface="+mn-cs"/>
              </a:rPr>
              <a:t>**directly**</a:t>
            </a:r>
            <a:r>
              <a:rPr lang="en-US" sz="1200" b="0" kern="1200">
                <a:solidFill>
                  <a:schemeClr val="tx1"/>
                </a:solidFill>
                <a:effectLst/>
                <a:latin typeface="+mn-lt"/>
                <a:ea typeface="+mn-ea"/>
                <a:cs typeface="+mn-cs"/>
              </a:rPr>
              <a:t> as the 1-week-ahead predictive standard deviation: `</a:t>
            </a:r>
            <a:r>
              <a:rPr lang="en-US" sz="1200" b="0" kern="1200" err="1">
                <a:solidFill>
                  <a:schemeClr val="tx1"/>
                </a:solidFill>
                <a:effectLst/>
                <a:latin typeface="+mn-lt"/>
                <a:ea typeface="+mn-ea"/>
                <a:cs typeface="+mn-cs"/>
              </a:rPr>
              <a:t>sd_pred</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as.numeric</a:t>
            </a:r>
            <a:r>
              <a:rPr lang="en-US" sz="1200" b="0" kern="1200">
                <a:solidFill>
                  <a:schemeClr val="tx1"/>
                </a:solidFill>
                <a:effectLst/>
                <a:latin typeface="+mn-lt"/>
                <a:ea typeface="+mn-ea"/>
                <a:cs typeface="+mn-cs"/>
              </a:rPr>
              <a:t>(</a:t>
            </a:r>
            <a:r>
              <a:rPr lang="en-US" sz="1200" b="0" kern="1200" err="1">
                <a:solidFill>
                  <a:schemeClr val="tx1"/>
                </a:solidFill>
                <a:effectLst/>
                <a:latin typeface="+mn-lt"/>
                <a:ea typeface="+mn-ea"/>
                <a:cs typeface="+mn-cs"/>
              </a:rPr>
              <a:t>pr$se</a:t>
            </a:r>
            <a:r>
              <a:rPr lang="en-US" sz="1200" b="0" kern="1200">
                <a:solidFill>
                  <a:schemeClr val="tx1"/>
                </a:solidFill>
                <a:effectLst/>
                <a:latin typeface="+mn-lt"/>
                <a:ea typeface="+mn-ea"/>
                <a:cs typeface="+mn-cs"/>
              </a:rPr>
              <a:t>)`. At horizon 1 this already incorporates the model's innovation variance, so do </a:t>
            </a:r>
            <a:r>
              <a:rPr lang="en-US" sz="1200" b="1" kern="1200">
                <a:solidFill>
                  <a:schemeClr val="tx1"/>
                </a:solidFill>
                <a:effectLst/>
                <a:latin typeface="+mn-lt"/>
                <a:ea typeface="+mn-ea"/>
                <a:cs typeface="+mn-cs"/>
              </a:rPr>
              <a:t>**not**</a:t>
            </a:r>
            <a:r>
              <a:rPr lang="en-US" sz="1200" b="0" kern="1200">
                <a:solidFill>
                  <a:schemeClr val="tx1"/>
                </a:solidFill>
                <a:effectLst/>
                <a:latin typeface="+mn-lt"/>
                <a:ea typeface="+mn-ea"/>
                <a:cs typeface="+mn-cs"/>
              </a:rPr>
              <a:t> add a separate residual-variance term (doing so double-counts the innovation variance and inflates the interval).</a:t>
            </a:r>
          </a:p>
          <a:p>
            <a:r>
              <a:rPr lang="en-US" sz="1200" b="0" kern="1200">
                <a:solidFill>
                  <a:schemeClr val="tx1"/>
                </a:solidFill>
                <a:effectLst/>
                <a:latin typeface="+mn-lt"/>
                <a:ea typeface="+mn-ea"/>
                <a:cs typeface="+mn-cs"/>
              </a:rPr>
              <a:t>5. Compute the required quantiles from a normal predictive distribution:</a:t>
            </a:r>
          </a:p>
          <a:p>
            <a:r>
              <a:rPr lang="en-US" sz="1200" b="0" kern="1200">
                <a:solidFill>
                  <a:schemeClr val="tx1"/>
                </a:solidFill>
                <a:effectLst/>
                <a:latin typeface="+mn-lt"/>
                <a:ea typeface="+mn-ea"/>
                <a:cs typeface="+mn-cs"/>
              </a:rPr>
              <a:t>  `</a:t>
            </a:r>
            <a:r>
              <a:rPr lang="en-US" sz="1200" b="0" kern="1200" err="1">
                <a:solidFill>
                  <a:schemeClr val="tx1"/>
                </a:solidFill>
                <a:effectLst/>
                <a:latin typeface="+mn-lt"/>
                <a:ea typeface="+mn-ea"/>
                <a:cs typeface="+mn-cs"/>
              </a:rPr>
              <a:t>q_value</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qnorm</a:t>
            </a:r>
            <a:r>
              <a:rPr lang="en-US" sz="1200" b="0" kern="1200">
                <a:solidFill>
                  <a:schemeClr val="tx1"/>
                </a:solidFill>
                <a:effectLst/>
                <a:latin typeface="+mn-lt"/>
                <a:ea typeface="+mn-ea"/>
                <a:cs typeface="+mn-cs"/>
              </a:rPr>
              <a:t>(p, mean = </a:t>
            </a:r>
            <a:r>
              <a:rPr lang="en-US" sz="1200" b="0" kern="1200" err="1">
                <a:solidFill>
                  <a:schemeClr val="tx1"/>
                </a:solidFill>
                <a:effectLst/>
                <a:latin typeface="+mn-lt"/>
                <a:ea typeface="+mn-ea"/>
                <a:cs typeface="+mn-cs"/>
              </a:rPr>
              <a:t>pred_mean</a:t>
            </a:r>
            <a:r>
              <a:rPr lang="en-US" sz="1200" b="0" kern="1200">
                <a:solidFill>
                  <a:schemeClr val="tx1"/>
                </a:solidFill>
                <a:effectLst/>
                <a:latin typeface="+mn-lt"/>
                <a:ea typeface="+mn-ea"/>
                <a:cs typeface="+mn-cs"/>
              </a:rPr>
              <a:t>, </a:t>
            </a:r>
            <a:r>
              <a:rPr lang="en-US" sz="1200" b="0" kern="1200" err="1">
                <a:solidFill>
                  <a:schemeClr val="tx1"/>
                </a:solidFill>
                <a:effectLst/>
                <a:latin typeface="+mn-lt"/>
                <a:ea typeface="+mn-ea"/>
                <a:cs typeface="+mn-cs"/>
              </a:rPr>
              <a:t>sd</a:t>
            </a:r>
            <a:r>
              <a:rPr lang="en-US" sz="1200" b="0" kern="1200">
                <a:solidFill>
                  <a:schemeClr val="tx1"/>
                </a:solidFill>
                <a:effectLst/>
                <a:latin typeface="+mn-lt"/>
                <a:ea typeface="+mn-ea"/>
                <a:cs typeface="+mn-cs"/>
              </a:rPr>
              <a:t> = </a:t>
            </a:r>
            <a:r>
              <a:rPr lang="en-US" sz="1200" b="0" kern="1200" err="1">
                <a:solidFill>
                  <a:schemeClr val="tx1"/>
                </a:solidFill>
                <a:effectLst/>
                <a:latin typeface="+mn-lt"/>
                <a:ea typeface="+mn-ea"/>
                <a:cs typeface="+mn-cs"/>
              </a:rPr>
              <a:t>sd_pred</a:t>
            </a:r>
            <a:r>
              <a:rPr lang="en-US" sz="1200" b="0" kern="1200">
                <a:solidFill>
                  <a:schemeClr val="tx1"/>
                </a:solidFill>
                <a:effectLst/>
                <a:latin typeface="+mn-lt"/>
                <a:ea typeface="+mn-ea"/>
                <a:cs typeface="+mn-cs"/>
              </a:rPr>
              <a:t>)`.</a:t>
            </a:r>
          </a:p>
          <a:p>
            <a:r>
              <a:rPr lang="en-US" sz="1200" b="0" kern="1200">
                <a:solidFill>
                  <a:schemeClr val="tx1"/>
                </a:solidFill>
                <a:effectLst/>
                <a:latin typeface="+mn-lt"/>
                <a:ea typeface="+mn-ea"/>
                <a:cs typeface="+mn-cs"/>
              </a:rPr>
              <a:t>Quantiles to output (`</a:t>
            </a:r>
            <a:r>
              <a:rPr lang="en-US" sz="1200" b="0" kern="1200" err="1">
                <a:solidFill>
                  <a:schemeClr val="tx1"/>
                </a:solidFill>
                <a:effectLst/>
                <a:latin typeface="+mn-lt"/>
                <a:ea typeface="+mn-ea"/>
                <a:cs typeface="+mn-cs"/>
              </a:rPr>
              <a:t>output_type_id</a:t>
            </a:r>
            <a:r>
              <a:rPr lang="en-US" sz="1200" b="0" kern="1200">
                <a:solidFill>
                  <a:schemeClr val="tx1"/>
                </a:solidFill>
                <a:effectLst/>
                <a:latin typeface="+mn-lt"/>
                <a:ea typeface="+mn-ea"/>
                <a:cs typeface="+mn-cs"/>
              </a:rPr>
              <a:t>`): `0.025`, `0.5`, `0.975`.</a:t>
            </a:r>
          </a:p>
          <a:p>
            <a:r>
              <a:rPr lang="en-US" sz="1200" b="0" kern="1200">
                <a:solidFill>
                  <a:schemeClr val="tx1"/>
                </a:solidFill>
                <a:effectLst/>
                <a:latin typeface="+mn-lt"/>
                <a:ea typeface="+mn-ea"/>
                <a:cs typeface="+mn-cs"/>
              </a:rPr>
              <a:t> </a:t>
            </a:r>
          </a:p>
          <a:p>
            <a:r>
              <a:rPr lang="en-US" sz="1200" b="0" kern="1200">
                <a:solidFill>
                  <a:schemeClr val="tx1"/>
                </a:solidFill>
                <a:effectLst/>
                <a:latin typeface="+mn-lt"/>
                <a:ea typeface="+mn-ea"/>
                <a:cs typeface="+mn-cs"/>
              </a:rPr>
              <a:t>- `0.5` = median (point forecast).</a:t>
            </a:r>
          </a:p>
          <a:p>
            <a:r>
              <a:rPr lang="en-US" sz="1200" b="0" kern="1200">
                <a:solidFill>
                  <a:schemeClr val="tx1"/>
                </a:solidFill>
                <a:effectLst/>
                <a:latin typeface="+mn-lt"/>
                <a:ea typeface="+mn-ea"/>
                <a:cs typeface="+mn-cs"/>
              </a:rPr>
              <a:t>- `0.025` and `0.975` = lower/upper bounds of the </a:t>
            </a:r>
            <a:r>
              <a:rPr lang="en-US" sz="1200" b="1" kern="1200">
                <a:solidFill>
                  <a:schemeClr val="tx1"/>
                </a:solidFill>
                <a:effectLst/>
                <a:latin typeface="+mn-lt"/>
                <a:ea typeface="+mn-ea"/>
                <a:cs typeface="+mn-cs"/>
              </a:rPr>
              <a:t>**95% prediction interval**</a:t>
            </a:r>
            <a:r>
              <a:rPr lang="en-US" sz="1200" b="0" kern="1200">
                <a:solidFill>
                  <a:schemeClr val="tx1"/>
                </a:solidFill>
                <a:effectLst/>
                <a:latin typeface="+mn-lt"/>
                <a:ea typeface="+mn-ea"/>
                <a:cs typeface="+mn-cs"/>
              </a:rPr>
              <a:t>.</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**`STRICT RULE`:**</a:t>
            </a:r>
            <a:r>
              <a:rPr lang="en-US" sz="1200" b="0" kern="1200">
                <a:solidFill>
                  <a:schemeClr val="tx1"/>
                </a:solidFill>
                <a:effectLst/>
                <a:latin typeface="+mn-lt"/>
                <a:ea typeface="+mn-ea"/>
                <a:cs typeface="+mn-cs"/>
              </a:rPr>
              <a:t> Clamp all forecast values at a floor of 0 (`</a:t>
            </a:r>
            <a:r>
              <a:rPr lang="en-US" sz="1200" b="0" kern="1200" err="1">
                <a:solidFill>
                  <a:schemeClr val="tx1"/>
                </a:solidFill>
                <a:effectLst/>
                <a:latin typeface="+mn-lt"/>
                <a:ea typeface="+mn-ea"/>
                <a:cs typeface="+mn-cs"/>
              </a:rPr>
              <a:t>pmax</a:t>
            </a:r>
            <a:r>
              <a:rPr lang="en-US" sz="1200" b="0" kern="1200">
                <a:solidFill>
                  <a:schemeClr val="tx1"/>
                </a:solidFill>
                <a:effectLst/>
                <a:latin typeface="+mn-lt"/>
                <a:ea typeface="+mn-ea"/>
                <a:cs typeface="+mn-cs"/>
              </a:rPr>
              <a:t>(value, 0)`)</a:t>
            </a:r>
          </a:p>
          <a:p>
            <a:r>
              <a:rPr lang="en-US" sz="1200" b="0" kern="1200">
                <a:solidFill>
                  <a:schemeClr val="tx1"/>
                </a:solidFill>
                <a:effectLst/>
                <a:latin typeface="+mn-lt"/>
                <a:ea typeface="+mn-ea"/>
                <a:cs typeface="+mn-cs"/>
              </a:rPr>
              <a:t>and round to the nearest integer (admissions are non-negative counts).</a:t>
            </a:r>
          </a:p>
          <a:p>
            <a:r>
              <a:rPr lang="en-US" sz="1200" b="0" kern="1200">
                <a:solidFill>
                  <a:schemeClr val="tx1"/>
                </a:solidFill>
                <a:effectLst/>
                <a:latin typeface="+mn-lt"/>
                <a:ea typeface="+mn-ea"/>
                <a:cs typeface="+mn-cs"/>
              </a:rPr>
              <a:t> </a:t>
            </a:r>
          </a:p>
          <a:p>
            <a:r>
              <a:rPr lang="en-US" sz="1200" b="1" kern="1200">
                <a:solidFill>
                  <a:schemeClr val="tx1"/>
                </a:solidFill>
                <a:effectLst/>
                <a:latin typeface="+mn-lt"/>
                <a:ea typeface="+mn-ea"/>
                <a:cs typeface="+mn-cs"/>
              </a:rPr>
              <a:t>**`STRICT RULE`:**</a:t>
            </a:r>
            <a:r>
              <a:rPr lang="en-US" sz="1200" b="0" kern="1200">
                <a:solidFill>
                  <a:schemeClr val="tx1"/>
                </a:solidFill>
                <a:effectLst/>
                <a:latin typeface="+mn-lt"/>
                <a:ea typeface="+mn-ea"/>
                <a:cs typeface="+mn-cs"/>
              </a:rPr>
              <a:t> Quantiles must be non-decreasing within each target week</a:t>
            </a:r>
          </a:p>
          <a:p>
            <a:r>
              <a:rPr lang="en-US" sz="1200" b="0" kern="1200">
                <a:solidFill>
                  <a:schemeClr val="tx1"/>
                </a:solidFill>
                <a:effectLst/>
                <a:latin typeface="+mn-lt"/>
                <a:ea typeface="+mn-ea"/>
                <a:cs typeface="+mn-cs"/>
              </a:rPr>
              <a:t>(`0.025 &lt;= 0.5 &lt;= 0.975`); sort/enforce after clamping.</a:t>
            </a:r>
          </a:p>
          <a:p>
            <a:endParaRPr lang="en-US"/>
          </a:p>
        </p:txBody>
      </p:sp>
      <p:sp>
        <p:nvSpPr>
          <p:cNvPr id="4" name="Slide Number Placeholder 3">
            <a:extLst>
              <a:ext uri="{FF2B5EF4-FFF2-40B4-BE49-F238E27FC236}">
                <a16:creationId xmlns:a16="http://schemas.microsoft.com/office/drawing/2014/main" id="{5120E7C3-437F-A862-38DB-60C527E6A036}"/>
              </a:ext>
            </a:extLst>
          </p:cNvPr>
          <p:cNvSpPr>
            <a:spLocks noGrp="1"/>
          </p:cNvSpPr>
          <p:nvPr>
            <p:ph type="sldNum" sz="quarter" idx="5"/>
          </p:nvPr>
        </p:nvSpPr>
        <p:spPr/>
        <p:txBody>
          <a:bodyPr/>
          <a:lstStyle/>
          <a:p>
            <a:fld id="{D0E60299-BECB-47F9-950E-D077161DE286}" type="slidenum">
              <a:rPr lang="en-US" smtClean="0"/>
              <a:t>54</a:t>
            </a:fld>
            <a:endParaRPr lang="en-US"/>
          </a:p>
        </p:txBody>
      </p:sp>
    </p:spTree>
    <p:extLst>
      <p:ext uri="{BB962C8B-B14F-4D97-AF65-F5344CB8AC3E}">
        <p14:creationId xmlns:p14="http://schemas.microsoft.com/office/powerpoint/2010/main" val="12751039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55</a:t>
            </a:fld>
            <a:endParaRPr lang="en-US"/>
          </a:p>
        </p:txBody>
      </p:sp>
    </p:spTree>
    <p:extLst>
      <p:ext uri="{BB962C8B-B14F-4D97-AF65-F5344CB8AC3E}">
        <p14:creationId xmlns:p14="http://schemas.microsoft.com/office/powerpoint/2010/main" val="35613511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58</a:t>
            </a:fld>
            <a:endParaRPr lang="en-US"/>
          </a:p>
        </p:txBody>
      </p:sp>
    </p:spTree>
    <p:extLst>
      <p:ext uri="{BB962C8B-B14F-4D97-AF65-F5344CB8AC3E}">
        <p14:creationId xmlns:p14="http://schemas.microsoft.com/office/powerpoint/2010/main" val="8399145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95CDD-2713-EC28-4B06-D7F26DB42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66662-14B7-45FC-61C3-46567F2A0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18E2F-5A38-5450-8F70-60C546FD0B95}"/>
              </a:ext>
            </a:extLst>
          </p:cNvPr>
          <p:cNvSpPr>
            <a:spLocks noGrp="1"/>
          </p:cNvSpPr>
          <p:nvPr>
            <p:ph type="body" idx="1"/>
          </p:nvPr>
        </p:nvSpPr>
        <p:spPr/>
        <p:txBody>
          <a:bodyPr/>
          <a:lstStyle/>
          <a:p>
            <a:r>
              <a:rPr lang="en-US" b="1" dirty="0"/>
              <a:t>Validations:</a:t>
            </a:r>
            <a:r>
              <a:rPr lang="en-US" dirty="0"/>
              <a:t> Confirm intervals get wider (or stay equal) as the horizon grows: width at h=3 ≥ h=2 ≥ h=1. Print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val</a:t>
            </a:r>
            <a:r>
              <a:rPr lang="en-US" sz="1200" kern="1200" dirty="0">
                <a:solidFill>
                  <a:schemeClr val="tx1"/>
                </a:solidFill>
                <a:latin typeface="+mn-lt"/>
                <a:ea typeface="+mn-ea"/>
                <a:cs typeface="+mn-cs"/>
              </a:rPr>
              <a:t>] intervals widen with horizon: OK"</a:t>
            </a:r>
            <a:r>
              <a:rPr lang="en-US" dirty="0"/>
              <a:t>; </a:t>
            </a:r>
            <a:r>
              <a:rPr lang="en-US" sz="1200" kern="1200" dirty="0">
                <a:solidFill>
                  <a:schemeClr val="tx1"/>
                </a:solidFill>
                <a:latin typeface="+mn-lt"/>
                <a:ea typeface="+mn-ea"/>
                <a:cs typeface="+mn-cs"/>
              </a:rPr>
              <a:t>stop()</a:t>
            </a:r>
            <a:r>
              <a:rPr lang="en-US" dirty="0"/>
              <a:t> otherwise.</a:t>
            </a:r>
          </a:p>
          <a:p>
            <a:r>
              <a:rPr lang="en-US" b="1" dirty="0"/>
              <a:t>Validations:</a:t>
            </a:r>
            <a:r>
              <a:rPr lang="en-US" dirty="0"/>
              <a:t> Confirm </a:t>
            </a:r>
            <a:r>
              <a:rPr lang="en-US" sz="1200" kern="1200" dirty="0" err="1">
                <a:solidFill>
                  <a:schemeClr val="tx1"/>
                </a:solidFill>
                <a:latin typeface="+mn-lt"/>
                <a:ea typeface="+mn-ea"/>
                <a:cs typeface="+mn-cs"/>
              </a:rPr>
              <a:t>target_end_date</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reference_date</a:t>
            </a:r>
            <a:r>
              <a:rPr lang="en-US" sz="1200" kern="1200" dirty="0">
                <a:solidFill>
                  <a:schemeClr val="tx1"/>
                </a:solidFill>
                <a:latin typeface="+mn-lt"/>
                <a:ea typeface="+mn-ea"/>
                <a:cs typeface="+mn-cs"/>
              </a:rPr>
              <a:t> + 7 * horizon</a:t>
            </a:r>
            <a:r>
              <a:rPr lang="en-US" dirty="0"/>
              <a:t> for every row. Print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val</a:t>
            </a:r>
            <a:r>
              <a:rPr lang="en-US" sz="1200" kern="1200" dirty="0">
                <a:solidFill>
                  <a:schemeClr val="tx1"/>
                </a:solidFill>
                <a:latin typeface="+mn-lt"/>
                <a:ea typeface="+mn-ea"/>
                <a:cs typeface="+mn-cs"/>
              </a:rPr>
              <a:t>] target dates correct: OK"</a:t>
            </a:r>
            <a:r>
              <a:rPr lang="en-US" dirty="0"/>
              <a:t>; </a:t>
            </a:r>
            <a:r>
              <a:rPr lang="en-US" sz="1200" kern="1200" dirty="0">
                <a:solidFill>
                  <a:schemeClr val="tx1"/>
                </a:solidFill>
                <a:latin typeface="+mn-lt"/>
                <a:ea typeface="+mn-ea"/>
                <a:cs typeface="+mn-cs"/>
              </a:rPr>
              <a:t>stop()</a:t>
            </a:r>
            <a:r>
              <a:rPr lang="en-US" dirty="0"/>
              <a:t> otherwise.</a:t>
            </a:r>
          </a:p>
          <a:p>
            <a:r>
              <a:rPr lang="en-US" b="1" dirty="0"/>
              <a:t>Validations:</a:t>
            </a:r>
            <a:r>
              <a:rPr lang="en-US" dirty="0"/>
              <a:t> Confirm each reference date is fit once, with all three horizons taken from that single forecast. Print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val</a:t>
            </a:r>
            <a:r>
              <a:rPr lang="en-US" sz="1200" kern="1200" dirty="0">
                <a:solidFill>
                  <a:schemeClr val="tx1"/>
                </a:solidFill>
                <a:latin typeface="+mn-lt"/>
                <a:ea typeface="+mn-ea"/>
                <a:cs typeface="+mn-cs"/>
              </a:rPr>
              <a:t>] one fit, three horizons: OK"</a:t>
            </a:r>
            <a:r>
              <a:rPr lang="en-US" dirty="0"/>
              <a:t>; </a:t>
            </a:r>
            <a:r>
              <a:rPr lang="en-US" sz="1200" kern="1200" dirty="0">
                <a:solidFill>
                  <a:schemeClr val="tx1"/>
                </a:solidFill>
                <a:latin typeface="+mn-lt"/>
                <a:ea typeface="+mn-ea"/>
                <a:cs typeface="+mn-cs"/>
              </a:rPr>
              <a:t>stop()</a:t>
            </a:r>
            <a:r>
              <a:rPr lang="en-US" dirty="0"/>
              <a:t> otherwise.</a:t>
            </a:r>
          </a:p>
        </p:txBody>
      </p:sp>
      <p:sp>
        <p:nvSpPr>
          <p:cNvPr id="4" name="Slide Number Placeholder 3">
            <a:extLst>
              <a:ext uri="{FF2B5EF4-FFF2-40B4-BE49-F238E27FC236}">
                <a16:creationId xmlns:a16="http://schemas.microsoft.com/office/drawing/2014/main" id="{61F92ADE-50FC-0BFC-7DD9-51486FE2890F}"/>
              </a:ext>
            </a:extLst>
          </p:cNvPr>
          <p:cNvSpPr>
            <a:spLocks noGrp="1"/>
          </p:cNvSpPr>
          <p:nvPr>
            <p:ph type="sldNum" sz="quarter" idx="5"/>
          </p:nvPr>
        </p:nvSpPr>
        <p:spPr/>
        <p:txBody>
          <a:bodyPr/>
          <a:lstStyle/>
          <a:p>
            <a:fld id="{7AFB17BE-BED3-4AB9-8286-10A56C371049}" type="slidenum">
              <a:rPr lang="en-US" smtClean="0"/>
              <a:t>59</a:t>
            </a:fld>
            <a:endParaRPr lang="en-US"/>
          </a:p>
        </p:txBody>
      </p:sp>
    </p:spTree>
    <p:extLst>
      <p:ext uri="{BB962C8B-B14F-4D97-AF65-F5344CB8AC3E}">
        <p14:creationId xmlns:p14="http://schemas.microsoft.com/office/powerpoint/2010/main" val="8165122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I want to extend my forecasting to include 1, 2, and 3 week forecasting horizons. Please update the rules document where we forecast, prepare the data file, and visualizations. </a:t>
            </a:r>
          </a:p>
          <a:p>
            <a:r>
              <a:rPr lang="en-US" dirty="0"/>
              <a:t>Please keep the </a:t>
            </a:r>
            <a:r>
              <a:rPr lang="en-US" dirty="0" err="1"/>
              <a:t>flusight</a:t>
            </a:r>
            <a:r>
              <a:rPr lang="en-US" dirty="0"/>
              <a:t> format for the data file. </a:t>
            </a:r>
          </a:p>
          <a:p>
            <a:r>
              <a:rPr lang="en-US" dirty="0"/>
              <a:t>For the visualizations, I want each horizon to have their own line like what we do currently for 1-week horizons. Make sure the colors are distinct, and the legend clearly includes all graph elements. </a:t>
            </a:r>
          </a:p>
          <a:p>
            <a:r>
              <a:rPr lang="en-US" dirty="0"/>
              <a:t>Please also include the following data checks: Validations: Confirm intervals get wider (or stay equal) as the horizon grows: width at h=3 ≥ h=2 ≥ h=1. Print "[</a:t>
            </a:r>
            <a:r>
              <a:rPr lang="en-US" dirty="0" err="1"/>
              <a:t>val</a:t>
            </a:r>
            <a:r>
              <a:rPr lang="en-US" dirty="0"/>
              <a:t>] intervals widen with horizon: OK"; stop() otherwise. Validations: Confirm </a:t>
            </a:r>
            <a:r>
              <a:rPr lang="en-US" dirty="0" err="1"/>
              <a:t>target_end_date</a:t>
            </a:r>
            <a:r>
              <a:rPr lang="en-US" dirty="0"/>
              <a:t> == </a:t>
            </a:r>
            <a:r>
              <a:rPr lang="en-US" dirty="0" err="1"/>
              <a:t>reference_date</a:t>
            </a:r>
            <a:r>
              <a:rPr lang="en-US" dirty="0"/>
              <a:t> + 7 * horizon for every row. Print "[</a:t>
            </a:r>
            <a:r>
              <a:rPr lang="en-US" dirty="0" err="1"/>
              <a:t>val</a:t>
            </a:r>
            <a:r>
              <a:rPr lang="en-US" dirty="0"/>
              <a:t>] target dates correct: OK"; stop() otherwise. Validations: Confirm each reference date is fit once, with all three horizons taken from that single forecast. Print "[</a:t>
            </a:r>
            <a:r>
              <a:rPr lang="en-US" dirty="0" err="1"/>
              <a:t>val</a:t>
            </a:r>
            <a:r>
              <a:rPr lang="en-US" dirty="0"/>
              <a:t>] one fit, three horizons: OK"; stop() otherwise.</a:t>
            </a:r>
          </a:p>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60</a:t>
            </a:fld>
            <a:endParaRPr lang="en-US"/>
          </a:p>
        </p:txBody>
      </p:sp>
    </p:spTree>
    <p:extLst>
      <p:ext uri="{BB962C8B-B14F-4D97-AF65-F5344CB8AC3E}">
        <p14:creationId xmlns:p14="http://schemas.microsoft.com/office/powerpoint/2010/main" val="33301852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62</a:t>
            </a:fld>
            <a:endParaRPr lang="en-US"/>
          </a:p>
        </p:txBody>
      </p:sp>
    </p:spTree>
    <p:extLst>
      <p:ext uri="{BB962C8B-B14F-4D97-AF65-F5344CB8AC3E}">
        <p14:creationId xmlns:p14="http://schemas.microsoft.com/office/powerpoint/2010/main" val="19167870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64</a:t>
            </a:fld>
            <a:endParaRPr lang="en-US"/>
          </a:p>
        </p:txBody>
      </p:sp>
    </p:spTree>
    <p:extLst>
      <p:ext uri="{BB962C8B-B14F-4D97-AF65-F5344CB8AC3E}">
        <p14:creationId xmlns:p14="http://schemas.microsoft.com/office/powerpoint/2010/main" val="2165798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ABFD8-2CD3-6B78-D051-1B9444426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0919C-9AD0-ADB2-E8D4-95AFCFDCB5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3208C-8182-E9FB-A6DF-8FBC57FE13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957DC1-5ED2-B7E4-937A-2ACDA57CA3AD}"/>
              </a:ext>
            </a:extLst>
          </p:cNvPr>
          <p:cNvSpPr>
            <a:spLocks noGrp="1"/>
          </p:cNvSpPr>
          <p:nvPr>
            <p:ph type="sldNum" sz="quarter" idx="5"/>
          </p:nvPr>
        </p:nvSpPr>
        <p:spPr/>
        <p:txBody>
          <a:bodyPr/>
          <a:lstStyle/>
          <a:p>
            <a:fld id="{7AFB17BE-BED3-4AB9-8286-10A56C371049}" type="slidenum">
              <a:rPr lang="en-US" smtClean="0"/>
              <a:t>65</a:t>
            </a:fld>
            <a:endParaRPr lang="en-US"/>
          </a:p>
        </p:txBody>
      </p:sp>
    </p:spTree>
    <p:extLst>
      <p:ext uri="{BB962C8B-B14F-4D97-AF65-F5344CB8AC3E}">
        <p14:creationId xmlns:p14="http://schemas.microsoft.com/office/powerpoint/2010/main" val="18587867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F3801-29C7-C59E-A229-FA54F05F9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AB6F3-F57B-AE7E-61AB-AA29F5DC9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B96B65-ABD0-E60A-DAD2-E4439C4E82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52D9E7-2A65-374D-9EFF-14AADFFA50E3}"/>
              </a:ext>
            </a:extLst>
          </p:cNvPr>
          <p:cNvSpPr>
            <a:spLocks noGrp="1"/>
          </p:cNvSpPr>
          <p:nvPr>
            <p:ph type="sldNum" sz="quarter" idx="5"/>
          </p:nvPr>
        </p:nvSpPr>
        <p:spPr/>
        <p:txBody>
          <a:bodyPr/>
          <a:lstStyle/>
          <a:p>
            <a:fld id="{7AFB17BE-BED3-4AB9-8286-10A56C371049}" type="slidenum">
              <a:rPr lang="en-US" smtClean="0"/>
              <a:t>66</a:t>
            </a:fld>
            <a:endParaRPr lang="en-US"/>
          </a:p>
        </p:txBody>
      </p:sp>
    </p:spTree>
    <p:extLst>
      <p:ext uri="{BB962C8B-B14F-4D97-AF65-F5344CB8AC3E}">
        <p14:creationId xmlns:p14="http://schemas.microsoft.com/office/powerpoint/2010/main" val="1740132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D79CF-A2A6-1419-3024-AFCCDB682A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9047B0-DCC0-FF84-E0E1-A09B0544CB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172DDF-B844-03A1-268C-DE04E049A4E8}"/>
              </a:ext>
            </a:extLst>
          </p:cNvPr>
          <p:cNvSpPr>
            <a:spLocks noGrp="1"/>
          </p:cNvSpPr>
          <p:nvPr>
            <p:ph type="dt" sz="half" idx="10"/>
          </p:nvPr>
        </p:nvSpPr>
        <p:spPr/>
        <p:txBody>
          <a:bodyPr/>
          <a:lstStyle/>
          <a:p>
            <a:fld id="{EB93F1B7-D4E5-4E0E-ABDD-A99B9F776707}" type="datetimeFigureOut">
              <a:rPr lang="en-US" smtClean="0"/>
              <a:t>7/14/2026</a:t>
            </a:fld>
            <a:endParaRPr lang="en-US"/>
          </a:p>
        </p:txBody>
      </p:sp>
      <p:sp>
        <p:nvSpPr>
          <p:cNvPr id="5" name="Footer Placeholder 4">
            <a:extLst>
              <a:ext uri="{FF2B5EF4-FFF2-40B4-BE49-F238E27FC236}">
                <a16:creationId xmlns:a16="http://schemas.microsoft.com/office/drawing/2014/main" id="{89DEBBF4-1BAA-9166-C3BF-BBF1E60E2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EE046B-6D8E-2385-F6F0-29E2B649CED4}"/>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107402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9492D-C299-D51B-6958-429DFF9840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DACC9B-78D9-472D-4467-D2FC9F785C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BC2432-3441-AEC7-B2F8-52CE4F305E54}"/>
              </a:ext>
            </a:extLst>
          </p:cNvPr>
          <p:cNvSpPr>
            <a:spLocks noGrp="1"/>
          </p:cNvSpPr>
          <p:nvPr>
            <p:ph type="dt" sz="half" idx="10"/>
          </p:nvPr>
        </p:nvSpPr>
        <p:spPr/>
        <p:txBody>
          <a:bodyPr/>
          <a:lstStyle/>
          <a:p>
            <a:fld id="{EB93F1B7-D4E5-4E0E-ABDD-A99B9F776707}" type="datetimeFigureOut">
              <a:rPr lang="en-US" smtClean="0"/>
              <a:t>7/14/2026</a:t>
            </a:fld>
            <a:endParaRPr lang="en-US"/>
          </a:p>
        </p:txBody>
      </p:sp>
      <p:sp>
        <p:nvSpPr>
          <p:cNvPr id="5" name="Footer Placeholder 4">
            <a:extLst>
              <a:ext uri="{FF2B5EF4-FFF2-40B4-BE49-F238E27FC236}">
                <a16:creationId xmlns:a16="http://schemas.microsoft.com/office/drawing/2014/main" id="{6C7CF96E-3410-5927-274D-74E94AC19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18C55E-1429-2D0C-0576-D75A06951D93}"/>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531068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9BEC5-D9F2-D23A-EBFF-EA383FD63B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595789-CAA2-E01C-7C7D-76830B5153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FB0A82-B9EF-3104-8CB3-C7CFD396A99D}"/>
              </a:ext>
            </a:extLst>
          </p:cNvPr>
          <p:cNvSpPr>
            <a:spLocks noGrp="1"/>
          </p:cNvSpPr>
          <p:nvPr>
            <p:ph type="dt" sz="half" idx="10"/>
          </p:nvPr>
        </p:nvSpPr>
        <p:spPr/>
        <p:txBody>
          <a:bodyPr/>
          <a:lstStyle/>
          <a:p>
            <a:fld id="{EB93F1B7-D4E5-4E0E-ABDD-A99B9F776707}" type="datetimeFigureOut">
              <a:rPr lang="en-US" smtClean="0"/>
              <a:t>7/14/2026</a:t>
            </a:fld>
            <a:endParaRPr lang="en-US"/>
          </a:p>
        </p:txBody>
      </p:sp>
      <p:sp>
        <p:nvSpPr>
          <p:cNvPr id="5" name="Footer Placeholder 4">
            <a:extLst>
              <a:ext uri="{FF2B5EF4-FFF2-40B4-BE49-F238E27FC236}">
                <a16:creationId xmlns:a16="http://schemas.microsoft.com/office/drawing/2014/main" id="{9B6AE857-A7B7-B3EC-ED62-88E9041EA8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89367B-2A62-2EDC-29D4-452234BF6C44}"/>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979938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6DEE9-618D-2260-D99B-2A4CDC224D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770D4A-A740-017C-58D0-2A5E5D70FD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E09D50-B9DC-41A0-BB90-49F4DFF6C9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383571-C2CB-6E71-E8CC-441C08578D80}"/>
              </a:ext>
            </a:extLst>
          </p:cNvPr>
          <p:cNvSpPr>
            <a:spLocks noGrp="1"/>
          </p:cNvSpPr>
          <p:nvPr>
            <p:ph type="dt" sz="half" idx="10"/>
          </p:nvPr>
        </p:nvSpPr>
        <p:spPr/>
        <p:txBody>
          <a:bodyPr/>
          <a:lstStyle/>
          <a:p>
            <a:fld id="{EB93F1B7-D4E5-4E0E-ABDD-A99B9F776707}" type="datetimeFigureOut">
              <a:rPr lang="en-US" smtClean="0"/>
              <a:t>7/14/2026</a:t>
            </a:fld>
            <a:endParaRPr lang="en-US"/>
          </a:p>
        </p:txBody>
      </p:sp>
      <p:sp>
        <p:nvSpPr>
          <p:cNvPr id="6" name="Footer Placeholder 5">
            <a:extLst>
              <a:ext uri="{FF2B5EF4-FFF2-40B4-BE49-F238E27FC236}">
                <a16:creationId xmlns:a16="http://schemas.microsoft.com/office/drawing/2014/main" id="{AE7F979F-EB21-1E5B-82C7-7BC77610D9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25E938-1708-0F38-C20C-2641908918DB}"/>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568171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34060-1FFA-38C1-365F-ABE9F11C2A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CC664C-1FA9-A87D-7D13-8C48C5D955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2BFFD1-AD8C-ED37-D356-11A7270FDB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A0D20-DE85-847B-5ED0-097B631A8F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5823BD-857D-FC84-BACB-FA01FC71B8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1595E1-94BF-6C17-F50F-12717DA8ECFD}"/>
              </a:ext>
            </a:extLst>
          </p:cNvPr>
          <p:cNvSpPr>
            <a:spLocks noGrp="1"/>
          </p:cNvSpPr>
          <p:nvPr>
            <p:ph type="dt" sz="half" idx="10"/>
          </p:nvPr>
        </p:nvSpPr>
        <p:spPr/>
        <p:txBody>
          <a:bodyPr/>
          <a:lstStyle/>
          <a:p>
            <a:fld id="{EB93F1B7-D4E5-4E0E-ABDD-A99B9F776707}" type="datetimeFigureOut">
              <a:rPr lang="en-US" smtClean="0"/>
              <a:t>7/14/2026</a:t>
            </a:fld>
            <a:endParaRPr lang="en-US"/>
          </a:p>
        </p:txBody>
      </p:sp>
      <p:sp>
        <p:nvSpPr>
          <p:cNvPr id="8" name="Footer Placeholder 7">
            <a:extLst>
              <a:ext uri="{FF2B5EF4-FFF2-40B4-BE49-F238E27FC236}">
                <a16:creationId xmlns:a16="http://schemas.microsoft.com/office/drawing/2014/main" id="{13D2759C-AA74-291B-2317-F99B543B25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0B1987-8FB7-D185-9E0A-C6799DD29B5A}"/>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679010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5B52-E008-F98B-B254-CFBB680F5E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9B40C4-5B77-0FB7-2ADD-D941D51EC3E4}"/>
              </a:ext>
            </a:extLst>
          </p:cNvPr>
          <p:cNvSpPr>
            <a:spLocks noGrp="1"/>
          </p:cNvSpPr>
          <p:nvPr>
            <p:ph type="dt" sz="half" idx="10"/>
          </p:nvPr>
        </p:nvSpPr>
        <p:spPr/>
        <p:txBody>
          <a:bodyPr/>
          <a:lstStyle/>
          <a:p>
            <a:fld id="{EB93F1B7-D4E5-4E0E-ABDD-A99B9F776707}" type="datetimeFigureOut">
              <a:rPr lang="en-US" smtClean="0"/>
              <a:t>7/14/2026</a:t>
            </a:fld>
            <a:endParaRPr lang="en-US"/>
          </a:p>
        </p:txBody>
      </p:sp>
      <p:sp>
        <p:nvSpPr>
          <p:cNvPr id="4" name="Footer Placeholder 3">
            <a:extLst>
              <a:ext uri="{FF2B5EF4-FFF2-40B4-BE49-F238E27FC236}">
                <a16:creationId xmlns:a16="http://schemas.microsoft.com/office/drawing/2014/main" id="{C7E9340A-ABDB-07DE-2426-B26780C4E2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64FF3A-EC1D-74C1-9A02-48A8B3266E83}"/>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4227266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241770-BEA7-72BB-4048-A655FCE41F7C}"/>
              </a:ext>
            </a:extLst>
          </p:cNvPr>
          <p:cNvSpPr>
            <a:spLocks noGrp="1"/>
          </p:cNvSpPr>
          <p:nvPr>
            <p:ph type="dt" sz="half" idx="10"/>
          </p:nvPr>
        </p:nvSpPr>
        <p:spPr/>
        <p:txBody>
          <a:bodyPr/>
          <a:lstStyle/>
          <a:p>
            <a:fld id="{EB93F1B7-D4E5-4E0E-ABDD-A99B9F776707}" type="datetimeFigureOut">
              <a:rPr lang="en-US" smtClean="0"/>
              <a:t>7/14/2026</a:t>
            </a:fld>
            <a:endParaRPr lang="en-US"/>
          </a:p>
        </p:txBody>
      </p:sp>
      <p:sp>
        <p:nvSpPr>
          <p:cNvPr id="3" name="Footer Placeholder 2">
            <a:extLst>
              <a:ext uri="{FF2B5EF4-FFF2-40B4-BE49-F238E27FC236}">
                <a16:creationId xmlns:a16="http://schemas.microsoft.com/office/drawing/2014/main" id="{AADD49CF-050E-5E97-9040-29FE3F5333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560CB4-170E-16AC-E957-A5C5D4654998}"/>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610065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086E-D0A9-9E5B-DC07-6D6740E67F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0E83F0-0C35-39A3-408A-90BC4F24F1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A7732A-2F0A-02B8-CEAC-2B536FAEB4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00FC34-3C2A-0CA7-2303-E0D18B7D0B90}"/>
              </a:ext>
            </a:extLst>
          </p:cNvPr>
          <p:cNvSpPr>
            <a:spLocks noGrp="1"/>
          </p:cNvSpPr>
          <p:nvPr>
            <p:ph type="dt" sz="half" idx="10"/>
          </p:nvPr>
        </p:nvSpPr>
        <p:spPr/>
        <p:txBody>
          <a:bodyPr/>
          <a:lstStyle/>
          <a:p>
            <a:fld id="{EB93F1B7-D4E5-4E0E-ABDD-A99B9F776707}" type="datetimeFigureOut">
              <a:rPr lang="en-US" smtClean="0"/>
              <a:t>7/14/2026</a:t>
            </a:fld>
            <a:endParaRPr lang="en-US"/>
          </a:p>
        </p:txBody>
      </p:sp>
      <p:sp>
        <p:nvSpPr>
          <p:cNvPr id="6" name="Footer Placeholder 5">
            <a:extLst>
              <a:ext uri="{FF2B5EF4-FFF2-40B4-BE49-F238E27FC236}">
                <a16:creationId xmlns:a16="http://schemas.microsoft.com/office/drawing/2014/main" id="{0D51CA84-8F34-9053-A414-4CCCA67B1B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F73147-9B6B-2E56-7D39-EF4E3D4EFE02}"/>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866419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4C180-17F5-09CB-8052-433FD0B7B2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9E8D1D-527E-9A89-B4FA-C30DD55D10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FF2330-7754-CDC7-31FB-1AE863BAE7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E73316-7A89-693F-A84F-F3B79826926E}"/>
              </a:ext>
            </a:extLst>
          </p:cNvPr>
          <p:cNvSpPr>
            <a:spLocks noGrp="1"/>
          </p:cNvSpPr>
          <p:nvPr>
            <p:ph type="dt" sz="half" idx="10"/>
          </p:nvPr>
        </p:nvSpPr>
        <p:spPr/>
        <p:txBody>
          <a:bodyPr/>
          <a:lstStyle/>
          <a:p>
            <a:fld id="{EB93F1B7-D4E5-4E0E-ABDD-A99B9F776707}" type="datetimeFigureOut">
              <a:rPr lang="en-US" smtClean="0"/>
              <a:t>7/14/2026</a:t>
            </a:fld>
            <a:endParaRPr lang="en-US"/>
          </a:p>
        </p:txBody>
      </p:sp>
      <p:sp>
        <p:nvSpPr>
          <p:cNvPr id="6" name="Footer Placeholder 5">
            <a:extLst>
              <a:ext uri="{FF2B5EF4-FFF2-40B4-BE49-F238E27FC236}">
                <a16:creationId xmlns:a16="http://schemas.microsoft.com/office/drawing/2014/main" id="{BF05464A-56A4-2A22-3ACF-9F35CF8A2B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97FBD2-1AB3-07F5-6029-DA1CE44FA449}"/>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56453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0EF9B-C8F6-45E2-2A35-2478F09438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01EDAF-D969-797E-87A2-BD20124321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2F08CF-6A57-85C3-97B1-B5DED23AFEB8}"/>
              </a:ext>
            </a:extLst>
          </p:cNvPr>
          <p:cNvSpPr>
            <a:spLocks noGrp="1"/>
          </p:cNvSpPr>
          <p:nvPr>
            <p:ph type="dt" sz="half" idx="10"/>
          </p:nvPr>
        </p:nvSpPr>
        <p:spPr/>
        <p:txBody>
          <a:bodyPr/>
          <a:lstStyle/>
          <a:p>
            <a:fld id="{EB93F1B7-D4E5-4E0E-ABDD-A99B9F776707}" type="datetimeFigureOut">
              <a:rPr lang="en-US" smtClean="0"/>
              <a:t>7/14/2026</a:t>
            </a:fld>
            <a:endParaRPr lang="en-US"/>
          </a:p>
        </p:txBody>
      </p:sp>
      <p:sp>
        <p:nvSpPr>
          <p:cNvPr id="5" name="Footer Placeholder 4">
            <a:extLst>
              <a:ext uri="{FF2B5EF4-FFF2-40B4-BE49-F238E27FC236}">
                <a16:creationId xmlns:a16="http://schemas.microsoft.com/office/drawing/2014/main" id="{C2FF6943-90C2-2625-7C1B-E7DDCDD372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D3406C-5DE2-7BDA-B333-77A64BCBC9FC}"/>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695873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751DC0-D516-394B-D353-934AE36E92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DAE85E-334E-F620-8DDB-68EC3BF70B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D56895-65BE-3365-1049-56B2416A7C4B}"/>
              </a:ext>
            </a:extLst>
          </p:cNvPr>
          <p:cNvSpPr>
            <a:spLocks noGrp="1"/>
          </p:cNvSpPr>
          <p:nvPr>
            <p:ph type="dt" sz="half" idx="10"/>
          </p:nvPr>
        </p:nvSpPr>
        <p:spPr/>
        <p:txBody>
          <a:bodyPr/>
          <a:lstStyle/>
          <a:p>
            <a:fld id="{EB93F1B7-D4E5-4E0E-ABDD-A99B9F776707}" type="datetimeFigureOut">
              <a:rPr lang="en-US" smtClean="0"/>
              <a:t>7/14/2026</a:t>
            </a:fld>
            <a:endParaRPr lang="en-US"/>
          </a:p>
        </p:txBody>
      </p:sp>
      <p:sp>
        <p:nvSpPr>
          <p:cNvPr id="5" name="Footer Placeholder 4">
            <a:extLst>
              <a:ext uri="{FF2B5EF4-FFF2-40B4-BE49-F238E27FC236}">
                <a16:creationId xmlns:a16="http://schemas.microsoft.com/office/drawing/2014/main" id="{6FB2D124-D172-BAC4-E0C5-6FC95466C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ADE61B-1739-8600-34F5-598556080179}"/>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686086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7370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BAE1AA-AA4E-09C8-318C-70B38CE918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6C2D71-E39F-57E0-CA6C-24D11A5408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23A13-C141-78E1-CB26-B95EF6C54E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93F1B7-D4E5-4E0E-ABDD-A99B9F776707}" type="datetimeFigureOut">
              <a:rPr lang="en-US" smtClean="0"/>
              <a:t>7/14/2026</a:t>
            </a:fld>
            <a:endParaRPr lang="en-US"/>
          </a:p>
        </p:txBody>
      </p:sp>
      <p:sp>
        <p:nvSpPr>
          <p:cNvPr id="5" name="Footer Placeholder 4">
            <a:extLst>
              <a:ext uri="{FF2B5EF4-FFF2-40B4-BE49-F238E27FC236}">
                <a16:creationId xmlns:a16="http://schemas.microsoft.com/office/drawing/2014/main" id="{B3EAF066-AF78-7216-67FA-F5C55E20FB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51144B-7412-60D6-F916-2CDD1461C4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0392D0-5FE0-4243-8991-F224F429BAD4}" type="slidenum">
              <a:rPr lang="en-US" smtClean="0"/>
              <a:t>‹#›</a:t>
            </a:fld>
            <a:endParaRPr lang="en-US"/>
          </a:p>
        </p:txBody>
      </p:sp>
    </p:spTree>
    <p:extLst>
      <p:ext uri="{BB962C8B-B14F-4D97-AF65-F5344CB8AC3E}">
        <p14:creationId xmlns:p14="http://schemas.microsoft.com/office/powerpoint/2010/main" val="2050175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18/10/relationships/comments" Target="../comments/modernComment_1F2_F67B9FBA.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microsoft.com/office/2018/10/relationships/comments" Target="../comments/modernComment_1EF_1F7F2EF8.xml"/><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1.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a:solidFill>
                  <a:srgbClr val="7030A0"/>
                </a:solidFill>
                <a:latin typeface="Arial" panose="020B0604020202020204" pitchFamily="34" charset="0"/>
                <a:cs typeface="Arial" panose="020B0604020202020204" pitchFamily="34" charset="0"/>
              </a:rPr>
              <a:t>Activity 03: Modeling &amp; Forecasting</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 – 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80830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267" b="1">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267">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21058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68296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921584"/>
            <a:ext cx="7805535" cy="1631216"/>
          </a:xfrm>
          <a:prstGeom prst="rect">
            <a:avLst/>
          </a:prstGeom>
          <a:noFill/>
        </p:spPr>
        <p:txBody>
          <a:bodyPr wrap="none" rtlCol="0">
            <a:spAutoFit/>
          </a:bodyPr>
          <a:lstStyle/>
          <a:p>
            <a:r>
              <a:rPr lang="en-US" sz="2500">
                <a:latin typeface="Arial" panose="020B0604020202020204" pitchFamily="34" charset="0"/>
                <a:cs typeface="Arial" panose="020B0604020202020204" pitchFamily="34" charset="0"/>
              </a:rPr>
              <a:t>Any slide with this icon contains the </a:t>
            </a:r>
            <a:r>
              <a:rPr lang="en-US" sz="2500" b="1">
                <a:latin typeface="Arial" panose="020B0604020202020204" pitchFamily="34" charset="0"/>
                <a:cs typeface="Arial" panose="020B0604020202020204" pitchFamily="34" charset="0"/>
              </a:rPr>
              <a:t>goals</a:t>
            </a:r>
            <a:r>
              <a:rPr lang="en-US" sz="2500">
                <a:latin typeface="Arial" panose="020B0604020202020204" pitchFamily="34" charset="0"/>
                <a:cs typeface="Arial" panose="020B0604020202020204" pitchFamily="34" charset="0"/>
              </a:rPr>
              <a:t> and </a:t>
            </a:r>
          </a:p>
          <a:p>
            <a:r>
              <a:rPr lang="en-US" sz="2500" b="1">
                <a:latin typeface="Arial" panose="020B0604020202020204" pitchFamily="34" charset="0"/>
                <a:cs typeface="Arial" panose="020B0604020202020204" pitchFamily="34" charset="0"/>
              </a:rPr>
              <a:t>expected outputs</a:t>
            </a:r>
            <a:r>
              <a:rPr lang="en-US" sz="2500">
                <a:latin typeface="Arial" panose="020B0604020202020204" pitchFamily="34" charset="0"/>
                <a:cs typeface="Arial" panose="020B0604020202020204" pitchFamily="34" charset="0"/>
              </a:rPr>
              <a:t> for the activity. All outputs listed in </a:t>
            </a:r>
          </a:p>
          <a:p>
            <a:r>
              <a:rPr lang="en-US" sz="2500">
                <a:latin typeface="Arial" panose="020B0604020202020204" pitchFamily="34" charset="0"/>
                <a:cs typeface="Arial" panose="020B0604020202020204" pitchFamily="34" charset="0"/>
              </a:rPr>
              <a:t>the tables on these slides should be uploaded to the </a:t>
            </a:r>
          </a:p>
          <a:p>
            <a:r>
              <a:rPr lang="en-US" sz="2500">
                <a:latin typeface="Arial" panose="020B0604020202020204" pitchFamily="34" charset="0"/>
                <a:cs typeface="Arial" panose="020B0604020202020204" pitchFamily="34" charset="0"/>
              </a:rPr>
              <a:t>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32557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41405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183337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7281651" y="1780097"/>
            <a:ext cx="0" cy="243840"/>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216473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2023937"/>
            <a:ext cx="451104" cy="465963"/>
          </a:xfrm>
          <a:prstGeom prst="ellipse">
            <a:avLst/>
          </a:prstGeom>
          <a:solidFill>
            <a:schemeClr val="accent2"/>
          </a:solidFill>
          <a:ln/>
        </p:spPr>
        <p:txBody>
          <a:bodyPr/>
          <a:lstStyle/>
          <a:p>
            <a:endParaRPr lang="en-US"/>
          </a:p>
        </p:txBody>
      </p:sp>
      <p:sp>
        <p:nvSpPr>
          <p:cNvPr id="5" name="Shape 3">
            <a:extLst>
              <a:ext uri="{FF2B5EF4-FFF2-40B4-BE49-F238E27FC236}">
                <a16:creationId xmlns:a16="http://schemas.microsoft.com/office/drawing/2014/main" id="{398DF220-93AA-75B9-5885-F517C4CBC73F}"/>
              </a:ext>
            </a:extLst>
          </p:cNvPr>
          <p:cNvSpPr/>
          <p:nvPr/>
        </p:nvSpPr>
        <p:spPr>
          <a:xfrm>
            <a:off x="1603016" y="2714849"/>
            <a:ext cx="2011680" cy="2348421"/>
          </a:xfrm>
          <a:prstGeom prst="rect">
            <a:avLst/>
          </a:prstGeom>
          <a:solidFill>
            <a:srgbClr val="E8F4F8"/>
          </a:solidFill>
          <a:ln>
            <a:solidFill>
              <a:srgbClr val="E8F4F8"/>
            </a:solidFill>
          </a:ln>
          <a:effectLst>
            <a:outerShdw blurRad="50800" dist="25400" dir="8100000" algn="bl" rotWithShape="0">
              <a:srgbClr val="000000">
                <a:alpha val="10000"/>
              </a:srgbClr>
            </a:outerShdw>
          </a:effectLst>
        </p:spPr>
        <p:txBody>
          <a:bodyPr/>
          <a:lstStyle/>
          <a:p>
            <a:endParaRPr lang="en-US"/>
          </a:p>
        </p:txBody>
      </p:sp>
      <p:sp>
        <p:nvSpPr>
          <p:cNvPr id="6" name="Text 4">
            <a:extLst>
              <a:ext uri="{FF2B5EF4-FFF2-40B4-BE49-F238E27FC236}">
                <a16:creationId xmlns:a16="http://schemas.microsoft.com/office/drawing/2014/main" id="{9346C554-AF69-9E25-27D5-6D80026C616B}"/>
              </a:ext>
            </a:extLst>
          </p:cNvPr>
          <p:cNvSpPr/>
          <p:nvPr/>
        </p:nvSpPr>
        <p:spPr>
          <a:xfrm>
            <a:off x="1700552" y="279470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7" name="Text 5">
            <a:extLst>
              <a:ext uri="{FF2B5EF4-FFF2-40B4-BE49-F238E27FC236}">
                <a16:creationId xmlns:a16="http://schemas.microsoft.com/office/drawing/2014/main" id="{B7D6E1AA-9A8F-609B-2D13-AADCCD49A3AA}"/>
              </a:ext>
            </a:extLst>
          </p:cNvPr>
          <p:cNvSpPr/>
          <p:nvPr/>
        </p:nvSpPr>
        <p:spPr>
          <a:xfrm>
            <a:off x="1700552" y="3202530"/>
            <a:ext cx="1828800" cy="426720"/>
          </a:xfrm>
          <a:prstGeom prst="rect">
            <a:avLst/>
          </a:prstGeom>
          <a:noFill/>
          <a:ln/>
        </p:spPr>
        <p:txBody>
          <a:bodyPr wrap="square" lIns="0" tIns="0" rIns="0" bIns="0" rtlCol="0" anchor="ctr"/>
          <a:lstStyle/>
          <a:p>
            <a:r>
              <a:rPr lang="en-US" sz="1730" b="1">
                <a:solidFill>
                  <a:srgbClr val="0B2545"/>
                </a:solidFill>
                <a:latin typeface="Arial" panose="020B0604020202020204" pitchFamily="34" charset="0"/>
                <a:ea typeface="Trebuchet MS" pitchFamily="34" charset="-122"/>
                <a:cs typeface="Arial" panose="020B0604020202020204" pitchFamily="34" charset="0"/>
              </a:rPr>
              <a:t>Data</a:t>
            </a:r>
          </a:p>
          <a:p>
            <a:r>
              <a:rPr lang="en-US" sz="1730" b="1">
                <a:solidFill>
                  <a:srgbClr val="0B2545"/>
                </a:solidFill>
                <a:latin typeface="Arial" panose="020B0604020202020204" pitchFamily="34" charset="0"/>
                <a:ea typeface="Trebuchet MS" pitchFamily="34" charset="-122"/>
                <a:cs typeface="Arial" panose="020B0604020202020204" pitchFamily="34" charset="0"/>
              </a:rPr>
              <a:t>Cleaning</a:t>
            </a:r>
            <a:endParaRPr lang="en-US" sz="1730">
              <a:latin typeface="Arial" panose="020B0604020202020204" pitchFamily="34" charset="0"/>
              <a:cs typeface="Arial" panose="020B0604020202020204" pitchFamily="34" charset="0"/>
            </a:endParaRPr>
          </a:p>
        </p:txBody>
      </p:sp>
      <p:sp>
        <p:nvSpPr>
          <p:cNvPr id="8" name="Shape 6">
            <a:extLst>
              <a:ext uri="{FF2B5EF4-FFF2-40B4-BE49-F238E27FC236}">
                <a16:creationId xmlns:a16="http://schemas.microsoft.com/office/drawing/2014/main" id="{A3AFE840-78C4-310A-0C45-53437A09851F}"/>
              </a:ext>
            </a:extLst>
          </p:cNvPr>
          <p:cNvSpPr/>
          <p:nvPr/>
        </p:nvSpPr>
        <p:spPr>
          <a:xfrm>
            <a:off x="1681053" y="3751235"/>
            <a:ext cx="975360" cy="36576"/>
          </a:xfrm>
          <a:prstGeom prst="rect">
            <a:avLst/>
          </a:prstGeom>
          <a:solidFill>
            <a:srgbClr val="13678A"/>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2009620"/>
            <a:ext cx="451104" cy="465963"/>
          </a:xfrm>
          <a:prstGeom prst="ellipse">
            <a:avLst/>
          </a:prstGeom>
          <a:solidFill>
            <a:schemeClr val="accent2"/>
          </a:solidFill>
          <a:ln/>
        </p:spPr>
        <p:txBody>
          <a:bodyPr/>
          <a:lstStyle/>
          <a:p>
            <a:endParaRPr lang="en-US"/>
          </a:p>
        </p:txBody>
      </p:sp>
      <p:sp>
        <p:nvSpPr>
          <p:cNvPr id="37" name="Shape 3">
            <a:extLst>
              <a:ext uri="{FF2B5EF4-FFF2-40B4-BE49-F238E27FC236}">
                <a16:creationId xmlns:a16="http://schemas.microsoft.com/office/drawing/2014/main" id="{435D559B-F0BD-DB38-90EA-5BD16372817E}"/>
              </a:ext>
            </a:extLst>
          </p:cNvPr>
          <p:cNvSpPr/>
          <p:nvPr/>
        </p:nvSpPr>
        <p:spPr>
          <a:xfrm>
            <a:off x="3957628" y="271484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38" name="Text 4">
            <a:extLst>
              <a:ext uri="{FF2B5EF4-FFF2-40B4-BE49-F238E27FC236}">
                <a16:creationId xmlns:a16="http://schemas.microsoft.com/office/drawing/2014/main" id="{B5A2C030-69C6-A503-4D93-82F93DFA82AC}"/>
              </a:ext>
            </a:extLst>
          </p:cNvPr>
          <p:cNvSpPr/>
          <p:nvPr/>
        </p:nvSpPr>
        <p:spPr>
          <a:xfrm>
            <a:off x="4055164" y="281432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39" name="Text 5">
            <a:extLst>
              <a:ext uri="{FF2B5EF4-FFF2-40B4-BE49-F238E27FC236}">
                <a16:creationId xmlns:a16="http://schemas.microsoft.com/office/drawing/2014/main" id="{DF68F927-E755-9F08-0573-D3F69468B7EF}"/>
              </a:ext>
            </a:extLst>
          </p:cNvPr>
          <p:cNvSpPr/>
          <p:nvPr/>
        </p:nvSpPr>
        <p:spPr>
          <a:xfrm>
            <a:off x="4055164" y="3202530"/>
            <a:ext cx="1828800" cy="426720"/>
          </a:xfrm>
          <a:prstGeom prst="rect">
            <a:avLst/>
          </a:prstGeom>
          <a:noFill/>
          <a:ln/>
        </p:spPr>
        <p:txBody>
          <a:bodyPr wrap="square" lIns="0" tIns="0" rIns="0" bIns="0" rtlCol="0" anchor="ctr"/>
          <a:lstStyle/>
          <a:p>
            <a:r>
              <a:rPr lang="en-US" sz="1730" b="1">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a:latin typeface="Arial" panose="020B0604020202020204" pitchFamily="34" charset="0"/>
              <a:cs typeface="Arial" panose="020B0604020202020204" pitchFamily="34" charset="0"/>
            </a:endParaRPr>
          </a:p>
        </p:txBody>
      </p:sp>
      <p:sp>
        <p:nvSpPr>
          <p:cNvPr id="40" name="Shape 6">
            <a:extLst>
              <a:ext uri="{FF2B5EF4-FFF2-40B4-BE49-F238E27FC236}">
                <a16:creationId xmlns:a16="http://schemas.microsoft.com/office/drawing/2014/main" id="{0DE3EF12-735C-FAA3-8B8B-BF2D516439D7}"/>
              </a:ext>
            </a:extLst>
          </p:cNvPr>
          <p:cNvSpPr/>
          <p:nvPr/>
        </p:nvSpPr>
        <p:spPr>
          <a:xfrm>
            <a:off x="4055164" y="3730661"/>
            <a:ext cx="975360" cy="36576"/>
          </a:xfrm>
          <a:prstGeom prst="rect">
            <a:avLst/>
          </a:prstGeom>
          <a:solidFill>
            <a:srgbClr val="13678A"/>
          </a:solidFill>
          <a:ln/>
        </p:spPr>
        <p:txBody>
          <a:bodyPr/>
          <a:lstStyle/>
          <a:p>
            <a:endParaRPr lang="en-US"/>
          </a:p>
        </p:txBody>
      </p:sp>
      <p:sp>
        <p:nvSpPr>
          <p:cNvPr id="42" name="Shape 3">
            <a:extLst>
              <a:ext uri="{FF2B5EF4-FFF2-40B4-BE49-F238E27FC236}">
                <a16:creationId xmlns:a16="http://schemas.microsoft.com/office/drawing/2014/main" id="{2AE6D4BC-C9EA-856A-0269-FA67A4A5A092}"/>
              </a:ext>
            </a:extLst>
          </p:cNvPr>
          <p:cNvSpPr/>
          <p:nvPr/>
        </p:nvSpPr>
        <p:spPr>
          <a:xfrm>
            <a:off x="6312240" y="271484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43" name="Text 4">
            <a:extLst>
              <a:ext uri="{FF2B5EF4-FFF2-40B4-BE49-F238E27FC236}">
                <a16:creationId xmlns:a16="http://schemas.microsoft.com/office/drawing/2014/main" id="{E49DB695-05A8-A4AE-830E-613EC6266BE6}"/>
              </a:ext>
            </a:extLst>
          </p:cNvPr>
          <p:cNvSpPr/>
          <p:nvPr/>
        </p:nvSpPr>
        <p:spPr>
          <a:xfrm>
            <a:off x="6403616" y="279470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45" name="Shape 6">
            <a:extLst>
              <a:ext uri="{FF2B5EF4-FFF2-40B4-BE49-F238E27FC236}">
                <a16:creationId xmlns:a16="http://schemas.microsoft.com/office/drawing/2014/main" id="{12614BA1-D9E1-9801-B147-4B577B9B23B9}"/>
              </a:ext>
            </a:extLst>
          </p:cNvPr>
          <p:cNvSpPr/>
          <p:nvPr/>
        </p:nvSpPr>
        <p:spPr>
          <a:xfrm>
            <a:off x="6409776" y="3736377"/>
            <a:ext cx="975360" cy="36576"/>
          </a:xfrm>
          <a:prstGeom prst="rect">
            <a:avLst/>
          </a:prstGeom>
          <a:solidFill>
            <a:srgbClr val="13678A"/>
          </a:solidFill>
          <a:ln/>
        </p:spPr>
        <p:txBody>
          <a:bodyPr/>
          <a:lstStyle/>
          <a:p>
            <a:endParaRPr lang="en-US"/>
          </a:p>
        </p:txBody>
      </p:sp>
      <p:sp>
        <p:nvSpPr>
          <p:cNvPr id="52" name="Shape 3">
            <a:extLst>
              <a:ext uri="{FF2B5EF4-FFF2-40B4-BE49-F238E27FC236}">
                <a16:creationId xmlns:a16="http://schemas.microsoft.com/office/drawing/2014/main" id="{2A352E0A-3045-D979-10A8-E835ABD89E62}"/>
              </a:ext>
            </a:extLst>
          </p:cNvPr>
          <p:cNvSpPr/>
          <p:nvPr/>
        </p:nvSpPr>
        <p:spPr>
          <a:xfrm>
            <a:off x="8680596" y="270196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53" name="Text 4">
            <a:extLst>
              <a:ext uri="{FF2B5EF4-FFF2-40B4-BE49-F238E27FC236}">
                <a16:creationId xmlns:a16="http://schemas.microsoft.com/office/drawing/2014/main" id="{E2A3B260-42AB-A407-0FE6-6DB7C065613D}"/>
              </a:ext>
            </a:extLst>
          </p:cNvPr>
          <p:cNvSpPr/>
          <p:nvPr/>
        </p:nvSpPr>
        <p:spPr>
          <a:xfrm>
            <a:off x="8764388" y="279320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54" name="Text 5">
            <a:extLst>
              <a:ext uri="{FF2B5EF4-FFF2-40B4-BE49-F238E27FC236}">
                <a16:creationId xmlns:a16="http://schemas.microsoft.com/office/drawing/2014/main" id="{0D93F6A1-6973-3CD0-9564-6B833D2E1B42}"/>
              </a:ext>
            </a:extLst>
          </p:cNvPr>
          <p:cNvSpPr/>
          <p:nvPr/>
        </p:nvSpPr>
        <p:spPr>
          <a:xfrm>
            <a:off x="6417425" y="3194641"/>
            <a:ext cx="1828800" cy="426720"/>
          </a:xfrm>
          <a:prstGeom prst="rect">
            <a:avLst/>
          </a:prstGeom>
          <a:noFill/>
          <a:ln/>
        </p:spPr>
        <p:txBody>
          <a:bodyPr wrap="square" lIns="0" tIns="0" rIns="0" bIns="0" rtlCol="0" anchor="ctr"/>
          <a:lstStyle/>
          <a:p>
            <a:r>
              <a:rPr lang="en-US" sz="1733" b="1">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55" name="Shape 6">
            <a:extLst>
              <a:ext uri="{FF2B5EF4-FFF2-40B4-BE49-F238E27FC236}">
                <a16:creationId xmlns:a16="http://schemas.microsoft.com/office/drawing/2014/main" id="{DEA07EBD-D7F2-F9FE-6A1A-DD4C34D5E52F}"/>
              </a:ext>
            </a:extLst>
          </p:cNvPr>
          <p:cNvSpPr/>
          <p:nvPr/>
        </p:nvSpPr>
        <p:spPr>
          <a:xfrm>
            <a:off x="8764388" y="3730661"/>
            <a:ext cx="975360" cy="36576"/>
          </a:xfrm>
          <a:prstGeom prst="rect">
            <a:avLst/>
          </a:prstGeom>
          <a:solidFill>
            <a:srgbClr val="13678A"/>
          </a:solidFill>
          <a:ln/>
        </p:spPr>
        <p:txBody>
          <a:bodyPr/>
          <a:lstStyle/>
          <a:p>
            <a:endParaRPr lang="en-US"/>
          </a:p>
        </p:txBody>
      </p:sp>
      <p:sp>
        <p:nvSpPr>
          <p:cNvPr id="59" name="Text 5">
            <a:extLst>
              <a:ext uri="{FF2B5EF4-FFF2-40B4-BE49-F238E27FC236}">
                <a16:creationId xmlns:a16="http://schemas.microsoft.com/office/drawing/2014/main" id="{EF477364-4BE7-32FC-3FC5-455C9C7B281B}"/>
              </a:ext>
            </a:extLst>
          </p:cNvPr>
          <p:cNvSpPr/>
          <p:nvPr/>
        </p:nvSpPr>
        <p:spPr>
          <a:xfrm>
            <a:off x="8779188" y="3203580"/>
            <a:ext cx="1828800" cy="426720"/>
          </a:xfrm>
          <a:prstGeom prst="rect">
            <a:avLst/>
          </a:prstGeom>
          <a:noFill/>
          <a:ln/>
        </p:spPr>
        <p:txBody>
          <a:bodyPr wrap="square" lIns="0" tIns="0" rIns="0" bIns="0" rtlCol="0" anchor="ctr"/>
          <a:lstStyle/>
          <a:p>
            <a:r>
              <a:rPr lang="en-US" sz="1733" b="1">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a:latin typeface="Arial" panose="020B0604020202020204" pitchFamily="34" charset="0"/>
              <a:cs typeface="Arial" panose="020B0604020202020204" pitchFamily="34" charset="0"/>
            </a:endParaRPr>
          </a:p>
        </p:txBody>
      </p:sp>
      <p:sp>
        <p:nvSpPr>
          <p:cNvPr id="62" name="Shape 2">
            <a:extLst>
              <a:ext uri="{FF2B5EF4-FFF2-40B4-BE49-F238E27FC236}">
                <a16:creationId xmlns:a16="http://schemas.microsoft.com/office/drawing/2014/main" id="{E1455AB2-15A8-F5AE-5130-665283EA9BD5}"/>
              </a:ext>
            </a:extLst>
          </p:cNvPr>
          <p:cNvSpPr/>
          <p:nvPr/>
        </p:nvSpPr>
        <p:spPr>
          <a:xfrm>
            <a:off x="7068148" y="200714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2017429"/>
            <a:ext cx="451104" cy="465963"/>
          </a:xfrm>
          <a:prstGeom prst="ellipse">
            <a:avLst/>
          </a:prstGeom>
          <a:solidFill>
            <a:schemeClr val="accent2"/>
          </a:solidFill>
          <a:ln/>
        </p:spPr>
        <p:txBody>
          <a:bodyPr/>
          <a:lstStyle/>
          <a:p>
            <a:endParaRPr lang="en-US"/>
          </a:p>
        </p:txBody>
      </p:sp>
      <p:cxnSp>
        <p:nvCxnSpPr>
          <p:cNvPr id="66" name="Connector: Elbow 65">
            <a:extLst>
              <a:ext uri="{FF2B5EF4-FFF2-40B4-BE49-F238E27FC236}">
                <a16:creationId xmlns:a16="http://schemas.microsoft.com/office/drawing/2014/main" id="{53C7DDAC-A43D-799E-6136-B78CFFE8C34C}"/>
              </a:ext>
            </a:extLst>
          </p:cNvPr>
          <p:cNvCxnSpPr>
            <a:cxnSpLocks/>
            <a:stCxn id="52" idx="2"/>
            <a:endCxn id="42" idx="2"/>
          </p:cNvCxnSpPr>
          <p:nvPr/>
        </p:nvCxnSpPr>
        <p:spPr>
          <a:xfrm rot="5400000" flipH="1">
            <a:off x="8497201" y="388414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8" name="Shape 2">
            <a:extLst>
              <a:ext uri="{FF2B5EF4-FFF2-40B4-BE49-F238E27FC236}">
                <a16:creationId xmlns:a16="http://schemas.microsoft.com/office/drawing/2014/main" id="{6B2111ED-A972-1557-B27B-F00F297C8D18}"/>
              </a:ext>
            </a:extLst>
          </p:cNvPr>
          <p:cNvSpPr/>
          <p:nvPr/>
        </p:nvSpPr>
        <p:spPr>
          <a:xfrm>
            <a:off x="8276705" y="5538511"/>
            <a:ext cx="451104" cy="465963"/>
          </a:xfrm>
          <a:prstGeom prst="ellipse">
            <a:avLst/>
          </a:prstGeom>
          <a:solidFill>
            <a:schemeClr val="accent2"/>
          </a:solidFill>
          <a:ln/>
        </p:spPr>
        <p:txBody>
          <a:bodyPr/>
          <a:lstStyle/>
          <a:p>
            <a:endParaRPr lang="en-US"/>
          </a:p>
        </p:txBody>
      </p:sp>
      <p:sp>
        <p:nvSpPr>
          <p:cNvPr id="69" name="Text 4">
            <a:extLst>
              <a:ext uri="{FF2B5EF4-FFF2-40B4-BE49-F238E27FC236}">
                <a16:creationId xmlns:a16="http://schemas.microsoft.com/office/drawing/2014/main" id="{CC19D40A-C233-09BC-F21F-EE856438D91F}"/>
              </a:ext>
            </a:extLst>
          </p:cNvPr>
          <p:cNvSpPr/>
          <p:nvPr/>
        </p:nvSpPr>
        <p:spPr>
          <a:xfrm>
            <a:off x="6976678" y="6149139"/>
            <a:ext cx="3289851" cy="365760"/>
          </a:xfrm>
          <a:prstGeom prst="rect">
            <a:avLst/>
          </a:prstGeom>
          <a:no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467" b="1" dirty="0">
                <a:latin typeface="Arial" panose="020B0604020202020204" pitchFamily="34" charset="0"/>
                <a:ea typeface="Trebuchet MS" pitchFamily="34" charset="-122"/>
                <a:cs typeface="Arial" panose="020B0604020202020204" pitchFamily="34" charset="0"/>
              </a:rPr>
              <a:t>Incremental Revisions</a:t>
            </a:r>
          </a:p>
        </p:txBody>
      </p:sp>
      <p:sp>
        <p:nvSpPr>
          <p:cNvPr id="83" name="Text 32">
            <a:extLst>
              <a:ext uri="{FF2B5EF4-FFF2-40B4-BE49-F238E27FC236}">
                <a16:creationId xmlns:a16="http://schemas.microsoft.com/office/drawing/2014/main" id="{0CC4D98A-E089-7C28-0A6C-876F927952EC}"/>
              </a:ext>
            </a:extLst>
          </p:cNvPr>
          <p:cNvSpPr/>
          <p:nvPr/>
        </p:nvSpPr>
        <p:spPr>
          <a:xfrm>
            <a:off x="6711338" y="1443260"/>
            <a:ext cx="1243964" cy="365760"/>
          </a:xfrm>
          <a:prstGeom prst="rect">
            <a:avLst/>
          </a:prstGeom>
          <a:noFill/>
          <a:ln/>
        </p:spPr>
        <p:txBody>
          <a:bodyPr wrap="square" lIns="0" tIns="0" rIns="0" bIns="0" rtlCol="0" anchor="ctr"/>
          <a:lstStyle/>
          <a:p>
            <a:pPr algn="ctr"/>
            <a:r>
              <a:rPr lang="en-US" sz="1500" b="1">
                <a:solidFill>
                  <a:srgbClr val="FF6B35"/>
                </a:solidFill>
                <a:latin typeface="Arial" panose="020B0604020202020204" pitchFamily="34" charset="0"/>
                <a:ea typeface="Calibri" pitchFamily="34" charset="-122"/>
                <a:cs typeface="Arial" panose="020B0604020202020204" pitchFamily="34" charset="0"/>
              </a:rPr>
              <a:t>We are here</a:t>
            </a:r>
            <a:endParaRPr lang="en-US" sz="15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62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729996" y="268224"/>
            <a:ext cx="10732008"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Activity Roadmap</a:t>
            </a:r>
          </a:p>
        </p:txBody>
      </p:sp>
      <p:sp>
        <p:nvSpPr>
          <p:cNvPr id="3" name="Subtitle"/>
          <p:cNvSpPr/>
          <p:nvPr/>
        </p:nvSpPr>
        <p:spPr>
          <a:xfrm>
            <a:off x="729996" y="1307000"/>
            <a:ext cx="10732008" cy="430000"/>
          </a:xfrm>
          <a:prstGeom prst="rect">
            <a:avLst/>
          </a:prstGeom>
          <a:noFill/>
          <a:ln/>
        </p:spPr>
        <p:txBody>
          <a:bodyPr wrap="square" lIns="0" tIns="0" rIns="0" bIns="0" rtlCol="0" anchor="ctr"/>
          <a:lstStyle/>
          <a:p>
            <a:pPr algn="ctr"/>
            <a:r>
              <a:rPr lang="en-US" sz="2500" dirty="0">
                <a:solidFill>
                  <a:srgbClr val="334155"/>
                </a:solidFill>
                <a:latin typeface="Arial" panose="020B0604020202020204" pitchFamily="34" charset="0"/>
                <a:cs typeface="Arial" panose="020B0604020202020204" pitchFamily="34" charset="0"/>
              </a:rPr>
              <a:t>The steps we will work through to fit the model and produce forecasts.</a:t>
            </a:r>
          </a:p>
        </p:txBody>
      </p:sp>
      <p:sp>
        <p:nvSpPr>
          <p:cNvPr id="100" name="Connector"/>
          <p:cNvSpPr/>
          <p:nvPr/>
        </p:nvSpPr>
        <p:spPr>
          <a:xfrm>
            <a:off x="1716000" y="2442100"/>
            <a:ext cx="8760000" cy="0"/>
          </a:xfrm>
          <a:prstGeom prst="line">
            <a:avLst/>
          </a:prstGeom>
          <a:noFill/>
          <a:ln w="22225" cap="rnd">
            <a:solidFill>
              <a:srgbClr val="E97132"/>
            </a:solidFill>
            <a:prstDash val="solid"/>
          </a:ln>
        </p:spPr>
        <p:txBody>
          <a:bodyPr/>
          <a:lstStyle/>
          <a:p>
            <a:endParaRPr lang="en-US"/>
          </a:p>
        </p:txBody>
      </p:sp>
      <p:sp>
        <p:nvSpPr>
          <p:cNvPr id="121" name="Card1"/>
          <p:cNvSpPr/>
          <p:nvPr/>
        </p:nvSpPr>
        <p:spPr>
          <a:xfrm>
            <a:off x="436000" y="2912100"/>
            <a:ext cx="2560000" cy="2300000"/>
          </a:xfrm>
          <a:prstGeom prst="rect">
            <a:avLst/>
          </a:prstGeom>
          <a:solidFill>
            <a:srgbClr val="E8F4F8"/>
          </a:solidFill>
          <a:ln>
            <a:solidFill>
              <a:srgbClr val="E8F4F8"/>
            </a:solidFill>
          </a:ln>
          <a:effectLst>
            <a:outerShdw blurRad="50800" dist="25400" dir="8100000" algn="bl" rotWithShape="0">
              <a:srgbClr val="000000">
                <a:alpha val="10000"/>
              </a:srgbClr>
            </a:outerShdw>
          </a:effectLst>
        </p:spPr>
        <p:txBody>
          <a:bodyPr/>
          <a:lstStyle/>
          <a:p>
            <a:endParaRPr lang="en-US" sz="1700">
              <a:latin typeface="Arial" panose="020B0604020202020204" pitchFamily="34" charset="0"/>
              <a:cs typeface="Arial" panose="020B0604020202020204" pitchFamily="34" charset="0"/>
            </a:endParaRPr>
          </a:p>
        </p:txBody>
      </p:sp>
      <p:sp>
        <p:nvSpPr>
          <p:cNvPr id="122" name="Card2"/>
          <p:cNvSpPr/>
          <p:nvPr/>
        </p:nvSpPr>
        <p:spPr>
          <a:xfrm>
            <a:off x="3356000" y="2912100"/>
            <a:ext cx="2560000" cy="2300000"/>
          </a:xfrm>
          <a:prstGeom prst="rect">
            <a:avLst/>
          </a:prstGeom>
          <a:solidFill>
            <a:srgbClr val="F0ECF8"/>
          </a:solidFill>
          <a:ln>
            <a:solidFill>
              <a:srgbClr val="F0ECF8"/>
            </a:solidFill>
          </a:ln>
          <a:effectLst>
            <a:outerShdw blurRad="50800" dist="25400" dir="8100000" algn="bl" rotWithShape="0">
              <a:srgbClr val="000000">
                <a:alpha val="10000"/>
              </a:srgbClr>
            </a:outerShdw>
          </a:effectLst>
        </p:spPr>
        <p:txBody>
          <a:bodyPr/>
          <a:lstStyle/>
          <a:p>
            <a:endParaRPr lang="en-US" sz="1700">
              <a:latin typeface="Arial" panose="020B0604020202020204" pitchFamily="34" charset="0"/>
              <a:cs typeface="Arial" panose="020B0604020202020204" pitchFamily="34" charset="0"/>
            </a:endParaRPr>
          </a:p>
        </p:txBody>
      </p:sp>
      <p:sp>
        <p:nvSpPr>
          <p:cNvPr id="123" name="Card3"/>
          <p:cNvSpPr/>
          <p:nvPr/>
        </p:nvSpPr>
        <p:spPr>
          <a:xfrm>
            <a:off x="6276000" y="2912100"/>
            <a:ext cx="2560000" cy="2300000"/>
          </a:xfrm>
          <a:prstGeom prst="rect">
            <a:avLst/>
          </a:prstGeom>
          <a:solidFill>
            <a:srgbClr val="FFF4EC"/>
          </a:solidFill>
          <a:ln>
            <a:solidFill>
              <a:srgbClr val="FFF4EC"/>
            </a:solidFill>
          </a:ln>
          <a:effectLst>
            <a:outerShdw blurRad="50800" dist="25400" dir="8100000" algn="bl" rotWithShape="0">
              <a:srgbClr val="000000">
                <a:alpha val="10000"/>
              </a:srgbClr>
            </a:outerShdw>
          </a:effectLst>
        </p:spPr>
        <p:txBody>
          <a:bodyPr/>
          <a:lstStyle/>
          <a:p>
            <a:endParaRPr lang="en-US" sz="1700">
              <a:latin typeface="Arial" panose="020B0604020202020204" pitchFamily="34" charset="0"/>
              <a:cs typeface="Arial" panose="020B0604020202020204" pitchFamily="34" charset="0"/>
            </a:endParaRPr>
          </a:p>
        </p:txBody>
      </p:sp>
      <p:sp>
        <p:nvSpPr>
          <p:cNvPr id="124" name="Card4"/>
          <p:cNvSpPr/>
          <p:nvPr/>
        </p:nvSpPr>
        <p:spPr>
          <a:xfrm>
            <a:off x="9196000" y="2912100"/>
            <a:ext cx="2560000" cy="2300000"/>
          </a:xfrm>
          <a:prstGeom prst="rect">
            <a:avLst/>
          </a:prstGeom>
          <a:solidFill>
            <a:srgbClr val="DCEAF7"/>
          </a:solidFill>
          <a:ln>
            <a:solidFill>
              <a:srgbClr val="DCEAF7"/>
            </a:solidFill>
          </a:ln>
          <a:effectLst>
            <a:outerShdw blurRad="50800" dist="25400" dir="8100000" algn="bl" rotWithShape="0">
              <a:srgbClr val="000000">
                <a:alpha val="10000"/>
              </a:srgbClr>
            </a:outerShdw>
          </a:effectLst>
        </p:spPr>
        <p:txBody>
          <a:bodyPr/>
          <a:lstStyle/>
          <a:p>
            <a:endParaRPr lang="en-US" sz="1700">
              <a:latin typeface="Arial" panose="020B0604020202020204" pitchFamily="34" charset="0"/>
              <a:cs typeface="Arial" panose="020B0604020202020204" pitchFamily="34" charset="0"/>
            </a:endParaRPr>
          </a:p>
        </p:txBody>
      </p:sp>
      <p:sp>
        <p:nvSpPr>
          <p:cNvPr id="111" name="Num1"/>
          <p:cNvSpPr/>
          <p:nvPr/>
        </p:nvSpPr>
        <p:spPr>
          <a:xfrm>
            <a:off x="1396000" y="2122100"/>
            <a:ext cx="640000" cy="640000"/>
          </a:xfrm>
          <a:prstGeom prst="ellipse">
            <a:avLst/>
          </a:prstGeom>
          <a:solidFill>
            <a:srgbClr val="13678A"/>
          </a:solidFill>
          <a:ln/>
          <a:effectLst>
            <a:outerShdw blurRad="38100" dist="19050" dir="8100000" algn="bl" rotWithShape="0">
              <a:srgbClr val="000000">
                <a:alpha val="20000"/>
              </a:srgbClr>
            </a:outerShdw>
          </a:effectLst>
        </p:spPr>
        <p:txBody>
          <a:bodyPr wrap="square" lIns="0" tIns="0" rIns="0" bIns="0" rtlCol="0" anchor="ctr"/>
          <a:lstStyle/>
          <a:p>
            <a:pPr algn="ctr"/>
            <a:r>
              <a:rPr lang="en-US" sz="2000" b="1" dirty="0">
                <a:solidFill>
                  <a:srgbClr val="FFFFFF"/>
                </a:solidFill>
                <a:latin typeface="Arial" panose="020B0604020202020204" pitchFamily="34" charset="0"/>
                <a:cs typeface="Arial" panose="020B0604020202020204" pitchFamily="34" charset="0"/>
              </a:rPr>
              <a:t>1</a:t>
            </a:r>
          </a:p>
        </p:txBody>
      </p:sp>
      <p:sp>
        <p:nvSpPr>
          <p:cNvPr id="112" name="Num2"/>
          <p:cNvSpPr/>
          <p:nvPr/>
        </p:nvSpPr>
        <p:spPr>
          <a:xfrm>
            <a:off x="4316000" y="2122100"/>
            <a:ext cx="640000" cy="640000"/>
          </a:xfrm>
          <a:prstGeom prst="ellipse">
            <a:avLst/>
          </a:prstGeom>
          <a:solidFill>
            <a:srgbClr val="13678A"/>
          </a:solidFill>
          <a:ln/>
          <a:effectLst>
            <a:outerShdw blurRad="38100" dist="19050" dir="8100000" algn="bl" rotWithShape="0">
              <a:srgbClr val="000000">
                <a:alpha val="20000"/>
              </a:srgbClr>
            </a:outerShdw>
          </a:effectLst>
        </p:spPr>
        <p:txBody>
          <a:bodyPr wrap="square" lIns="0" tIns="0" rIns="0" bIns="0" rtlCol="0" anchor="ctr"/>
          <a:lstStyle/>
          <a:p>
            <a:pPr algn="ctr"/>
            <a:r>
              <a:rPr lang="en-US" sz="2000" b="1" dirty="0">
                <a:solidFill>
                  <a:srgbClr val="FFFFFF"/>
                </a:solidFill>
                <a:latin typeface="Arial" panose="020B0604020202020204" pitchFamily="34" charset="0"/>
                <a:cs typeface="Arial" panose="020B0604020202020204" pitchFamily="34" charset="0"/>
              </a:rPr>
              <a:t>2</a:t>
            </a:r>
          </a:p>
        </p:txBody>
      </p:sp>
      <p:sp>
        <p:nvSpPr>
          <p:cNvPr id="113" name="Num3"/>
          <p:cNvSpPr/>
          <p:nvPr/>
        </p:nvSpPr>
        <p:spPr>
          <a:xfrm>
            <a:off x="7236000" y="2122100"/>
            <a:ext cx="640000" cy="640000"/>
          </a:xfrm>
          <a:prstGeom prst="ellipse">
            <a:avLst/>
          </a:prstGeom>
          <a:solidFill>
            <a:srgbClr val="13678A"/>
          </a:solidFill>
          <a:ln/>
          <a:effectLst>
            <a:outerShdw blurRad="38100" dist="19050" dir="8100000" algn="bl" rotWithShape="0">
              <a:srgbClr val="000000">
                <a:alpha val="20000"/>
              </a:srgbClr>
            </a:outerShdw>
          </a:effectLst>
        </p:spPr>
        <p:txBody>
          <a:bodyPr wrap="square" lIns="0" tIns="0" rIns="0" bIns="0" rtlCol="0" anchor="ctr"/>
          <a:lstStyle/>
          <a:p>
            <a:pPr algn="ctr"/>
            <a:r>
              <a:rPr lang="en-US" sz="2000" b="1" dirty="0">
                <a:solidFill>
                  <a:srgbClr val="FFFFFF"/>
                </a:solidFill>
                <a:latin typeface="Arial" panose="020B0604020202020204" pitchFamily="34" charset="0"/>
                <a:cs typeface="Arial" panose="020B0604020202020204" pitchFamily="34" charset="0"/>
              </a:rPr>
              <a:t>3</a:t>
            </a:r>
          </a:p>
        </p:txBody>
      </p:sp>
      <p:sp>
        <p:nvSpPr>
          <p:cNvPr id="114" name="Num4"/>
          <p:cNvSpPr/>
          <p:nvPr/>
        </p:nvSpPr>
        <p:spPr>
          <a:xfrm>
            <a:off x="10156000" y="2122100"/>
            <a:ext cx="640000" cy="640000"/>
          </a:xfrm>
          <a:prstGeom prst="ellipse">
            <a:avLst/>
          </a:prstGeom>
          <a:solidFill>
            <a:srgbClr val="13678A"/>
          </a:solidFill>
          <a:ln/>
          <a:effectLst>
            <a:outerShdw blurRad="38100" dist="19050" dir="8100000" algn="bl" rotWithShape="0">
              <a:srgbClr val="000000">
                <a:alpha val="20000"/>
              </a:srgbClr>
            </a:outerShdw>
          </a:effectLst>
        </p:spPr>
        <p:txBody>
          <a:bodyPr wrap="square" lIns="0" tIns="0" rIns="0" bIns="0" rtlCol="0" anchor="ctr"/>
          <a:lstStyle/>
          <a:p>
            <a:pPr algn="ctr"/>
            <a:r>
              <a:rPr lang="en-US" sz="2000" b="1" dirty="0">
                <a:solidFill>
                  <a:srgbClr val="FFFFFF"/>
                </a:solidFill>
                <a:latin typeface="Arial" panose="020B0604020202020204" pitchFamily="34" charset="0"/>
                <a:cs typeface="Arial" panose="020B0604020202020204" pitchFamily="34" charset="0"/>
              </a:rPr>
              <a:t>4</a:t>
            </a:r>
          </a:p>
        </p:txBody>
      </p:sp>
      <p:sp>
        <p:nvSpPr>
          <p:cNvPr id="131" name="Card1Title"/>
          <p:cNvSpPr/>
          <p:nvPr/>
        </p:nvSpPr>
        <p:spPr>
          <a:xfrm>
            <a:off x="606000" y="3052100"/>
            <a:ext cx="2220000" cy="430000"/>
          </a:xfrm>
          <a:prstGeom prst="rect">
            <a:avLst/>
          </a:prstGeom>
          <a:noFill/>
          <a:ln/>
        </p:spPr>
        <p:txBody>
          <a:bodyPr wrap="square" lIns="0" tIns="0" rIns="0" bIns="0" rtlCol="0" anchor="ctr"/>
          <a:lstStyle/>
          <a:p>
            <a:pPr algn="ctr"/>
            <a:r>
              <a:rPr lang="en-US" sz="1700" b="1" dirty="0">
                <a:solidFill>
                  <a:srgbClr val="0B2545"/>
                </a:solidFill>
                <a:latin typeface="Arial" panose="020B0604020202020204" pitchFamily="34" charset="0"/>
                <a:cs typeface="Arial" panose="020B0604020202020204" pitchFamily="34" charset="0"/>
              </a:rPr>
              <a:t>Write the Rules</a:t>
            </a:r>
          </a:p>
        </p:txBody>
      </p:sp>
      <p:sp>
        <p:nvSpPr>
          <p:cNvPr id="132" name="Card2Title"/>
          <p:cNvSpPr/>
          <p:nvPr/>
        </p:nvSpPr>
        <p:spPr>
          <a:xfrm>
            <a:off x="3526000" y="3052100"/>
            <a:ext cx="2220000" cy="430000"/>
          </a:xfrm>
          <a:prstGeom prst="rect">
            <a:avLst/>
          </a:prstGeom>
          <a:noFill/>
          <a:ln/>
        </p:spPr>
        <p:txBody>
          <a:bodyPr wrap="square" lIns="0" tIns="0" rIns="0" bIns="0" rtlCol="0" anchor="ctr"/>
          <a:lstStyle/>
          <a:p>
            <a:pPr algn="ctr"/>
            <a:r>
              <a:rPr lang="en-US" sz="1700" b="1" dirty="0">
                <a:solidFill>
                  <a:srgbClr val="0B2545"/>
                </a:solidFill>
                <a:latin typeface="Arial" panose="020B0604020202020204" pitchFamily="34" charset="0"/>
                <a:cs typeface="Arial" panose="020B0604020202020204" pitchFamily="34" charset="0"/>
              </a:rPr>
              <a:t>Build the Agent</a:t>
            </a:r>
          </a:p>
        </p:txBody>
      </p:sp>
      <p:sp>
        <p:nvSpPr>
          <p:cNvPr id="133" name="Card3Title"/>
          <p:cNvSpPr/>
          <p:nvPr/>
        </p:nvSpPr>
        <p:spPr>
          <a:xfrm>
            <a:off x="6446000" y="3052100"/>
            <a:ext cx="2220000" cy="430000"/>
          </a:xfrm>
          <a:prstGeom prst="rect">
            <a:avLst/>
          </a:prstGeom>
          <a:noFill/>
          <a:ln/>
        </p:spPr>
        <p:txBody>
          <a:bodyPr wrap="square" lIns="0" tIns="0" rIns="0" bIns="0" rtlCol="0" anchor="ctr"/>
          <a:lstStyle/>
          <a:p>
            <a:pPr algn="ctr"/>
            <a:r>
              <a:rPr lang="en-US" sz="1700" b="1" dirty="0">
                <a:solidFill>
                  <a:srgbClr val="0B2545"/>
                </a:solidFill>
                <a:latin typeface="Arial" panose="020B0604020202020204" pitchFamily="34" charset="0"/>
                <a:cs typeface="Arial" panose="020B0604020202020204" pitchFamily="34" charset="0"/>
              </a:rPr>
              <a:t>Generate the Script</a:t>
            </a:r>
          </a:p>
        </p:txBody>
      </p:sp>
      <p:sp>
        <p:nvSpPr>
          <p:cNvPr id="134" name="Card4Title"/>
          <p:cNvSpPr/>
          <p:nvPr/>
        </p:nvSpPr>
        <p:spPr>
          <a:xfrm>
            <a:off x="9366000" y="3052100"/>
            <a:ext cx="2220000" cy="430000"/>
          </a:xfrm>
          <a:prstGeom prst="rect">
            <a:avLst/>
          </a:prstGeom>
          <a:noFill/>
          <a:ln/>
        </p:spPr>
        <p:txBody>
          <a:bodyPr wrap="square" lIns="0" tIns="0" rIns="0" bIns="0" rtlCol="0" anchor="ctr"/>
          <a:lstStyle/>
          <a:p>
            <a:pPr algn="ctr"/>
            <a:r>
              <a:rPr lang="en-US" sz="1700" b="1" dirty="0">
                <a:solidFill>
                  <a:srgbClr val="0B2545"/>
                </a:solidFill>
                <a:latin typeface="Arial" panose="020B0604020202020204" pitchFamily="34" charset="0"/>
                <a:cs typeface="Arial" panose="020B0604020202020204" pitchFamily="34" charset="0"/>
              </a:rPr>
              <a:t>Run &amp; Commit</a:t>
            </a:r>
          </a:p>
        </p:txBody>
      </p:sp>
      <p:sp>
        <p:nvSpPr>
          <p:cNvPr id="141" name="Card1Desc"/>
          <p:cNvSpPr/>
          <p:nvPr/>
        </p:nvSpPr>
        <p:spPr>
          <a:xfrm>
            <a:off x="606000" y="3552100"/>
            <a:ext cx="2220000" cy="1520000"/>
          </a:xfrm>
          <a:prstGeom prst="rect">
            <a:avLst/>
          </a:prstGeom>
          <a:noFill/>
          <a:ln/>
        </p:spPr>
        <p:txBody>
          <a:bodyPr wrap="square" lIns="0" tIns="0" rIns="0" bIns="0" rtlCol="0" anchor="t"/>
          <a:lstStyle/>
          <a:p>
            <a:pPr algn="ctr"/>
            <a:r>
              <a:rPr lang="en-US" sz="1700" dirty="0">
                <a:solidFill>
                  <a:srgbClr val="334155"/>
                </a:solidFill>
                <a:latin typeface="Arial" panose="020B0604020202020204" pitchFamily="34" charset="0"/>
                <a:cs typeface="Arial" panose="020B0604020202020204" pitchFamily="34" charset="0"/>
              </a:rPr>
              <a:t>Add a </a:t>
            </a:r>
            <a:r>
              <a:rPr lang="en-US" sz="1700" dirty="0">
                <a:solidFill>
                  <a:srgbClr val="334155"/>
                </a:solidFill>
                <a:latin typeface="Courier New" panose="02070309020205020404" pitchFamily="49" charset="0"/>
                <a:cs typeface="Courier New" panose="02070309020205020404" pitchFamily="49" charset="0"/>
              </a:rPr>
              <a:t>Forecasting</a:t>
            </a:r>
            <a:r>
              <a:rPr lang="en-US" sz="1700" dirty="0">
                <a:solidFill>
                  <a:srgbClr val="334155"/>
                </a:solidFill>
                <a:latin typeface="Arial" panose="020B0604020202020204" pitchFamily="34" charset="0"/>
                <a:cs typeface="Arial" panose="020B0604020202020204" pitchFamily="34" charset="0"/>
              </a:rPr>
              <a:t> section to our rules document with precise rules for Task 0 through Task 5.</a:t>
            </a:r>
          </a:p>
        </p:txBody>
      </p:sp>
      <p:sp>
        <p:nvSpPr>
          <p:cNvPr id="142" name="Card2Desc"/>
          <p:cNvSpPr/>
          <p:nvPr/>
        </p:nvSpPr>
        <p:spPr>
          <a:xfrm>
            <a:off x="3526000" y="3552100"/>
            <a:ext cx="2220000" cy="1520000"/>
          </a:xfrm>
          <a:prstGeom prst="rect">
            <a:avLst/>
          </a:prstGeom>
          <a:noFill/>
          <a:ln/>
        </p:spPr>
        <p:txBody>
          <a:bodyPr wrap="square" lIns="0" tIns="0" rIns="0" bIns="0" rtlCol="0" anchor="t"/>
          <a:lstStyle/>
          <a:p>
            <a:pPr algn="ctr"/>
            <a:r>
              <a:rPr lang="en-US" sz="1700" dirty="0">
                <a:solidFill>
                  <a:srgbClr val="334155"/>
                </a:solidFill>
                <a:latin typeface="Arial" panose="020B0604020202020204" pitchFamily="34" charset="0"/>
                <a:cs typeface="Arial" panose="020B0604020202020204" pitchFamily="34" charset="0"/>
              </a:rPr>
              <a:t>Regenerate </a:t>
            </a:r>
            <a:r>
              <a:rPr lang="en-US" sz="1700" dirty="0">
                <a:solidFill>
                  <a:srgbClr val="334155"/>
                </a:solidFill>
                <a:latin typeface="Courier New" panose="02070309020205020404" pitchFamily="49" charset="0"/>
                <a:cs typeface="Courier New" panose="02070309020205020404" pitchFamily="49" charset="0"/>
              </a:rPr>
              <a:t>agents.md </a:t>
            </a:r>
            <a:r>
              <a:rPr lang="en-US" sz="1700" dirty="0">
                <a:solidFill>
                  <a:srgbClr val="334155"/>
                </a:solidFill>
                <a:latin typeface="Arial" panose="020B0604020202020204" pitchFamily="34" charset="0"/>
                <a:cs typeface="Arial" panose="020B0604020202020204" pitchFamily="34" charset="0"/>
              </a:rPr>
              <a:t>from your updated rules so the agent follows your new instructions.</a:t>
            </a:r>
          </a:p>
        </p:txBody>
      </p:sp>
      <p:sp>
        <p:nvSpPr>
          <p:cNvPr id="143" name="Card3Desc"/>
          <p:cNvSpPr/>
          <p:nvPr/>
        </p:nvSpPr>
        <p:spPr>
          <a:xfrm>
            <a:off x="6446000" y="3552100"/>
            <a:ext cx="2220000" cy="1520000"/>
          </a:xfrm>
          <a:prstGeom prst="rect">
            <a:avLst/>
          </a:prstGeom>
          <a:noFill/>
          <a:ln/>
        </p:spPr>
        <p:txBody>
          <a:bodyPr wrap="square" lIns="0" tIns="0" rIns="0" bIns="0" rtlCol="0" anchor="t"/>
          <a:lstStyle/>
          <a:p>
            <a:pPr algn="ctr"/>
            <a:r>
              <a:rPr lang="en-US" sz="1700" dirty="0">
                <a:solidFill>
                  <a:srgbClr val="334155"/>
                </a:solidFill>
                <a:latin typeface="Arial" panose="020B0604020202020204" pitchFamily="34" charset="0"/>
                <a:cs typeface="Arial" panose="020B0604020202020204" pitchFamily="34" charset="0"/>
              </a:rPr>
              <a:t>Use agents.md to have Copilot write the </a:t>
            </a:r>
            <a:r>
              <a:rPr lang="en-US" sz="1700" i="1" dirty="0">
                <a:solidFill>
                  <a:srgbClr val="334155"/>
                </a:solidFill>
                <a:latin typeface="Arial" panose="020B0604020202020204" pitchFamily="34" charset="0"/>
                <a:cs typeface="Arial" panose="020B0604020202020204" pitchFamily="34" charset="0"/>
              </a:rPr>
              <a:t>scripts/03_forecast.R </a:t>
            </a:r>
            <a:r>
              <a:rPr lang="en-US" sz="1700" dirty="0">
                <a:solidFill>
                  <a:srgbClr val="334155"/>
                </a:solidFill>
                <a:latin typeface="Arial" panose="020B0604020202020204" pitchFamily="34" charset="0"/>
                <a:cs typeface="Arial" panose="020B0604020202020204" pitchFamily="34" charset="0"/>
              </a:rPr>
              <a:t>script.</a:t>
            </a:r>
          </a:p>
        </p:txBody>
      </p:sp>
      <p:sp>
        <p:nvSpPr>
          <p:cNvPr id="144" name="Card4Desc"/>
          <p:cNvSpPr/>
          <p:nvPr/>
        </p:nvSpPr>
        <p:spPr>
          <a:xfrm>
            <a:off x="9366000" y="3552100"/>
            <a:ext cx="2220000" cy="1520000"/>
          </a:xfrm>
          <a:prstGeom prst="rect">
            <a:avLst/>
          </a:prstGeom>
          <a:noFill/>
          <a:ln/>
        </p:spPr>
        <p:txBody>
          <a:bodyPr wrap="square" lIns="0" tIns="0" rIns="0" bIns="0" rtlCol="0" anchor="t"/>
          <a:lstStyle/>
          <a:p>
            <a:pPr algn="ctr"/>
            <a:r>
              <a:rPr lang="en-US" sz="1700" dirty="0">
                <a:solidFill>
                  <a:srgbClr val="334155"/>
                </a:solidFill>
                <a:latin typeface="Arial" panose="020B0604020202020204" pitchFamily="34" charset="0"/>
                <a:cs typeface="Arial" panose="020B0604020202020204" pitchFamily="34" charset="0"/>
              </a:rPr>
              <a:t>Run it, check the figure and </a:t>
            </a:r>
            <a:r>
              <a:rPr lang="en-US" sz="1700" dirty="0">
                <a:solidFill>
                  <a:srgbClr val="334155"/>
                </a:solidFill>
                <a:latin typeface="Courier New" panose="02070309020205020404" pitchFamily="49" charset="0"/>
                <a:cs typeface="Courier New" panose="02070309020205020404" pitchFamily="49" charset="0"/>
              </a:rPr>
              <a:t>flusight_forecasts.csv</a:t>
            </a:r>
            <a:r>
              <a:rPr lang="en-US" sz="1700" dirty="0">
                <a:solidFill>
                  <a:srgbClr val="334155"/>
                </a:solidFill>
                <a:latin typeface="Arial" panose="020B0604020202020204" pitchFamily="34" charset="0"/>
                <a:cs typeface="Arial" panose="020B0604020202020204" pitchFamily="34" charset="0"/>
              </a:rPr>
              <a:t>, then commit your results to GitHub.</a:t>
            </a:r>
          </a:p>
        </p:txBody>
      </p:sp>
      <p:sp>
        <p:nvSpPr>
          <p:cNvPr id="160" name="Framer"/>
          <p:cNvSpPr/>
          <p:nvPr/>
        </p:nvSpPr>
        <p:spPr>
          <a:xfrm>
            <a:off x="436000" y="5652100"/>
            <a:ext cx="11320000" cy="560000"/>
          </a:xfrm>
          <a:prstGeom prst="rect">
            <a:avLst/>
          </a:prstGeom>
          <a:solidFill>
            <a:srgbClr val="EAEAEA"/>
          </a:solidFill>
          <a:ln/>
        </p:spPr>
        <p:txBody>
          <a:bodyPr wrap="square" lIns="91440" tIns="0" rIns="91440" bIns="0" rtlCol="0" anchor="ctr"/>
          <a:lstStyle/>
          <a:p>
            <a:pPr algn="ctr"/>
            <a:r>
              <a:rPr lang="en-US" sz="2600" b="1" dirty="0">
                <a:solidFill>
                  <a:srgbClr val="0B2545"/>
                </a:solidFill>
                <a:latin typeface="Arial" panose="020B0604020202020204" pitchFamily="34" charset="0"/>
                <a:cs typeface="Arial" panose="020B0604020202020204" pitchFamily="34" charset="0"/>
              </a:rPr>
              <a:t>Vague rules = vague output.</a:t>
            </a:r>
            <a:r>
              <a:rPr lang="en-US" sz="2600" dirty="0">
                <a:solidFill>
                  <a:srgbClr val="334155"/>
                </a:solidFill>
                <a:latin typeface="Arial" panose="020B0604020202020204" pitchFamily="34" charset="0"/>
                <a:cs typeface="Arial" panose="020B0604020202020204" pitchFamily="34" charset="0"/>
              </a:rPr>
              <a:t> Be precise about every detail.</a:t>
            </a:r>
          </a:p>
        </p:txBody>
      </p:sp>
    </p:spTree>
    <p:extLst>
      <p:ext uri="{BB962C8B-B14F-4D97-AF65-F5344CB8AC3E}">
        <p14:creationId xmlns:p14="http://schemas.microsoft.com/office/powerpoint/2010/main" val="2996833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86D3BB-777E-7487-CABB-02B71B826E6D}"/>
              </a:ext>
            </a:extLst>
          </p:cNvPr>
          <p:cNvSpPr txBox="1"/>
          <p:nvPr/>
        </p:nvSpPr>
        <p:spPr>
          <a:xfrm>
            <a:off x="1034716" y="2897579"/>
            <a:ext cx="9992379" cy="1077218"/>
          </a:xfrm>
          <a:prstGeom prst="rect">
            <a:avLst/>
          </a:prstGeom>
          <a:noFill/>
        </p:spPr>
        <p:txBody>
          <a:bodyPr wrap="square" rtlCol="0">
            <a:spAutoFit/>
          </a:bodyPr>
          <a:lstStyle/>
          <a:p>
            <a:r>
              <a:rPr lang="en-US" sz="3200" dirty="0"/>
              <a:t>Amanda, perhaps we create a slide here to detail the joint “instructor-class” free flow exercise </a:t>
            </a:r>
          </a:p>
        </p:txBody>
      </p:sp>
    </p:spTree>
    <p:extLst>
      <p:ext uri="{BB962C8B-B14F-4D97-AF65-F5344CB8AC3E}">
        <p14:creationId xmlns:p14="http://schemas.microsoft.com/office/powerpoint/2010/main" val="938676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7B46F9-1738-6F4B-5119-29AFE84AFF8D}"/>
              </a:ext>
            </a:extLst>
          </p:cNvPr>
          <p:cNvSpPr txBox="1"/>
          <p:nvPr/>
        </p:nvSpPr>
        <p:spPr>
          <a:xfrm>
            <a:off x="1603169" y="2897579"/>
            <a:ext cx="6041975" cy="584775"/>
          </a:xfrm>
          <a:prstGeom prst="rect">
            <a:avLst/>
          </a:prstGeom>
          <a:noFill/>
        </p:spPr>
        <p:txBody>
          <a:bodyPr wrap="none" rtlCol="0">
            <a:spAutoFit/>
          </a:bodyPr>
          <a:lstStyle/>
          <a:p>
            <a:r>
              <a:rPr lang="en-US" sz="3200" dirty="0"/>
              <a:t>Amanda, Outline the 5 tasks here</a:t>
            </a:r>
          </a:p>
        </p:txBody>
      </p:sp>
    </p:spTree>
    <p:extLst>
      <p:ext uri="{BB962C8B-B14F-4D97-AF65-F5344CB8AC3E}">
        <p14:creationId xmlns:p14="http://schemas.microsoft.com/office/powerpoint/2010/main" val="787045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Your Task</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532102"/>
            <a:ext cx="10515600" cy="1280160"/>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We will write forecasting rules for the six tasks (</a:t>
            </a:r>
            <a:r>
              <a:rPr lang="en-US" sz="2500" dirty="0">
                <a:latin typeface="Courier New" panose="02070309020205020404" pitchFamily="49" charset="0"/>
                <a:cs typeface="Courier New" panose="02070309020205020404" pitchFamily="49" charset="0"/>
              </a:rPr>
              <a:t>rules.md</a:t>
            </a:r>
            <a:r>
              <a:rPr lang="en-US" sz="2500" dirty="0">
                <a:latin typeface="Arial" panose="020B0604020202020204" pitchFamily="34" charset="0"/>
                <a:cs typeface="Arial" panose="020B0604020202020204" pitchFamily="34" charset="0"/>
              </a:rPr>
              <a:t>), then use them to generate the agent, the </a:t>
            </a:r>
            <a:r>
              <a:rPr lang="en-US" sz="2500" i="1" dirty="0">
                <a:latin typeface="Arial" panose="020B0604020202020204" pitchFamily="34" charset="0"/>
                <a:cs typeface="Arial" panose="020B0604020202020204" pitchFamily="34" charset="0"/>
              </a:rPr>
              <a:t>03_forecast.R</a:t>
            </a:r>
            <a:r>
              <a:rPr lang="en-US" sz="2500" dirty="0">
                <a:latin typeface="Arial" panose="020B0604020202020204" pitchFamily="34" charset="0"/>
                <a:cs typeface="Arial" panose="020B0604020202020204" pitchFamily="34" charset="0"/>
              </a:rPr>
              <a:t> script, forecast file (CSV) and figure. </a:t>
            </a:r>
          </a:p>
        </p:txBody>
      </p:sp>
      <p:graphicFrame>
        <p:nvGraphicFramePr>
          <p:cNvPr id="7" name="Table 6"/>
          <p:cNvGraphicFramePr>
            <a:graphicFrameLocks noGrp="1"/>
          </p:cNvGraphicFramePr>
          <p:nvPr>
            <p:extLst>
              <p:ext uri="{D42A27DB-BD31-4B8C-83A1-F6EECF244321}">
                <p14:modId xmlns:p14="http://schemas.microsoft.com/office/powerpoint/2010/main" val="693144144"/>
              </p:ext>
            </p:extLst>
          </p:nvPr>
        </p:nvGraphicFramePr>
        <p:xfrm>
          <a:off x="774700" y="3046100"/>
          <a:ext cx="10642600" cy="320040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370840">
                <a:tc>
                  <a:txBody>
                    <a:bodyPr/>
                    <a:lstStyle/>
                    <a:p>
                      <a:pPr algn="ctr"/>
                      <a:r>
                        <a:rPr lang="en-US" sz="20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370840">
                <a:tc>
                  <a:txBody>
                    <a:bodyPr/>
                    <a:lstStyle/>
                    <a:p>
                      <a:pPr algn="ctr"/>
                      <a:r>
                        <a:rPr lang="en-US" sz="2000" i="1" dirty="0">
                          <a:latin typeface="Arial" panose="020B0604020202020204" pitchFamily="34" charset="0"/>
                          <a:cs typeface="Arial" panose="020B0604020202020204" pitchFamily="34" charset="0"/>
                        </a:rPr>
                        <a:t>rules.md</a:t>
                      </a:r>
                    </a:p>
                  </a:txBody>
                  <a:tcPr anchor="ctr"/>
                </a:tc>
                <a:tc>
                  <a:txBody>
                    <a:bodyPr/>
                    <a:lstStyle/>
                    <a:p>
                      <a:pPr algn="ctr"/>
                      <a:r>
                        <a:rPr lang="en-US" sz="2000" b="1" dirty="0">
                          <a:latin typeface="Arial" panose="020B0604020202020204" pitchFamily="34" charset="0"/>
                          <a:cs typeface="Arial" panose="020B0604020202020204" pitchFamily="34" charset="0"/>
                        </a:rPr>
                        <a:t>Forecasting rules</a:t>
                      </a:r>
                      <a:r>
                        <a:rPr lang="en-US" sz="2000" dirty="0">
                          <a:latin typeface="Arial" panose="020B0604020202020204" pitchFamily="34" charset="0"/>
                          <a:cs typeface="Arial" panose="020B0604020202020204" pitchFamily="34" charset="0"/>
                        </a:rPr>
                        <a:t> for Tasks 0 - 5 — model details, forecasting, data &amp; figure format.</a:t>
                      </a:r>
                    </a:p>
                  </a:txBody>
                  <a:tcPr anchor="ctr"/>
                </a:tc>
                <a:extLst>
                  <a:ext uri="{0D108BD9-81ED-4DB2-BD59-A6C34878D82A}">
                    <a16:rowId xmlns:a16="http://schemas.microsoft.com/office/drawing/2014/main" val="10001"/>
                  </a:ext>
                </a:extLst>
              </a:tr>
              <a:tr h="370840">
                <a:tc>
                  <a:txBody>
                    <a:bodyPr/>
                    <a:lstStyle/>
                    <a:p>
                      <a:pPr algn="ctr"/>
                      <a:r>
                        <a:rPr lang="en-US" sz="2000" i="1" dirty="0">
                          <a:latin typeface="Arial" panose="020B0604020202020204" pitchFamily="34" charset="0"/>
                          <a:cs typeface="Arial" panose="020B0604020202020204" pitchFamily="34" charset="0"/>
                        </a:rPr>
                        <a:t>agents.md</a:t>
                      </a:r>
                    </a:p>
                  </a:txBody>
                  <a:tcPr anchor="ctr"/>
                </a:tc>
                <a:tc>
                  <a:txBody>
                    <a:bodyPr/>
                    <a:lstStyle/>
                    <a:p>
                      <a:pPr algn="ctr"/>
                      <a:r>
                        <a:rPr lang="en-US" sz="2000" b="1" dirty="0">
                          <a:latin typeface="Arial" panose="020B0604020202020204" pitchFamily="34" charset="0"/>
                          <a:cs typeface="Arial" panose="020B0604020202020204" pitchFamily="34" charset="0"/>
                        </a:rPr>
                        <a:t>Regenerated</a:t>
                      </a:r>
                      <a:r>
                        <a:rPr lang="en-US" sz="2000" dirty="0">
                          <a:latin typeface="Arial" panose="020B0604020202020204" pitchFamily="34" charset="0"/>
                          <a:cs typeface="Arial" panose="020B0604020202020204" pitchFamily="34" charset="0"/>
                        </a:rPr>
                        <a:t> from your updated rules so the agent follows your new instructions.</a:t>
                      </a:r>
                    </a:p>
                  </a:txBody>
                  <a:tcPr anchor="ctr"/>
                </a:tc>
                <a:extLst>
                  <a:ext uri="{0D108BD9-81ED-4DB2-BD59-A6C34878D82A}">
                    <a16:rowId xmlns:a16="http://schemas.microsoft.com/office/drawing/2014/main" val="10002"/>
                  </a:ext>
                </a:extLst>
              </a:tr>
              <a:tr h="370840">
                <a:tc>
                  <a:txBody>
                    <a:bodyPr/>
                    <a:lstStyle/>
                    <a:p>
                      <a:pPr algn="ctr"/>
                      <a:r>
                        <a:rPr lang="en-US" sz="2000" i="1" dirty="0">
                          <a:latin typeface="Arial" panose="020B0604020202020204" pitchFamily="34" charset="0"/>
                          <a:cs typeface="Arial" panose="020B0604020202020204" pitchFamily="34" charset="0"/>
                        </a:rPr>
                        <a:t>scripts/03_forecast.R</a:t>
                      </a:r>
                    </a:p>
                  </a:txBody>
                  <a:tcPr anchor="ctr"/>
                </a:tc>
                <a:tc>
                  <a:txBody>
                    <a:bodyPr/>
                    <a:lstStyle/>
                    <a:p>
                      <a:pPr algn="ct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R code Copilot (or AI of your choosing) writes</a:t>
                      </a:r>
                      <a:r>
                        <a:rPr lang="en-US" sz="2000" dirty="0">
                          <a:latin typeface="Arial" panose="020B0604020202020204" pitchFamily="34" charset="0"/>
                          <a:cs typeface="Arial" panose="020B0604020202020204" pitchFamily="34" charset="0"/>
                        </a:rPr>
                        <a:t> from the agent to build the figure and forecast file.</a:t>
                      </a:r>
                    </a:p>
                  </a:txBody>
                  <a:tcPr anchor="ctr"/>
                </a:tc>
                <a:extLst>
                  <a:ext uri="{0D108BD9-81ED-4DB2-BD59-A6C34878D82A}">
                    <a16:rowId xmlns:a16="http://schemas.microsoft.com/office/drawing/2014/main" val="10003"/>
                  </a:ext>
                </a:extLst>
              </a:tr>
              <a:tr h="370840">
                <a:tc>
                  <a:txBody>
                    <a:bodyPr/>
                    <a:lstStyle/>
                    <a:p>
                      <a:pPr algn="ctr"/>
                      <a:r>
                        <a:rPr lang="en-US" sz="2000" i="1" dirty="0">
                          <a:latin typeface="Arial" panose="020B0604020202020204" pitchFamily="34" charset="0"/>
                          <a:cs typeface="Arial" panose="020B0604020202020204" pitchFamily="34" charset="0"/>
                        </a:rPr>
                        <a:t>figure + flusight_forecasts.csv</a:t>
                      </a:r>
                    </a:p>
                  </a:txBody>
                  <a:tcPr anchor="ctr"/>
                </a:tc>
                <a:tc>
                  <a:txBody>
                    <a:bodyPr/>
                    <a:lstStyle/>
                    <a:p>
                      <a:pPr algn="ctr"/>
                      <a:r>
                        <a:rPr lang="en-US" sz="2000" b="1" dirty="0">
                          <a:latin typeface="Arial" panose="020B0604020202020204" pitchFamily="34" charset="0"/>
                          <a:cs typeface="Arial" panose="020B0604020202020204" pitchFamily="34" charset="0"/>
                        </a:rPr>
                        <a:t>The finished outputs</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forecast_vs_observed.png</a:t>
                      </a:r>
                      <a:r>
                        <a:rPr lang="en-US" sz="2000" dirty="0">
                          <a:latin typeface="Arial" panose="020B0604020202020204" pitchFamily="34" charset="0"/>
                          <a:cs typeface="Arial" panose="020B0604020202020204" pitchFamily="34" charset="0"/>
                        </a:rPr>
                        <a:t> and </a:t>
                      </a:r>
                      <a:r>
                        <a:rPr lang="en-US" sz="2000" i="1" dirty="0">
                          <a:latin typeface="Arial" panose="020B0604020202020204" pitchFamily="34" charset="0"/>
                          <a:cs typeface="Arial" panose="020B0604020202020204" pitchFamily="34" charset="0"/>
                        </a:rPr>
                        <a:t>flusight_forecasts.csv</a:t>
                      </a:r>
                      <a:r>
                        <a:rPr lang="en-US" sz="2000" dirty="0">
                          <a:latin typeface="Arial" panose="020B0604020202020204" pitchFamily="34" charset="0"/>
                          <a:cs typeface="Arial" panose="020B0604020202020204" pitchFamily="34" charset="0"/>
                        </a:rPr>
                        <a:t>.</a:t>
                      </a:r>
                    </a:p>
                  </a:txBody>
                  <a:tcPr anchor="ctr"/>
                </a:tc>
                <a:extLst>
                  <a:ext uri="{0D108BD9-81ED-4DB2-BD59-A6C34878D82A}">
                    <a16:rowId xmlns:a16="http://schemas.microsoft.com/office/drawing/2014/main" val="10004"/>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1869" y="176520"/>
            <a:ext cx="1009031" cy="1009031"/>
          </a:xfrm>
          <a:prstGeom prst="rect">
            <a:avLst/>
          </a:prstGeom>
        </p:spPr>
      </p:pic>
    </p:spTree>
    <p:extLst>
      <p:ext uri="{BB962C8B-B14F-4D97-AF65-F5344CB8AC3E}">
        <p14:creationId xmlns:p14="http://schemas.microsoft.com/office/powerpoint/2010/main" val="3845656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BDCD5-706F-53C8-2F9C-AB2C54A95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7D3B7-1771-E07E-4FD8-20DCD357643C}"/>
              </a:ext>
            </a:extLst>
          </p:cNvPr>
          <p:cNvSpPr>
            <a:spLocks noGrp="1"/>
          </p:cNvSpPr>
          <p:nvPr>
            <p:ph type="title"/>
          </p:nvPr>
        </p:nvSpPr>
        <p:spPr>
          <a:xfrm>
            <a:off x="838200" y="276621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0: </a:t>
            </a:r>
            <a:r>
              <a:rPr lang="en-US" b="1" dirty="0">
                <a:solidFill>
                  <a:srgbClr val="7030A0"/>
                </a:solidFill>
                <a:latin typeface="Arial" panose="020B0604020202020204" pitchFamily="34" charset="0"/>
                <a:ea typeface="Calibri" pitchFamily="34" charset="-122"/>
                <a:cs typeface="Arial" panose="020B0604020202020204" pitchFamily="34" charset="0"/>
              </a:rPr>
              <a:t>Set-Up</a:t>
            </a:r>
            <a:endParaRPr lang="en-US" b="1"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204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8D63-1263-9374-27DC-5B014B49E47E}"/>
              </a:ext>
            </a:extLst>
          </p:cNvPr>
          <p:cNvSpPr>
            <a:spLocks noGrp="1"/>
          </p:cNvSpPr>
          <p:nvPr>
            <p:ph type="title"/>
          </p:nvPr>
        </p:nvSpPr>
        <p:spPr>
          <a:xfrm>
            <a:off x="838200" y="88312"/>
            <a:ext cx="10515600" cy="1325563"/>
          </a:xfrm>
        </p:spPr>
        <p:txBody>
          <a:bodyPr/>
          <a:lstStyle/>
          <a:p>
            <a:pPr algn="ctr"/>
            <a:r>
              <a:rPr lang="en-US" b="1" dirty="0">
                <a:solidFill>
                  <a:srgbClr val="7030A0"/>
                </a:solidFill>
                <a:latin typeface="Courier New" panose="02070309020205020404" pitchFamily="49" charset="0"/>
                <a:cs typeface="Courier New" panose="02070309020205020404" pitchFamily="49" charset="0"/>
              </a:rPr>
              <a:t># Forecasting</a:t>
            </a:r>
          </a:p>
        </p:txBody>
      </p:sp>
      <p:sp>
        <p:nvSpPr>
          <p:cNvPr id="3" name="Content Placeholder 2">
            <a:extLst>
              <a:ext uri="{FF2B5EF4-FFF2-40B4-BE49-F238E27FC236}">
                <a16:creationId xmlns:a16="http://schemas.microsoft.com/office/drawing/2014/main" id="{57A5B94D-D4FB-574F-1BA3-C2F95A92CDCB}"/>
              </a:ext>
            </a:extLst>
          </p:cNvPr>
          <p:cNvSpPr>
            <a:spLocks noGrp="1"/>
          </p:cNvSpPr>
          <p:nvPr>
            <p:ph idx="1"/>
          </p:nvPr>
        </p:nvSpPr>
        <p:spPr>
          <a:xfrm>
            <a:off x="838200" y="1728024"/>
            <a:ext cx="10515600" cy="1796144"/>
          </a:xfrm>
        </p:spPr>
        <p:txBody>
          <a:bodyPr>
            <a:normAutofit/>
          </a:bodyPr>
          <a:lstStyle/>
          <a:p>
            <a:r>
              <a:rPr lang="en-US" sz="2100" dirty="0">
                <a:latin typeface="Arial" panose="020B0604020202020204" pitchFamily="34" charset="0"/>
                <a:cs typeface="Arial" panose="020B0604020202020204" pitchFamily="34" charset="0"/>
              </a:rPr>
              <a:t>We first need to put rule(s) in place to </a:t>
            </a:r>
            <a:r>
              <a:rPr lang="en-US" sz="2100" b="1" dirty="0">
                <a:solidFill>
                  <a:schemeClr val="accent2"/>
                </a:solidFill>
                <a:latin typeface="Arial" panose="020B0604020202020204" pitchFamily="34" charset="0"/>
                <a:cs typeface="Arial" panose="020B0604020202020204" pitchFamily="34" charset="0"/>
              </a:rPr>
              <a:t>create</a:t>
            </a:r>
            <a:r>
              <a:rPr lang="en-US" sz="2100" dirty="0">
                <a:latin typeface="Arial" panose="020B0604020202020204" pitchFamily="34" charset="0"/>
                <a:cs typeface="Arial" panose="020B0604020202020204" pitchFamily="34" charset="0"/>
              </a:rPr>
              <a:t> and </a:t>
            </a:r>
            <a:r>
              <a:rPr lang="en-US" sz="2100" b="1" dirty="0">
                <a:solidFill>
                  <a:schemeClr val="accent2"/>
                </a:solidFill>
                <a:latin typeface="Arial" panose="020B0604020202020204" pitchFamily="34" charset="0"/>
                <a:cs typeface="Arial" panose="020B0604020202020204" pitchFamily="34" charset="0"/>
              </a:rPr>
              <a:t>save</a:t>
            </a:r>
            <a:r>
              <a:rPr lang="en-US" sz="2100" dirty="0">
                <a:latin typeface="Arial" panose="020B0604020202020204" pitchFamily="34" charset="0"/>
                <a:cs typeface="Arial" panose="020B0604020202020204" pitchFamily="34" charset="0"/>
              </a:rPr>
              <a:t> the R script. As this is an important piece to set-up the rest of what we will do for this activity, this code will sit at the </a:t>
            </a:r>
            <a:r>
              <a:rPr lang="en-US" sz="2100" b="1" dirty="0">
                <a:solidFill>
                  <a:schemeClr val="accent2"/>
                </a:solidFill>
                <a:latin typeface="Arial" panose="020B0604020202020204" pitchFamily="34" charset="0"/>
                <a:cs typeface="Arial" panose="020B0604020202020204" pitchFamily="34" charset="0"/>
              </a:rPr>
              <a:t>very top </a:t>
            </a:r>
            <a:r>
              <a:rPr lang="en-US" sz="2100" dirty="0">
                <a:latin typeface="Arial" panose="020B0604020202020204" pitchFamily="34" charset="0"/>
                <a:cs typeface="Arial" panose="020B0604020202020204" pitchFamily="34" charset="0"/>
              </a:rPr>
              <a:t>of our rules. </a:t>
            </a:r>
            <a:r>
              <a:rPr lang="en-US" sz="2100" b="1" dirty="0">
                <a:solidFill>
                  <a:schemeClr val="accent2"/>
                </a:solidFill>
                <a:latin typeface="Arial" panose="020B0604020202020204" pitchFamily="34" charset="0"/>
                <a:cs typeface="Arial" panose="020B0604020202020204" pitchFamily="34" charset="0"/>
              </a:rPr>
              <a:t>Add this rule</a:t>
            </a:r>
            <a:r>
              <a:rPr lang="en-US" sz="2100" dirty="0">
                <a:latin typeface="Arial" panose="020B0604020202020204" pitchFamily="34" charset="0"/>
                <a:cs typeface="Arial" panose="020B0604020202020204" pitchFamily="34" charset="0"/>
              </a:rPr>
              <a:t> under the </a:t>
            </a:r>
            <a:r>
              <a:rPr lang="en-US" sz="2100" dirty="0">
                <a:latin typeface="Courier New" panose="02070309020205020404" pitchFamily="49" charset="0"/>
                <a:cs typeface="Courier New" panose="02070309020205020404" pitchFamily="49" charset="0"/>
              </a:rPr>
              <a:t># Forecasting</a:t>
            </a:r>
            <a:r>
              <a:rPr lang="en-US" sz="2100" dirty="0">
                <a:latin typeface="Arial" panose="020B0604020202020204" pitchFamily="34" charset="0"/>
                <a:cs typeface="Arial" panose="020B0604020202020204" pitchFamily="34" charset="0"/>
              </a:rPr>
              <a:t> header: </a:t>
            </a:r>
          </a:p>
          <a:p>
            <a:pPr marL="0" indent="0">
              <a:buNone/>
            </a:pPr>
            <a:endParaRPr lang="en-US" dirty="0"/>
          </a:p>
        </p:txBody>
      </p:sp>
      <p:sp>
        <p:nvSpPr>
          <p:cNvPr id="6" name="Rectangle: Rounded Corners 5">
            <a:extLst>
              <a:ext uri="{FF2B5EF4-FFF2-40B4-BE49-F238E27FC236}">
                <a16:creationId xmlns:a16="http://schemas.microsoft.com/office/drawing/2014/main" id="{ECB1163C-1147-A175-C303-40DB449292AB}"/>
              </a:ext>
            </a:extLst>
          </p:cNvPr>
          <p:cNvSpPr/>
          <p:nvPr/>
        </p:nvSpPr>
        <p:spPr>
          <a:xfrm>
            <a:off x="957942" y="2919138"/>
            <a:ext cx="10395858" cy="1192246"/>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TextBox 4">
            <a:extLst>
              <a:ext uri="{FF2B5EF4-FFF2-40B4-BE49-F238E27FC236}">
                <a16:creationId xmlns:a16="http://schemas.microsoft.com/office/drawing/2014/main" id="{C4D44D0C-8E4D-B816-39CC-59F21DA5B55D}"/>
              </a:ext>
            </a:extLst>
          </p:cNvPr>
          <p:cNvSpPr txBox="1"/>
          <p:nvPr/>
        </p:nvSpPr>
        <p:spPr>
          <a:xfrm>
            <a:off x="1148442" y="3040021"/>
            <a:ext cx="10205358" cy="861774"/>
          </a:xfrm>
          <a:prstGeom prst="rect">
            <a:avLst/>
          </a:prstGeom>
          <a:noFill/>
        </p:spPr>
        <p:txBody>
          <a:bodyPr wrap="square">
            <a:spAutoFit/>
          </a:bodyPr>
          <a:lstStyle/>
          <a:p>
            <a:pPr marL="0" indent="0">
              <a:spcBef>
                <a:spcPts val="600"/>
              </a:spcBef>
              <a:spcAft>
                <a:spcPts val="1200"/>
              </a:spcAft>
              <a:buNone/>
            </a:pPr>
            <a:r>
              <a:rPr lang="en-US" sz="2000" dirty="0">
                <a:latin typeface="Courier New" panose="02070309020205020404" pitchFamily="49" charset="0"/>
                <a:cs typeface="Courier New" panose="02070309020205020404" pitchFamily="49" charset="0"/>
              </a:rPr>
              <a:t>Save all code in this section to the following output script:</a:t>
            </a:r>
          </a:p>
          <a:p>
            <a:pPr marL="0" indent="0">
              <a:buNone/>
            </a:pPr>
            <a:r>
              <a:rPr lang="en-US" sz="2000" b="1" dirty="0">
                <a:latin typeface="Courier New" panose="02070309020205020404" pitchFamily="49" charset="0"/>
                <a:cs typeface="Courier New" panose="02070309020205020404" pitchFamily="49" charset="0"/>
              </a:rPr>
              <a:t>**Output folder:**</a:t>
            </a:r>
            <a:r>
              <a:rPr lang="en-US" sz="2000" dirty="0">
                <a:latin typeface="Courier New" panose="02070309020205020404" pitchFamily="49" charset="0"/>
                <a:cs typeface="Courier New" panose="02070309020205020404" pitchFamily="49" charset="0"/>
              </a:rPr>
              <a:t> `output/scripts/03_forecast.R`</a:t>
            </a:r>
          </a:p>
        </p:txBody>
      </p:sp>
      <p:sp>
        <p:nvSpPr>
          <p:cNvPr id="7" name="Content Placeholder 2">
            <a:extLst>
              <a:ext uri="{FF2B5EF4-FFF2-40B4-BE49-F238E27FC236}">
                <a16:creationId xmlns:a16="http://schemas.microsoft.com/office/drawing/2014/main" id="{EDEED2D5-50F1-9C59-0149-5F606291553F}"/>
              </a:ext>
            </a:extLst>
          </p:cNvPr>
          <p:cNvSpPr txBox="1">
            <a:spLocks/>
          </p:cNvSpPr>
          <p:nvPr/>
        </p:nvSpPr>
        <p:spPr>
          <a:xfrm>
            <a:off x="838200" y="4404426"/>
            <a:ext cx="10515600" cy="1796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The output folder </a:t>
            </a:r>
            <a:r>
              <a:rPr lang="en-US" sz="2100" b="1" dirty="0">
                <a:solidFill>
                  <a:schemeClr val="accent2"/>
                </a:solidFill>
                <a:latin typeface="Arial" panose="020B0604020202020204" pitchFamily="34" charset="0"/>
                <a:cs typeface="Arial" panose="020B0604020202020204" pitchFamily="34" charset="0"/>
              </a:rPr>
              <a:t>may not yet exist</a:t>
            </a:r>
            <a:r>
              <a:rPr lang="en-US" sz="2100" dirty="0">
                <a:latin typeface="Arial" panose="020B0604020202020204" pitchFamily="34" charset="0"/>
                <a:cs typeface="Arial" panose="020B0604020202020204" pitchFamily="34" charset="0"/>
              </a:rPr>
              <a:t> in your working directory; we can put a rule in place to guard against this: </a:t>
            </a:r>
          </a:p>
          <a:p>
            <a:pPr marL="0" indent="0">
              <a:buFont typeface="Arial" panose="020B0604020202020204" pitchFamily="34" charset="0"/>
              <a:buNone/>
            </a:pPr>
            <a:endParaRPr lang="en-US" dirty="0"/>
          </a:p>
        </p:txBody>
      </p:sp>
      <p:pic>
        <p:nvPicPr>
          <p:cNvPr id="8" name="Picture 7" descr="Your Turn Rubber Stamp Royalty Free SVG, Cliparts, Vectors, and Stock  Illustration. Image 68258628.">
            <a:extLst>
              <a:ext uri="{FF2B5EF4-FFF2-40B4-BE49-F238E27FC236}">
                <a16:creationId xmlns:a16="http://schemas.microsoft.com/office/drawing/2014/main" id="{79707A1C-E5FC-8BF0-120F-9E123968AED8}"/>
              </a:ext>
            </a:extLst>
          </p:cNvPr>
          <p:cNvPicPr>
            <a:picLocks noChangeAspect="1"/>
          </p:cNvPicPr>
          <p:nvPr/>
        </p:nvPicPr>
        <p:blipFill>
          <a:blip r:embed="rId3"/>
          <a:stretch>
            <a:fillRect/>
          </a:stretch>
        </p:blipFill>
        <p:spPr>
          <a:xfrm>
            <a:off x="2364970" y="85323"/>
            <a:ext cx="1325564" cy="1325564"/>
          </a:xfrm>
          <a:prstGeom prst="rect">
            <a:avLst/>
          </a:prstGeom>
        </p:spPr>
      </p:pic>
      <p:sp>
        <p:nvSpPr>
          <p:cNvPr id="9" name="Rectangle: Rounded Corners 8">
            <a:extLst>
              <a:ext uri="{FF2B5EF4-FFF2-40B4-BE49-F238E27FC236}">
                <a16:creationId xmlns:a16="http://schemas.microsoft.com/office/drawing/2014/main" id="{F740363E-BE26-2852-855A-DCCC3184F48B}"/>
              </a:ext>
            </a:extLst>
          </p:cNvPr>
          <p:cNvSpPr/>
          <p:nvPr/>
        </p:nvSpPr>
        <p:spPr>
          <a:xfrm>
            <a:off x="957942" y="5335156"/>
            <a:ext cx="10395858" cy="89807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 name="TextBox 9">
            <a:extLst>
              <a:ext uri="{FF2B5EF4-FFF2-40B4-BE49-F238E27FC236}">
                <a16:creationId xmlns:a16="http://schemas.microsoft.com/office/drawing/2014/main" id="{D3088A06-8A4C-B2FF-39BA-ED2F23FB9C59}"/>
              </a:ext>
            </a:extLst>
          </p:cNvPr>
          <p:cNvSpPr txBox="1"/>
          <p:nvPr/>
        </p:nvSpPr>
        <p:spPr>
          <a:xfrm>
            <a:off x="1148442" y="5423381"/>
            <a:ext cx="10205358" cy="707886"/>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If the folder pathway is not present, create the folder pathway prior to saving the script.</a:t>
            </a:r>
          </a:p>
        </p:txBody>
      </p:sp>
    </p:spTree>
    <p:extLst>
      <p:ext uri="{BB962C8B-B14F-4D97-AF65-F5344CB8AC3E}">
        <p14:creationId xmlns:p14="http://schemas.microsoft.com/office/powerpoint/2010/main" val="25577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P spid="7" grpId="0"/>
      <p:bldP spid="9" grpId="0" animBg="1"/>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3DA3E-3ECA-956E-1B14-95700CFCE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33BBD-DCAA-FA5B-D724-6BC6D2AE49B2}"/>
              </a:ext>
            </a:extLst>
          </p:cNvPr>
          <p:cNvSpPr>
            <a:spLocks noGrp="1"/>
          </p:cNvSpPr>
          <p:nvPr>
            <p:ph type="title"/>
          </p:nvPr>
        </p:nvSpPr>
        <p:spPr>
          <a:xfrm>
            <a:off x="838200" y="88312"/>
            <a:ext cx="10515600" cy="1325563"/>
          </a:xfrm>
        </p:spPr>
        <p:txBody>
          <a:bodyPr/>
          <a:lstStyle/>
          <a:p>
            <a:pPr algn="ctr"/>
            <a:r>
              <a:rPr lang="en-US" b="1" dirty="0">
                <a:solidFill>
                  <a:srgbClr val="7030A0"/>
                </a:solidFill>
                <a:latin typeface="Courier New" panose="02070309020205020404" pitchFamily="49" charset="0"/>
                <a:cs typeface="Courier New" panose="02070309020205020404" pitchFamily="49" charset="0"/>
              </a:rPr>
              <a:t>## 1.Input Data</a:t>
            </a:r>
          </a:p>
        </p:txBody>
      </p:sp>
      <p:sp>
        <p:nvSpPr>
          <p:cNvPr id="3" name="Content Placeholder 2">
            <a:extLst>
              <a:ext uri="{FF2B5EF4-FFF2-40B4-BE49-F238E27FC236}">
                <a16:creationId xmlns:a16="http://schemas.microsoft.com/office/drawing/2014/main" id="{5646E0C7-D325-7DF2-B22A-CC2D55C38EF6}"/>
              </a:ext>
            </a:extLst>
          </p:cNvPr>
          <p:cNvSpPr>
            <a:spLocks noGrp="1"/>
          </p:cNvSpPr>
          <p:nvPr>
            <p:ph idx="1"/>
          </p:nvPr>
        </p:nvSpPr>
        <p:spPr>
          <a:xfrm>
            <a:off x="838200" y="1728024"/>
            <a:ext cx="10515600" cy="2843976"/>
          </a:xfrm>
        </p:spPr>
        <p:txBody>
          <a:bodyPr>
            <a:noAutofit/>
          </a:bodyPr>
          <a:lstStyle/>
          <a:p>
            <a:r>
              <a:rPr lang="en-US" sz="2500" dirty="0">
                <a:latin typeface="Arial" panose="020B0604020202020204" pitchFamily="34" charset="0"/>
                <a:cs typeface="Arial" panose="020B0604020202020204" pitchFamily="34" charset="0"/>
              </a:rPr>
              <a:t>Next, we need to provide details related to what data we want to work with throughout the script (i.e., data we created in the previous activities). </a:t>
            </a:r>
          </a:p>
          <a:p>
            <a:r>
              <a:rPr lang="en-US" sz="2500" dirty="0">
                <a:latin typeface="Arial" panose="020B0604020202020204" pitchFamily="34" charset="0"/>
                <a:cs typeface="Arial" panose="020B0604020202020204" pitchFamily="34" charset="0"/>
              </a:rPr>
              <a:t>To do so, all we need to do is give the AI the </a:t>
            </a:r>
            <a:r>
              <a:rPr lang="en-US" sz="2500" b="1" dirty="0">
                <a:solidFill>
                  <a:schemeClr val="accent2"/>
                </a:solidFill>
                <a:latin typeface="Arial" panose="020B0604020202020204" pitchFamily="34" charset="0"/>
                <a:cs typeface="Arial" panose="020B0604020202020204" pitchFamily="34" charset="0"/>
              </a:rPr>
              <a:t>file path </a:t>
            </a:r>
            <a:r>
              <a:rPr lang="en-US" sz="2500" dirty="0">
                <a:latin typeface="Arial" panose="020B0604020202020204" pitchFamily="34" charset="0"/>
                <a:cs typeface="Arial" panose="020B0604020202020204" pitchFamily="34" charset="0"/>
              </a:rPr>
              <a:t>to the data. This ensures that the exact file we want is used as the remainder of the script is created.</a:t>
            </a:r>
          </a:p>
          <a:p>
            <a:r>
              <a:rPr lang="en-US" sz="2500" dirty="0">
                <a:latin typeface="Arial" panose="020B0604020202020204" pitchFamily="34" charset="0"/>
                <a:cs typeface="Arial" panose="020B0604020202020204" pitchFamily="34" charset="0"/>
              </a:rPr>
              <a:t>First, </a:t>
            </a:r>
            <a:r>
              <a:rPr lang="en-US" sz="2500" b="1" dirty="0">
                <a:solidFill>
                  <a:schemeClr val="accent2"/>
                </a:solidFill>
                <a:latin typeface="Arial" panose="020B0604020202020204" pitchFamily="34" charset="0"/>
                <a:cs typeface="Arial" panose="020B0604020202020204" pitchFamily="34" charset="0"/>
              </a:rPr>
              <a:t>add</a:t>
            </a:r>
            <a:r>
              <a:rPr lang="en-US" sz="2500" dirty="0">
                <a:latin typeface="Arial" panose="020B0604020202020204" pitchFamily="34" charset="0"/>
                <a:cs typeface="Arial" panose="020B0604020202020204" pitchFamily="34" charset="0"/>
              </a:rPr>
              <a:t> the </a:t>
            </a:r>
            <a:r>
              <a:rPr lang="en-US" sz="2500" dirty="0">
                <a:latin typeface="Courier New" panose="02070309020205020404" pitchFamily="49" charset="0"/>
                <a:cs typeface="Courier New" panose="02070309020205020404" pitchFamily="49" charset="0"/>
              </a:rPr>
              <a:t>1. Input Data</a:t>
            </a:r>
            <a:r>
              <a:rPr lang="en-US" sz="2500" dirty="0">
                <a:latin typeface="Arial" panose="020B0604020202020204" pitchFamily="34" charset="0"/>
                <a:cs typeface="Arial" panose="020B0604020202020204" pitchFamily="34" charset="0"/>
              </a:rPr>
              <a:t> header under </a:t>
            </a:r>
            <a:r>
              <a:rPr lang="en-US" sz="2500" dirty="0">
                <a:latin typeface="Courier New" panose="02070309020205020404" pitchFamily="49" charset="0"/>
                <a:cs typeface="Courier New" panose="02070309020205020404" pitchFamily="49" charset="0"/>
              </a:rPr>
              <a:t># Forecasting</a:t>
            </a:r>
            <a:r>
              <a:rPr lang="en-US" sz="2500" dirty="0">
                <a:latin typeface="Arial" panose="020B0604020202020204" pitchFamily="34" charset="0"/>
                <a:cs typeface="Arial" panose="020B0604020202020204" pitchFamily="34" charset="0"/>
              </a:rPr>
              <a:t>. Then, </a:t>
            </a:r>
            <a:r>
              <a:rPr lang="en-US" sz="2500" b="1" dirty="0">
                <a:solidFill>
                  <a:schemeClr val="accent2"/>
                </a:solidFill>
                <a:latin typeface="Arial" panose="020B0604020202020204" pitchFamily="34" charset="0"/>
                <a:cs typeface="Arial" panose="020B0604020202020204" pitchFamily="34" charset="0"/>
              </a:rPr>
              <a:t>copy</a:t>
            </a:r>
            <a:r>
              <a:rPr lang="en-US" sz="2500" dirty="0">
                <a:latin typeface="Arial" panose="020B0604020202020204" pitchFamily="34" charset="0"/>
                <a:cs typeface="Arial" panose="020B0604020202020204" pitchFamily="34" charset="0"/>
              </a:rPr>
              <a:t> over the following rule:</a:t>
            </a:r>
            <a:endParaRPr lang="en-US" sz="2500" dirty="0"/>
          </a:p>
        </p:txBody>
      </p:sp>
      <p:sp>
        <p:nvSpPr>
          <p:cNvPr id="6" name="Rectangle: Rounded Corners 5">
            <a:extLst>
              <a:ext uri="{FF2B5EF4-FFF2-40B4-BE49-F238E27FC236}">
                <a16:creationId xmlns:a16="http://schemas.microsoft.com/office/drawing/2014/main" id="{47F4C1FE-354C-B382-FD1F-16F811BF6D6F}"/>
              </a:ext>
            </a:extLst>
          </p:cNvPr>
          <p:cNvSpPr/>
          <p:nvPr/>
        </p:nvSpPr>
        <p:spPr>
          <a:xfrm>
            <a:off x="838200" y="5118057"/>
            <a:ext cx="10395858" cy="1000285"/>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TextBox 4">
            <a:extLst>
              <a:ext uri="{FF2B5EF4-FFF2-40B4-BE49-F238E27FC236}">
                <a16:creationId xmlns:a16="http://schemas.microsoft.com/office/drawing/2014/main" id="{25CE7715-67B6-BA46-D00D-49A44A50F6AD}"/>
              </a:ext>
            </a:extLst>
          </p:cNvPr>
          <p:cNvSpPr txBox="1"/>
          <p:nvPr/>
        </p:nvSpPr>
        <p:spPr>
          <a:xfrm>
            <a:off x="933450" y="5271598"/>
            <a:ext cx="10205358" cy="707886"/>
          </a:xfrm>
          <a:prstGeom prst="rect">
            <a:avLst/>
          </a:prstGeom>
          <a:noFill/>
        </p:spPr>
        <p:txBody>
          <a:bodyPr wrap="square">
            <a:spAutoFit/>
          </a:bodyPr>
          <a:lstStyle/>
          <a:p>
            <a:pPr>
              <a:spcBef>
                <a:spcPts val="600"/>
              </a:spcBef>
              <a:spcAft>
                <a:spcPts val="1200"/>
              </a:spcAft>
            </a:pPr>
            <a:r>
              <a:rPr lang="en-US" sz="2000" dirty="0">
                <a:latin typeface="Courier New" panose="02070309020205020404" pitchFamily="49" charset="0"/>
                <a:cs typeface="Courier New" panose="02070309020205020404" pitchFamily="49" charset="0"/>
              </a:rPr>
              <a:t>Read in the input data set from `output/data/01_cleaning/cleaned_flu_admissions.csv`. </a:t>
            </a:r>
          </a:p>
        </p:txBody>
      </p:sp>
      <p:pic>
        <p:nvPicPr>
          <p:cNvPr id="8" name="Picture 7" descr="Your Turn Rubber Stamp Royalty Free SVG, Cliparts, Vectors, and Stock  Illustration. Image 68258628.">
            <a:extLst>
              <a:ext uri="{FF2B5EF4-FFF2-40B4-BE49-F238E27FC236}">
                <a16:creationId xmlns:a16="http://schemas.microsoft.com/office/drawing/2014/main" id="{E3DC5CC4-86BE-8A94-F991-96C4607BA17C}"/>
              </a:ext>
            </a:extLst>
          </p:cNvPr>
          <p:cNvPicPr>
            <a:picLocks noChangeAspect="1"/>
          </p:cNvPicPr>
          <p:nvPr/>
        </p:nvPicPr>
        <p:blipFill>
          <a:blip r:embed="rId3"/>
          <a:stretch>
            <a:fillRect/>
          </a:stretch>
        </p:blipFill>
        <p:spPr>
          <a:xfrm>
            <a:off x="2071056" y="129432"/>
            <a:ext cx="1325564" cy="1325564"/>
          </a:xfrm>
          <a:prstGeom prst="rect">
            <a:avLst/>
          </a:prstGeom>
        </p:spPr>
      </p:pic>
    </p:spTree>
    <p:extLst>
      <p:ext uri="{BB962C8B-B14F-4D97-AF65-F5344CB8AC3E}">
        <p14:creationId xmlns:p14="http://schemas.microsoft.com/office/powerpoint/2010/main" val="74485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4F8605F-242C-12FB-8746-65BCB76F6305}"/>
              </a:ext>
            </a:extLst>
          </p:cNvPr>
          <p:cNvSpPr/>
          <p:nvPr/>
        </p:nvSpPr>
        <p:spPr>
          <a:xfrm>
            <a:off x="838200" y="2959898"/>
            <a:ext cx="10395858" cy="3811015"/>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Content Placeholder 2">
            <a:extLst>
              <a:ext uri="{FF2B5EF4-FFF2-40B4-BE49-F238E27FC236}">
                <a16:creationId xmlns:a16="http://schemas.microsoft.com/office/drawing/2014/main" id="{4C8ADE9C-D6A7-3FB4-0762-7F13398A8030}"/>
              </a:ext>
            </a:extLst>
          </p:cNvPr>
          <p:cNvSpPr txBox="1">
            <a:spLocks/>
          </p:cNvSpPr>
          <p:nvPr/>
        </p:nvSpPr>
        <p:spPr>
          <a:xfrm>
            <a:off x="838200" y="1432658"/>
            <a:ext cx="10515600" cy="1796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AI is </a:t>
            </a:r>
            <a:r>
              <a:rPr lang="en-US" sz="2100" b="1" dirty="0">
                <a:solidFill>
                  <a:schemeClr val="accent2"/>
                </a:solidFill>
                <a:latin typeface="Arial" panose="020B0604020202020204" pitchFamily="34" charset="0"/>
                <a:cs typeface="Arial" panose="020B0604020202020204" pitchFamily="34" charset="0"/>
              </a:rPr>
              <a:t>not perfect </a:t>
            </a:r>
            <a:r>
              <a:rPr lang="en-US" sz="2100" dirty="0">
                <a:latin typeface="Arial" panose="020B0604020202020204" pitchFamily="34" charset="0"/>
                <a:cs typeface="Arial" panose="020B0604020202020204" pitchFamily="34" charset="0"/>
              </a:rPr>
              <a:t>by any means, so we want to build in some validations and error messages to help us catch any mistakes that might occur (e.g., file structure, parsing issues, etc.). </a:t>
            </a:r>
          </a:p>
          <a:p>
            <a:r>
              <a:rPr lang="en-US" sz="2100" dirty="0">
                <a:latin typeface="Arial" panose="020B0604020202020204" pitchFamily="34" charset="0"/>
                <a:cs typeface="Arial" panose="020B0604020202020204" pitchFamily="34" charset="0"/>
              </a:rPr>
              <a:t>Under the input rule, </a:t>
            </a:r>
            <a:r>
              <a:rPr lang="en-US" sz="2100" b="1" dirty="0">
                <a:solidFill>
                  <a:schemeClr val="accent2"/>
                </a:solidFill>
                <a:latin typeface="Arial" panose="020B0604020202020204" pitchFamily="34" charset="0"/>
                <a:cs typeface="Arial" panose="020B0604020202020204" pitchFamily="34" charset="0"/>
              </a:rPr>
              <a:t>include</a:t>
            </a:r>
            <a:r>
              <a:rPr lang="en-US" sz="2100" dirty="0">
                <a:latin typeface="Arial" panose="020B0604020202020204" pitchFamily="34" charset="0"/>
                <a:cs typeface="Arial" panose="020B0604020202020204" pitchFamily="34" charset="0"/>
              </a:rPr>
              <a:t> the following validations rules: </a:t>
            </a:r>
          </a:p>
          <a:p>
            <a:pPr marL="0" indent="0">
              <a:buFont typeface="Arial" panose="020B0604020202020204" pitchFamily="34" charset="0"/>
              <a:buNone/>
            </a:pPr>
            <a:endParaRPr lang="en-US" dirty="0"/>
          </a:p>
        </p:txBody>
      </p:sp>
      <p:sp>
        <p:nvSpPr>
          <p:cNvPr id="5" name="TextBox 4">
            <a:extLst>
              <a:ext uri="{FF2B5EF4-FFF2-40B4-BE49-F238E27FC236}">
                <a16:creationId xmlns:a16="http://schemas.microsoft.com/office/drawing/2014/main" id="{AB30E44D-53BE-BA15-5005-2F030651F45E}"/>
              </a:ext>
            </a:extLst>
          </p:cNvPr>
          <p:cNvSpPr txBox="1"/>
          <p:nvPr/>
        </p:nvSpPr>
        <p:spPr>
          <a:xfrm>
            <a:off x="1079046" y="3143193"/>
            <a:ext cx="10033908" cy="3477875"/>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Ensure the column names and column types/formats match the following:</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 `week`: Date column, YYYY-MM-DD</a:t>
            </a:r>
          </a:p>
          <a:p>
            <a:r>
              <a:rPr lang="en-US" sz="2000" dirty="0">
                <a:latin typeface="Courier New" panose="02070309020205020404" pitchFamily="49" charset="0"/>
                <a:cs typeface="Courier New" panose="02070309020205020404" pitchFamily="49" charset="0"/>
              </a:rPr>
              <a:t>- `location`: Character; all values should be "US"</a:t>
            </a:r>
          </a:p>
          <a:p>
            <a:r>
              <a:rPr lang="en-US" sz="2000" dirty="0">
                <a:latin typeface="Courier New" panose="02070309020205020404" pitchFamily="49" charset="0"/>
                <a:cs typeface="Courier New" panose="02070309020205020404" pitchFamily="49" charset="0"/>
              </a:rPr>
              <a:t>- `value`: Numeric</a:t>
            </a:r>
          </a:p>
          <a:p>
            <a:r>
              <a:rPr lang="en-US" sz="2000" dirty="0">
                <a:latin typeface="Courier New" panose="02070309020205020404" pitchFamily="49" charset="0"/>
                <a:cs typeface="Courier New" panose="02070309020205020404" pitchFamily="49" charset="0"/>
              </a:rPr>
              <a:t>If any columns have violations please first try to parse to the correct format, and then notify the user. If any columns can not be parsed, please return the following error:</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'The {column} could not be parsed.'</a:t>
            </a:r>
          </a:p>
        </p:txBody>
      </p:sp>
      <p:pic>
        <p:nvPicPr>
          <p:cNvPr id="6" name="Picture 5" descr="Your Turn Rubber Stamp Royalty Free SVG, Cliparts, Vectors, and Stock  Illustration. Image 68258628.">
            <a:extLst>
              <a:ext uri="{FF2B5EF4-FFF2-40B4-BE49-F238E27FC236}">
                <a16:creationId xmlns:a16="http://schemas.microsoft.com/office/drawing/2014/main" id="{8F418565-3A59-BA5B-9AEF-EE72B4F6F73A}"/>
              </a:ext>
            </a:extLst>
          </p:cNvPr>
          <p:cNvPicPr>
            <a:picLocks noChangeAspect="1"/>
          </p:cNvPicPr>
          <p:nvPr/>
        </p:nvPicPr>
        <p:blipFill>
          <a:blip r:embed="rId2"/>
          <a:stretch>
            <a:fillRect/>
          </a:stretch>
        </p:blipFill>
        <p:spPr>
          <a:xfrm>
            <a:off x="1816211" y="76201"/>
            <a:ext cx="1188246" cy="1188246"/>
          </a:xfrm>
          <a:prstGeom prst="rect">
            <a:avLst/>
          </a:prstGeom>
        </p:spPr>
      </p:pic>
      <p:sp>
        <p:nvSpPr>
          <p:cNvPr id="7" name="Title 1">
            <a:extLst>
              <a:ext uri="{FF2B5EF4-FFF2-40B4-BE49-F238E27FC236}">
                <a16:creationId xmlns:a16="http://schemas.microsoft.com/office/drawing/2014/main" id="{1A7064AC-F600-0FF8-7F45-976340D1A8AA}"/>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Input Data Validations</a:t>
            </a:r>
          </a:p>
        </p:txBody>
      </p:sp>
    </p:spTree>
    <p:extLst>
      <p:ext uri="{BB962C8B-B14F-4D97-AF65-F5344CB8AC3E}">
        <p14:creationId xmlns:p14="http://schemas.microsoft.com/office/powerpoint/2010/main" val="3555764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CE469-9D96-6D0B-67A6-793336890692}"/>
              </a:ext>
            </a:extLst>
          </p:cNvPr>
          <p:cNvSpPr>
            <a:spLocks noGrp="1"/>
          </p:cNvSpPr>
          <p:nvPr>
            <p:ph type="title"/>
          </p:nvPr>
        </p:nvSpPr>
        <p:spPr/>
        <p:txBody>
          <a:bodyPr/>
          <a:lstStyle/>
          <a:p>
            <a:r>
              <a:rPr lang="en-US" dirty="0"/>
              <a:t>Insert slide</a:t>
            </a:r>
          </a:p>
        </p:txBody>
      </p:sp>
      <p:sp>
        <p:nvSpPr>
          <p:cNvPr id="3" name="Content Placeholder 2">
            <a:extLst>
              <a:ext uri="{FF2B5EF4-FFF2-40B4-BE49-F238E27FC236}">
                <a16:creationId xmlns:a16="http://schemas.microsoft.com/office/drawing/2014/main" id="{656C2C3B-594F-ED81-EC70-E841A591A62E}"/>
              </a:ext>
            </a:extLst>
          </p:cNvPr>
          <p:cNvSpPr>
            <a:spLocks noGrp="1"/>
          </p:cNvSpPr>
          <p:nvPr>
            <p:ph idx="1"/>
          </p:nvPr>
        </p:nvSpPr>
        <p:spPr/>
        <p:txBody>
          <a:bodyPr/>
          <a:lstStyle/>
          <a:p>
            <a:r>
              <a:rPr lang="en-US" dirty="0"/>
              <a:t>We need some sort of transition slide into “What is a Season”</a:t>
            </a:r>
          </a:p>
          <a:p>
            <a:r>
              <a:rPr lang="en-US" dirty="0"/>
              <a:t>Why are we defining this here? This is not intuitive. </a:t>
            </a:r>
          </a:p>
          <a:p>
            <a:r>
              <a:rPr lang="en-US" dirty="0"/>
              <a:t>Is this really necessary here? Or can this be worked into the training/test period?</a:t>
            </a:r>
          </a:p>
          <a:p>
            <a:endParaRPr lang="en-US" dirty="0"/>
          </a:p>
        </p:txBody>
      </p:sp>
    </p:spTree>
    <p:extLst>
      <p:ext uri="{BB962C8B-B14F-4D97-AF65-F5344CB8AC3E}">
        <p14:creationId xmlns:p14="http://schemas.microsoft.com/office/powerpoint/2010/main" val="2795519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62B6D-AEF8-50F8-3FD5-0D975967F15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2F705DA-31F9-936D-B690-87B0C692D244}"/>
              </a:ext>
            </a:extLst>
          </p:cNvPr>
          <p:cNvSpPr/>
          <p:nvPr/>
        </p:nvSpPr>
        <p:spPr>
          <a:xfrm>
            <a:off x="853440" y="177800"/>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Key Definition: What Is a "Season"?</a:t>
            </a:r>
            <a:endParaRPr lang="en-US" sz="4000">
              <a:solidFill>
                <a:srgbClr val="7030A0"/>
              </a:solidFill>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490640FC-3A2F-A33F-5BE5-104F93FC168F}"/>
              </a:ext>
            </a:extLst>
          </p:cNvPr>
          <p:cNvSpPr/>
          <p:nvPr/>
        </p:nvSpPr>
        <p:spPr>
          <a:xfrm>
            <a:off x="853439" y="1134396"/>
            <a:ext cx="10610973" cy="736600"/>
          </a:xfrm>
          <a:prstGeom prst="rect">
            <a:avLst/>
          </a:prstGeom>
          <a:noFill/>
          <a:ln/>
        </p:spPr>
        <p:txBody>
          <a:bodyPr wrap="square" lIns="0" tIns="0" rIns="0" bIns="0" rtlCol="0" anchor="ctr"/>
          <a:lstStyle/>
          <a:p>
            <a:pPr algn="ctr" defTabSz="1219170"/>
            <a:r>
              <a:rPr lang="en-US" sz="2700">
                <a:solidFill>
                  <a:srgbClr val="334155"/>
                </a:solidFill>
                <a:latin typeface="Arial" panose="020B0604020202020204" pitchFamily="34" charset="0"/>
                <a:ea typeface="Calibri" pitchFamily="34" charset="-122"/>
                <a:cs typeface="Arial" panose="020B0604020202020204" pitchFamily="34" charset="0"/>
              </a:rPr>
              <a:t>We'll need this definition in the rules, so the agent knows how to identify season boundaries.</a:t>
            </a:r>
            <a:endParaRPr lang="en-US" sz="2700">
              <a:solidFill>
                <a:prstClr val="black"/>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8FB01D92-F9C6-14B3-7583-22AB58B7F1E5}"/>
              </a:ext>
            </a:extLst>
          </p:cNvPr>
          <p:cNvSpPr/>
          <p:nvPr/>
        </p:nvSpPr>
        <p:spPr>
          <a:xfrm>
            <a:off x="853440" y="2110740"/>
            <a:ext cx="10485120" cy="4251960"/>
          </a:xfrm>
          <a:prstGeom prst="rect">
            <a:avLst/>
          </a:prstGeom>
          <a:solidFill>
            <a:srgbClr val="F0F9FF"/>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5" name="Shape 3">
            <a:extLst>
              <a:ext uri="{FF2B5EF4-FFF2-40B4-BE49-F238E27FC236}">
                <a16:creationId xmlns:a16="http://schemas.microsoft.com/office/drawing/2014/main" id="{85CA8E76-7934-5FCB-7053-EE718C7A9DA4}"/>
              </a:ext>
            </a:extLst>
          </p:cNvPr>
          <p:cNvSpPr/>
          <p:nvPr/>
        </p:nvSpPr>
        <p:spPr>
          <a:xfrm>
            <a:off x="853440" y="2110740"/>
            <a:ext cx="121920" cy="4251960"/>
          </a:xfrm>
          <a:prstGeom prst="rect">
            <a:avLst/>
          </a:prstGeom>
          <a:solidFill>
            <a:srgbClr val="13678A"/>
          </a:solidFill>
          <a:ln/>
        </p:spPr>
        <p:txBody>
          <a:bodyPr/>
          <a:lstStyle/>
          <a:p>
            <a:pPr defTabSz="1219170"/>
            <a:endParaRPr lang="en-US" sz="2400">
              <a:solidFill>
                <a:prstClr val="black"/>
              </a:solidFill>
              <a:latin typeface="Calibri" panose="020F0502020204030204"/>
            </a:endParaRPr>
          </a:p>
        </p:txBody>
      </p:sp>
      <p:sp>
        <p:nvSpPr>
          <p:cNvPr id="6" name="Text 4">
            <a:extLst>
              <a:ext uri="{FF2B5EF4-FFF2-40B4-BE49-F238E27FC236}">
                <a16:creationId xmlns:a16="http://schemas.microsoft.com/office/drawing/2014/main" id="{99F506AA-2B8D-61F3-DE38-A884DCE8FBF2}"/>
              </a:ext>
            </a:extLst>
          </p:cNvPr>
          <p:cNvSpPr/>
          <p:nvPr/>
        </p:nvSpPr>
        <p:spPr>
          <a:xfrm>
            <a:off x="1254760" y="2236184"/>
            <a:ext cx="9753600" cy="487680"/>
          </a:xfrm>
          <a:prstGeom prst="rect">
            <a:avLst/>
          </a:prstGeom>
          <a:noFill/>
          <a:ln/>
        </p:spPr>
        <p:txBody>
          <a:bodyPr wrap="square" lIns="0" tIns="0" rIns="0" bIns="0" rtlCol="0" anchor="ctr"/>
          <a:lstStyle/>
          <a:p>
            <a:pPr defTabSz="1219170"/>
            <a:r>
              <a:rPr lang="en-US" sz="3000" b="1">
                <a:solidFill>
                  <a:srgbClr val="13678A"/>
                </a:solidFill>
                <a:latin typeface="Arial" panose="020B0604020202020204" pitchFamily="34" charset="0"/>
                <a:ea typeface="Trebuchet MS" pitchFamily="34" charset="-122"/>
                <a:cs typeface="Arial" panose="020B0604020202020204" pitchFamily="34" charset="0"/>
              </a:rPr>
              <a:t>Influenza Season Boundaries</a:t>
            </a:r>
            <a:endParaRPr lang="en-US" sz="3000">
              <a:solidFill>
                <a:prstClr val="black"/>
              </a:solidFill>
              <a:latin typeface="Arial" panose="020B0604020202020204" pitchFamily="34" charset="0"/>
              <a:cs typeface="Arial" panose="020B0604020202020204" pitchFamily="34" charset="0"/>
            </a:endParaRPr>
          </a:p>
        </p:txBody>
      </p:sp>
      <p:sp>
        <p:nvSpPr>
          <p:cNvPr id="7" name="Text 5">
            <a:extLst>
              <a:ext uri="{FF2B5EF4-FFF2-40B4-BE49-F238E27FC236}">
                <a16:creationId xmlns:a16="http://schemas.microsoft.com/office/drawing/2014/main" id="{9804887C-58B6-4102-D5DD-D7CE6224FC94}"/>
              </a:ext>
            </a:extLst>
          </p:cNvPr>
          <p:cNvSpPr/>
          <p:nvPr/>
        </p:nvSpPr>
        <p:spPr>
          <a:xfrm>
            <a:off x="1254760" y="3079464"/>
            <a:ext cx="9961880" cy="2914936"/>
          </a:xfrm>
          <a:prstGeom prst="rect">
            <a:avLst/>
          </a:prstGeom>
          <a:noFill/>
          <a:ln/>
        </p:spPr>
        <p:txBody>
          <a:bodyPr wrap="square" lIns="0" tIns="0" rIns="0" bIns="0" rtlCol="0" anchor="ctr"/>
          <a:lstStyle/>
          <a:p>
            <a:pPr>
              <a:lnSpc>
                <a:spcPct val="104000"/>
              </a:lnSpc>
              <a:spcAft>
                <a:spcPts val="1200"/>
              </a:spcAft>
            </a:pPr>
            <a:r>
              <a:rPr lang="en-US" sz="2300" b="1" dirty="0">
                <a:solidFill>
                  <a:srgbClr val="0B2545"/>
                </a:solidFill>
                <a:latin typeface="Arial" panose="020B0604020202020204" pitchFamily="34" charset="0"/>
                <a:ea typeface="Calibri" pitchFamily="34" charset="-122"/>
                <a:cs typeface="Arial" panose="020B0604020202020204" pitchFamily="34" charset="0"/>
              </a:rPr>
              <a:t>Time span: </a:t>
            </a:r>
            <a:r>
              <a:rPr lang="en-US" sz="2300" dirty="0">
                <a:solidFill>
                  <a:srgbClr val="1F2D3D"/>
                </a:solidFill>
                <a:latin typeface="Arial" panose="020B0604020202020204" pitchFamily="34" charset="0"/>
                <a:ea typeface="Calibri" pitchFamily="34" charset="-122"/>
                <a:cs typeface="Arial" panose="020B0604020202020204" pitchFamily="34" charset="0"/>
              </a:rPr>
              <a:t>MMWR week 40 (≈ early October) through week 20 (≈ mid-May) of the next year. A season spans two calendar years and is named for both — e.g. 2025–26.</a:t>
            </a:r>
            <a:endParaRPr lang="en-US" sz="2300" dirty="0">
              <a:solidFill>
                <a:prstClr val="black"/>
              </a:solidFill>
              <a:latin typeface="Arial" panose="020B0604020202020204" pitchFamily="34" charset="0"/>
              <a:cs typeface="Arial" panose="020B0604020202020204" pitchFamily="34" charset="0"/>
            </a:endParaRPr>
          </a:p>
          <a:p>
            <a:pPr>
              <a:lnSpc>
                <a:spcPct val="104000"/>
              </a:lnSpc>
              <a:spcAft>
                <a:spcPts val="1200"/>
              </a:spcAft>
            </a:pPr>
            <a:r>
              <a:rPr lang="en-US" sz="2300" b="1" dirty="0">
                <a:solidFill>
                  <a:srgbClr val="0B2545"/>
                </a:solidFill>
                <a:latin typeface="Arial" panose="020B0604020202020204" pitchFamily="34" charset="0"/>
                <a:ea typeface="Calibri" pitchFamily="34" charset="-122"/>
                <a:cs typeface="Arial" panose="020B0604020202020204" pitchFamily="34" charset="0"/>
              </a:rPr>
              <a:t>Season start: </a:t>
            </a:r>
            <a:r>
              <a:rPr lang="en-US" sz="2300" dirty="0">
                <a:solidFill>
                  <a:srgbClr val="0B2545"/>
                </a:solidFill>
                <a:latin typeface="Arial" panose="020B0604020202020204" pitchFamily="34" charset="0"/>
                <a:ea typeface="Calibri" pitchFamily="34" charset="-122"/>
                <a:cs typeface="Arial" panose="020B0604020202020204" pitchFamily="34" charset="0"/>
              </a:rPr>
              <a:t>First calendar date of </a:t>
            </a:r>
            <a:r>
              <a:rPr lang="en-US" sz="2300" dirty="0">
                <a:solidFill>
                  <a:srgbClr val="1F2D3D"/>
                </a:solidFill>
                <a:latin typeface="Arial" panose="020B0604020202020204" pitchFamily="34" charset="0"/>
                <a:ea typeface="Calibri" pitchFamily="34" charset="-122"/>
                <a:cs typeface="Arial" panose="020B0604020202020204" pitchFamily="34" charset="0"/>
              </a:rPr>
              <a:t>first year with </a:t>
            </a:r>
            <a:r>
              <a:rPr lang="en-US" sz="2300" dirty="0" err="1">
                <a:solidFill>
                  <a:srgbClr val="1F2D3D"/>
                </a:solidFill>
                <a:latin typeface="Arial" panose="020B0604020202020204" pitchFamily="34" charset="0"/>
                <a:ea typeface="Calibri" pitchFamily="34" charset="-122"/>
                <a:cs typeface="Arial" panose="020B0604020202020204" pitchFamily="34" charset="0"/>
              </a:rPr>
              <a:t>Epiweek</a:t>
            </a:r>
            <a:r>
              <a:rPr lang="en-US" sz="2300" dirty="0">
                <a:solidFill>
                  <a:srgbClr val="1F2D3D"/>
                </a:solidFill>
                <a:latin typeface="Arial" panose="020B0604020202020204" pitchFamily="34" charset="0"/>
                <a:ea typeface="Calibri" pitchFamily="34" charset="-122"/>
                <a:cs typeface="Arial" panose="020B0604020202020204" pitchFamily="34" charset="0"/>
              </a:rPr>
              <a:t> = 40. This is a fixed calendar week, the same every season, so the agent sets it directly rather than detecting it from the data. Please account for any leap years in this determination.</a:t>
            </a:r>
            <a:endParaRPr lang="en-US" sz="2300" dirty="0">
              <a:solidFill>
                <a:prstClr val="black"/>
              </a:solidFill>
              <a:latin typeface="Arial" panose="020B0604020202020204" pitchFamily="34" charset="0"/>
              <a:cs typeface="Arial" panose="020B0604020202020204" pitchFamily="34" charset="0"/>
            </a:endParaRPr>
          </a:p>
          <a:p>
            <a:pPr defTabSz="1219170">
              <a:spcAft>
                <a:spcPts val="600"/>
              </a:spcAft>
            </a:pPr>
            <a:r>
              <a:rPr lang="en-US" sz="2300" b="1" dirty="0">
                <a:solidFill>
                  <a:srgbClr val="0B2545"/>
                </a:solidFill>
                <a:latin typeface="Arial" panose="020B0604020202020204" pitchFamily="34" charset="0"/>
                <a:ea typeface="Calibri" pitchFamily="34" charset="-122"/>
                <a:cs typeface="Arial" panose="020B0604020202020204" pitchFamily="34" charset="0"/>
              </a:rPr>
              <a:t>Season end: </a:t>
            </a:r>
            <a:r>
              <a:rPr lang="en-US" sz="2300" dirty="0">
                <a:latin typeface="Arial" panose="020B0604020202020204" pitchFamily="34" charset="0"/>
                <a:cs typeface="Arial" panose="020B0604020202020204" pitchFamily="34" charset="0"/>
              </a:rPr>
              <a:t>Earliest calendar date in the second year with </a:t>
            </a:r>
            <a:r>
              <a:rPr lang="en-US" sz="2300" dirty="0" err="1">
                <a:latin typeface="Arial" panose="020B0604020202020204" pitchFamily="34" charset="0"/>
                <a:cs typeface="Arial" panose="020B0604020202020204" pitchFamily="34" charset="0"/>
              </a:rPr>
              <a:t>Epiweek</a:t>
            </a:r>
            <a:r>
              <a:rPr lang="en-US" sz="2300" dirty="0">
                <a:latin typeface="Arial" panose="020B0604020202020204" pitchFamily="34" charset="0"/>
                <a:cs typeface="Arial" panose="020B0604020202020204" pitchFamily="34" charset="0"/>
              </a:rPr>
              <a:t> = 20.</a:t>
            </a:r>
            <a:endParaRPr lang="en-US" sz="2300" dirty="0">
              <a:solidFill>
                <a:prstClr val="black"/>
              </a:solidFill>
              <a:latin typeface="Arial" panose="020B0604020202020204" pitchFamily="34" charset="0"/>
              <a:cs typeface="Arial" panose="020B0604020202020204" pitchFamily="34" charset="0"/>
            </a:endParaRPr>
          </a:p>
        </p:txBody>
      </p:sp>
      <p:sp>
        <p:nvSpPr>
          <p:cNvPr id="17" name="Text 6">
            <a:extLst>
              <a:ext uri="{FF2B5EF4-FFF2-40B4-BE49-F238E27FC236}">
                <a16:creationId xmlns:a16="http://schemas.microsoft.com/office/drawing/2014/main" id="{1F480694-1A34-31AB-0FB6-614A1741BE58}"/>
              </a:ext>
            </a:extLst>
          </p:cNvPr>
          <p:cNvSpPr/>
          <p:nvPr/>
        </p:nvSpPr>
        <p:spPr>
          <a:xfrm>
            <a:off x="7744460" y="6505924"/>
            <a:ext cx="4297680" cy="274320"/>
          </a:xfrm>
          <a:prstGeom prst="rect">
            <a:avLst/>
          </a:prstGeom>
          <a:noFill/>
          <a:ln/>
        </p:spPr>
        <p:txBody>
          <a:bodyPr wrap="square" lIns="0" tIns="0" rIns="0" bIns="0" rtlCol="0" anchor="ctr"/>
          <a:lstStyle/>
          <a:p>
            <a:pPr marL="0" indent="0" algn="r">
              <a:buNone/>
            </a:pPr>
            <a:r>
              <a:rPr lang="en-US" sz="2000" i="1">
                <a:solidFill>
                  <a:srgbClr val="8B97A2"/>
                </a:solidFill>
                <a:latin typeface="Calibri" pitchFamily="34" charset="0"/>
                <a:ea typeface="Calibri" pitchFamily="34" charset="-122"/>
                <a:cs typeface="Calibri" pitchFamily="34" charset="-120"/>
              </a:rPr>
              <a:t>(CDC, Purpose &amp; Methods, 2025)</a:t>
            </a:r>
            <a:endParaRPr lang="en-US" sz="2000">
              <a:solidFill>
                <a:srgbClr val="8B97A2"/>
              </a:solidFill>
            </a:endParaRPr>
          </a:p>
        </p:txBody>
      </p:sp>
    </p:spTree>
    <p:extLst>
      <p:ext uri="{BB962C8B-B14F-4D97-AF65-F5344CB8AC3E}">
        <p14:creationId xmlns:p14="http://schemas.microsoft.com/office/powerpoint/2010/main" val="1234980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284E6-3CA0-DCF0-620B-A35E6AF1B5B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9ADC9A-A341-554E-EC70-5310C0BD3E34}"/>
              </a:ext>
            </a:extLst>
          </p:cNvPr>
          <p:cNvSpPr txBox="1"/>
          <p:nvPr/>
        </p:nvSpPr>
        <p:spPr>
          <a:xfrm>
            <a:off x="463550" y="537339"/>
            <a:ext cx="11264900" cy="4401205"/>
          </a:xfrm>
          <a:prstGeom prst="rect">
            <a:avLst/>
          </a:prstGeom>
          <a:noFill/>
        </p:spPr>
        <p:txBody>
          <a:bodyPr wrap="square">
            <a:spAutoFit/>
          </a:bodyPr>
          <a:lstStyle/>
          <a:p>
            <a:pPr algn="ctr"/>
            <a:r>
              <a:rPr lang="en-US" sz="3500" b="1" dirty="0">
                <a:solidFill>
                  <a:srgbClr val="7030A0"/>
                </a:solidFill>
                <a:latin typeface="Arial" panose="020B0604020202020204" pitchFamily="34" charset="0"/>
                <a:cs typeface="Arial" panose="020B0604020202020204" pitchFamily="34" charset="0"/>
              </a:rPr>
              <a:t>Implementation Note</a:t>
            </a:r>
          </a:p>
          <a:p>
            <a:endParaRPr lang="en-US" sz="3500" dirty="0">
              <a:latin typeface="Arial" panose="020B0604020202020204" pitchFamily="34" charset="0"/>
              <a:cs typeface="Arial" panose="020B0604020202020204" pitchFamily="34" charset="0"/>
            </a:endParaRPr>
          </a:p>
          <a:p>
            <a:pPr algn="ctr"/>
            <a:r>
              <a:rPr lang="en-US" sz="3500" dirty="0">
                <a:latin typeface="Arial" panose="020B0604020202020204" pitchFamily="34" charset="0"/>
                <a:cs typeface="Arial" panose="020B0604020202020204" pitchFamily="34" charset="0"/>
              </a:rPr>
              <a:t>When computing `</a:t>
            </a:r>
            <a:r>
              <a:rPr lang="en-US" sz="3500" dirty="0" err="1">
                <a:latin typeface="Arial" panose="020B0604020202020204" pitchFamily="34" charset="0"/>
                <a:cs typeface="Arial" panose="020B0604020202020204" pitchFamily="34" charset="0"/>
              </a:rPr>
              <a:t>season_start_year</a:t>
            </a:r>
            <a:r>
              <a:rPr lang="en-US" sz="3500" dirty="0">
                <a:latin typeface="Arial" panose="020B0604020202020204" pitchFamily="34" charset="0"/>
                <a:cs typeface="Arial" panose="020B0604020202020204" pitchFamily="34" charset="0"/>
              </a:rPr>
              <a:t>` for each `week`, use the calendar year of the date </a:t>
            </a:r>
            <a:r>
              <a:rPr lang="en-US" sz="3500" dirty="0">
                <a:latin typeface="Courier New" panose="02070309020205020404" pitchFamily="49" charset="0"/>
                <a:cs typeface="Courier New" panose="02070309020205020404" pitchFamily="49" charset="0"/>
              </a:rPr>
              <a:t>(`year(week)`</a:t>
            </a:r>
            <a:r>
              <a:rPr lang="en-US" sz="3500" dirty="0">
                <a:latin typeface="Arial" panose="020B0604020202020204" pitchFamily="34" charset="0"/>
                <a:cs typeface="Arial" panose="020B0604020202020204" pitchFamily="34" charset="0"/>
              </a:rPr>
              <a:t>) as the base year passed to the assignment logic — do not use the `MMWRyear` returned by `</a:t>
            </a:r>
            <a:r>
              <a:rPr lang="en-US" sz="3500" dirty="0" err="1">
                <a:latin typeface="Courier New" panose="02070309020205020404" pitchFamily="49" charset="0"/>
                <a:cs typeface="Courier New" panose="02070309020205020404" pitchFamily="49" charset="0"/>
              </a:rPr>
              <a:t>MMWRweek</a:t>
            </a:r>
            <a:r>
              <a:rPr lang="en-US" sz="3500" dirty="0">
                <a:latin typeface="Courier New" panose="02070309020205020404" pitchFamily="49" charset="0"/>
                <a:cs typeface="Courier New" panose="02070309020205020404" pitchFamily="49" charset="0"/>
              </a:rPr>
              <a:t>()</a:t>
            </a:r>
            <a:r>
              <a:rPr lang="en-US" sz="3500" dirty="0">
                <a:latin typeface="Arial" panose="020B0604020202020204" pitchFamily="34" charset="0"/>
                <a:cs typeface="Arial" panose="020B0604020202020204" pitchFamily="34" charset="0"/>
              </a:rPr>
              <a:t>` as the</a:t>
            </a:r>
          </a:p>
          <a:p>
            <a:pPr algn="ctr"/>
            <a:r>
              <a:rPr lang="en-US" sz="3500" dirty="0">
                <a:latin typeface="Arial" panose="020B0604020202020204" pitchFamily="34" charset="0"/>
                <a:cs typeface="Arial" panose="020B0604020202020204" pitchFamily="34" charset="0"/>
              </a:rPr>
              <a:t>base. This avoids mis-attribution when MMWR week numbers span calendar-year boundaries.</a:t>
            </a:r>
          </a:p>
        </p:txBody>
      </p:sp>
      <p:sp>
        <p:nvSpPr>
          <p:cNvPr id="6" name="Text 1">
            <a:extLst>
              <a:ext uri="{FF2B5EF4-FFF2-40B4-BE49-F238E27FC236}">
                <a16:creationId xmlns:a16="http://schemas.microsoft.com/office/drawing/2014/main" id="{4C8D1199-6069-4882-19D7-B6F7063F48C0}"/>
              </a:ext>
            </a:extLst>
          </p:cNvPr>
          <p:cNvSpPr/>
          <p:nvPr/>
        </p:nvSpPr>
        <p:spPr>
          <a:xfrm>
            <a:off x="800100" y="530106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700" b="1">
                <a:solidFill>
                  <a:srgbClr val="334155"/>
                </a:solidFill>
                <a:latin typeface="Arial" panose="020B0604020202020204" pitchFamily="34" charset="0"/>
                <a:ea typeface="Calibri" pitchFamily="34" charset="-122"/>
                <a:cs typeface="Arial" panose="020B0604020202020204" pitchFamily="34" charset="0"/>
              </a:rPr>
              <a:t>Hint:</a:t>
            </a:r>
            <a:r>
              <a:rPr lang="en-US" sz="2700">
                <a:solidFill>
                  <a:srgbClr val="334155"/>
                </a:solidFill>
                <a:latin typeface="Arial" panose="020B0604020202020204" pitchFamily="34" charset="0"/>
                <a:ea typeface="Calibri" pitchFamily="34" charset="-122"/>
                <a:cs typeface="Arial" panose="020B0604020202020204" pitchFamily="34" charset="0"/>
              </a:rPr>
              <a:t> When specifying the season definition in the rules, copy-and- paste this directly in with the other specifications (previous slide).</a:t>
            </a:r>
            <a:endParaRPr lang="en-US" sz="270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3874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C0B28-49BA-FCF7-DEA0-38B924406A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838894-502B-4D76-B39E-7CB7AF448D38}"/>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B7A5B421-68D9-A656-7E06-46532A3047F0}"/>
              </a:ext>
            </a:extLst>
          </p:cNvPr>
          <p:cNvSpPr/>
          <p:nvPr/>
        </p:nvSpPr>
        <p:spPr>
          <a:xfrm>
            <a:off x="1061194" y="2545662"/>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F2B5E074-DE3B-4EC5-E777-8BD5C452731F}"/>
              </a:ext>
            </a:extLst>
          </p:cNvPr>
          <p:cNvSpPr/>
          <p:nvPr/>
        </p:nvSpPr>
        <p:spPr>
          <a:xfrm>
            <a:off x="1061194" y="2545662"/>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C74EC806-0E32-3193-EF8C-7DB452B56D0D}"/>
              </a:ext>
            </a:extLst>
          </p:cNvPr>
          <p:cNvSpPr/>
          <p:nvPr/>
        </p:nvSpPr>
        <p:spPr>
          <a:xfrm>
            <a:off x="1858754" y="2556548"/>
            <a:ext cx="9144000" cy="607709"/>
          </a:xfrm>
          <a:prstGeom prst="rect">
            <a:avLst/>
          </a:prstGeom>
          <a:noFill/>
          <a:ln/>
        </p:spPr>
        <p:txBody>
          <a:bodyPr wrap="square" lIns="0" tIns="0" rIns="0" bIns="0" rtlCol="0" anchor="ctr"/>
          <a:lstStyle/>
          <a:p>
            <a:pPr defTabSz="1219170"/>
            <a:r>
              <a:rPr lang="en-US" sz="2500" dirty="0">
                <a:latin typeface="Arial" panose="020B0604020202020204" pitchFamily="34" charset="0"/>
                <a:ea typeface="Calibri" pitchFamily="34" charset="-122"/>
                <a:cs typeface="Arial" panose="020B0604020202020204" pitchFamily="34" charset="0"/>
              </a:rPr>
              <a:t>Create the </a:t>
            </a:r>
            <a:r>
              <a:rPr lang="en-US" sz="2500" dirty="0">
                <a:latin typeface="Courier New" panose="02070309020205020404" pitchFamily="49" charset="0"/>
                <a:ea typeface="Calibri" pitchFamily="34" charset="-122"/>
                <a:cs typeface="Courier New" panose="02070309020205020404" pitchFamily="49" charset="0"/>
              </a:rPr>
              <a:t>## 2. Season Rules </a:t>
            </a:r>
            <a:r>
              <a:rPr lang="en-US" sz="2500" dirty="0">
                <a:latin typeface="Arial" panose="020B0604020202020204" pitchFamily="34" charset="0"/>
                <a:ea typeface="Calibri" pitchFamily="34" charset="-122"/>
                <a:cs typeface="Arial" panose="020B0604020202020204" pitchFamily="34" charset="0"/>
              </a:rPr>
              <a:t>section header in </a:t>
            </a:r>
            <a:r>
              <a:rPr lang="en-US" sz="2500" b="1" dirty="0">
                <a:latin typeface="Arial" panose="020B0604020202020204" pitchFamily="34" charset="0"/>
                <a:ea typeface="Calibri" pitchFamily="34" charset="-122"/>
                <a:cs typeface="Arial" panose="020B0604020202020204" pitchFamily="34" charset="0"/>
              </a:rPr>
              <a:t>rules.md</a:t>
            </a:r>
            <a:r>
              <a:rPr lang="en-US" sz="2500" dirty="0">
                <a:latin typeface="Arial" panose="020B0604020202020204" pitchFamily="34" charset="0"/>
                <a:ea typeface="Calibri" pitchFamily="34" charset="-122"/>
                <a:cs typeface="Arial" panose="020B0604020202020204" pitchFamily="34" charset="0"/>
              </a:rPr>
              <a:t>. </a:t>
            </a:r>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27145EC7-9C0E-FB4C-91A6-E1AAB23F6215}"/>
              </a:ext>
            </a:extLst>
          </p:cNvPr>
          <p:cNvSpPr/>
          <p:nvPr/>
        </p:nvSpPr>
        <p:spPr>
          <a:xfrm>
            <a:off x="1061194" y="3924700"/>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82736F46-3433-3962-92B6-F79EA621DE55}"/>
              </a:ext>
            </a:extLst>
          </p:cNvPr>
          <p:cNvSpPr/>
          <p:nvPr/>
        </p:nvSpPr>
        <p:spPr>
          <a:xfrm>
            <a:off x="1061194" y="3924700"/>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50F23612-84FC-DDBB-E5E8-5286CABF54C9}"/>
              </a:ext>
            </a:extLst>
          </p:cNvPr>
          <p:cNvSpPr/>
          <p:nvPr/>
        </p:nvSpPr>
        <p:spPr>
          <a:xfrm>
            <a:off x="1858754" y="3278831"/>
            <a:ext cx="9144000" cy="2087823"/>
          </a:xfrm>
          <a:prstGeom prst="rect">
            <a:avLst/>
          </a:prstGeom>
          <a:noFill/>
          <a:ln/>
        </p:spPr>
        <p:txBody>
          <a:bodyPr wrap="square" lIns="0" tIns="0" rIns="0" bIns="0" rtlCol="0" anchor="ctr"/>
          <a:lstStyle/>
          <a:p>
            <a:pPr defTabSz="1219170"/>
            <a:r>
              <a:rPr lang="en-US" sz="2500" dirty="0">
                <a:latin typeface="Arial" panose="020B0604020202020204" pitchFamily="34" charset="0"/>
                <a:ea typeface="Calibri" pitchFamily="34" charset="-122"/>
                <a:cs typeface="Arial" panose="020B0604020202020204" pitchFamily="34" charset="0"/>
              </a:rPr>
              <a:t>Referring to the past two slides and previous activities, write the rules to define a season for this activity. Including the implementation note on the previous slide is </a:t>
            </a:r>
            <a:r>
              <a:rPr lang="en-US" sz="2500" b="1" dirty="0">
                <a:solidFill>
                  <a:schemeClr val="accent2"/>
                </a:solidFill>
                <a:latin typeface="Arial" panose="020B0604020202020204" pitchFamily="34" charset="0"/>
                <a:ea typeface="Calibri" pitchFamily="34" charset="-122"/>
                <a:cs typeface="Arial" panose="020B0604020202020204" pitchFamily="34" charset="0"/>
              </a:rPr>
              <a:t>CRITICAL </a:t>
            </a:r>
            <a:r>
              <a:rPr lang="en-US" sz="2500" dirty="0">
                <a:latin typeface="Arial" panose="020B0604020202020204" pitchFamily="34" charset="0"/>
                <a:ea typeface="Calibri" pitchFamily="34" charset="-122"/>
                <a:cs typeface="Arial" panose="020B0604020202020204" pitchFamily="34" charset="0"/>
              </a:rPr>
              <a:t>to prevent date parsing errors as we work through the remainder of this activity. </a:t>
            </a:r>
            <a:endParaRPr lang="en-US" sz="25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1542E53A-56BF-758D-20AD-5190372A7AC3}"/>
              </a:ext>
            </a:extLst>
          </p:cNvPr>
          <p:cNvSpPr/>
          <p:nvPr/>
        </p:nvSpPr>
        <p:spPr>
          <a:xfrm>
            <a:off x="1061194" y="5655508"/>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D1B3C3A7-18C4-0146-48A9-80581D2045BC}"/>
              </a:ext>
            </a:extLst>
          </p:cNvPr>
          <p:cNvSpPr/>
          <p:nvPr/>
        </p:nvSpPr>
        <p:spPr>
          <a:xfrm>
            <a:off x="1061194" y="5655508"/>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7B6CA545-5518-EB58-5847-5A14FACE54FB}"/>
              </a:ext>
            </a:extLst>
          </p:cNvPr>
          <p:cNvSpPr/>
          <p:nvPr/>
        </p:nvSpPr>
        <p:spPr>
          <a:xfrm>
            <a:off x="1858754" y="5481228"/>
            <a:ext cx="9914146" cy="988641"/>
          </a:xfrm>
          <a:prstGeom prst="rect">
            <a:avLst/>
          </a:prstGeom>
          <a:noFill/>
          <a:ln/>
        </p:spPr>
        <p:txBody>
          <a:bodyPr wrap="square" lIns="0" tIns="0" rIns="0" bIns="0" rtlCol="0" anchor="ctr"/>
          <a:lstStyle/>
          <a:p>
            <a:pPr lvl="0" defTabSz="1219170">
              <a:defRPr/>
            </a:pP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Regenerate agents.md from your updated rules document. Us</a:t>
            </a:r>
            <a:r>
              <a:rPr lang="en-US" sz="2500" dirty="0">
                <a:latin typeface="Arial" panose="020B0604020202020204" pitchFamily="34" charset="0"/>
                <a:ea typeface="Calibri" pitchFamily="34" charset="-122"/>
                <a:cs typeface="Arial" panose="020B0604020202020204" pitchFamily="34" charset="0"/>
              </a:rPr>
              <a:t>e</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the </a:t>
            </a:r>
            <a:r>
              <a:rPr kumimoji="0" lang="en-US" sz="25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5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(or AI of your</a:t>
            </a:r>
            <a:r>
              <a:rPr kumimoji="0" lang="en-US" sz="2500" b="0" i="0" u="none" strike="noStrike" kern="1200" cap="none" spc="0" normalizeH="0" noProof="0" dirty="0">
                <a:ln>
                  <a:noFill/>
                </a:ln>
                <a:effectLst/>
                <a:uLnTx/>
                <a:uFillTx/>
                <a:latin typeface="Arial" panose="020B0604020202020204" pitchFamily="34" charset="0"/>
                <a:ea typeface="Calibri" pitchFamily="34" charset="-122"/>
                <a:cs typeface="Arial" panose="020B0604020202020204" pitchFamily="34" charset="0"/>
              </a:rPr>
              <a:t> choosing)</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to generate </a:t>
            </a:r>
            <a:r>
              <a:rPr kumimoji="0" lang="en-US" sz="25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scripts</a:t>
            </a:r>
            <a:r>
              <a:rPr lang="en-US" sz="2500" b="1" dirty="0">
                <a:latin typeface="Arial" panose="020B0604020202020204" pitchFamily="34" charset="0"/>
                <a:ea typeface="Calibri" pitchFamily="34" charset="-122"/>
                <a:cs typeface="Arial" panose="020B0604020202020204" pitchFamily="34" charset="0"/>
              </a:rPr>
              <a:t>/0</a:t>
            </a:r>
            <a:r>
              <a:rPr lang="en-US" sz="2500" b="1" dirty="0">
                <a:latin typeface="Arial" panose="020B0604020202020204" pitchFamily="34" charset="0"/>
                <a:cs typeface="Arial" panose="020B0604020202020204" pitchFamily="34" charset="0"/>
              </a:rPr>
              <a:t>3_forecast.R. </a:t>
            </a:r>
            <a:r>
              <a:rPr lang="en-US" sz="2500" dirty="0">
                <a:latin typeface="Arial" panose="020B0604020202020204" pitchFamily="34" charset="0"/>
                <a:cs typeface="Arial" panose="020B0604020202020204" pitchFamily="34" charset="0"/>
              </a:rPr>
              <a:t>Run the script and check the output.</a:t>
            </a:r>
            <a:endParaRPr kumimoji="0" lang="en-US" sz="25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ACE608AF-BF88-F5CD-D84C-1E48DEB0E4BD}"/>
              </a:ext>
            </a:extLst>
          </p:cNvPr>
          <p:cNvSpPr/>
          <p:nvPr/>
        </p:nvSpPr>
        <p:spPr>
          <a:xfrm>
            <a:off x="800100" y="1031562"/>
            <a:ext cx="10591800" cy="1277712"/>
          </a:xfrm>
          <a:prstGeom prst="roundRect">
            <a:avLst/>
          </a:prstGeom>
          <a:solidFill>
            <a:schemeClr val="bg1">
              <a:lumMod val="95000"/>
            </a:schemeClr>
          </a:solidFill>
          <a:ln/>
        </p:spPr>
        <p:txBody>
          <a:bodyPr wrap="square" lIns="0" tIns="0" rIns="0" bIns="0" rtlCol="0" anchor="ctr"/>
          <a:lstStyle/>
          <a:p>
            <a:pPr algn="ctr" defTabSz="1219170"/>
            <a:r>
              <a:rPr lang="en-US" sz="2500" b="1" u="sng" dirty="0">
                <a:solidFill>
                  <a:srgbClr val="334155"/>
                </a:solidFill>
                <a:latin typeface="Arial" panose="020B0604020202020204" pitchFamily="34" charset="0"/>
                <a:ea typeface="Calibri" pitchFamily="34" charset="-122"/>
                <a:cs typeface="Arial" panose="020B0604020202020204" pitchFamily="34" charset="0"/>
              </a:rPr>
              <a:t>On your own</a:t>
            </a:r>
            <a:r>
              <a:rPr lang="en-US" sz="2500" dirty="0">
                <a:solidFill>
                  <a:srgbClr val="334155"/>
                </a:solidFill>
                <a:latin typeface="Arial" panose="020B0604020202020204" pitchFamily="34" charset="0"/>
                <a:ea typeface="Calibri" pitchFamily="34" charset="-122"/>
                <a:cs typeface="Arial" panose="020B0604020202020204" pitchFamily="34" charset="0"/>
              </a:rPr>
              <a:t>, add the seasonality rules under </a:t>
            </a:r>
            <a:r>
              <a:rPr lang="en-US" sz="2500" dirty="0">
                <a:solidFill>
                  <a:srgbClr val="334155"/>
                </a:solidFill>
                <a:latin typeface="Courier New" panose="02070309020205020404" pitchFamily="49" charset="0"/>
                <a:ea typeface="Calibri" pitchFamily="34" charset="-122"/>
                <a:cs typeface="Courier New" panose="02070309020205020404" pitchFamily="49" charset="0"/>
              </a:rPr>
              <a:t>## 1. Input Data</a:t>
            </a:r>
            <a:r>
              <a:rPr lang="en-US" sz="2500" dirty="0">
                <a:solidFill>
                  <a:srgbClr val="334155"/>
                </a:solidFill>
                <a:latin typeface="Arial" panose="020B0604020202020204" pitchFamily="34" charset="0"/>
                <a:ea typeface="Calibri" pitchFamily="34" charset="-122"/>
                <a:cs typeface="Arial" panose="020B0604020202020204" pitchFamily="34" charset="0"/>
              </a:rPr>
              <a:t>. If you get stuck, refer to the rules we added during the previous activity (</a:t>
            </a:r>
            <a:r>
              <a:rPr lang="en-US" sz="2500" b="1" dirty="0">
                <a:solidFill>
                  <a:srgbClr val="334155"/>
                </a:solidFill>
                <a:latin typeface="Arial" panose="020B0604020202020204" pitchFamily="34" charset="0"/>
                <a:ea typeface="Calibri" pitchFamily="34" charset="-122"/>
                <a:cs typeface="Arial" panose="020B0604020202020204" pitchFamily="34" charset="0"/>
              </a:rPr>
              <a:t>Hint:</a:t>
            </a:r>
            <a:r>
              <a:rPr lang="en-US" sz="2500" dirty="0">
                <a:solidFill>
                  <a:srgbClr val="334155"/>
                </a:solidFill>
                <a:latin typeface="Arial" panose="020B0604020202020204" pitchFamily="34" charset="0"/>
                <a:ea typeface="Calibri" pitchFamily="34" charset="-122"/>
                <a:cs typeface="Arial" panose="020B0604020202020204" pitchFamily="34" charset="0"/>
              </a:rPr>
              <a:t> nothing has changed)</a:t>
            </a:r>
            <a:endParaRPr lang="en-US" sz="2500" dirty="0">
              <a:solidFill>
                <a:prstClr val="black"/>
              </a:solidFill>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CC3076B0-2162-2ECA-1CF8-F0B98FEB8EAA}"/>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35934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8ECCA-25B1-E611-92FB-430CABB6D9E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1: </a:t>
            </a:r>
            <a:r>
              <a:rPr lang="en-US" b="1">
                <a:solidFill>
                  <a:srgbClr val="7030A0"/>
                </a:solidFill>
                <a:latin typeface="Arial" panose="020B0604020202020204" pitchFamily="34" charset="0"/>
                <a:ea typeface="Calibri" pitchFamily="34" charset="-122"/>
                <a:cs typeface="Arial" panose="020B0604020202020204" pitchFamily="34" charset="0"/>
              </a:rPr>
              <a:t>Specifying the Training and Forecast Period </a:t>
            </a:r>
            <a:endParaRPr lang="en-US" b="1">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5252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29996" y="268224"/>
            <a:ext cx="10732008" cy="853440"/>
          </a:xfrm>
          <a:prstGeom prst="rect">
            <a:avLst/>
          </a:prstGeom>
          <a:noFill/>
          <a:ln/>
        </p:spPr>
        <p:txBody>
          <a:bodyPr wrap="square" lIns="0" tIns="0" rIns="0" bIns="0" rtlCol="0" anchor="ctr"/>
          <a:lstStyle/>
          <a:p>
            <a:pPr algn="ctr"/>
            <a:r>
              <a:rPr lang="en-US" sz="3800" b="1">
                <a:solidFill>
                  <a:srgbClr val="7030A0"/>
                </a:solidFill>
                <a:latin typeface="Arial" panose="020B0604020202020204" pitchFamily="34" charset="0"/>
                <a:cs typeface="Arial" panose="020B0604020202020204" pitchFamily="34" charset="0"/>
              </a:rPr>
              <a:t>The Plan: Train &amp; Testing Periods</a:t>
            </a:r>
          </a:p>
        </p:txBody>
      </p:sp>
      <p:sp>
        <p:nvSpPr>
          <p:cNvPr id="90" name="conn"/>
          <p:cNvSpPr/>
          <p:nvPr/>
        </p:nvSpPr>
        <p:spPr>
          <a:xfrm flipV="1">
            <a:off x="5484805" y="3493732"/>
            <a:ext cx="1182226" cy="0"/>
          </a:xfrm>
          <a:prstGeom prst="line">
            <a:avLst/>
          </a:prstGeom>
          <a:noFill/>
          <a:ln w="76200" cap="rnd">
            <a:solidFill>
              <a:srgbClr val="E97132"/>
            </a:solidFill>
            <a:prstDash val="solid"/>
            <a:tailEnd type="triangle" w="med" len="med"/>
          </a:ln>
        </p:spPr>
        <p:txBody>
          <a:bodyPr/>
          <a:lstStyle/>
          <a:p>
            <a:endParaRPr lang="en-US"/>
          </a:p>
        </p:txBody>
      </p:sp>
      <p:sp>
        <p:nvSpPr>
          <p:cNvPr id="100" name="card"/>
          <p:cNvSpPr/>
          <p:nvPr/>
        </p:nvSpPr>
        <p:spPr>
          <a:xfrm>
            <a:off x="660546" y="1685575"/>
            <a:ext cx="4824258" cy="3630742"/>
          </a:xfrm>
          <a:prstGeom prst="roundRect">
            <a:avLst>
              <a:gd name="adj" fmla="val 6000"/>
            </a:avLst>
          </a:prstGeom>
          <a:solidFill>
            <a:srgbClr val="E8F4F8"/>
          </a:solidFill>
          <a:ln>
            <a:solidFill>
              <a:srgbClr val="E8F4F8"/>
            </a:solidFill>
          </a:ln>
          <a:effectLst>
            <a:outerShdw blurRad="50800" dist="25400" dir="8100000" algn="bl" rotWithShape="0">
              <a:srgbClr val="000000">
                <a:alpha val="10000"/>
              </a:srgbClr>
            </a:outerShdw>
          </a:effectLst>
        </p:spPr>
        <p:txBody>
          <a:bodyPr/>
          <a:lstStyle/>
          <a:p>
            <a:endParaRPr lang="en-US"/>
          </a:p>
        </p:txBody>
      </p:sp>
      <p:sp>
        <p:nvSpPr>
          <p:cNvPr id="101" name="tb"/>
          <p:cNvSpPr txBox="1"/>
          <p:nvPr/>
        </p:nvSpPr>
        <p:spPr>
          <a:xfrm>
            <a:off x="898449" y="1915575"/>
            <a:ext cx="4348452" cy="2921119"/>
          </a:xfrm>
          <a:prstGeom prst="rect">
            <a:avLst/>
          </a:prstGeom>
          <a:noFill/>
          <a:ln/>
        </p:spPr>
        <p:txBody>
          <a:bodyPr wrap="square" lIns="0" tIns="0" rIns="0" bIns="0" rtlCol="0" anchor="t"/>
          <a:lstStyle/>
          <a:p>
            <a:pPr algn="l"/>
            <a:r>
              <a:rPr lang="en-US" sz="2500" b="1" dirty="0">
                <a:solidFill>
                  <a:srgbClr val="13678A"/>
                </a:solidFill>
                <a:latin typeface="Arial" panose="020B0604020202020204" pitchFamily="34" charset="0"/>
                <a:cs typeface="Arial" panose="020B0604020202020204" pitchFamily="34" charset="0"/>
              </a:rPr>
              <a:t>TRAIN PERIOD</a:t>
            </a:r>
          </a:p>
          <a:p>
            <a:pPr algn="l"/>
            <a:endParaRPr lang="en-US" sz="2000" b="1" dirty="0">
              <a:solidFill>
                <a:srgbClr val="13678A"/>
              </a:solidFill>
              <a:latin typeface="Arial" panose="020B0604020202020204" pitchFamily="34" charset="0"/>
              <a:cs typeface="Arial" panose="020B0604020202020204" pitchFamily="34" charset="0"/>
            </a:endParaRPr>
          </a:p>
          <a:p>
            <a:pPr algn="l">
              <a:lnSpc>
                <a:spcPts val="2100"/>
              </a:lnSpc>
            </a:pPr>
            <a:r>
              <a:rPr lang="en-US" sz="2500" b="1" dirty="0">
                <a:solidFill>
                  <a:srgbClr val="0B2545"/>
                </a:solidFill>
                <a:latin typeface="Arial" panose="020B0604020202020204" pitchFamily="34" charset="0"/>
                <a:cs typeface="Arial" panose="020B0604020202020204" pitchFamily="34" charset="0"/>
              </a:rPr>
              <a:t>Seasons before 2025-2026</a:t>
            </a:r>
          </a:p>
          <a:p>
            <a:pPr algn="l"/>
            <a:endParaRPr lang="en-US" sz="2000" b="1" dirty="0">
              <a:solidFill>
                <a:srgbClr val="0B2545"/>
              </a:solidFill>
              <a:latin typeface="Arial" panose="020B0604020202020204" pitchFamily="34" charset="0"/>
              <a:cs typeface="Arial" panose="020B0604020202020204" pitchFamily="34" charset="0"/>
            </a:endParaRPr>
          </a:p>
          <a:p>
            <a:pPr algn="l">
              <a:spcAft>
                <a:spcPts val="600"/>
              </a:spcAft>
            </a:pPr>
            <a:r>
              <a:rPr lang="en-US" sz="2000" dirty="0">
                <a:solidFill>
                  <a:srgbClr val="334155"/>
                </a:solidFill>
                <a:latin typeface="Arial" panose="020B0604020202020204" pitchFamily="34" charset="0"/>
                <a:cs typeface="Arial" panose="020B0604020202020204" pitchFamily="34" charset="0"/>
              </a:rPr>
              <a:t>Fit the model on </a:t>
            </a:r>
            <a:r>
              <a:rPr lang="en-US" sz="2000" b="1" dirty="0">
                <a:solidFill>
                  <a:schemeClr val="accent2"/>
                </a:solidFill>
                <a:latin typeface="Arial" panose="020B0604020202020204" pitchFamily="34" charset="0"/>
                <a:cs typeface="Arial" panose="020B0604020202020204" pitchFamily="34" charset="0"/>
              </a:rPr>
              <a:t>all observed weeks</a:t>
            </a:r>
            <a:r>
              <a:rPr lang="en-US" sz="2000" dirty="0">
                <a:solidFill>
                  <a:srgbClr val="334155"/>
                </a:solidFill>
                <a:latin typeface="Arial" panose="020B0604020202020204" pitchFamily="34" charset="0"/>
                <a:cs typeface="Arial" panose="020B0604020202020204" pitchFamily="34" charset="0"/>
              </a:rPr>
              <a:t> strictly before the first week of the testing period present in the data. Use these rows as the fixed initial training set; subsequent forecasts will use an </a:t>
            </a:r>
            <a:r>
              <a:rPr lang="en-US" sz="2000" b="1" dirty="0">
                <a:solidFill>
                  <a:schemeClr val="accent2"/>
                </a:solidFill>
                <a:latin typeface="Arial" panose="020B0604020202020204" pitchFamily="34" charset="0"/>
                <a:cs typeface="Arial" panose="020B0604020202020204" pitchFamily="34" charset="0"/>
              </a:rPr>
              <a:t>‘expanding window’. </a:t>
            </a:r>
          </a:p>
        </p:txBody>
      </p:sp>
      <p:sp>
        <p:nvSpPr>
          <p:cNvPr id="104" name="card"/>
          <p:cNvSpPr/>
          <p:nvPr/>
        </p:nvSpPr>
        <p:spPr>
          <a:xfrm>
            <a:off x="6667031" y="1685575"/>
            <a:ext cx="4837176" cy="3616317"/>
          </a:xfrm>
          <a:prstGeom prst="roundRect">
            <a:avLst>
              <a:gd name="adj" fmla="val 6000"/>
            </a:avLst>
          </a:prstGeom>
          <a:solidFill>
            <a:srgbClr val="DCEAF7"/>
          </a:solidFill>
          <a:ln>
            <a:solidFill>
              <a:srgbClr val="DCEAF7"/>
            </a:solidFill>
          </a:ln>
          <a:effectLst>
            <a:outerShdw blurRad="50800" dist="25400" dir="8100000" algn="bl" rotWithShape="0">
              <a:srgbClr val="000000">
                <a:alpha val="10000"/>
              </a:srgbClr>
            </a:outerShdw>
          </a:effectLst>
        </p:spPr>
        <p:txBody>
          <a:bodyPr/>
          <a:lstStyle/>
          <a:p>
            <a:endParaRPr lang="en-US"/>
          </a:p>
        </p:txBody>
      </p:sp>
      <p:sp>
        <p:nvSpPr>
          <p:cNvPr id="160" name="card"/>
          <p:cNvSpPr/>
          <p:nvPr/>
        </p:nvSpPr>
        <p:spPr>
          <a:xfrm>
            <a:off x="660546" y="5745544"/>
            <a:ext cx="10843661" cy="741189"/>
          </a:xfrm>
          <a:prstGeom prst="rect">
            <a:avLst/>
          </a:prstGeom>
          <a:solidFill>
            <a:srgbClr val="EAEAEA"/>
          </a:solidFill>
          <a:ln>
            <a:solidFill>
              <a:srgbClr val="EAEAEA"/>
            </a:solidFill>
          </a:ln>
        </p:spPr>
        <p:txBody>
          <a:bodyPr/>
          <a:lstStyle/>
          <a:p>
            <a:endParaRPr lang="en-US"/>
          </a:p>
        </p:txBody>
      </p:sp>
      <p:sp>
        <p:nvSpPr>
          <p:cNvPr id="161" name="tb"/>
          <p:cNvSpPr txBox="1"/>
          <p:nvPr/>
        </p:nvSpPr>
        <p:spPr>
          <a:xfrm>
            <a:off x="611454" y="5859072"/>
            <a:ext cx="10920000" cy="560000"/>
          </a:xfrm>
          <a:prstGeom prst="rect">
            <a:avLst/>
          </a:prstGeom>
          <a:noFill/>
          <a:ln/>
        </p:spPr>
        <p:txBody>
          <a:bodyPr wrap="square" lIns="0" tIns="0" rIns="0" bIns="0" rtlCol="0" anchor="ctr"/>
          <a:lstStyle/>
          <a:p>
            <a:pPr algn="ctr"/>
            <a:r>
              <a:rPr lang="en-US" sz="2000" b="1">
                <a:solidFill>
                  <a:srgbClr val="334155"/>
                </a:solidFill>
                <a:latin typeface="Arial" panose="020B0604020202020204" pitchFamily="34" charset="0"/>
                <a:cs typeface="Arial" panose="020B0604020202020204" pitchFamily="34" charset="0"/>
              </a:rPr>
              <a:t>Forecasting Horizon: </a:t>
            </a:r>
            <a:r>
              <a:rPr lang="en-US" sz="2000">
                <a:solidFill>
                  <a:srgbClr val="334155"/>
                </a:solidFill>
                <a:latin typeface="Arial" panose="020B0604020202020204" pitchFamily="34" charset="0"/>
                <a:cs typeface="Arial" panose="020B0604020202020204" pitchFamily="34" charset="0"/>
              </a:rPr>
              <a:t>1-Week Ahead (</a:t>
            </a:r>
            <a:r>
              <a:rPr lang="en-US" sz="2000">
                <a:solidFill>
                  <a:srgbClr val="334155"/>
                </a:solidFill>
                <a:latin typeface="Courier New" panose="02070309020205020404" pitchFamily="49" charset="0"/>
                <a:cs typeface="Courier New" panose="02070309020205020404" pitchFamily="49" charset="0"/>
              </a:rPr>
              <a:t>horizon = 1</a:t>
            </a:r>
            <a:r>
              <a:rPr lang="en-US" sz="2000">
                <a:solidFill>
                  <a:srgbClr val="334155"/>
                </a:solidFill>
                <a:latin typeface="Arial" panose="020B0604020202020204" pitchFamily="34" charset="0"/>
                <a:cs typeface="Arial" panose="020B0604020202020204" pitchFamily="34" charset="0"/>
              </a:rPr>
              <a:t>)</a:t>
            </a:r>
          </a:p>
        </p:txBody>
      </p:sp>
      <p:sp>
        <p:nvSpPr>
          <p:cNvPr id="3" name="tb">
            <a:extLst>
              <a:ext uri="{FF2B5EF4-FFF2-40B4-BE49-F238E27FC236}">
                <a16:creationId xmlns:a16="http://schemas.microsoft.com/office/drawing/2014/main" id="{43820E31-E313-B6C7-52F3-A16E2D571C0E}"/>
              </a:ext>
            </a:extLst>
          </p:cNvPr>
          <p:cNvSpPr txBox="1"/>
          <p:nvPr/>
        </p:nvSpPr>
        <p:spPr>
          <a:xfrm>
            <a:off x="6911393" y="1915575"/>
            <a:ext cx="4348452" cy="3113626"/>
          </a:xfrm>
          <a:prstGeom prst="rect">
            <a:avLst/>
          </a:prstGeom>
          <a:noFill/>
          <a:ln/>
        </p:spPr>
        <p:txBody>
          <a:bodyPr wrap="square" lIns="0" tIns="0" rIns="0" bIns="0" rtlCol="0" anchor="t"/>
          <a:lstStyle/>
          <a:p>
            <a:pPr algn="l"/>
            <a:r>
              <a:rPr lang="en-US" sz="2500" b="1" dirty="0">
                <a:solidFill>
                  <a:srgbClr val="13678A"/>
                </a:solidFill>
                <a:latin typeface="Arial" panose="020B0604020202020204" pitchFamily="34" charset="0"/>
                <a:cs typeface="Arial" panose="020B0604020202020204" pitchFamily="34" charset="0"/>
              </a:rPr>
              <a:t>TESTING PERIOD (Rolling)</a:t>
            </a:r>
          </a:p>
          <a:p>
            <a:pPr algn="l"/>
            <a:endParaRPr lang="en-US" sz="2000" b="1" dirty="0">
              <a:solidFill>
                <a:srgbClr val="13678A"/>
              </a:solidFill>
              <a:latin typeface="Arial" panose="020B0604020202020204" pitchFamily="34" charset="0"/>
              <a:cs typeface="Arial" panose="020B0604020202020204" pitchFamily="34" charset="0"/>
            </a:endParaRPr>
          </a:p>
          <a:p>
            <a:pPr algn="l">
              <a:lnSpc>
                <a:spcPts val="2100"/>
              </a:lnSpc>
            </a:pPr>
            <a:r>
              <a:rPr lang="en-US" sz="2500" b="1" dirty="0">
                <a:solidFill>
                  <a:srgbClr val="0B2545"/>
                </a:solidFill>
                <a:latin typeface="Arial" panose="020B0604020202020204" pitchFamily="34" charset="0"/>
                <a:cs typeface="Arial" panose="020B0604020202020204" pitchFamily="34" charset="0"/>
              </a:rPr>
              <a:t>2025-2026 Season</a:t>
            </a:r>
          </a:p>
          <a:p>
            <a:pPr algn="l"/>
            <a:endParaRPr lang="en-US" sz="2000" b="1" dirty="0">
              <a:solidFill>
                <a:srgbClr val="0B2545"/>
              </a:solidFill>
              <a:latin typeface="Arial" panose="020B0604020202020204" pitchFamily="34" charset="0"/>
              <a:cs typeface="Arial" panose="020B0604020202020204" pitchFamily="34" charset="0"/>
            </a:endParaRPr>
          </a:p>
          <a:p>
            <a:pPr algn="l">
              <a:spcAft>
                <a:spcPts val="600"/>
              </a:spcAft>
            </a:pPr>
            <a:r>
              <a:rPr lang="en-US" sz="2000" dirty="0">
                <a:solidFill>
                  <a:srgbClr val="334155"/>
                </a:solidFill>
                <a:latin typeface="Arial" panose="020B0604020202020204" pitchFamily="34" charset="0"/>
                <a:cs typeface="Arial" panose="020B0604020202020204" pitchFamily="34" charset="0"/>
              </a:rPr>
              <a:t>Use the defined </a:t>
            </a:r>
            <a:r>
              <a:rPr lang="en-US" sz="2000" b="1" dirty="0">
                <a:solidFill>
                  <a:schemeClr val="accent2"/>
                </a:solidFill>
                <a:latin typeface="Arial" panose="020B0604020202020204" pitchFamily="34" charset="0"/>
                <a:cs typeface="Arial" panose="020B0604020202020204" pitchFamily="34" charset="0"/>
              </a:rPr>
              <a:t>2025-2026 season </a:t>
            </a:r>
            <a:r>
              <a:rPr lang="en-US" sz="2000" dirty="0">
                <a:solidFill>
                  <a:srgbClr val="334155"/>
                </a:solidFill>
                <a:latin typeface="Arial" panose="020B0604020202020204" pitchFamily="34" charset="0"/>
                <a:cs typeface="Arial" panose="020B0604020202020204" pitchFamily="34" charset="0"/>
              </a:rPr>
              <a:t>(See Previous Slides) as the testing period.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100" grpId="0" animBg="1"/>
      <p:bldP spid="101" grpId="0" animBg="1"/>
      <p:bldP spid="104" grpId="0" animBg="1"/>
      <p:bldP spid="160" grpId="0" animBg="1"/>
      <p:bldP spid="161"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3BD836-B389-CB45-FE1E-B82F9B043A2B}"/>
              </a:ext>
            </a:extLst>
          </p:cNvPr>
          <p:cNvSpPr txBox="1"/>
          <p:nvPr/>
        </p:nvSpPr>
        <p:spPr>
          <a:xfrm>
            <a:off x="1710642" y="1375782"/>
            <a:ext cx="8770716" cy="4662815"/>
          </a:xfrm>
          <a:prstGeom prst="rect">
            <a:avLst/>
          </a:prstGeom>
          <a:noFill/>
        </p:spPr>
        <p:txBody>
          <a:bodyPr wrap="square">
            <a:spAutoFit/>
          </a:bodyPr>
          <a:lstStyle/>
          <a:p>
            <a:pPr algn="ctr"/>
            <a:r>
              <a:rPr lang="en-US" sz="3300" b="0" kern="1200" dirty="0">
                <a:solidFill>
                  <a:schemeClr val="tx1"/>
                </a:solidFill>
                <a:effectLst/>
                <a:latin typeface="Arial" panose="020B0604020202020204" pitchFamily="34" charset="0"/>
                <a:cs typeface="Arial" panose="020B0604020202020204" pitchFamily="34" charset="0"/>
              </a:rPr>
              <a:t>Forecasts are produced with an </a:t>
            </a:r>
            <a:r>
              <a:rPr lang="en-US" sz="3300" b="1" kern="1200" dirty="0">
                <a:solidFill>
                  <a:schemeClr val="accent2"/>
                </a:solidFill>
                <a:effectLst/>
                <a:latin typeface="Arial" panose="020B0604020202020204" pitchFamily="34" charset="0"/>
                <a:cs typeface="Arial" panose="020B0604020202020204" pitchFamily="34" charset="0"/>
              </a:rPr>
              <a:t>expanding window</a:t>
            </a:r>
            <a:r>
              <a:rPr lang="en-US" sz="3300" b="0" kern="1200" dirty="0">
                <a:solidFill>
                  <a:schemeClr val="tx1"/>
                </a:solidFill>
                <a:effectLst/>
                <a:latin typeface="Arial" panose="020B0604020202020204" pitchFamily="34" charset="0"/>
                <a:cs typeface="Arial" panose="020B0604020202020204" pitchFamily="34" charset="0"/>
              </a:rPr>
              <a:t>. For each target week in the testing period, the model is refit on all observed weeks that fall strictly before that target week. The initial training data is the set of weeks strictly before the first testing-week present in the data; as each test week becomes observed it is added to the fitting window for subsequent targets.</a:t>
            </a:r>
          </a:p>
        </p:txBody>
      </p:sp>
      <p:sp>
        <p:nvSpPr>
          <p:cNvPr id="4" name="Text 0">
            <a:extLst>
              <a:ext uri="{FF2B5EF4-FFF2-40B4-BE49-F238E27FC236}">
                <a16:creationId xmlns:a16="http://schemas.microsoft.com/office/drawing/2014/main" id="{2B009971-765A-4CFF-AC0C-2902A734F976}"/>
              </a:ext>
            </a:extLst>
          </p:cNvPr>
          <p:cNvSpPr/>
          <p:nvPr/>
        </p:nvSpPr>
        <p:spPr>
          <a:xfrm>
            <a:off x="914400" y="16924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Expanding Window</a:t>
            </a:r>
            <a:endParaRPr lang="en-US" sz="400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6915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3954-47E7-99DD-2BAA-577B609DE257}"/>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0A4AE0F1-CFDC-148A-7505-43DF2C281ABB}"/>
              </a:ext>
            </a:extLst>
          </p:cNvPr>
          <p:cNvSpPr/>
          <p:nvPr/>
        </p:nvSpPr>
        <p:spPr>
          <a:xfrm>
            <a:off x="914400" y="5769136"/>
            <a:ext cx="10363200" cy="74077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B962CC97-EAFE-96A6-27B9-9FBB6B2FC6F8}"/>
              </a:ext>
            </a:extLst>
          </p:cNvPr>
          <p:cNvSpPr/>
          <p:nvPr/>
        </p:nvSpPr>
        <p:spPr>
          <a:xfrm>
            <a:off x="914400" y="4659553"/>
            <a:ext cx="10363200" cy="740779"/>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8206C448-755B-4BF5-49AD-87753333E296}"/>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3DFB0EA-23E7-1CCE-209E-939AE468B382}"/>
              </a:ext>
            </a:extLst>
          </p:cNvPr>
          <p:cNvSpPr txBox="1"/>
          <p:nvPr/>
        </p:nvSpPr>
        <p:spPr>
          <a:xfrm>
            <a:off x="914400" y="1280722"/>
            <a:ext cx="10363200" cy="1246495"/>
          </a:xfrm>
          <a:prstGeom prst="rect">
            <a:avLst/>
          </a:prstGeom>
          <a:noFill/>
        </p:spPr>
        <p:txBody>
          <a:bodyPr wrap="square">
            <a:spAutoFit/>
          </a:bodyPr>
          <a:lstStyle/>
          <a:p>
            <a:pPr algn="ctr"/>
            <a:r>
              <a:rPr lang="en-US" sz="2500" dirty="0">
                <a:latin typeface="Arial" panose="020B0604020202020204" pitchFamily="34" charset="0"/>
                <a:cs typeface="Arial" panose="020B0604020202020204" pitchFamily="34" charset="0"/>
              </a:rPr>
              <a:t>As we build this out, it's important that we include </a:t>
            </a:r>
            <a:r>
              <a:rPr lang="en-US" sz="2500" b="1" dirty="0">
                <a:solidFill>
                  <a:schemeClr val="accent2"/>
                </a:solidFill>
                <a:latin typeface="Arial" panose="020B0604020202020204" pitchFamily="34" charset="0"/>
                <a:cs typeface="Arial" panose="020B0604020202020204" pitchFamily="34" charset="0"/>
              </a:rPr>
              <a:t>code checks </a:t>
            </a:r>
            <a:r>
              <a:rPr lang="en-US" sz="2500" dirty="0">
                <a:latin typeface="Arial" panose="020B0604020202020204" pitchFamily="34" charset="0"/>
                <a:cs typeface="Arial" panose="020B0604020202020204" pitchFamily="34" charset="0"/>
              </a:rPr>
              <a:t>along the way to ensure that things we specified in the rules.md are being interpreted by the AI as we intended. </a:t>
            </a:r>
          </a:p>
        </p:txBody>
      </p:sp>
      <p:sp>
        <p:nvSpPr>
          <p:cNvPr id="18" name="Rectangle: Rounded Corners 17">
            <a:extLst>
              <a:ext uri="{FF2B5EF4-FFF2-40B4-BE49-F238E27FC236}">
                <a16:creationId xmlns:a16="http://schemas.microsoft.com/office/drawing/2014/main" id="{C4DA350D-A3B4-775E-1CA2-2AEB71A8F2BE}"/>
              </a:ext>
            </a:extLst>
          </p:cNvPr>
          <p:cNvSpPr/>
          <p:nvPr/>
        </p:nvSpPr>
        <p:spPr>
          <a:xfrm>
            <a:off x="914400" y="3523525"/>
            <a:ext cx="10363200" cy="740779"/>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1254531-7BE9-E309-1276-46F6AB99EFB3}"/>
              </a:ext>
            </a:extLst>
          </p:cNvPr>
          <p:cNvSpPr txBox="1"/>
          <p:nvPr/>
        </p:nvSpPr>
        <p:spPr>
          <a:xfrm>
            <a:off x="914400" y="2720628"/>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F0A9F22D-0A46-F093-7005-368B3220F656}"/>
              </a:ext>
            </a:extLst>
          </p:cNvPr>
          <p:cNvSpPr txBox="1"/>
          <p:nvPr/>
        </p:nvSpPr>
        <p:spPr>
          <a:xfrm>
            <a:off x="1080063" y="3695220"/>
            <a:ext cx="10031874"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`Training Period` start date and rolling window end dates. </a:t>
            </a:r>
          </a:p>
        </p:txBody>
      </p:sp>
      <p:sp>
        <p:nvSpPr>
          <p:cNvPr id="15" name="TextBox 14">
            <a:extLst>
              <a:ext uri="{FF2B5EF4-FFF2-40B4-BE49-F238E27FC236}">
                <a16:creationId xmlns:a16="http://schemas.microsoft.com/office/drawing/2014/main" id="{6245D1BA-97DD-AF95-0458-C10ABF9648AC}"/>
              </a:ext>
            </a:extLst>
          </p:cNvPr>
          <p:cNvSpPr txBox="1"/>
          <p:nvPr/>
        </p:nvSpPr>
        <p:spPr>
          <a:xfrm>
            <a:off x="1080063" y="4829887"/>
            <a:ext cx="10031874"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`Testing Period` start date, and each forecast date. </a:t>
            </a:r>
          </a:p>
        </p:txBody>
      </p:sp>
      <p:sp>
        <p:nvSpPr>
          <p:cNvPr id="17" name="TextBox 16">
            <a:extLst>
              <a:ext uri="{FF2B5EF4-FFF2-40B4-BE49-F238E27FC236}">
                <a16:creationId xmlns:a16="http://schemas.microsoft.com/office/drawing/2014/main" id="{FC8DB623-FE28-BC79-9114-B5EEE4FF8AE8}"/>
              </a:ext>
            </a:extLst>
          </p:cNvPr>
          <p:cNvSpPr txBox="1"/>
          <p:nvPr/>
        </p:nvSpPr>
        <p:spPr>
          <a:xfrm>
            <a:off x="1519901" y="5939470"/>
            <a:ext cx="9152198"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specified forecasting horizon that will be used. </a:t>
            </a:r>
          </a:p>
        </p:txBody>
      </p:sp>
    </p:spTree>
    <p:extLst>
      <p:ext uri="{BB962C8B-B14F-4D97-AF65-F5344CB8AC3E}">
        <p14:creationId xmlns:p14="http://schemas.microsoft.com/office/powerpoint/2010/main" val="2209786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1" grpId="0"/>
      <p:bldP spid="14" grpId="0"/>
      <p:bldP spid="15"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C0B28-49BA-FCF7-DEA0-38B924406A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838894-502B-4D76-B39E-7CB7AF448D38}"/>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B7A5B421-68D9-A656-7E06-46532A3047F0}"/>
              </a:ext>
            </a:extLst>
          </p:cNvPr>
          <p:cNvSpPr/>
          <p:nvPr/>
        </p:nvSpPr>
        <p:spPr>
          <a:xfrm>
            <a:off x="1061194" y="236060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F2B5E074-DE3B-4EC5-E777-8BD5C452731F}"/>
              </a:ext>
            </a:extLst>
          </p:cNvPr>
          <p:cNvSpPr/>
          <p:nvPr/>
        </p:nvSpPr>
        <p:spPr>
          <a:xfrm>
            <a:off x="1061194" y="236060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C74EC806-0E32-3193-EF8C-7DB452B56D0D}"/>
              </a:ext>
            </a:extLst>
          </p:cNvPr>
          <p:cNvSpPr/>
          <p:nvPr/>
        </p:nvSpPr>
        <p:spPr>
          <a:xfrm>
            <a:off x="1858754" y="2387601"/>
            <a:ext cx="9144000" cy="607709"/>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500" dirty="0">
                <a:latin typeface="Arial" panose="020B0604020202020204" pitchFamily="34" charset="0"/>
                <a:ea typeface="Calibri" pitchFamily="34" charset="-122"/>
                <a:cs typeface="Arial" panose="020B0604020202020204" pitchFamily="34" charset="0"/>
              </a:rPr>
              <a:t> the </a:t>
            </a:r>
            <a:r>
              <a:rPr lang="en-US" sz="2500" dirty="0">
                <a:latin typeface="Courier New" panose="02070309020205020404" pitchFamily="49" charset="0"/>
                <a:ea typeface="Calibri" pitchFamily="34" charset="-122"/>
                <a:cs typeface="Courier New" panose="02070309020205020404" pitchFamily="49" charset="0"/>
              </a:rPr>
              <a:t>## 3. Training and Testing Periods </a:t>
            </a:r>
            <a:r>
              <a:rPr lang="en-US" sz="2500" dirty="0">
                <a:latin typeface="Arial" panose="020B0604020202020204" pitchFamily="34" charset="0"/>
                <a:ea typeface="Calibri" pitchFamily="34" charset="-122"/>
                <a:cs typeface="Arial" panose="020B0604020202020204" pitchFamily="34" charset="0"/>
              </a:rPr>
              <a:t>section header in rules.md.</a:t>
            </a:r>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27145EC7-9C0E-FB4C-91A6-E1AAB23F6215}"/>
              </a:ext>
            </a:extLst>
          </p:cNvPr>
          <p:cNvSpPr/>
          <p:nvPr/>
        </p:nvSpPr>
        <p:spPr>
          <a:xfrm>
            <a:off x="1061194" y="367354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82736F46-3433-3962-92B6-F79EA621DE55}"/>
              </a:ext>
            </a:extLst>
          </p:cNvPr>
          <p:cNvSpPr/>
          <p:nvPr/>
        </p:nvSpPr>
        <p:spPr>
          <a:xfrm>
            <a:off x="1061194" y="367354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50F23612-84FC-DDBB-E5E8-5286CABF54C9}"/>
              </a:ext>
            </a:extLst>
          </p:cNvPr>
          <p:cNvSpPr/>
          <p:nvPr/>
        </p:nvSpPr>
        <p:spPr>
          <a:xfrm>
            <a:off x="1858754" y="3376806"/>
            <a:ext cx="9144000" cy="1272150"/>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Write detailed rules</a:t>
            </a:r>
            <a:r>
              <a:rPr lang="en-US" sz="2500" dirty="0">
                <a:latin typeface="Arial" panose="020B0604020202020204" pitchFamily="34" charset="0"/>
                <a:ea typeface="Calibri" pitchFamily="34" charset="-122"/>
                <a:cs typeface="Arial" panose="020B0604020202020204" pitchFamily="34" charset="0"/>
              </a:rPr>
              <a:t> to specify the training and testing period information; including the ‘</a:t>
            </a:r>
            <a:r>
              <a:rPr lang="en-US" sz="2500" b="1" dirty="0">
                <a:solidFill>
                  <a:schemeClr val="accent2"/>
                </a:solidFill>
                <a:latin typeface="Arial" panose="020B0604020202020204" pitchFamily="34" charset="0"/>
                <a:ea typeface="Calibri" pitchFamily="34" charset="-122"/>
                <a:cs typeface="Arial" panose="020B0604020202020204" pitchFamily="34" charset="0"/>
              </a:rPr>
              <a:t>expanding window</a:t>
            </a:r>
            <a:r>
              <a:rPr lang="en-US" sz="2500" dirty="0">
                <a:latin typeface="Arial" panose="020B0604020202020204" pitchFamily="34" charset="0"/>
                <a:ea typeface="Calibri" pitchFamily="34" charset="-122"/>
                <a:cs typeface="Arial" panose="020B0604020202020204" pitchFamily="34" charset="0"/>
              </a:rPr>
              <a:t>’ set up (we will do this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latin typeface="Arial" panose="020B0604020202020204" pitchFamily="34" charset="0"/>
                <a:ea typeface="Calibri" pitchFamily="34" charset="-122"/>
                <a:cs typeface="Arial" panose="020B0604020202020204" pitchFamily="34" charset="0"/>
              </a:rPr>
              <a:t>). </a:t>
            </a:r>
            <a:endParaRPr lang="en-US" sz="25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1542E53A-56BF-758D-20AD-5190372A7AC3}"/>
              </a:ext>
            </a:extLst>
          </p:cNvPr>
          <p:cNvSpPr/>
          <p:nvPr/>
        </p:nvSpPr>
        <p:spPr>
          <a:xfrm>
            <a:off x="1061194" y="4852246"/>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D1B3C3A7-18C4-0146-48A9-80581D2045BC}"/>
              </a:ext>
            </a:extLst>
          </p:cNvPr>
          <p:cNvSpPr/>
          <p:nvPr/>
        </p:nvSpPr>
        <p:spPr>
          <a:xfrm>
            <a:off x="1061194" y="4852246"/>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2C859B04-130D-289F-0F71-DCD0C462032D}"/>
              </a:ext>
            </a:extLst>
          </p:cNvPr>
          <p:cNvSpPr/>
          <p:nvPr/>
        </p:nvSpPr>
        <p:spPr>
          <a:xfrm>
            <a:off x="1061194" y="584564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54023CCA-87D9-FF31-B8F1-DB6D87F70A7E}"/>
              </a:ext>
            </a:extLst>
          </p:cNvPr>
          <p:cNvSpPr/>
          <p:nvPr/>
        </p:nvSpPr>
        <p:spPr>
          <a:xfrm>
            <a:off x="1061194" y="584564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7B6CA545-5518-EB58-5847-5A14FACE54FB}"/>
              </a:ext>
            </a:extLst>
          </p:cNvPr>
          <p:cNvSpPr/>
          <p:nvPr/>
        </p:nvSpPr>
        <p:spPr>
          <a:xfrm>
            <a:off x="1858754" y="5747475"/>
            <a:ext cx="9914146" cy="836423"/>
          </a:xfrm>
          <a:prstGeom prst="rect">
            <a:avLst/>
          </a:prstGeom>
          <a:noFill/>
          <a:ln/>
        </p:spPr>
        <p:txBody>
          <a:bodyPr wrap="square" lIns="0" tIns="0" rIns="0" bIns="0" rtlCol="0" anchor="ctr"/>
          <a:lstStyle/>
          <a:p>
            <a:pPr lvl="0" defTabSz="1219170">
              <a:defRPr/>
            </a:pP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5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(or your</a:t>
            </a:r>
            <a:r>
              <a:rPr kumimoji="0" lang="en-US" sz="2500" b="0" i="0" u="none" strike="noStrike" kern="1200" cap="none" spc="0" normalizeH="0" noProof="0" dirty="0">
                <a:ln>
                  <a:noFill/>
                </a:ln>
                <a:effectLst/>
                <a:uLnTx/>
                <a:uFillTx/>
                <a:latin typeface="Arial" panose="020B0604020202020204" pitchFamily="34" charset="0"/>
                <a:ea typeface="Calibri" pitchFamily="34" charset="-122"/>
                <a:cs typeface="Arial" panose="020B0604020202020204" pitchFamily="34" charset="0"/>
              </a:rPr>
              <a:t> preferred AI)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a:t>
            </a:r>
            <a:r>
              <a:rPr kumimoji="0" lang="en-US" sz="2500" b="1" i="0"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generate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scripts</a:t>
            </a:r>
            <a:r>
              <a:rPr lang="en-US" sz="2500" b="1" dirty="0">
                <a:solidFill>
                  <a:schemeClr val="accent2"/>
                </a:solidFill>
                <a:latin typeface="Arial" panose="020B0604020202020204" pitchFamily="34" charset="0"/>
                <a:ea typeface="Calibri" pitchFamily="34" charset="-122"/>
                <a:cs typeface="Arial" panose="020B0604020202020204" pitchFamily="34" charset="0"/>
              </a:rPr>
              <a:t>/0</a:t>
            </a:r>
            <a:r>
              <a:rPr lang="en-US" sz="2500" b="1" dirty="0">
                <a:solidFill>
                  <a:schemeClr val="accent2"/>
                </a:solidFill>
                <a:latin typeface="Arial" panose="020B0604020202020204" pitchFamily="34" charset="0"/>
                <a:cs typeface="Arial" panose="020B0604020202020204" pitchFamily="34" charset="0"/>
              </a:rPr>
              <a:t>3_forecast.R</a:t>
            </a:r>
            <a:r>
              <a:rPr lang="en-US" sz="2500" b="1"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Run the script and check the output.</a:t>
            </a:r>
            <a:endParaRPr kumimoji="0" lang="en-US" sz="25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ACE608AF-BF88-F5CD-D84C-1E48DEB0E4BD}"/>
              </a:ext>
            </a:extLst>
          </p:cNvPr>
          <p:cNvSpPr/>
          <p:nvPr/>
        </p:nvSpPr>
        <p:spPr>
          <a:xfrm>
            <a:off x="800100" y="109960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dirty="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solidFill>
                  <a:srgbClr val="334155"/>
                </a:solidFill>
                <a:latin typeface="Arial" panose="020B0604020202020204" pitchFamily="34" charset="0"/>
                <a:ea typeface="Calibri" pitchFamily="34" charset="-122"/>
                <a:cs typeface="Arial" panose="020B0604020202020204" pitchFamily="34" charset="0"/>
              </a:rPr>
              <a:t> to add the next section to our rules.md document.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1574B12E-6FDE-AD97-13CE-75AF10C27361}"/>
              </a:ext>
            </a:extLst>
          </p:cNvPr>
          <p:cNvSpPr/>
          <p:nvPr/>
        </p:nvSpPr>
        <p:spPr>
          <a:xfrm>
            <a:off x="1858754" y="4958926"/>
            <a:ext cx="9509760" cy="426720"/>
          </a:xfrm>
          <a:prstGeom prst="rect">
            <a:avLst/>
          </a:prstGeom>
          <a:noFill/>
          <a:ln/>
        </p:spPr>
        <p:txBody>
          <a:bodyPr wrap="square" lIns="0" tIns="0" rIns="0" bIns="0" rtlCol="0" anchor="ctr"/>
          <a:lstStyle/>
          <a:p>
            <a:pPr defTabSz="1219170"/>
            <a:r>
              <a:rPr lang="en-US" sz="2500" dirty="0">
                <a:latin typeface="Arial" panose="020B0604020202020204" pitchFamily="34" charset="0"/>
                <a:ea typeface="Calibri" pitchFamily="34" charset="-122"/>
                <a:cs typeface="Arial" panose="020B0604020202020204" pitchFamily="34" charset="0"/>
              </a:rPr>
              <a:t>Regenerate </a:t>
            </a:r>
            <a:r>
              <a:rPr lang="en-US" sz="25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500" dirty="0">
                <a:solidFill>
                  <a:schemeClr val="accent2"/>
                </a:solidFill>
                <a:latin typeface="Arial" panose="020B0604020202020204" pitchFamily="34" charset="0"/>
                <a:ea typeface="Calibri" pitchFamily="34" charset="-122"/>
                <a:cs typeface="Arial" panose="020B0604020202020204" pitchFamily="34" charset="0"/>
              </a:rPr>
              <a:t> </a:t>
            </a:r>
            <a:r>
              <a:rPr lang="en-US" sz="2500" dirty="0">
                <a:latin typeface="Arial" panose="020B0604020202020204" pitchFamily="34" charset="0"/>
                <a:ea typeface="Calibri" pitchFamily="34" charset="-122"/>
                <a:cs typeface="Arial" panose="020B0604020202020204" pitchFamily="34" charset="0"/>
              </a:rPr>
              <a:t>from your updated rules document</a:t>
            </a:r>
            <a:endParaRPr lang="en-US" sz="25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CC3076B0-2162-2ECA-1CF8-F0B98FEB8EAA}"/>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3675561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1FA03-94C8-059A-8F41-74A27DD62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F8E84-451B-22DB-6EE8-0BD6E3BB32D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2: Baseline </a:t>
            </a:r>
            <a:r>
              <a:rPr lang="en-US" b="1">
                <a:solidFill>
                  <a:srgbClr val="7030A0"/>
                </a:solidFill>
                <a:latin typeface="Arial" panose="020B0604020202020204" pitchFamily="34" charset="0"/>
                <a:ea typeface="Calibri" pitchFamily="34" charset="-122"/>
                <a:cs typeface="Arial" panose="020B0604020202020204" pitchFamily="34" charset="0"/>
              </a:rPr>
              <a:t>Model Specification</a:t>
            </a:r>
            <a:endParaRPr lang="en-US" b="1">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4134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08589B1-119F-703A-5D50-038A1CF3B214}"/>
              </a:ext>
            </a:extLst>
          </p:cNvPr>
          <p:cNvSpPr/>
          <p:nvPr/>
        </p:nvSpPr>
        <p:spPr>
          <a:xfrm>
            <a:off x="878541" y="3656432"/>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C7F0D07-9924-2CBF-42D5-32B3A36E0136}"/>
              </a:ext>
            </a:extLst>
          </p:cNvPr>
          <p:cNvSpPr/>
          <p:nvPr/>
        </p:nvSpPr>
        <p:spPr>
          <a:xfrm>
            <a:off x="772085" y="1931567"/>
            <a:ext cx="10647830" cy="14436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653BE3-8EEB-D8BF-B207-C0FE32A87FFB}"/>
              </a:ext>
            </a:extLst>
          </p:cNvPr>
          <p:cNvSpPr>
            <a:spLocks noGrp="1"/>
          </p:cNvSpPr>
          <p:nvPr>
            <p:ph type="title"/>
          </p:nvPr>
        </p:nvSpPr>
        <p:spPr/>
        <p:txBody>
          <a:bodyPr/>
          <a:lstStyle/>
          <a:p>
            <a:pPr algn="ctr"/>
            <a:r>
              <a:rPr lang="en-US" b="1" u="sng">
                <a:solidFill>
                  <a:srgbClr val="7030A0"/>
                </a:solidFill>
                <a:latin typeface="Arial" panose="020B0604020202020204" pitchFamily="34" charset="0"/>
                <a:cs typeface="Arial" panose="020B0604020202020204" pitchFamily="34" charset="0"/>
              </a:rPr>
              <a:t>A</a:t>
            </a:r>
            <a:r>
              <a:rPr lang="en-US" b="1">
                <a:solidFill>
                  <a:srgbClr val="7030A0"/>
                </a:solidFill>
                <a:latin typeface="Arial" panose="020B0604020202020204" pitchFamily="34" charset="0"/>
                <a:cs typeface="Arial" panose="020B0604020202020204" pitchFamily="34" charset="0"/>
              </a:rPr>
              <a:t>uto </a:t>
            </a:r>
            <a:r>
              <a:rPr lang="en-US" b="1" u="sng">
                <a:solidFill>
                  <a:srgbClr val="7030A0"/>
                </a:solidFill>
                <a:latin typeface="Arial" panose="020B0604020202020204" pitchFamily="34" charset="0"/>
                <a:cs typeface="Arial" panose="020B0604020202020204" pitchFamily="34" charset="0"/>
              </a:rPr>
              <a:t>R</a:t>
            </a:r>
            <a:r>
              <a:rPr lang="en-US" b="1">
                <a:solidFill>
                  <a:srgbClr val="7030A0"/>
                </a:solidFill>
                <a:latin typeface="Arial" panose="020B0604020202020204" pitchFamily="34" charset="0"/>
                <a:cs typeface="Arial" panose="020B0604020202020204" pitchFamily="34" charset="0"/>
              </a:rPr>
              <a:t>egressive </a:t>
            </a:r>
            <a:r>
              <a:rPr lang="en-US" b="1" u="sng">
                <a:solidFill>
                  <a:srgbClr val="7030A0"/>
                </a:solidFill>
                <a:latin typeface="Arial" panose="020B0604020202020204" pitchFamily="34" charset="0"/>
                <a:cs typeface="Arial" panose="020B0604020202020204" pitchFamily="34" charset="0"/>
              </a:rPr>
              <a:t>I</a:t>
            </a:r>
            <a:r>
              <a:rPr lang="en-US" b="1">
                <a:solidFill>
                  <a:srgbClr val="7030A0"/>
                </a:solidFill>
                <a:latin typeface="Arial" panose="020B0604020202020204" pitchFamily="34" charset="0"/>
                <a:cs typeface="Arial" panose="020B0604020202020204" pitchFamily="34" charset="0"/>
              </a:rPr>
              <a:t>ntegrated </a:t>
            </a:r>
            <a:r>
              <a:rPr lang="en-US" b="1" u="sng">
                <a:solidFill>
                  <a:srgbClr val="7030A0"/>
                </a:solidFill>
                <a:latin typeface="Arial" panose="020B0604020202020204" pitchFamily="34" charset="0"/>
                <a:cs typeface="Arial" panose="020B0604020202020204" pitchFamily="34" charset="0"/>
              </a:rPr>
              <a:t>M</a:t>
            </a:r>
            <a:r>
              <a:rPr lang="en-US" b="1">
                <a:solidFill>
                  <a:srgbClr val="7030A0"/>
                </a:solidFill>
                <a:latin typeface="Arial" panose="020B0604020202020204" pitchFamily="34" charset="0"/>
                <a:cs typeface="Arial" panose="020B0604020202020204" pitchFamily="34" charset="0"/>
              </a:rPr>
              <a:t>oving </a:t>
            </a:r>
            <a:r>
              <a:rPr lang="en-US" b="1" u="sng">
                <a:solidFill>
                  <a:srgbClr val="7030A0"/>
                </a:solidFill>
                <a:latin typeface="Arial" panose="020B0604020202020204" pitchFamily="34" charset="0"/>
                <a:cs typeface="Arial" panose="020B0604020202020204" pitchFamily="34" charset="0"/>
              </a:rPr>
              <a:t>A</a:t>
            </a:r>
            <a:r>
              <a:rPr lang="en-US" b="1">
                <a:solidFill>
                  <a:srgbClr val="7030A0"/>
                </a:solidFill>
                <a:latin typeface="Arial" panose="020B0604020202020204" pitchFamily="34" charset="0"/>
                <a:cs typeface="Arial" panose="020B0604020202020204" pitchFamily="34" charset="0"/>
              </a:rPr>
              <a:t>verage (ARIMA)</a:t>
            </a:r>
            <a:endParaRPr lang="en-US"/>
          </a:p>
        </p:txBody>
      </p:sp>
      <p:sp>
        <p:nvSpPr>
          <p:cNvPr id="6" name="TextBox 5">
            <a:extLst>
              <a:ext uri="{FF2B5EF4-FFF2-40B4-BE49-F238E27FC236}">
                <a16:creationId xmlns:a16="http://schemas.microsoft.com/office/drawing/2014/main" id="{D78E7C75-D964-1146-B83F-5F79DD8B5B91}"/>
              </a:ext>
            </a:extLst>
          </p:cNvPr>
          <p:cNvSpPr txBox="1"/>
          <p:nvPr/>
        </p:nvSpPr>
        <p:spPr>
          <a:xfrm>
            <a:off x="838200" y="2111187"/>
            <a:ext cx="10515600" cy="1154162"/>
          </a:xfrm>
          <a:prstGeom prst="rect">
            <a:avLst/>
          </a:prstGeom>
          <a:noFill/>
        </p:spPr>
        <p:txBody>
          <a:bodyPr wrap="square" rtlCol="0">
            <a:spAutoFit/>
          </a:bodyPr>
          <a:lstStyle/>
          <a:p>
            <a:pPr algn="ctr"/>
            <a:r>
              <a:rPr lang="en-US" sz="2300">
                <a:latin typeface="Arial" panose="020B0604020202020204" pitchFamily="34" charset="0"/>
                <a:cs typeface="Arial" panose="020B0604020202020204" pitchFamily="34" charset="0"/>
              </a:rPr>
              <a:t>A group of models that uses a time series' </a:t>
            </a:r>
            <a:r>
              <a:rPr lang="en-US" sz="2300" b="1">
                <a:latin typeface="Arial" panose="020B0604020202020204" pitchFamily="34" charset="0"/>
                <a:cs typeface="Arial" panose="020B0604020202020204" pitchFamily="34" charset="0"/>
              </a:rPr>
              <a:t>past values</a:t>
            </a:r>
            <a:r>
              <a:rPr lang="en-US" sz="2300">
                <a:latin typeface="Arial" panose="020B0604020202020204" pitchFamily="34" charset="0"/>
                <a:cs typeface="Arial" panose="020B0604020202020204" pitchFamily="34" charset="0"/>
              </a:rPr>
              <a:t> and </a:t>
            </a:r>
            <a:r>
              <a:rPr lang="en-US" sz="2300" b="1">
                <a:latin typeface="Arial" panose="020B0604020202020204" pitchFamily="34" charset="0"/>
                <a:cs typeface="Arial" panose="020B0604020202020204" pitchFamily="34" charset="0"/>
              </a:rPr>
              <a:t>past forecast errors </a:t>
            </a:r>
            <a:r>
              <a:rPr lang="en-US" sz="2300">
                <a:latin typeface="Arial" panose="020B0604020202020204" pitchFamily="34" charset="0"/>
                <a:cs typeface="Arial" panose="020B0604020202020204" pitchFamily="34" charset="0"/>
              </a:rPr>
              <a:t>to explain the current values of the series, with the goal of producing forecasts.</a:t>
            </a:r>
          </a:p>
        </p:txBody>
      </p:sp>
      <p:sp>
        <p:nvSpPr>
          <p:cNvPr id="8" name="TextBox 7">
            <a:extLst>
              <a:ext uri="{FF2B5EF4-FFF2-40B4-BE49-F238E27FC236}">
                <a16:creationId xmlns:a16="http://schemas.microsoft.com/office/drawing/2014/main" id="{35D49BBF-F1AA-901B-24F1-7B8F02AA7938}"/>
              </a:ext>
            </a:extLst>
          </p:cNvPr>
          <p:cNvSpPr txBox="1"/>
          <p:nvPr/>
        </p:nvSpPr>
        <p:spPr>
          <a:xfrm>
            <a:off x="838200" y="3722646"/>
            <a:ext cx="3209365" cy="1400383"/>
          </a:xfrm>
          <a:prstGeom prst="rect">
            <a:avLst/>
          </a:prstGeom>
          <a:noFill/>
        </p:spPr>
        <p:txBody>
          <a:bodyPr wrap="square" rtlCol="0">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AR Model (</a:t>
            </a:r>
            <a:r>
              <a:rPr lang="en-US" sz="2000" b="1" i="1">
                <a:solidFill>
                  <a:schemeClr val="accent2"/>
                </a:solidFill>
                <a:latin typeface="Arial" panose="020B0604020202020204" pitchFamily="34" charset="0"/>
                <a:cs typeface="Arial" panose="020B0604020202020204" pitchFamily="34" charset="0"/>
              </a:rPr>
              <a:t>p</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 Uses the series' own recent values to predict what comes next</a:t>
            </a:r>
          </a:p>
        </p:txBody>
      </p:sp>
      <p:sp>
        <p:nvSpPr>
          <p:cNvPr id="10" name="TextBox 9">
            <a:extLst>
              <a:ext uri="{FF2B5EF4-FFF2-40B4-BE49-F238E27FC236}">
                <a16:creationId xmlns:a16="http://schemas.microsoft.com/office/drawing/2014/main" id="{B0010B6E-ACAF-F857-CE8F-9439D7CC1F98}"/>
              </a:ext>
            </a:extLst>
          </p:cNvPr>
          <p:cNvSpPr txBox="1"/>
          <p:nvPr/>
        </p:nvSpPr>
        <p:spPr>
          <a:xfrm>
            <a:off x="8275544" y="3722646"/>
            <a:ext cx="2961715" cy="1708160"/>
          </a:xfrm>
          <a:prstGeom prst="rect">
            <a:avLst/>
          </a:prstGeom>
          <a:noFill/>
        </p:spPr>
        <p:txBody>
          <a:bodyPr wrap="square">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MA Model (</a:t>
            </a:r>
            <a:r>
              <a:rPr lang="en-US" sz="2000" b="1" i="1">
                <a:solidFill>
                  <a:schemeClr val="accent2"/>
                </a:solidFill>
                <a:latin typeface="Arial" panose="020B0604020202020204" pitchFamily="34" charset="0"/>
                <a:cs typeface="Arial" panose="020B0604020202020204" pitchFamily="34" charset="0"/>
              </a:rPr>
              <a:t>q</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Uses its own recent misses (how far off past predictions were) to predict what comes next</a:t>
            </a:r>
          </a:p>
        </p:txBody>
      </p:sp>
      <p:sp>
        <p:nvSpPr>
          <p:cNvPr id="12" name="TextBox 11">
            <a:extLst>
              <a:ext uri="{FF2B5EF4-FFF2-40B4-BE49-F238E27FC236}">
                <a16:creationId xmlns:a16="http://schemas.microsoft.com/office/drawing/2014/main" id="{9283C882-7697-8DB4-379F-06FFD076E521}"/>
              </a:ext>
            </a:extLst>
          </p:cNvPr>
          <p:cNvSpPr txBox="1"/>
          <p:nvPr/>
        </p:nvSpPr>
        <p:spPr>
          <a:xfrm>
            <a:off x="4445418" y="3722646"/>
            <a:ext cx="3354952" cy="2015936"/>
          </a:xfrm>
          <a:prstGeom prst="rect">
            <a:avLst/>
          </a:prstGeom>
          <a:noFill/>
        </p:spPr>
        <p:txBody>
          <a:bodyPr wrap="square">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Integrated (</a:t>
            </a:r>
            <a:r>
              <a:rPr lang="en-US" sz="2000" b="1" i="1">
                <a:solidFill>
                  <a:schemeClr val="accent2"/>
                </a:solidFill>
                <a:latin typeface="Arial" panose="020B0604020202020204" pitchFamily="34" charset="0"/>
                <a:cs typeface="Arial" panose="020B0604020202020204" pitchFamily="34" charset="0"/>
              </a:rPr>
              <a:t>d</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Used to make the time series stationary (stable over time), by subtracting the previous observation from the current one</a:t>
            </a:r>
          </a:p>
        </p:txBody>
      </p:sp>
      <p:sp>
        <p:nvSpPr>
          <p:cNvPr id="15" name="Rectangle 14">
            <a:extLst>
              <a:ext uri="{FF2B5EF4-FFF2-40B4-BE49-F238E27FC236}">
                <a16:creationId xmlns:a16="http://schemas.microsoft.com/office/drawing/2014/main" id="{FC4FD7AF-DADF-C8B8-BE3D-EE939E1BC359}"/>
              </a:ext>
            </a:extLst>
          </p:cNvPr>
          <p:cNvSpPr/>
          <p:nvPr/>
        </p:nvSpPr>
        <p:spPr>
          <a:xfrm>
            <a:off x="4561959" y="3653754"/>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56C60DA-122B-F3B3-CE34-15701684F7DA}"/>
              </a:ext>
            </a:extLst>
          </p:cNvPr>
          <p:cNvSpPr/>
          <p:nvPr/>
        </p:nvSpPr>
        <p:spPr>
          <a:xfrm>
            <a:off x="8211670" y="3653753"/>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CC1E030-B2E8-9F84-FB38-C78E3071FC71}"/>
              </a:ext>
            </a:extLst>
          </p:cNvPr>
          <p:cNvCxnSpPr>
            <a:cxnSpLocks/>
            <a:endCxn id="15" idx="1"/>
          </p:cNvCxnSpPr>
          <p:nvPr/>
        </p:nvCxnSpPr>
        <p:spPr>
          <a:xfrm>
            <a:off x="3971365" y="4703720"/>
            <a:ext cx="590594"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A6574C7-9239-7B9B-B31E-C007A6B585BE}"/>
              </a:ext>
            </a:extLst>
          </p:cNvPr>
          <p:cNvCxnSpPr>
            <a:cxnSpLocks/>
          </p:cNvCxnSpPr>
          <p:nvPr/>
        </p:nvCxnSpPr>
        <p:spPr>
          <a:xfrm>
            <a:off x="7644609" y="4718896"/>
            <a:ext cx="590594"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B7011C9-0294-82D1-5972-A3C96ECE40C4}"/>
              </a:ext>
            </a:extLst>
          </p:cNvPr>
          <p:cNvSpPr txBox="1"/>
          <p:nvPr/>
        </p:nvSpPr>
        <p:spPr>
          <a:xfrm>
            <a:off x="766526" y="5934503"/>
            <a:ext cx="10647829" cy="830997"/>
          </a:xfrm>
          <a:prstGeom prst="rect">
            <a:avLst/>
          </a:prstGeom>
          <a:noFill/>
        </p:spPr>
        <p:txBody>
          <a:bodyPr wrap="square">
            <a:spAutoFit/>
          </a:bodyPr>
          <a:lstStyle/>
          <a:p>
            <a:pPr algn="ctr"/>
            <a:r>
              <a:rPr lang="en-US" sz="2300" b="1">
                <a:latin typeface="Arial" panose="020B0604020202020204" pitchFamily="34" charset="0"/>
                <a:cs typeface="Arial" panose="020B0604020202020204" pitchFamily="34" charset="0"/>
              </a:rPr>
              <a:t>Assumes:</a:t>
            </a:r>
            <a:r>
              <a:rPr lang="en-US" sz="2300">
                <a:latin typeface="Arial" panose="020B0604020202020204" pitchFamily="34" charset="0"/>
                <a:cs typeface="Arial" panose="020B0604020202020204" pitchFamily="34" charset="0"/>
              </a:rPr>
              <a:t> The series is stationary after differencing (stable mean and variance over time).</a:t>
            </a:r>
          </a:p>
        </p:txBody>
      </p:sp>
    </p:spTree>
    <p:extLst>
      <p:ext uri="{BB962C8B-B14F-4D97-AF65-F5344CB8AC3E}">
        <p14:creationId xmlns:p14="http://schemas.microsoft.com/office/powerpoint/2010/main" val="154798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p:bldP spid="10" grpId="0"/>
      <p:bldP spid="12" grpId="0"/>
      <p:bldP spid="15" grpId="0" animBg="1"/>
      <p:bldP spid="17" grpId="0" animBg="1"/>
      <p:bldP spid="2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14AF7E2-2642-07AE-D4F7-9351C62548CA}"/>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Model Specification Rules</a:t>
            </a:r>
          </a:p>
        </p:txBody>
      </p:sp>
    </p:spTree>
    <p:extLst>
      <p:ext uri="{BB962C8B-B14F-4D97-AF65-F5344CB8AC3E}">
        <p14:creationId xmlns:p14="http://schemas.microsoft.com/office/powerpoint/2010/main" val="2150146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8651C-0760-AFBB-8B04-4944F487D9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8FF611-8D64-5D72-4FFF-FBB3E5E7EA91}"/>
              </a:ext>
            </a:extLst>
          </p:cNvPr>
          <p:cNvSpPr>
            <a:spLocks noGrp="1"/>
          </p:cNvSpPr>
          <p:nvPr>
            <p:ph idx="1"/>
          </p:nvPr>
        </p:nvSpPr>
        <p:spPr/>
        <p:txBody>
          <a:bodyPr/>
          <a:lstStyle/>
          <a:p>
            <a:r>
              <a:rPr lang="en-US" dirty="0"/>
              <a:t>For the slide on the next page, let’s make sure we have a brief header to explain what we are looking at</a:t>
            </a:r>
          </a:p>
        </p:txBody>
      </p:sp>
    </p:spTree>
    <p:extLst>
      <p:ext uri="{BB962C8B-B14F-4D97-AF65-F5344CB8AC3E}">
        <p14:creationId xmlns:p14="http://schemas.microsoft.com/office/powerpoint/2010/main" val="4123797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E71AB6C-EB82-6822-8673-A266FAEF78C6}"/>
              </a:ext>
            </a:extLst>
          </p:cNvPr>
          <p:cNvGraphicFramePr>
            <a:graphicFrameLocks noGrp="1"/>
          </p:cNvGraphicFramePr>
          <p:nvPr>
            <p:extLst>
              <p:ext uri="{D42A27DB-BD31-4B8C-83A1-F6EECF244321}">
                <p14:modId xmlns:p14="http://schemas.microsoft.com/office/powerpoint/2010/main" val="2080614445"/>
              </p:ext>
            </p:extLst>
          </p:nvPr>
        </p:nvGraphicFramePr>
        <p:xfrm>
          <a:off x="466985" y="466739"/>
          <a:ext cx="11258030" cy="5924522"/>
        </p:xfrm>
        <a:graphic>
          <a:graphicData uri="http://schemas.openxmlformats.org/drawingml/2006/table">
            <a:tbl>
              <a:tblPr firstRow="1" bandRow="1">
                <a:tableStyleId>{5940675A-B579-460E-94D1-54222C63F5DA}</a:tableStyleId>
              </a:tblPr>
              <a:tblGrid>
                <a:gridCol w="3105267">
                  <a:extLst>
                    <a:ext uri="{9D8B030D-6E8A-4147-A177-3AD203B41FA5}">
                      <a16:colId xmlns:a16="http://schemas.microsoft.com/office/drawing/2014/main" val="2158553017"/>
                    </a:ext>
                  </a:extLst>
                </a:gridCol>
                <a:gridCol w="4400086">
                  <a:extLst>
                    <a:ext uri="{9D8B030D-6E8A-4147-A177-3AD203B41FA5}">
                      <a16:colId xmlns:a16="http://schemas.microsoft.com/office/drawing/2014/main" val="3293121800"/>
                    </a:ext>
                  </a:extLst>
                </a:gridCol>
                <a:gridCol w="3752677">
                  <a:extLst>
                    <a:ext uri="{9D8B030D-6E8A-4147-A177-3AD203B41FA5}">
                      <a16:colId xmlns:a16="http://schemas.microsoft.com/office/drawing/2014/main" val="3134999491"/>
                    </a:ext>
                  </a:extLst>
                </a:gridCol>
              </a:tblGrid>
              <a:tr h="419045">
                <a:tc>
                  <a:txBody>
                    <a:bodyPr/>
                    <a:lstStyle/>
                    <a:p>
                      <a:pPr algn="ctr"/>
                      <a:endParaRPr lang="en-US" sz="1800" b="1">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a:latin typeface="Arial" panose="020B0604020202020204" pitchFamily="34" charset="0"/>
                          <a:cs typeface="Arial" panose="020B0604020202020204" pitchFamily="34" charset="0"/>
                        </a:rPr>
                        <a:t>Rule</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US" sz="1800" b="1">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3811438147"/>
                  </a:ext>
                </a:extLst>
              </a:tr>
              <a:tr h="419045">
                <a:tc>
                  <a:txBody>
                    <a:bodyPr/>
                    <a:lstStyle/>
                    <a:p>
                      <a:pPr algn="ctr"/>
                      <a:r>
                        <a:rPr lang="en-US" sz="1800" b="1">
                          <a:latin typeface="Arial" panose="020B0604020202020204" pitchFamily="34" charset="0"/>
                          <a:cs typeface="Arial" panose="020B0604020202020204" pitchFamily="34" charset="0"/>
                        </a:rPr>
                        <a:t>Package</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sz="1800" dirty="0">
                          <a:latin typeface="Courier New" panose="02070309020205020404" pitchFamily="49" charset="0"/>
                          <a:cs typeface="Courier New" panose="02070309020205020404" pitchFamily="49" charset="0"/>
                        </a:rPr>
                        <a:t>forecast</a:t>
                      </a:r>
                      <a:r>
                        <a:rPr lang="en-US" sz="1800" dirty="0">
                          <a:latin typeface="Arial" panose="020B0604020202020204" pitchFamily="34" charset="0"/>
                          <a:cs typeface="Arial" panose="020B0604020202020204" pitchFamily="34" charset="0"/>
                        </a:rPr>
                        <a:t>; </a:t>
                      </a:r>
                      <a:r>
                        <a:rPr lang="en-US" sz="1800" dirty="0">
                          <a:latin typeface="Courier New" panose="02070309020205020404" pitchFamily="49" charset="0"/>
                          <a:cs typeface="Courier New" panose="02070309020205020404" pitchFamily="49" charset="0"/>
                        </a:rPr>
                        <a:t>forecast::</a:t>
                      </a:r>
                      <a:r>
                        <a:rPr lang="en-US" sz="1800" dirty="0" err="1">
                          <a:latin typeface="Courier New" panose="02070309020205020404" pitchFamily="49" charset="0"/>
                          <a:cs typeface="Courier New" panose="02070309020205020404" pitchFamily="49" charset="0"/>
                        </a:rPr>
                        <a:t>auto.arima</a:t>
                      </a:r>
                      <a:r>
                        <a:rPr lang="en-US" sz="1800" dirty="0">
                          <a:latin typeface="Courier New" panose="02070309020205020404" pitchFamily="49" charset="0"/>
                          <a:cs typeface="Courier New" panose="02070309020205020404" pitchFamily="49" charset="0"/>
                        </a:rPr>
                        <a:t>()</a:t>
                      </a:r>
                    </a:p>
                  </a:txBody>
                  <a:tcPr anchor="ctr"/>
                </a:tc>
                <a:tc>
                  <a:txBody>
                    <a:bodyPr/>
                    <a:lstStyle/>
                    <a:p>
                      <a:pPr algn="ctr"/>
                      <a:r>
                        <a:rPr lang="en-US" sz="1800" dirty="0">
                          <a:latin typeface="Arial" panose="020B0604020202020204" pitchFamily="34" charset="0"/>
                          <a:cs typeface="Arial" panose="020B0604020202020204" pitchFamily="34" charset="0"/>
                        </a:rPr>
                        <a:t>Use the </a:t>
                      </a:r>
                      <a:r>
                        <a:rPr lang="en-US" sz="1800" dirty="0" err="1">
                          <a:latin typeface="Courier New" panose="02070309020205020404" pitchFamily="49" charset="0"/>
                          <a:cs typeface="Courier New" panose="02070309020205020404" pitchFamily="49" charset="0"/>
                        </a:rPr>
                        <a:t>auto.arima</a:t>
                      </a:r>
                      <a:r>
                        <a:rPr lang="en-US" sz="1800" dirty="0">
                          <a:latin typeface="Courier New" panose="02070309020205020404" pitchFamily="49" charset="0"/>
                          <a:cs typeface="Courier New" panose="02070309020205020404" pitchFamily="49" charset="0"/>
                        </a:rPr>
                        <a:t>() </a:t>
                      </a:r>
                      <a:r>
                        <a:rPr lang="en-US" sz="1800" dirty="0">
                          <a:latin typeface="Arial" panose="020B0604020202020204" pitchFamily="34" charset="0"/>
                          <a:cs typeface="Arial" panose="020B0604020202020204" pitchFamily="34" charset="0"/>
                        </a:rPr>
                        <a:t>function from the </a:t>
                      </a:r>
                      <a:r>
                        <a:rPr lang="en-US" sz="1800" dirty="0">
                          <a:latin typeface="Courier New" panose="02070309020205020404" pitchFamily="49" charset="0"/>
                          <a:cs typeface="Courier New" panose="02070309020205020404" pitchFamily="49" charset="0"/>
                        </a:rPr>
                        <a:t>forecast</a:t>
                      </a:r>
                      <a:r>
                        <a:rPr lang="en-US" sz="1800" dirty="0">
                          <a:latin typeface="Arial" panose="020B0604020202020204" pitchFamily="34" charset="0"/>
                          <a:cs typeface="Arial" panose="020B0604020202020204" pitchFamily="34" charset="0"/>
                        </a:rPr>
                        <a:t> package. </a:t>
                      </a:r>
                    </a:p>
                  </a:txBody>
                  <a:tcPr anchor="ctr"/>
                </a:tc>
                <a:extLst>
                  <a:ext uri="{0D108BD9-81ED-4DB2-BD59-A6C34878D82A}">
                    <a16:rowId xmlns:a16="http://schemas.microsoft.com/office/drawing/2014/main" val="2249009702"/>
                  </a:ext>
                </a:extLst>
              </a:tr>
              <a:tr h="2030757">
                <a:tc>
                  <a:txBody>
                    <a:bodyPr/>
                    <a:lstStyle/>
                    <a:p>
                      <a:pPr algn="ctr"/>
                      <a:r>
                        <a:rPr lang="en-US" sz="1800" b="1">
                          <a:latin typeface="Arial" panose="020B0604020202020204" pitchFamily="34" charset="0"/>
                          <a:cs typeface="Arial" panose="020B0604020202020204" pitchFamily="34" charset="0"/>
                        </a:rPr>
                        <a:t>Response Variable</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Arial" panose="020B0604020202020204" pitchFamily="34" charset="0"/>
                          <a:cs typeface="Arial" panose="020B0604020202020204" pitchFamily="34" charset="0"/>
                        </a:rPr>
                        <a:t>The influenza admissions series </a:t>
                      </a:r>
                      <a:r>
                        <a:rPr lang="en-US" sz="1800" b="1" kern="1200" dirty="0">
                          <a:solidFill>
                            <a:schemeClr val="tx1"/>
                          </a:solidFill>
                          <a:effectLst/>
                          <a:latin typeface="Arial" panose="020B0604020202020204" pitchFamily="34" charset="0"/>
                          <a:cs typeface="Arial" panose="020B0604020202020204" pitchFamily="34" charset="0"/>
                        </a:rPr>
                        <a:t>only.</a:t>
                      </a:r>
                      <a:r>
                        <a:rPr lang="en-US" sz="1800" b="0" kern="1200" dirty="0">
                          <a:solidFill>
                            <a:schemeClr val="tx1"/>
                          </a:solidFill>
                          <a:effectLst/>
                          <a:latin typeface="Arial" panose="020B0604020202020204" pitchFamily="34" charset="0"/>
                          <a:cs typeface="Arial" panose="020B0604020202020204" pitchFamily="34" charset="0"/>
                        </a:rPr>
                        <a:t> Sort the training window by `week`, extract the ordered value vector, and use that as the only input. No covariates or external regressors are permitted.</a:t>
                      </a:r>
                      <a:endParaRPr lang="en-US" sz="1800" b="0" kern="1200" dirty="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a:solidFill>
                            <a:schemeClr val="tx1"/>
                          </a:solidFill>
                          <a:effectLst/>
                          <a:latin typeface="Arial" panose="020B0604020202020204" pitchFamily="34" charset="0"/>
                          <a:cs typeface="Arial" panose="020B0604020202020204" pitchFamily="34" charset="0"/>
                        </a:rPr>
                        <a:t>Use only the influenza admissions values. Put the training data in date order by `week`, pull out that ordered list of values, and feed only that to the model. Nothing else is added (i.e., no other variables or outside predictors).</a:t>
                      </a:r>
                      <a:endParaRPr lang="en-US" sz="1800" b="0" kern="1200">
                        <a:solidFill>
                          <a:schemeClr val="tx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331149912"/>
                  </a:ext>
                </a:extLst>
              </a:tr>
              <a:tr h="2030757">
                <a:tc>
                  <a:txBody>
                    <a:bodyPr/>
                    <a:lstStyle/>
                    <a:p>
                      <a:pPr algn="ctr"/>
                      <a:r>
                        <a:rPr lang="en-US" sz="1800" b="1">
                          <a:latin typeface="Arial" panose="020B0604020202020204" pitchFamily="34" charset="0"/>
                          <a:cs typeface="Arial" panose="020B0604020202020204" pitchFamily="34" charset="0"/>
                        </a:rPr>
                        <a:t>Model Details</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kern="1200">
                        <a:solidFill>
                          <a:schemeClr val="tx1"/>
                        </a:solidFill>
                        <a:effectLst/>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a:solidFill>
                            <a:schemeClr val="tx1"/>
                          </a:solidFill>
                          <a:effectLst/>
                          <a:latin typeface="Arial" panose="020B0604020202020204" pitchFamily="34" charset="0"/>
                          <a:cs typeface="Arial" panose="020B0604020202020204" pitchFamily="34" charset="0"/>
                        </a:rPr>
                        <a:t>A non-seasonal ARIMA whose order is selected automatically by `</a:t>
                      </a:r>
                      <a:r>
                        <a:rPr lang="en-US" sz="1800" b="0" kern="1200" err="1">
                          <a:solidFill>
                            <a:schemeClr val="tx1"/>
                          </a:solidFill>
                          <a:effectLst/>
                          <a:latin typeface="Arial" panose="020B0604020202020204" pitchFamily="34" charset="0"/>
                          <a:cs typeface="Arial" panose="020B0604020202020204" pitchFamily="34" charset="0"/>
                        </a:rPr>
                        <a:t>auto.arima</a:t>
                      </a:r>
                      <a:r>
                        <a:rPr lang="en-US" sz="1800" b="0" kern="1200">
                          <a:solidFill>
                            <a:schemeClr val="tx1"/>
                          </a:solidFill>
                          <a:effectLst/>
                          <a:latin typeface="Arial" panose="020B0604020202020204" pitchFamily="34" charset="0"/>
                          <a:cs typeface="Arial" panose="020B0604020202020204" pitchFamily="34" charset="0"/>
                        </a:rPr>
                        <a:t>()`. The series is passed as a plain numeric vector, so `</a:t>
                      </a:r>
                      <a:r>
                        <a:rPr lang="en-US" sz="1800" b="0" kern="1200" err="1">
                          <a:solidFill>
                            <a:schemeClr val="tx1"/>
                          </a:solidFill>
                          <a:effectLst/>
                          <a:latin typeface="Arial" panose="020B0604020202020204" pitchFamily="34" charset="0"/>
                          <a:cs typeface="Arial" panose="020B0604020202020204" pitchFamily="34" charset="0"/>
                        </a:rPr>
                        <a:t>auto.arima</a:t>
                      </a:r>
                      <a:r>
                        <a:rPr lang="en-US" sz="1800" b="0" kern="1200">
                          <a:solidFill>
                            <a:schemeClr val="tx1"/>
                          </a:solidFill>
                          <a:effectLst/>
                          <a:latin typeface="Arial" panose="020B0604020202020204" pitchFamily="34" charset="0"/>
                          <a:cs typeface="Arial" panose="020B0604020202020204" pitchFamily="34" charset="0"/>
                        </a:rPr>
                        <a:t>()` performs its own `(p, d, q)` selection.</a:t>
                      </a:r>
                    </a:p>
                    <a:p>
                      <a:pPr algn="ctr"/>
                      <a:endParaRPr lang="en-US" sz="180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Arial" panose="020B0604020202020204" pitchFamily="34" charset="0"/>
                          <a:cs typeface="Arial" panose="020B0604020202020204" pitchFamily="34" charset="0"/>
                        </a:rPr>
                        <a:t>The model is a non-seasonal ARIMA, a standard forecasting method that predicts future values from the recent history of the series, without fitting a repeating yearly pattern. We hand </a:t>
                      </a:r>
                      <a:r>
                        <a:rPr lang="en-US" sz="1800" b="0" kern="1200" dirty="0" err="1">
                          <a:solidFill>
                            <a:schemeClr val="tx1"/>
                          </a:solidFill>
                          <a:effectLst/>
                          <a:latin typeface="Courier New" panose="02070309020205020404" pitchFamily="49" charset="0"/>
                          <a:cs typeface="Courier New" panose="02070309020205020404" pitchFamily="49" charset="0"/>
                        </a:rPr>
                        <a:t>auto.arima</a:t>
                      </a:r>
                      <a:r>
                        <a:rPr lang="en-US" sz="1800" b="0" kern="1200" dirty="0">
                          <a:solidFill>
                            <a:schemeClr val="tx1"/>
                          </a:solidFill>
                          <a:effectLst/>
                          <a:latin typeface="Courier New" panose="02070309020205020404" pitchFamily="49" charset="0"/>
                          <a:cs typeface="Courier New" panose="02070309020205020404" pitchFamily="49" charset="0"/>
                        </a:rPr>
                        <a:t>()</a:t>
                      </a:r>
                      <a:r>
                        <a:rPr lang="en-US" sz="1800" b="0" kern="1200" dirty="0">
                          <a:solidFill>
                            <a:schemeClr val="tx1"/>
                          </a:solidFill>
                          <a:effectLst/>
                          <a:latin typeface="Arial" panose="020B0604020202020204" pitchFamily="34" charset="0"/>
                          <a:cs typeface="Arial" panose="020B0604020202020204" pitchFamily="34" charset="0"/>
                        </a:rPr>
                        <a:t> just the plain list of counts and let it automatically choose the settings that fit the data best.</a:t>
                      </a:r>
                    </a:p>
                  </a:txBody>
                  <a:tcPr anchor="ctr"/>
                </a:tc>
                <a:extLst>
                  <a:ext uri="{0D108BD9-81ED-4DB2-BD59-A6C34878D82A}">
                    <a16:rowId xmlns:a16="http://schemas.microsoft.com/office/drawing/2014/main" val="3129561551"/>
                  </a:ext>
                </a:extLst>
              </a:tr>
            </a:tbl>
          </a:graphicData>
        </a:graphic>
      </p:graphicFrame>
    </p:spTree>
    <p:extLst>
      <p:ext uri="{BB962C8B-B14F-4D97-AF65-F5344CB8AC3E}">
        <p14:creationId xmlns:p14="http://schemas.microsoft.com/office/powerpoint/2010/main" val="33489410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92AAF-3B15-A845-420D-B99DCD75FB09}"/>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F4AD7DF5-269A-1B06-8DD8-44EE9875B63D}"/>
              </a:ext>
            </a:extLst>
          </p:cNvPr>
          <p:cNvSpPr/>
          <p:nvPr/>
        </p:nvSpPr>
        <p:spPr>
          <a:xfrm>
            <a:off x="914400" y="5803281"/>
            <a:ext cx="10363200" cy="861773"/>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410B18CE-5F3D-F1C0-7C73-117CE38B3B4D}"/>
              </a:ext>
            </a:extLst>
          </p:cNvPr>
          <p:cNvSpPr/>
          <p:nvPr/>
        </p:nvSpPr>
        <p:spPr>
          <a:xfrm>
            <a:off x="914400" y="4630825"/>
            <a:ext cx="10363200" cy="97214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C8916AEE-4F60-3EAE-CB80-A075207A60B2}"/>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5CBC187-7D3E-CC7D-BC3E-5837AB974C60}"/>
              </a:ext>
            </a:extLst>
          </p:cNvPr>
          <p:cNvSpPr txBox="1"/>
          <p:nvPr/>
        </p:nvSpPr>
        <p:spPr>
          <a:xfrm>
            <a:off x="914400" y="1280722"/>
            <a:ext cx="10363200" cy="1246495"/>
          </a:xfrm>
          <a:prstGeom prst="rect">
            <a:avLst/>
          </a:prstGeom>
          <a:noFill/>
        </p:spPr>
        <p:txBody>
          <a:bodyPr wrap="square">
            <a:spAutoFit/>
          </a:bodyPr>
          <a:lstStyle/>
          <a:p>
            <a:pPr algn="ctr"/>
            <a:r>
              <a:rPr lang="en-US" sz="2500">
                <a:latin typeface="Arial" panose="020B0604020202020204" pitchFamily="34" charset="0"/>
                <a:cs typeface="Arial" panose="020B0604020202020204" pitchFamily="34" charset="0"/>
              </a:rPr>
              <a:t>As we build this out, it's important that we include </a:t>
            </a:r>
            <a:r>
              <a:rPr lang="en-US" sz="2500" b="1">
                <a:latin typeface="Arial" panose="020B0604020202020204" pitchFamily="34" charset="0"/>
                <a:cs typeface="Arial" panose="020B0604020202020204" pitchFamily="34" charset="0"/>
              </a:rPr>
              <a:t>code checks</a:t>
            </a:r>
            <a:r>
              <a:rPr lang="en-US" sz="2500">
                <a:latin typeface="Arial" panose="020B0604020202020204" pitchFamily="34" charset="0"/>
                <a:cs typeface="Arial" panose="020B0604020202020204" pitchFamily="34" charset="0"/>
              </a:rPr>
              <a:t> along the way to ensure that things we specified in the rules.md are being interpreted by the AI as we intended. </a:t>
            </a:r>
          </a:p>
        </p:txBody>
      </p:sp>
      <p:sp>
        <p:nvSpPr>
          <p:cNvPr id="18" name="Rectangle: Rounded Corners 17">
            <a:extLst>
              <a:ext uri="{FF2B5EF4-FFF2-40B4-BE49-F238E27FC236}">
                <a16:creationId xmlns:a16="http://schemas.microsoft.com/office/drawing/2014/main" id="{2FF06871-A6E9-21FB-546C-6B2DF4BBB074}"/>
              </a:ext>
            </a:extLst>
          </p:cNvPr>
          <p:cNvSpPr/>
          <p:nvPr/>
        </p:nvSpPr>
        <p:spPr>
          <a:xfrm>
            <a:off x="914400" y="3350998"/>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5BE620B-7E99-F145-FE9E-B1762B161C36}"/>
              </a:ext>
            </a:extLst>
          </p:cNvPr>
          <p:cNvSpPr txBox="1"/>
          <p:nvPr/>
        </p:nvSpPr>
        <p:spPr>
          <a:xfrm>
            <a:off x="914400" y="2646930"/>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30939597-CB6D-854F-F79A-CA74CA5EEBB3}"/>
              </a:ext>
            </a:extLst>
          </p:cNvPr>
          <p:cNvSpPr txBox="1"/>
          <p:nvPr/>
        </p:nvSpPr>
        <p:spPr>
          <a:xfrm>
            <a:off x="1080063" y="3558779"/>
            <a:ext cx="10031874"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the training window is sorted ascending by `week` with no missing or duplicate weeks.</a:t>
            </a:r>
          </a:p>
        </p:txBody>
      </p:sp>
      <p:sp>
        <p:nvSpPr>
          <p:cNvPr id="15" name="TextBox 14">
            <a:extLst>
              <a:ext uri="{FF2B5EF4-FFF2-40B4-BE49-F238E27FC236}">
                <a16:creationId xmlns:a16="http://schemas.microsoft.com/office/drawing/2014/main" id="{60336F16-8F51-987B-B9D4-AAA2F45A6BB7}"/>
              </a:ext>
            </a:extLst>
          </p:cNvPr>
          <p:cNvSpPr txBox="1"/>
          <p:nvPr/>
        </p:nvSpPr>
        <p:spPr>
          <a:xfrm>
            <a:off x="1080063" y="4801159"/>
            <a:ext cx="10031874"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the `week` index is evenly spaced (no skipped weeks); halt if this fails.</a:t>
            </a:r>
          </a:p>
        </p:txBody>
      </p:sp>
      <p:sp>
        <p:nvSpPr>
          <p:cNvPr id="17" name="TextBox 16">
            <a:extLst>
              <a:ext uri="{FF2B5EF4-FFF2-40B4-BE49-F238E27FC236}">
                <a16:creationId xmlns:a16="http://schemas.microsoft.com/office/drawing/2014/main" id="{5A0607A9-DF41-D9FC-62D7-F0AEC7E440A1}"/>
              </a:ext>
            </a:extLst>
          </p:cNvPr>
          <p:cNvSpPr txBox="1"/>
          <p:nvPr/>
        </p:nvSpPr>
        <p:spPr>
          <a:xfrm>
            <a:off x="1519901" y="5910742"/>
            <a:ext cx="9152198"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 </a:t>
            </a:r>
            <a:r>
              <a:rPr lang="en-US" sz="2000">
                <a:latin typeface="Arial" panose="020B0604020202020204" pitchFamily="34" charset="0"/>
                <a:cs typeface="Arial" panose="020B0604020202020204" pitchFamily="34" charset="0"/>
              </a:rPr>
              <a:t>Print the `(p, d, q)` order that `</a:t>
            </a:r>
            <a:r>
              <a:rPr lang="en-US" sz="2000" err="1">
                <a:latin typeface="Arial" panose="020B0604020202020204" pitchFamily="34" charset="0"/>
                <a:cs typeface="Arial" panose="020B0604020202020204" pitchFamily="34" charset="0"/>
              </a:rPr>
              <a:t>auto.arima</a:t>
            </a:r>
            <a:r>
              <a:rPr lang="en-US" sz="2000">
                <a:latin typeface="Arial" panose="020B0604020202020204" pitchFamily="34" charset="0"/>
                <a:cs typeface="Arial" panose="020B0604020202020204" pitchFamily="34" charset="0"/>
              </a:rPr>
              <a:t>()` selected at each refit step.</a:t>
            </a:r>
          </a:p>
        </p:txBody>
      </p:sp>
    </p:spTree>
    <p:extLst>
      <p:ext uri="{BB962C8B-B14F-4D97-AF65-F5344CB8AC3E}">
        <p14:creationId xmlns:p14="http://schemas.microsoft.com/office/powerpoint/2010/main" val="163354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1" grpId="0"/>
      <p:bldP spid="14" grpId="0"/>
      <p:bldP spid="15" grpId="0"/>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05F0-988F-C956-ACFE-36BB49875E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FB8ED1-1D76-7423-C9F2-4204ED0B5836}"/>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88C56837-3DF7-7263-244D-F8C899ABED78}"/>
              </a:ext>
            </a:extLst>
          </p:cNvPr>
          <p:cNvSpPr/>
          <p:nvPr/>
        </p:nvSpPr>
        <p:spPr>
          <a:xfrm>
            <a:off x="1061194" y="255547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E10DC7DC-611E-7532-1E0D-A27908D84F04}"/>
              </a:ext>
            </a:extLst>
          </p:cNvPr>
          <p:cNvSpPr/>
          <p:nvPr/>
        </p:nvSpPr>
        <p:spPr>
          <a:xfrm>
            <a:off x="1061194" y="255547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A6FE9C12-60D0-3972-6888-52E77B720A1E}"/>
              </a:ext>
            </a:extLst>
          </p:cNvPr>
          <p:cNvSpPr/>
          <p:nvPr/>
        </p:nvSpPr>
        <p:spPr>
          <a:xfrm>
            <a:off x="1858754" y="2582471"/>
            <a:ext cx="9144000" cy="607709"/>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500" dirty="0">
                <a:latin typeface="Arial" panose="020B0604020202020204" pitchFamily="34" charset="0"/>
                <a:ea typeface="Calibri" pitchFamily="34" charset="-122"/>
                <a:cs typeface="Arial" panose="020B0604020202020204" pitchFamily="34" charset="0"/>
              </a:rPr>
              <a:t> the </a:t>
            </a:r>
            <a:r>
              <a:rPr lang="en-US" sz="2500" dirty="0">
                <a:latin typeface="Courier New" panose="02070309020205020404" pitchFamily="49" charset="0"/>
                <a:ea typeface="Calibri" pitchFamily="34" charset="-122"/>
                <a:cs typeface="Courier New" panose="02070309020205020404" pitchFamily="49" charset="0"/>
              </a:rPr>
              <a:t>## 4. </a:t>
            </a:r>
            <a:r>
              <a:rPr lang="en-US" sz="2500" dirty="0">
                <a:latin typeface="Courier New" panose="02070309020205020404" pitchFamily="49" charset="0"/>
                <a:cs typeface="Courier New" panose="02070309020205020404" pitchFamily="49" charset="0"/>
              </a:rPr>
              <a:t>Model Specification </a:t>
            </a:r>
            <a:r>
              <a:rPr lang="en-US" sz="25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500" dirty="0">
                <a:latin typeface="Arial" panose="020B0604020202020204" pitchFamily="34" charset="0"/>
                <a:ea typeface="Calibri" pitchFamily="34" charset="-122"/>
                <a:cs typeface="Arial" panose="020B0604020202020204" pitchFamily="34" charset="0"/>
              </a:rPr>
              <a:t>in rules.md.</a:t>
            </a:r>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ADE9C393-8D10-FE19-4B56-322885181485}"/>
              </a:ext>
            </a:extLst>
          </p:cNvPr>
          <p:cNvSpPr/>
          <p:nvPr/>
        </p:nvSpPr>
        <p:spPr>
          <a:xfrm>
            <a:off x="1061194" y="364356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7F9BD857-BA84-C11D-F32A-07051A647BB5}"/>
              </a:ext>
            </a:extLst>
          </p:cNvPr>
          <p:cNvSpPr/>
          <p:nvPr/>
        </p:nvSpPr>
        <p:spPr>
          <a:xfrm>
            <a:off x="1061194" y="364356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92938122-D479-0A36-B3BE-8B4086758EEE}"/>
              </a:ext>
            </a:extLst>
          </p:cNvPr>
          <p:cNvSpPr/>
          <p:nvPr/>
        </p:nvSpPr>
        <p:spPr>
          <a:xfrm>
            <a:off x="1858754" y="3346826"/>
            <a:ext cx="9144000" cy="1272150"/>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Write detailed rules</a:t>
            </a:r>
            <a:r>
              <a:rPr lang="en-US" sz="2500" dirty="0">
                <a:latin typeface="Arial" panose="020B0604020202020204" pitchFamily="34" charset="0"/>
                <a:ea typeface="Calibri" pitchFamily="34" charset="-122"/>
                <a:cs typeface="Arial" panose="020B0604020202020204" pitchFamily="34" charset="0"/>
              </a:rPr>
              <a:t> to fit the model using the expanding window approach and put the checks into place (we will do this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latin typeface="Arial" panose="020B0604020202020204" pitchFamily="34" charset="0"/>
                <a:ea typeface="Calibri" pitchFamily="34" charset="-122"/>
                <a:cs typeface="Arial" panose="020B0604020202020204" pitchFamily="34" charset="0"/>
              </a:rPr>
              <a:t>). </a:t>
            </a:r>
            <a:endParaRPr lang="en-US" sz="25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4A33B472-B40C-9373-BC7B-750540BA9722}"/>
              </a:ext>
            </a:extLst>
          </p:cNvPr>
          <p:cNvSpPr/>
          <p:nvPr/>
        </p:nvSpPr>
        <p:spPr>
          <a:xfrm>
            <a:off x="1061194" y="4717336"/>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71D583B3-C336-DA8B-88C5-894413F9F978}"/>
              </a:ext>
            </a:extLst>
          </p:cNvPr>
          <p:cNvSpPr/>
          <p:nvPr/>
        </p:nvSpPr>
        <p:spPr>
          <a:xfrm>
            <a:off x="1061194" y="4717336"/>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E1F9A2D6-A353-8075-592E-702652DE952D}"/>
              </a:ext>
            </a:extLst>
          </p:cNvPr>
          <p:cNvSpPr/>
          <p:nvPr/>
        </p:nvSpPr>
        <p:spPr>
          <a:xfrm>
            <a:off x="1061194" y="575570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5C41C54A-EC12-B568-573D-DA1C7E43E3F6}"/>
              </a:ext>
            </a:extLst>
          </p:cNvPr>
          <p:cNvSpPr/>
          <p:nvPr/>
        </p:nvSpPr>
        <p:spPr>
          <a:xfrm>
            <a:off x="1061194" y="575570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B0F48C97-4061-DA24-C161-4A21C8A287FE}"/>
              </a:ext>
            </a:extLst>
          </p:cNvPr>
          <p:cNvSpPr/>
          <p:nvPr/>
        </p:nvSpPr>
        <p:spPr>
          <a:xfrm>
            <a:off x="1858754" y="5657535"/>
            <a:ext cx="9914146" cy="836423"/>
          </a:xfrm>
          <a:prstGeom prst="rect">
            <a:avLst/>
          </a:prstGeom>
          <a:noFill/>
          <a:ln/>
        </p:spPr>
        <p:txBody>
          <a:bodyPr wrap="square" lIns="0" tIns="0" rIns="0" bIns="0" rtlCol="0" anchor="ctr"/>
          <a:lstStyle/>
          <a:p>
            <a:pPr lvl="0" defTabSz="1219170">
              <a:defRPr/>
            </a:pP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5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a:t>
            </a:r>
            <a:r>
              <a:rPr kumimoji="0" lang="en-US" sz="2500" b="0" i="0"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and Copilot</a:t>
            </a:r>
            <a:r>
              <a:rPr lang="en-US" sz="2500" dirty="0">
                <a:latin typeface="Arial" panose="020B0604020202020204" pitchFamily="34" charset="0"/>
                <a:ea typeface="Calibri" pitchFamily="34" charset="-122"/>
                <a:cs typeface="Arial" panose="020B0604020202020204" pitchFamily="34" charset="0"/>
              </a:rPr>
              <a:t> (or your preferred AI)</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to generate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scripts</a:t>
            </a:r>
            <a:r>
              <a:rPr lang="en-US" sz="2500" b="1" dirty="0">
                <a:solidFill>
                  <a:schemeClr val="accent2"/>
                </a:solidFill>
                <a:latin typeface="Arial" panose="020B0604020202020204" pitchFamily="34" charset="0"/>
                <a:ea typeface="Calibri" pitchFamily="34" charset="-122"/>
                <a:cs typeface="Arial" panose="020B0604020202020204" pitchFamily="34" charset="0"/>
              </a:rPr>
              <a:t>/0</a:t>
            </a:r>
            <a:r>
              <a:rPr lang="en-US" sz="2500" b="1" dirty="0">
                <a:solidFill>
                  <a:schemeClr val="accent2"/>
                </a:solidFill>
                <a:latin typeface="Arial" panose="020B0604020202020204" pitchFamily="34" charset="0"/>
                <a:cs typeface="Arial" panose="020B0604020202020204" pitchFamily="34" charset="0"/>
              </a:rPr>
              <a:t>3_forecast.R</a:t>
            </a:r>
            <a:r>
              <a:rPr lang="en-US" sz="2500" b="1"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Run the script and check the output.</a:t>
            </a:r>
            <a:endParaRPr kumimoji="0" lang="en-US" sz="25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CECB80F1-E93A-8BA8-1B3F-871CBEF37678}"/>
              </a:ext>
            </a:extLst>
          </p:cNvPr>
          <p:cNvSpPr/>
          <p:nvPr/>
        </p:nvSpPr>
        <p:spPr>
          <a:xfrm>
            <a:off x="800100" y="117455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a:solidFill>
                  <a:srgbClr val="334155"/>
                </a:solidFill>
                <a:latin typeface="Arial" panose="020B0604020202020204" pitchFamily="34" charset="0"/>
                <a:ea typeface="Calibri" pitchFamily="34" charset="-122"/>
                <a:cs typeface="Arial" panose="020B0604020202020204" pitchFamily="34" charset="0"/>
              </a:rPr>
              <a:t>together</a:t>
            </a:r>
            <a:r>
              <a:rPr lang="en-US" sz="2500">
                <a:solidFill>
                  <a:srgbClr val="334155"/>
                </a:solidFill>
                <a:latin typeface="Arial" panose="020B0604020202020204" pitchFamily="34" charset="0"/>
                <a:ea typeface="Calibri" pitchFamily="34" charset="-122"/>
                <a:cs typeface="Arial" panose="020B0604020202020204" pitchFamily="34" charset="0"/>
              </a:rPr>
              <a:t> to add the next section to our </a:t>
            </a:r>
            <a:r>
              <a:rPr lang="en-US" sz="2500" b="1">
                <a:solidFill>
                  <a:srgbClr val="334155"/>
                </a:solidFill>
                <a:latin typeface="Arial" panose="020B0604020202020204" pitchFamily="34" charset="0"/>
                <a:ea typeface="Calibri" pitchFamily="34" charset="-122"/>
                <a:cs typeface="Arial" panose="020B0604020202020204" pitchFamily="34" charset="0"/>
              </a:rPr>
              <a:t>rules.md</a:t>
            </a:r>
            <a:r>
              <a:rPr lang="en-US" sz="2500">
                <a:solidFill>
                  <a:srgbClr val="334155"/>
                </a:solidFill>
                <a:latin typeface="Arial" panose="020B0604020202020204" pitchFamily="34" charset="0"/>
                <a:ea typeface="Calibri" pitchFamily="34" charset="-122"/>
                <a:cs typeface="Arial" panose="020B0604020202020204" pitchFamily="34" charset="0"/>
              </a:rPr>
              <a:t> document. </a:t>
            </a:r>
            <a:endParaRPr lang="en-US" sz="250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77588462-654B-7B88-F421-8246A9A018F9}"/>
              </a:ext>
            </a:extLst>
          </p:cNvPr>
          <p:cNvSpPr/>
          <p:nvPr/>
        </p:nvSpPr>
        <p:spPr>
          <a:xfrm>
            <a:off x="1858754" y="4824016"/>
            <a:ext cx="9509760" cy="426720"/>
          </a:xfrm>
          <a:prstGeom prst="rect">
            <a:avLst/>
          </a:prstGeom>
          <a:noFill/>
          <a:ln/>
        </p:spPr>
        <p:txBody>
          <a:bodyPr wrap="square" lIns="0" tIns="0" rIns="0" bIns="0" rtlCol="0" anchor="ctr"/>
          <a:lstStyle/>
          <a:p>
            <a:pPr defTabSz="1219170"/>
            <a:r>
              <a:rPr lang="en-US" sz="2500" dirty="0">
                <a:latin typeface="Arial" panose="020B0604020202020204" pitchFamily="34" charset="0"/>
                <a:ea typeface="Calibri" pitchFamily="34" charset="-122"/>
                <a:cs typeface="Arial" panose="020B0604020202020204" pitchFamily="34" charset="0"/>
              </a:rPr>
              <a:t>Regenerate </a:t>
            </a:r>
            <a:r>
              <a:rPr lang="en-US" sz="25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500" dirty="0">
                <a:latin typeface="Arial" panose="020B0604020202020204" pitchFamily="34" charset="0"/>
                <a:ea typeface="Calibri" pitchFamily="34" charset="-122"/>
                <a:cs typeface="Arial" panose="020B0604020202020204" pitchFamily="34" charset="0"/>
              </a:rPr>
              <a:t> from your updated rules document</a:t>
            </a:r>
            <a:endParaRPr lang="en-US" sz="25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2ED3FCFC-79A2-DA57-7738-9EA32C099D14}"/>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394004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6AD83-18B7-FCA3-2A2A-0E0B794DE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45201-6CB0-63DB-D67E-586EB9B1A928}"/>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3: Forecasting </a:t>
            </a:r>
          </a:p>
        </p:txBody>
      </p:sp>
    </p:spTree>
    <p:extLst>
      <p:ext uri="{BB962C8B-B14F-4D97-AF65-F5344CB8AC3E}">
        <p14:creationId xmlns:p14="http://schemas.microsoft.com/office/powerpoint/2010/main" val="12252171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8BF21-A8B3-0F6C-A745-5B8E5A1FCE7E}"/>
              </a:ext>
            </a:extLst>
          </p:cNvPr>
          <p:cNvSpPr>
            <a:spLocks noGrp="1"/>
          </p:cNvSpPr>
          <p:nvPr>
            <p:ph type="title"/>
          </p:nvPr>
        </p:nvSpPr>
        <p:spPr>
          <a:xfrm>
            <a:off x="838200" y="109217"/>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What does our data look like? </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6414431-37AE-A694-1140-05D760330A50}"/>
                  </a:ext>
                </a:extLst>
              </p:cNvPr>
              <p:cNvGraphicFramePr>
                <a:graphicFrameLocks noGrp="1"/>
              </p:cNvGraphicFramePr>
              <p:nvPr>
                <p:extLst>
                  <p:ext uri="{D42A27DB-BD31-4B8C-83A1-F6EECF244321}">
                    <p14:modId xmlns:p14="http://schemas.microsoft.com/office/powerpoint/2010/main" val="1505581293"/>
                  </p:ext>
                </p:extLst>
              </p:nvPr>
            </p:nvGraphicFramePr>
            <p:xfrm>
              <a:off x="2032000" y="1491225"/>
              <a:ext cx="8127999" cy="33070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607244339"/>
                        </a:ext>
                      </a:extLst>
                    </a:gridCol>
                    <a:gridCol w="2709333">
                      <a:extLst>
                        <a:ext uri="{9D8B030D-6E8A-4147-A177-3AD203B41FA5}">
                          <a16:colId xmlns:a16="http://schemas.microsoft.com/office/drawing/2014/main" val="3045878484"/>
                        </a:ext>
                      </a:extLst>
                    </a:gridCol>
                    <a:gridCol w="2709333">
                      <a:extLst>
                        <a:ext uri="{9D8B030D-6E8A-4147-A177-3AD203B41FA5}">
                          <a16:colId xmlns:a16="http://schemas.microsoft.com/office/drawing/2014/main" val="1289213098"/>
                        </a:ext>
                      </a:extLst>
                    </a:gridCol>
                  </a:tblGrid>
                  <a:tr h="370840">
                    <a:tc>
                      <a:txBody>
                        <a:bodyPr/>
                        <a:lstStyle/>
                        <a:p>
                          <a:pPr algn="ctr"/>
                          <a:r>
                            <a:rPr lang="en-US" sz="2500" b="1">
                              <a:latin typeface="Arial" panose="020B0604020202020204" pitchFamily="34" charset="0"/>
                              <a:cs typeface="Arial" panose="020B0604020202020204" pitchFamily="34" charset="0"/>
                            </a:rPr>
                            <a:t>week</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location</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value</a:t>
                          </a:r>
                        </a:p>
                      </a:txBody>
                      <a:tcPr>
                        <a:solidFill>
                          <a:srgbClr val="FFF4EC"/>
                        </a:solidFill>
                      </a:tcPr>
                    </a:tc>
                    <a:extLst>
                      <a:ext uri="{0D108BD9-81ED-4DB2-BD59-A6C34878D82A}">
                        <a16:rowId xmlns:a16="http://schemas.microsoft.com/office/drawing/2014/main" val="73466922"/>
                      </a:ext>
                    </a:extLst>
                  </a:tr>
                  <a:tr h="370840">
                    <a:tc>
                      <a:txBody>
                        <a:bodyPr/>
                        <a:lstStyle/>
                        <a:p>
                          <a:pPr algn="ctr"/>
                          <a:r>
                            <a:rPr lang="en-US" sz="2500">
                              <a:latin typeface="Arial" panose="020B0604020202020204" pitchFamily="34" charset="0"/>
                              <a:cs typeface="Arial" panose="020B0604020202020204" pitchFamily="34" charset="0"/>
                            </a:rPr>
                            <a:t>2020-08-08</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612803643"/>
                      </a:ext>
                    </a:extLst>
                  </a:tr>
                  <a:tr h="370840">
                    <a:tc>
                      <a:txBody>
                        <a:bodyPr/>
                        <a:lstStyle/>
                        <a:p>
                          <a:pPr algn="ctr"/>
                          <a:r>
                            <a:rPr lang="en-US" sz="2500">
                              <a:latin typeface="Arial" panose="020B0604020202020204" pitchFamily="34" charset="0"/>
                              <a:cs typeface="Arial" panose="020B0604020202020204" pitchFamily="34" charset="0"/>
                            </a:rPr>
                            <a:t>2020-08-15</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526882090"/>
                      </a:ext>
                    </a:extLst>
                  </a:tr>
                  <a:tr h="370840">
                    <a:tc gridSpan="3">
                      <a:txBody>
                        <a:bodyPr/>
                        <a:lstStyle/>
                        <a:p>
                          <a:pPr algn="ctr"/>
                          <a14:m>
                            <m:oMathPara xmlns:m="http://schemas.openxmlformats.org/officeDocument/2006/math">
                              <m:oMathParaPr>
                                <m:jc m:val="centerGroup"/>
                              </m:oMathParaPr>
                              <m:oMath xmlns:m="http://schemas.openxmlformats.org/officeDocument/2006/math">
                                <m:r>
                                  <a:rPr lang="en-US" sz="2500" i="1" smtClean="0">
                                    <a:latin typeface="Cambria Math" panose="02040503050406030204" pitchFamily="18" charset="0"/>
                                    <a:ea typeface="Cambria Math" panose="02040503050406030204" pitchFamily="18" charset="0"/>
                                  </a:rPr>
                                  <m:t>⋯</m:t>
                                </m:r>
                              </m:oMath>
                            </m:oMathPara>
                          </a14:m>
                          <a:endParaRPr lang="en-US" sz="25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83757802"/>
                      </a:ext>
                    </a:extLst>
                  </a:tr>
                  <a:tr h="370840">
                    <a:tc>
                      <a:txBody>
                        <a:bodyPr/>
                        <a:lstStyle/>
                        <a:p>
                          <a:pPr algn="ctr"/>
                          <a:r>
                            <a:rPr lang="en-US" sz="2500">
                              <a:latin typeface="Arial" panose="020B0604020202020204" pitchFamily="34" charset="0"/>
                              <a:cs typeface="Arial" panose="020B0604020202020204" pitchFamily="34" charset="0"/>
                            </a:rPr>
                            <a:t>2026-06-06</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1011</a:t>
                          </a:r>
                        </a:p>
                      </a:txBody>
                      <a:tcPr/>
                    </a:tc>
                    <a:extLst>
                      <a:ext uri="{0D108BD9-81ED-4DB2-BD59-A6C34878D82A}">
                        <a16:rowId xmlns:a16="http://schemas.microsoft.com/office/drawing/2014/main" val="3426328772"/>
                      </a:ext>
                    </a:extLst>
                  </a:tr>
                  <a:tr h="370840">
                    <a:tc>
                      <a:txBody>
                        <a:bodyPr/>
                        <a:lstStyle/>
                        <a:p>
                          <a:pPr algn="ctr"/>
                          <a:r>
                            <a:rPr lang="en-US" sz="2500">
                              <a:latin typeface="Arial" panose="020B0604020202020204" pitchFamily="34" charset="0"/>
                              <a:cs typeface="Arial" panose="020B0604020202020204" pitchFamily="34" charset="0"/>
                            </a:rPr>
                            <a:t>2026-06-13</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832</a:t>
                          </a:r>
                        </a:p>
                      </a:txBody>
                      <a:tcPr/>
                    </a:tc>
                    <a:extLst>
                      <a:ext uri="{0D108BD9-81ED-4DB2-BD59-A6C34878D82A}">
                        <a16:rowId xmlns:a16="http://schemas.microsoft.com/office/drawing/2014/main" val="2913012802"/>
                      </a:ext>
                    </a:extLst>
                  </a:tr>
                  <a:tr h="370840">
                    <a:tc>
                      <a:txBody>
                        <a:bodyPr/>
                        <a:lstStyle/>
                        <a:p>
                          <a:pPr algn="ctr"/>
                          <a:r>
                            <a:rPr lang="en-US" sz="2500">
                              <a:latin typeface="Arial" panose="020B0604020202020204" pitchFamily="34" charset="0"/>
                              <a:cs typeface="Arial" panose="020B0604020202020204" pitchFamily="34" charset="0"/>
                            </a:rPr>
                            <a:t>2026-06-20</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703</a:t>
                          </a:r>
                        </a:p>
                      </a:txBody>
                      <a:tcPr/>
                    </a:tc>
                    <a:extLst>
                      <a:ext uri="{0D108BD9-81ED-4DB2-BD59-A6C34878D82A}">
                        <a16:rowId xmlns:a16="http://schemas.microsoft.com/office/drawing/2014/main" val="488794940"/>
                      </a:ext>
                    </a:extLst>
                  </a:tr>
                </a:tbl>
              </a:graphicData>
            </a:graphic>
          </p:graphicFrame>
        </mc:Choice>
        <mc:Fallback xmlns="">
          <p:graphicFrame>
            <p:nvGraphicFramePr>
              <p:cNvPr id="6" name="Table 5">
                <a:extLst>
                  <a:ext uri="{FF2B5EF4-FFF2-40B4-BE49-F238E27FC236}">
                    <a16:creationId xmlns:a16="http://schemas.microsoft.com/office/drawing/2014/main" id="{E6414431-37AE-A694-1140-05D760330A50}"/>
                  </a:ext>
                </a:extLst>
              </p:cNvPr>
              <p:cNvGraphicFramePr>
                <a:graphicFrameLocks noGrp="1"/>
              </p:cNvGraphicFramePr>
              <p:nvPr>
                <p:extLst>
                  <p:ext uri="{D42A27DB-BD31-4B8C-83A1-F6EECF244321}">
                    <p14:modId xmlns:p14="http://schemas.microsoft.com/office/powerpoint/2010/main" val="1505581293"/>
                  </p:ext>
                </p:extLst>
              </p:nvPr>
            </p:nvGraphicFramePr>
            <p:xfrm>
              <a:off x="2032000" y="1491225"/>
              <a:ext cx="8127999" cy="33070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607244339"/>
                        </a:ext>
                      </a:extLst>
                    </a:gridCol>
                    <a:gridCol w="2709333">
                      <a:extLst>
                        <a:ext uri="{9D8B030D-6E8A-4147-A177-3AD203B41FA5}">
                          <a16:colId xmlns:a16="http://schemas.microsoft.com/office/drawing/2014/main" val="3045878484"/>
                        </a:ext>
                      </a:extLst>
                    </a:gridCol>
                    <a:gridCol w="2709333">
                      <a:extLst>
                        <a:ext uri="{9D8B030D-6E8A-4147-A177-3AD203B41FA5}">
                          <a16:colId xmlns:a16="http://schemas.microsoft.com/office/drawing/2014/main" val="1289213098"/>
                        </a:ext>
                      </a:extLst>
                    </a:gridCol>
                  </a:tblGrid>
                  <a:tr h="472440">
                    <a:tc>
                      <a:txBody>
                        <a:bodyPr/>
                        <a:lstStyle/>
                        <a:p>
                          <a:pPr algn="ctr"/>
                          <a:r>
                            <a:rPr lang="en-US" sz="2500" b="1">
                              <a:latin typeface="Arial" panose="020B0604020202020204" pitchFamily="34" charset="0"/>
                              <a:cs typeface="Arial" panose="020B0604020202020204" pitchFamily="34" charset="0"/>
                            </a:rPr>
                            <a:t>week</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location</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value</a:t>
                          </a:r>
                        </a:p>
                      </a:txBody>
                      <a:tcPr>
                        <a:solidFill>
                          <a:srgbClr val="FFF4EC"/>
                        </a:solidFill>
                      </a:tcPr>
                    </a:tc>
                    <a:extLst>
                      <a:ext uri="{0D108BD9-81ED-4DB2-BD59-A6C34878D82A}">
                        <a16:rowId xmlns:a16="http://schemas.microsoft.com/office/drawing/2014/main" val="73466922"/>
                      </a:ext>
                    </a:extLst>
                  </a:tr>
                  <a:tr h="472440">
                    <a:tc>
                      <a:txBody>
                        <a:bodyPr/>
                        <a:lstStyle/>
                        <a:p>
                          <a:pPr algn="ctr"/>
                          <a:r>
                            <a:rPr lang="en-US" sz="2500">
                              <a:latin typeface="Arial" panose="020B0604020202020204" pitchFamily="34" charset="0"/>
                              <a:cs typeface="Arial" panose="020B0604020202020204" pitchFamily="34" charset="0"/>
                            </a:rPr>
                            <a:t>2020-08-08</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612803643"/>
                      </a:ext>
                    </a:extLst>
                  </a:tr>
                  <a:tr h="472440">
                    <a:tc>
                      <a:txBody>
                        <a:bodyPr/>
                        <a:lstStyle/>
                        <a:p>
                          <a:pPr algn="ctr"/>
                          <a:r>
                            <a:rPr lang="en-US" sz="2500">
                              <a:latin typeface="Arial" panose="020B0604020202020204" pitchFamily="34" charset="0"/>
                              <a:cs typeface="Arial" panose="020B0604020202020204" pitchFamily="34" charset="0"/>
                            </a:rPr>
                            <a:t>2020-08-15</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526882090"/>
                      </a:ext>
                    </a:extLst>
                  </a:tr>
                  <a:tr h="472440">
                    <a:tc gridSpan="3">
                      <a:txBody>
                        <a:bodyPr/>
                        <a:lstStyle/>
                        <a:p>
                          <a:endParaRPr lang="en-US"/>
                        </a:p>
                      </a:txBody>
                      <a:tcPr>
                        <a:blipFill>
                          <a:blip r:embed="rId3"/>
                          <a:stretch>
                            <a:fillRect l="-75" t="-307692" r="-150" b="-329487"/>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83757802"/>
                      </a:ext>
                    </a:extLst>
                  </a:tr>
                  <a:tr h="472440">
                    <a:tc>
                      <a:txBody>
                        <a:bodyPr/>
                        <a:lstStyle/>
                        <a:p>
                          <a:pPr algn="ctr"/>
                          <a:r>
                            <a:rPr lang="en-US" sz="2500">
                              <a:latin typeface="Arial" panose="020B0604020202020204" pitchFamily="34" charset="0"/>
                              <a:cs typeface="Arial" panose="020B0604020202020204" pitchFamily="34" charset="0"/>
                            </a:rPr>
                            <a:t>2026-06-06</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1011</a:t>
                          </a:r>
                        </a:p>
                      </a:txBody>
                      <a:tcPr/>
                    </a:tc>
                    <a:extLst>
                      <a:ext uri="{0D108BD9-81ED-4DB2-BD59-A6C34878D82A}">
                        <a16:rowId xmlns:a16="http://schemas.microsoft.com/office/drawing/2014/main" val="3426328772"/>
                      </a:ext>
                    </a:extLst>
                  </a:tr>
                  <a:tr h="472440">
                    <a:tc>
                      <a:txBody>
                        <a:bodyPr/>
                        <a:lstStyle/>
                        <a:p>
                          <a:pPr algn="ctr"/>
                          <a:r>
                            <a:rPr lang="en-US" sz="2500">
                              <a:latin typeface="Arial" panose="020B0604020202020204" pitchFamily="34" charset="0"/>
                              <a:cs typeface="Arial" panose="020B0604020202020204" pitchFamily="34" charset="0"/>
                            </a:rPr>
                            <a:t>2026-06-13</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832</a:t>
                          </a:r>
                        </a:p>
                      </a:txBody>
                      <a:tcPr/>
                    </a:tc>
                    <a:extLst>
                      <a:ext uri="{0D108BD9-81ED-4DB2-BD59-A6C34878D82A}">
                        <a16:rowId xmlns:a16="http://schemas.microsoft.com/office/drawing/2014/main" val="2913012802"/>
                      </a:ext>
                    </a:extLst>
                  </a:tr>
                  <a:tr h="472440">
                    <a:tc>
                      <a:txBody>
                        <a:bodyPr/>
                        <a:lstStyle/>
                        <a:p>
                          <a:pPr algn="ctr"/>
                          <a:r>
                            <a:rPr lang="en-US" sz="2500">
                              <a:latin typeface="Arial" panose="020B0604020202020204" pitchFamily="34" charset="0"/>
                              <a:cs typeface="Arial" panose="020B0604020202020204" pitchFamily="34" charset="0"/>
                            </a:rPr>
                            <a:t>2026-06-20</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703</a:t>
                          </a:r>
                        </a:p>
                      </a:txBody>
                      <a:tcPr/>
                    </a:tc>
                    <a:extLst>
                      <a:ext uri="{0D108BD9-81ED-4DB2-BD59-A6C34878D82A}">
                        <a16:rowId xmlns:a16="http://schemas.microsoft.com/office/drawing/2014/main" val="488794940"/>
                      </a:ext>
                    </a:extLst>
                  </a:tr>
                </a:tbl>
              </a:graphicData>
            </a:graphic>
          </p:graphicFrame>
        </mc:Fallback>
      </mc:AlternateContent>
      <p:sp>
        <p:nvSpPr>
          <p:cNvPr id="8" name="Rectangle: Rounded Corners 7">
            <a:extLst>
              <a:ext uri="{FF2B5EF4-FFF2-40B4-BE49-F238E27FC236}">
                <a16:creationId xmlns:a16="http://schemas.microsoft.com/office/drawing/2014/main" id="{8018C123-C709-3B17-AE75-002224C7D765}"/>
              </a:ext>
            </a:extLst>
          </p:cNvPr>
          <p:cNvSpPr/>
          <p:nvPr/>
        </p:nvSpPr>
        <p:spPr>
          <a:xfrm>
            <a:off x="1596101" y="5160656"/>
            <a:ext cx="9152198" cy="120942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3F486CD-C32F-0FF7-9EA2-23B9A10DBA8C}"/>
              </a:ext>
            </a:extLst>
          </p:cNvPr>
          <p:cNvSpPr txBox="1"/>
          <p:nvPr/>
        </p:nvSpPr>
        <p:spPr>
          <a:xfrm>
            <a:off x="1596101" y="5326281"/>
            <a:ext cx="9152198" cy="861774"/>
          </a:xfrm>
          <a:prstGeom prst="rect">
            <a:avLst/>
          </a:prstGeom>
          <a:noFill/>
        </p:spPr>
        <p:txBody>
          <a:bodyPr wrap="square">
            <a:spAutoFit/>
          </a:bodyPr>
          <a:lstStyle/>
          <a:p>
            <a:pPr algn="ctr"/>
            <a:r>
              <a:rPr lang="en-US" sz="2500" dirty="0">
                <a:latin typeface="Arial" panose="020B0604020202020204" pitchFamily="34" charset="0"/>
                <a:cs typeface="Arial" panose="020B0604020202020204" pitchFamily="34" charset="0"/>
              </a:rPr>
              <a:t>What are our </a:t>
            </a:r>
            <a:r>
              <a:rPr lang="en-US" sz="2500" b="1" dirty="0">
                <a:solidFill>
                  <a:schemeClr val="accent2"/>
                </a:solidFill>
                <a:latin typeface="Arial" panose="020B0604020202020204" pitchFamily="34" charset="0"/>
                <a:cs typeface="Arial" panose="020B0604020202020204" pitchFamily="34" charset="0"/>
              </a:rPr>
              <a:t>reference dates </a:t>
            </a:r>
            <a:r>
              <a:rPr lang="en-US" sz="2500" dirty="0">
                <a:latin typeface="Arial" panose="020B0604020202020204" pitchFamily="34" charset="0"/>
                <a:cs typeface="Arial" panose="020B0604020202020204" pitchFamily="34" charset="0"/>
              </a:rPr>
              <a:t>(i.e., cut off for input data) and what are our </a:t>
            </a:r>
            <a:r>
              <a:rPr lang="en-US" sz="2500" b="1" dirty="0">
                <a:solidFill>
                  <a:schemeClr val="accent2"/>
                </a:solidFill>
                <a:latin typeface="Arial" panose="020B0604020202020204" pitchFamily="34" charset="0"/>
                <a:cs typeface="Arial" panose="020B0604020202020204" pitchFamily="34" charset="0"/>
              </a:rPr>
              <a:t>target end dates </a:t>
            </a:r>
            <a:r>
              <a:rPr lang="en-US" sz="2500" dirty="0">
                <a:latin typeface="Arial" panose="020B0604020202020204" pitchFamily="34" charset="0"/>
                <a:cs typeface="Arial" panose="020B0604020202020204" pitchFamily="34" charset="0"/>
              </a:rPr>
              <a:t>(i.e., forecast dates)? </a:t>
            </a:r>
          </a:p>
        </p:txBody>
      </p:sp>
    </p:spTree>
    <p:extLst>
      <p:ext uri="{BB962C8B-B14F-4D97-AF65-F5344CB8AC3E}">
        <p14:creationId xmlns:p14="http://schemas.microsoft.com/office/powerpoint/2010/main" val="332601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088E7-6D75-D717-A835-0953CF4F33A1}"/>
              </a:ext>
            </a:extLst>
          </p:cNvPr>
          <p:cNvSpPr>
            <a:spLocks noGrp="1"/>
          </p:cNvSpPr>
          <p:nvPr>
            <p:ph type="title"/>
          </p:nvPr>
        </p:nvSpPr>
        <p:spPr>
          <a:xfrm>
            <a:off x="838200" y="20355"/>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Reference Dates </a:t>
            </a:r>
          </a:p>
        </p:txBody>
      </p:sp>
      <p:sp>
        <p:nvSpPr>
          <p:cNvPr id="3" name="Content Placeholder 2">
            <a:extLst>
              <a:ext uri="{FF2B5EF4-FFF2-40B4-BE49-F238E27FC236}">
                <a16:creationId xmlns:a16="http://schemas.microsoft.com/office/drawing/2014/main" id="{33AE16C8-1D63-588F-395E-E5E6DFCAC66D}"/>
              </a:ext>
            </a:extLst>
          </p:cNvPr>
          <p:cNvSpPr>
            <a:spLocks noGrp="1"/>
          </p:cNvSpPr>
          <p:nvPr>
            <p:ph idx="1"/>
          </p:nvPr>
        </p:nvSpPr>
        <p:spPr>
          <a:xfrm>
            <a:off x="838200" y="1409076"/>
            <a:ext cx="10515600" cy="5231565"/>
          </a:xfrm>
        </p:spPr>
        <p:txBody>
          <a:bodyPr>
            <a:noAutofit/>
          </a:bodyPr>
          <a:lstStyle/>
          <a:p>
            <a:pPr marL="0" indent="0" algn="ctr">
              <a:spcAft>
                <a:spcPts val="1800"/>
              </a:spcAft>
              <a:buNone/>
            </a:pPr>
            <a:r>
              <a:rPr lang="en-US">
                <a:latin typeface="Arial" panose="020B0604020202020204" pitchFamily="34" charset="0"/>
                <a:cs typeface="Arial" panose="020B0604020202020204" pitchFamily="34" charset="0"/>
              </a:rPr>
              <a:t>Reference dates are the </a:t>
            </a:r>
            <a:r>
              <a:rPr lang="en-US" b="1">
                <a:solidFill>
                  <a:schemeClr val="accent2"/>
                </a:solidFill>
                <a:latin typeface="Arial" panose="020B0604020202020204" pitchFamily="34" charset="0"/>
                <a:cs typeface="Arial" panose="020B0604020202020204" pitchFamily="34" charset="0"/>
              </a:rPr>
              <a:t>last week of observed data</a:t>
            </a:r>
            <a:r>
              <a:rPr lang="en-US">
                <a:latin typeface="Arial" panose="020B0604020202020204" pitchFamily="34" charset="0"/>
                <a:cs typeface="Arial" panose="020B0604020202020204" pitchFamily="34" charset="0"/>
              </a:rPr>
              <a:t> we include in our training period (i.e., model input). A week is defined as Sunday to Saturday, with the Saturday used for the label.  </a:t>
            </a:r>
          </a:p>
          <a:p>
            <a:pPr marL="0" indent="0" algn="ctr">
              <a:spcAft>
                <a:spcPts val="2400"/>
              </a:spcAft>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lgn="ctr">
              <a:spcAft>
                <a:spcPts val="1200"/>
              </a:spcAft>
              <a:buNone/>
            </a:pPr>
            <a:r>
              <a:rPr lang="en-US">
                <a:latin typeface="Arial" panose="020B0604020202020204" pitchFamily="34" charset="0"/>
                <a:cs typeface="Arial" panose="020B0604020202020204" pitchFamily="34" charset="0"/>
              </a:rPr>
              <a:t>For example, if our most recent data is the week of </a:t>
            </a:r>
            <a:r>
              <a:rPr lang="en-US" b="1">
                <a:latin typeface="Arial" panose="020B0604020202020204" pitchFamily="34" charset="0"/>
                <a:cs typeface="Arial" panose="020B0604020202020204" pitchFamily="34" charset="0"/>
              </a:rPr>
              <a:t>2026-06-20</a:t>
            </a:r>
            <a:r>
              <a:rPr lang="en-US">
                <a:latin typeface="Arial" panose="020B0604020202020204" pitchFamily="34" charset="0"/>
                <a:cs typeface="Arial" panose="020B0604020202020204" pitchFamily="34" charset="0"/>
              </a:rPr>
              <a:t>, that's our reference date, and we forecast the </a:t>
            </a:r>
            <a:r>
              <a:rPr lang="en-US" i="1">
                <a:latin typeface="Arial" panose="020B0604020202020204" pitchFamily="34" charset="0"/>
                <a:cs typeface="Arial" panose="020B0604020202020204" pitchFamily="34" charset="0"/>
              </a:rPr>
              <a:t>next</a:t>
            </a:r>
            <a:r>
              <a:rPr lang="en-US">
                <a:latin typeface="Arial" panose="020B0604020202020204" pitchFamily="34" charset="0"/>
                <a:cs typeface="Arial" panose="020B0604020202020204" pitchFamily="34" charset="0"/>
              </a:rPr>
              <a:t> week from it.</a:t>
            </a:r>
          </a:p>
        </p:txBody>
      </p:sp>
      <p:cxnSp>
        <p:nvCxnSpPr>
          <p:cNvPr id="12" name="Straight Arrow Connector 11">
            <a:extLst>
              <a:ext uri="{FF2B5EF4-FFF2-40B4-BE49-F238E27FC236}">
                <a16:creationId xmlns:a16="http://schemas.microsoft.com/office/drawing/2014/main" id="{B55C3E23-6857-D79A-43FE-8CC09067A91F}"/>
              </a:ext>
            </a:extLst>
          </p:cNvPr>
          <p:cNvCxnSpPr>
            <a:cxnSpLocks/>
          </p:cNvCxnSpPr>
          <p:nvPr/>
        </p:nvCxnSpPr>
        <p:spPr>
          <a:xfrm>
            <a:off x="823210" y="4309669"/>
            <a:ext cx="10607040" cy="0"/>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16" name="Straight Connector 15">
            <a:extLst>
              <a:ext uri="{FF2B5EF4-FFF2-40B4-BE49-F238E27FC236}">
                <a16:creationId xmlns:a16="http://schemas.microsoft.com/office/drawing/2014/main" id="{1A803703-A1AA-21C2-C297-C4FC30E9D9D4}"/>
              </a:ext>
            </a:extLst>
          </p:cNvPr>
          <p:cNvCxnSpPr/>
          <p:nvPr/>
        </p:nvCxnSpPr>
        <p:spPr>
          <a:xfrm>
            <a:off x="6118489" y="40498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887BA83-FFDA-B217-31C0-D031B0C16C65}"/>
              </a:ext>
            </a:extLst>
          </p:cNvPr>
          <p:cNvCxnSpPr/>
          <p:nvPr/>
        </p:nvCxnSpPr>
        <p:spPr>
          <a:xfrm>
            <a:off x="7949782" y="40523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E9A01BA-3C50-3331-960E-B3CFC75CB905}"/>
              </a:ext>
            </a:extLst>
          </p:cNvPr>
          <p:cNvCxnSpPr/>
          <p:nvPr/>
        </p:nvCxnSpPr>
        <p:spPr>
          <a:xfrm>
            <a:off x="9781069" y="403985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19" name="Left Brace 18">
            <a:extLst>
              <a:ext uri="{FF2B5EF4-FFF2-40B4-BE49-F238E27FC236}">
                <a16:creationId xmlns:a16="http://schemas.microsoft.com/office/drawing/2014/main" id="{EBABBAFE-C923-F23D-788F-B03800B583D3}"/>
              </a:ext>
            </a:extLst>
          </p:cNvPr>
          <p:cNvSpPr/>
          <p:nvPr/>
        </p:nvSpPr>
        <p:spPr>
          <a:xfrm rot="5400000">
            <a:off x="2214178" y="2236648"/>
            <a:ext cx="727005" cy="3448984"/>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FB172ABE-6FF8-8245-1335-AD8C52C0E36F}"/>
              </a:ext>
            </a:extLst>
          </p:cNvPr>
          <p:cNvCxnSpPr/>
          <p:nvPr/>
        </p:nvCxnSpPr>
        <p:spPr>
          <a:xfrm>
            <a:off x="4302174" y="40473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7388061F-8CD0-ABDC-3F06-A027A4244FBA}"/>
              </a:ext>
            </a:extLst>
          </p:cNvPr>
          <p:cNvSpPr txBox="1"/>
          <p:nvPr/>
        </p:nvSpPr>
        <p:spPr>
          <a:xfrm>
            <a:off x="1618933" y="3162927"/>
            <a:ext cx="1994457"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Observed Data</a:t>
            </a:r>
          </a:p>
        </p:txBody>
      </p:sp>
      <p:sp>
        <p:nvSpPr>
          <p:cNvPr id="22" name="TextBox 21">
            <a:extLst>
              <a:ext uri="{FF2B5EF4-FFF2-40B4-BE49-F238E27FC236}">
                <a16:creationId xmlns:a16="http://schemas.microsoft.com/office/drawing/2014/main" id="{326575AE-BC31-2A21-BACF-EFE6C6B3F1B8}"/>
              </a:ext>
            </a:extLst>
          </p:cNvPr>
          <p:cNvSpPr txBox="1"/>
          <p:nvPr/>
        </p:nvSpPr>
        <p:spPr>
          <a:xfrm>
            <a:off x="3297167" y="4667132"/>
            <a:ext cx="2052165"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Reference Date</a:t>
            </a:r>
          </a:p>
          <a:p>
            <a:pPr algn="ctr"/>
            <a:r>
              <a:rPr lang="en-US" sz="2000">
                <a:latin typeface="Arial" panose="020B0604020202020204" pitchFamily="34" charset="0"/>
                <a:cs typeface="Arial" panose="020B0604020202020204" pitchFamily="34" charset="0"/>
              </a:rPr>
              <a:t> 2026-06-20</a:t>
            </a:r>
          </a:p>
        </p:txBody>
      </p:sp>
      <p:sp>
        <p:nvSpPr>
          <p:cNvPr id="24" name="TextBox 23">
            <a:extLst>
              <a:ext uri="{FF2B5EF4-FFF2-40B4-BE49-F238E27FC236}">
                <a16:creationId xmlns:a16="http://schemas.microsoft.com/office/drawing/2014/main" id="{86C0304C-A804-CA43-6A79-51C4FAA28426}"/>
              </a:ext>
            </a:extLst>
          </p:cNvPr>
          <p:cNvSpPr txBox="1"/>
          <p:nvPr/>
        </p:nvSpPr>
        <p:spPr>
          <a:xfrm>
            <a:off x="5319352" y="3209094"/>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1</a:t>
            </a:r>
          </a:p>
          <a:p>
            <a:pPr algn="ctr"/>
            <a:r>
              <a:rPr lang="en-US" sz="2000">
                <a:latin typeface="Arial" panose="020B0604020202020204" pitchFamily="34" charset="0"/>
                <a:cs typeface="Arial" panose="020B0604020202020204" pitchFamily="34" charset="0"/>
              </a:rPr>
              <a:t> 2026-06-27</a:t>
            </a:r>
          </a:p>
        </p:txBody>
      </p:sp>
      <p:sp>
        <p:nvSpPr>
          <p:cNvPr id="26" name="TextBox 25">
            <a:extLst>
              <a:ext uri="{FF2B5EF4-FFF2-40B4-BE49-F238E27FC236}">
                <a16:creationId xmlns:a16="http://schemas.microsoft.com/office/drawing/2014/main" id="{37BBA048-B94A-E88F-6EEF-6AA2BF68C05E}"/>
              </a:ext>
            </a:extLst>
          </p:cNvPr>
          <p:cNvSpPr txBox="1"/>
          <p:nvPr/>
        </p:nvSpPr>
        <p:spPr>
          <a:xfrm>
            <a:off x="7165636" y="3196604"/>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2</a:t>
            </a:r>
          </a:p>
          <a:p>
            <a:pPr algn="ctr"/>
            <a:r>
              <a:rPr lang="en-US" sz="2000">
                <a:latin typeface="Arial" panose="020B0604020202020204" pitchFamily="34" charset="0"/>
                <a:cs typeface="Arial" panose="020B0604020202020204" pitchFamily="34" charset="0"/>
              </a:rPr>
              <a:t> 2026-07-04</a:t>
            </a:r>
          </a:p>
        </p:txBody>
      </p:sp>
      <p:sp>
        <p:nvSpPr>
          <p:cNvPr id="28" name="TextBox 27">
            <a:extLst>
              <a:ext uri="{FF2B5EF4-FFF2-40B4-BE49-F238E27FC236}">
                <a16:creationId xmlns:a16="http://schemas.microsoft.com/office/drawing/2014/main" id="{143CE1E2-A16F-8505-8891-912619B216CE}"/>
              </a:ext>
            </a:extLst>
          </p:cNvPr>
          <p:cNvSpPr txBox="1"/>
          <p:nvPr/>
        </p:nvSpPr>
        <p:spPr>
          <a:xfrm>
            <a:off x="9051865" y="3196604"/>
            <a:ext cx="1547411"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3</a:t>
            </a:r>
          </a:p>
          <a:p>
            <a:pPr algn="ctr"/>
            <a:r>
              <a:rPr lang="en-US" sz="2000">
                <a:latin typeface="Arial" panose="020B0604020202020204" pitchFamily="34" charset="0"/>
                <a:cs typeface="Arial" panose="020B0604020202020204" pitchFamily="34" charset="0"/>
              </a:rPr>
              <a:t> 2026-07-11</a:t>
            </a:r>
          </a:p>
        </p:txBody>
      </p:sp>
    </p:spTree>
    <p:extLst>
      <p:ext uri="{BB962C8B-B14F-4D97-AF65-F5344CB8AC3E}">
        <p14:creationId xmlns:p14="http://schemas.microsoft.com/office/powerpoint/2010/main" val="2440928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4" grpId="0" animBg="1"/>
      <p:bldP spid="26" grpId="0" animBg="1"/>
      <p:bldP spid="2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B6B4F-C84D-568A-F2D0-31E015D20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52BEC0-2335-BA3F-9DB9-FFC65572DD8D}"/>
              </a:ext>
            </a:extLst>
          </p:cNvPr>
          <p:cNvSpPr>
            <a:spLocks noGrp="1"/>
          </p:cNvSpPr>
          <p:nvPr>
            <p:ph type="title"/>
          </p:nvPr>
        </p:nvSpPr>
        <p:spPr>
          <a:xfrm>
            <a:off x="838200" y="-115113"/>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Target End Dates </a:t>
            </a:r>
          </a:p>
        </p:txBody>
      </p:sp>
      <p:sp>
        <p:nvSpPr>
          <p:cNvPr id="3" name="Content Placeholder 2">
            <a:extLst>
              <a:ext uri="{FF2B5EF4-FFF2-40B4-BE49-F238E27FC236}">
                <a16:creationId xmlns:a16="http://schemas.microsoft.com/office/drawing/2014/main" id="{92FED316-AFD5-98DF-4995-B9C14FD69162}"/>
              </a:ext>
            </a:extLst>
          </p:cNvPr>
          <p:cNvSpPr>
            <a:spLocks noGrp="1"/>
          </p:cNvSpPr>
          <p:nvPr>
            <p:ph idx="1"/>
          </p:nvPr>
        </p:nvSpPr>
        <p:spPr>
          <a:xfrm>
            <a:off x="838200" y="1123522"/>
            <a:ext cx="10515600" cy="5231565"/>
          </a:xfrm>
        </p:spPr>
        <p:txBody>
          <a:bodyPr>
            <a:noAutofit/>
          </a:bodyPr>
          <a:lstStyle/>
          <a:p>
            <a:pPr marL="0" indent="0" algn="ctr">
              <a:buNone/>
            </a:pPr>
            <a:r>
              <a:rPr lang="en-US">
                <a:latin typeface="Arial" panose="020B0604020202020204" pitchFamily="34" charset="0"/>
                <a:cs typeface="Arial" panose="020B0604020202020204" pitchFamily="34" charset="0"/>
              </a:rPr>
              <a:t>Target end dates are the </a:t>
            </a:r>
            <a:r>
              <a:rPr lang="en-US" b="1">
                <a:solidFill>
                  <a:schemeClr val="accent2"/>
                </a:solidFill>
                <a:latin typeface="Arial" panose="020B0604020202020204" pitchFamily="34" charset="0"/>
                <a:cs typeface="Arial" panose="020B0604020202020204" pitchFamily="34" charset="0"/>
              </a:rPr>
              <a:t>weeks we are producing forecasts for</a:t>
            </a:r>
            <a:r>
              <a:rPr lang="en-US">
                <a:latin typeface="Arial" panose="020B0604020202020204" pitchFamily="34" charset="0"/>
                <a:cs typeface="Arial" panose="020B0604020202020204" pitchFamily="34" charset="0"/>
              </a:rPr>
              <a:t>. A week is defined as Sunday to Saturday, with the Saturday used for the label.  </a:t>
            </a:r>
          </a:p>
          <a:p>
            <a:pPr marL="0" indent="0" algn="ctr">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lgn="ctr">
              <a:spcAft>
                <a:spcPts val="1200"/>
              </a:spcAft>
              <a:buNone/>
            </a:pPr>
            <a:r>
              <a:rPr lang="en-US">
                <a:latin typeface="Arial" panose="020B0604020202020204" pitchFamily="34" charset="0"/>
                <a:cs typeface="Arial" panose="020B0604020202020204" pitchFamily="34" charset="0"/>
              </a:rPr>
              <a:t>For example, if our reference date is 2026-06-20, our target end dates are </a:t>
            </a:r>
            <a:r>
              <a:rPr lang="en-US" b="1">
                <a:latin typeface="Arial" panose="020B0604020202020204" pitchFamily="34" charset="0"/>
                <a:cs typeface="Arial" panose="020B0604020202020204" pitchFamily="34" charset="0"/>
              </a:rPr>
              <a:t>2026-06-27</a:t>
            </a:r>
            <a:r>
              <a:rPr lang="en-US">
                <a:latin typeface="Arial" panose="020B0604020202020204" pitchFamily="34" charset="0"/>
                <a:cs typeface="Arial" panose="020B0604020202020204" pitchFamily="34" charset="0"/>
              </a:rPr>
              <a:t>, </a:t>
            </a:r>
            <a:r>
              <a:rPr lang="en-US" b="1">
                <a:latin typeface="Arial" panose="020B0604020202020204" pitchFamily="34" charset="0"/>
                <a:cs typeface="Arial" panose="020B0604020202020204" pitchFamily="34" charset="0"/>
              </a:rPr>
              <a:t>2026-07-04</a:t>
            </a:r>
            <a:r>
              <a:rPr lang="en-US">
                <a:latin typeface="Arial" panose="020B0604020202020204" pitchFamily="34" charset="0"/>
                <a:cs typeface="Arial" panose="020B0604020202020204" pitchFamily="34" charset="0"/>
              </a:rPr>
              <a:t>, and </a:t>
            </a:r>
            <a:r>
              <a:rPr lang="en-US" b="1">
                <a:latin typeface="Arial" panose="020B0604020202020204" pitchFamily="34" charset="0"/>
                <a:cs typeface="Arial" panose="020B0604020202020204" pitchFamily="34" charset="0"/>
              </a:rPr>
              <a:t>2026-07-11 </a:t>
            </a:r>
            <a:r>
              <a:rPr lang="en-US">
                <a:latin typeface="Arial" panose="020B0604020202020204" pitchFamily="34" charset="0"/>
                <a:cs typeface="Arial" panose="020B0604020202020204" pitchFamily="34" charset="0"/>
              </a:rPr>
              <a:t>(</a:t>
            </a:r>
            <a:r>
              <a:rPr lang="en-US"/>
              <a:t>the 1-, 2-, and 3-week-ahead forecasts)</a:t>
            </a:r>
            <a:r>
              <a:rPr lang="en-US">
                <a:latin typeface="Arial" panose="020B0604020202020204" pitchFamily="34" charset="0"/>
                <a:cs typeface="Arial" panose="020B0604020202020204" pitchFamily="34" charset="0"/>
              </a:rPr>
              <a:t>. </a:t>
            </a:r>
          </a:p>
        </p:txBody>
      </p:sp>
      <p:cxnSp>
        <p:nvCxnSpPr>
          <p:cNvPr id="12" name="Straight Arrow Connector 11">
            <a:extLst>
              <a:ext uri="{FF2B5EF4-FFF2-40B4-BE49-F238E27FC236}">
                <a16:creationId xmlns:a16="http://schemas.microsoft.com/office/drawing/2014/main" id="{F1686CF0-1D30-F5D6-D04B-06DAC4CD18AA}"/>
              </a:ext>
            </a:extLst>
          </p:cNvPr>
          <p:cNvCxnSpPr>
            <a:cxnSpLocks/>
          </p:cNvCxnSpPr>
          <p:nvPr/>
        </p:nvCxnSpPr>
        <p:spPr>
          <a:xfrm>
            <a:off x="823210" y="3843494"/>
            <a:ext cx="10607040" cy="0"/>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16" name="Straight Connector 15">
            <a:extLst>
              <a:ext uri="{FF2B5EF4-FFF2-40B4-BE49-F238E27FC236}">
                <a16:creationId xmlns:a16="http://schemas.microsoft.com/office/drawing/2014/main" id="{1476B832-4803-A5FA-0F91-7D8DAFBF4B29}"/>
              </a:ext>
            </a:extLst>
          </p:cNvPr>
          <p:cNvCxnSpPr/>
          <p:nvPr/>
        </p:nvCxnSpPr>
        <p:spPr>
          <a:xfrm>
            <a:off x="6118489" y="35836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50CD42E-3F1D-4C0C-800F-379800A18C34}"/>
              </a:ext>
            </a:extLst>
          </p:cNvPr>
          <p:cNvCxnSpPr/>
          <p:nvPr/>
        </p:nvCxnSpPr>
        <p:spPr>
          <a:xfrm>
            <a:off x="7949782" y="35861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ED029C3-B32A-D079-E486-BF219BA3C640}"/>
              </a:ext>
            </a:extLst>
          </p:cNvPr>
          <p:cNvCxnSpPr/>
          <p:nvPr/>
        </p:nvCxnSpPr>
        <p:spPr>
          <a:xfrm>
            <a:off x="9781069" y="357367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19" name="Left Brace 18">
            <a:extLst>
              <a:ext uri="{FF2B5EF4-FFF2-40B4-BE49-F238E27FC236}">
                <a16:creationId xmlns:a16="http://schemas.microsoft.com/office/drawing/2014/main" id="{7A18C672-8102-7E36-0D9B-CD9BE7B5E0F6}"/>
              </a:ext>
            </a:extLst>
          </p:cNvPr>
          <p:cNvSpPr/>
          <p:nvPr/>
        </p:nvSpPr>
        <p:spPr>
          <a:xfrm rot="5400000">
            <a:off x="2214178" y="1770473"/>
            <a:ext cx="727005" cy="3448984"/>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268EF5BC-B14F-A809-A27D-DAD36338E682}"/>
              </a:ext>
            </a:extLst>
          </p:cNvPr>
          <p:cNvCxnSpPr/>
          <p:nvPr/>
        </p:nvCxnSpPr>
        <p:spPr>
          <a:xfrm>
            <a:off x="4302174" y="35811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6284DBA-1153-1C5E-4F0A-0A2F3065810F}"/>
              </a:ext>
            </a:extLst>
          </p:cNvPr>
          <p:cNvSpPr txBox="1"/>
          <p:nvPr/>
        </p:nvSpPr>
        <p:spPr>
          <a:xfrm>
            <a:off x="1618933" y="2696752"/>
            <a:ext cx="1994457"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Observed Data</a:t>
            </a:r>
          </a:p>
        </p:txBody>
      </p:sp>
      <p:sp>
        <p:nvSpPr>
          <p:cNvPr id="22" name="TextBox 21">
            <a:extLst>
              <a:ext uri="{FF2B5EF4-FFF2-40B4-BE49-F238E27FC236}">
                <a16:creationId xmlns:a16="http://schemas.microsoft.com/office/drawing/2014/main" id="{316E6BD5-61A5-FB33-2767-307F1B12034B}"/>
              </a:ext>
            </a:extLst>
          </p:cNvPr>
          <p:cNvSpPr txBox="1"/>
          <p:nvPr/>
        </p:nvSpPr>
        <p:spPr>
          <a:xfrm>
            <a:off x="3297167" y="4200957"/>
            <a:ext cx="2052165"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Reference Date</a:t>
            </a:r>
          </a:p>
          <a:p>
            <a:pPr algn="ctr"/>
            <a:r>
              <a:rPr lang="en-US" sz="2000">
                <a:latin typeface="Arial" panose="020B0604020202020204" pitchFamily="34" charset="0"/>
                <a:cs typeface="Arial" panose="020B0604020202020204" pitchFamily="34" charset="0"/>
              </a:rPr>
              <a:t> 2026-06-20</a:t>
            </a:r>
          </a:p>
        </p:txBody>
      </p:sp>
      <p:sp>
        <p:nvSpPr>
          <p:cNvPr id="24" name="TextBox 23">
            <a:extLst>
              <a:ext uri="{FF2B5EF4-FFF2-40B4-BE49-F238E27FC236}">
                <a16:creationId xmlns:a16="http://schemas.microsoft.com/office/drawing/2014/main" id="{DCB83BAE-8621-2B94-40D5-015028706485}"/>
              </a:ext>
            </a:extLst>
          </p:cNvPr>
          <p:cNvSpPr txBox="1"/>
          <p:nvPr/>
        </p:nvSpPr>
        <p:spPr>
          <a:xfrm>
            <a:off x="5319352" y="2742919"/>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1</a:t>
            </a:r>
          </a:p>
          <a:p>
            <a:pPr algn="ctr"/>
            <a:r>
              <a:rPr lang="en-US" sz="2000">
                <a:latin typeface="Arial" panose="020B0604020202020204" pitchFamily="34" charset="0"/>
                <a:cs typeface="Arial" panose="020B0604020202020204" pitchFamily="34" charset="0"/>
              </a:rPr>
              <a:t> 2026-06-27</a:t>
            </a:r>
          </a:p>
        </p:txBody>
      </p:sp>
      <p:sp>
        <p:nvSpPr>
          <p:cNvPr id="26" name="TextBox 25">
            <a:extLst>
              <a:ext uri="{FF2B5EF4-FFF2-40B4-BE49-F238E27FC236}">
                <a16:creationId xmlns:a16="http://schemas.microsoft.com/office/drawing/2014/main" id="{B0E62357-7F76-479E-261F-F4F91C430F21}"/>
              </a:ext>
            </a:extLst>
          </p:cNvPr>
          <p:cNvSpPr txBox="1"/>
          <p:nvPr/>
        </p:nvSpPr>
        <p:spPr>
          <a:xfrm>
            <a:off x="7165636" y="2730429"/>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2</a:t>
            </a:r>
          </a:p>
          <a:p>
            <a:pPr algn="ctr"/>
            <a:r>
              <a:rPr lang="en-US" sz="2000">
                <a:latin typeface="Arial" panose="020B0604020202020204" pitchFamily="34" charset="0"/>
                <a:cs typeface="Arial" panose="020B0604020202020204" pitchFamily="34" charset="0"/>
              </a:rPr>
              <a:t> 2026-07-04</a:t>
            </a:r>
          </a:p>
        </p:txBody>
      </p:sp>
      <p:sp>
        <p:nvSpPr>
          <p:cNvPr id="28" name="TextBox 27">
            <a:extLst>
              <a:ext uri="{FF2B5EF4-FFF2-40B4-BE49-F238E27FC236}">
                <a16:creationId xmlns:a16="http://schemas.microsoft.com/office/drawing/2014/main" id="{1FB0DBE0-AF36-C2F2-99CE-3F9BD9D79AD4}"/>
              </a:ext>
            </a:extLst>
          </p:cNvPr>
          <p:cNvSpPr txBox="1"/>
          <p:nvPr/>
        </p:nvSpPr>
        <p:spPr>
          <a:xfrm>
            <a:off x="9051865" y="2730429"/>
            <a:ext cx="1547411"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3</a:t>
            </a:r>
          </a:p>
          <a:p>
            <a:pPr algn="ctr"/>
            <a:r>
              <a:rPr lang="en-US" sz="2000">
                <a:latin typeface="Arial" panose="020B0604020202020204" pitchFamily="34" charset="0"/>
                <a:cs typeface="Arial" panose="020B0604020202020204" pitchFamily="34" charset="0"/>
              </a:rPr>
              <a:t> 2026-07-11</a:t>
            </a:r>
          </a:p>
        </p:txBody>
      </p:sp>
      <p:sp>
        <p:nvSpPr>
          <p:cNvPr id="4" name="Left Brace 3">
            <a:extLst>
              <a:ext uri="{FF2B5EF4-FFF2-40B4-BE49-F238E27FC236}">
                <a16:creationId xmlns:a16="http://schemas.microsoft.com/office/drawing/2014/main" id="{522EB058-187B-B390-A5AB-F4493D9BCE1E}"/>
              </a:ext>
            </a:extLst>
          </p:cNvPr>
          <p:cNvSpPr/>
          <p:nvPr/>
        </p:nvSpPr>
        <p:spPr>
          <a:xfrm rot="16200000">
            <a:off x="7585336" y="2548408"/>
            <a:ext cx="727005" cy="3664463"/>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7264C756-7163-9FC9-5278-B12414970609}"/>
              </a:ext>
            </a:extLst>
          </p:cNvPr>
          <p:cNvSpPr txBox="1"/>
          <p:nvPr/>
        </p:nvSpPr>
        <p:spPr>
          <a:xfrm>
            <a:off x="6795866" y="4816420"/>
            <a:ext cx="2275175"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Target End Dates</a:t>
            </a:r>
          </a:p>
        </p:txBody>
      </p:sp>
    </p:spTree>
    <p:extLst>
      <p:ext uri="{BB962C8B-B14F-4D97-AF65-F5344CB8AC3E}">
        <p14:creationId xmlns:p14="http://schemas.microsoft.com/office/powerpoint/2010/main" val="1759463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4" grpId="0" animBg="1"/>
      <p:bldP spid="26" grpId="0" animBg="1"/>
      <p:bldP spid="28" grpId="0" animBg="1"/>
      <p:bldP spid="4" grpId="0" animBg="1"/>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45413-20EA-B6A5-C0BD-3C1201C74BFC}"/>
              </a:ext>
            </a:extLst>
          </p:cNvPr>
          <p:cNvSpPr>
            <a:spLocks noGrp="1"/>
          </p:cNvSpPr>
          <p:nvPr>
            <p:ph type="title"/>
          </p:nvPr>
        </p:nvSpPr>
        <p:spPr>
          <a:xfrm>
            <a:off x="838200" y="-131591"/>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Things to Consider </a:t>
            </a:r>
          </a:p>
        </p:txBody>
      </p:sp>
      <p:sp>
        <p:nvSpPr>
          <p:cNvPr id="3" name="Content Placeholder 2">
            <a:extLst>
              <a:ext uri="{FF2B5EF4-FFF2-40B4-BE49-F238E27FC236}">
                <a16:creationId xmlns:a16="http://schemas.microsoft.com/office/drawing/2014/main" id="{E5AA6604-164F-A9B9-2EBF-4801E04A1A9C}"/>
              </a:ext>
            </a:extLst>
          </p:cNvPr>
          <p:cNvSpPr>
            <a:spLocks noGrp="1"/>
          </p:cNvSpPr>
          <p:nvPr>
            <p:ph idx="1"/>
          </p:nvPr>
        </p:nvSpPr>
        <p:spPr>
          <a:xfrm>
            <a:off x="948266" y="1205261"/>
            <a:ext cx="10859912" cy="4847523"/>
          </a:xfrm>
        </p:spPr>
        <p:txBody>
          <a:bodyPr/>
          <a:lstStyle/>
          <a:p>
            <a:pPr>
              <a:spcAft>
                <a:spcPts val="600"/>
              </a:spcAft>
            </a:pPr>
            <a:r>
              <a:rPr lang="en-US" sz="2500">
                <a:latin typeface="Arial" panose="020B0604020202020204" pitchFamily="34" charset="0"/>
                <a:cs typeface="Arial" panose="020B0604020202020204" pitchFamily="34" charset="0"/>
              </a:rPr>
              <a:t>How do we calculate our reference date?</a:t>
            </a:r>
          </a:p>
          <a:p>
            <a:pPr lvl="1">
              <a:spcAft>
                <a:spcPts val="1200"/>
              </a:spcAft>
            </a:pPr>
            <a:r>
              <a:rPr lang="en-US" b="1">
                <a:latin typeface="Arial" panose="020B0604020202020204" pitchFamily="34" charset="0"/>
                <a:cs typeface="Arial" panose="020B0604020202020204" pitchFamily="34" charset="0"/>
              </a:rPr>
              <a:t>Hint:</a:t>
            </a:r>
            <a:r>
              <a:rPr lang="en-US">
                <a:latin typeface="Arial" panose="020B0604020202020204" pitchFamily="34" charset="0"/>
                <a:cs typeface="Arial" panose="020B0604020202020204" pitchFamily="34" charset="0"/>
              </a:rPr>
              <a:t> Compute the reference date as the calendar date exactly one week before the target date: </a:t>
            </a:r>
            <a:r>
              <a:rPr lang="en-US" err="1">
                <a:latin typeface="Courier New" panose="02070309020205020404" pitchFamily="49" charset="0"/>
                <a:cs typeface="Courier New" panose="02070309020205020404" pitchFamily="49" charset="0"/>
              </a:rPr>
              <a:t>reference_date</a:t>
            </a:r>
            <a:r>
              <a:rPr lang="en-US">
                <a:latin typeface="Courier New" panose="02070309020205020404" pitchFamily="49" charset="0"/>
                <a:cs typeface="Courier New" panose="02070309020205020404" pitchFamily="49" charset="0"/>
              </a:rPr>
              <a:t> = </a:t>
            </a:r>
            <a:r>
              <a:rPr lang="en-US" err="1">
                <a:latin typeface="Courier New" panose="02070309020205020404" pitchFamily="49" charset="0"/>
                <a:cs typeface="Courier New" panose="02070309020205020404" pitchFamily="49" charset="0"/>
              </a:rPr>
              <a:t>as_date</a:t>
            </a:r>
            <a:r>
              <a:rPr lang="en-US">
                <a:latin typeface="Courier New" panose="02070309020205020404" pitchFamily="49" charset="0"/>
                <a:cs typeface="Courier New" panose="02070309020205020404" pitchFamily="49" charset="0"/>
              </a:rPr>
              <a:t>(t) – days(7)</a:t>
            </a:r>
            <a:r>
              <a:rPr lang="en-US">
                <a:latin typeface="Arial" panose="020B0604020202020204" pitchFamily="34" charset="0"/>
                <a:cs typeface="Arial" panose="020B0604020202020204" pitchFamily="34" charset="0"/>
              </a:rPr>
              <a:t>. </a:t>
            </a:r>
          </a:p>
          <a:p>
            <a:pPr>
              <a:spcAft>
                <a:spcPts val="600"/>
              </a:spcAft>
            </a:pPr>
            <a:r>
              <a:rPr lang="en-US" sz="2500">
                <a:latin typeface="Arial" panose="020B0604020202020204" pitchFamily="34" charset="0"/>
                <a:cs typeface="Arial" panose="020B0604020202020204" pitchFamily="34" charset="0"/>
              </a:rPr>
              <a:t>Where do we want to use the reference date specification?</a:t>
            </a:r>
          </a:p>
          <a:p>
            <a:pPr lvl="1">
              <a:spcAft>
                <a:spcPts val="1200"/>
              </a:spcAft>
            </a:pPr>
            <a:r>
              <a:rPr lang="en-US" b="1">
                <a:latin typeface="Arial" panose="020B0604020202020204" pitchFamily="34" charset="0"/>
                <a:cs typeface="Arial" panose="020B0604020202020204" pitchFamily="34" charset="0"/>
              </a:rPr>
              <a:t>Hint:</a:t>
            </a:r>
            <a:r>
              <a:rPr lang="en-US">
                <a:latin typeface="Arial" panose="020B0604020202020204" pitchFamily="34" charset="0"/>
                <a:cs typeface="Arial" panose="020B0604020202020204" pitchFamily="34" charset="0"/>
              </a:rPr>
              <a:t> Use this date (</a:t>
            </a:r>
            <a:r>
              <a:rPr lang="en-US" err="1">
                <a:latin typeface="Courier New" panose="02070309020205020404" pitchFamily="49" charset="0"/>
                <a:cs typeface="Courier New" panose="02070309020205020404" pitchFamily="49" charset="0"/>
              </a:rPr>
              <a:t>reference_date</a:t>
            </a:r>
            <a:r>
              <a:rPr lang="en-US">
                <a:latin typeface="Arial" panose="020B0604020202020204" pitchFamily="34" charset="0"/>
                <a:cs typeface="Arial" panose="020B0604020202020204" pitchFamily="34" charset="0"/>
              </a:rPr>
              <a:t>) for both training-window selection and for output.</a:t>
            </a:r>
          </a:p>
          <a:p>
            <a:pPr>
              <a:spcAft>
                <a:spcPts val="600"/>
              </a:spcAft>
            </a:pPr>
            <a:r>
              <a:rPr lang="en-US" sz="2500">
                <a:latin typeface="Arial" panose="020B0604020202020204" pitchFamily="34" charset="0"/>
                <a:cs typeface="Arial" panose="020B0604020202020204" pitchFamily="34" charset="0"/>
              </a:rPr>
              <a:t>How do we want to explicitly format our dates in the output? </a:t>
            </a:r>
          </a:p>
          <a:p>
            <a:pPr lvl="1"/>
            <a:r>
              <a:rPr lang="en-US" b="1">
                <a:latin typeface="Arial" panose="020B0604020202020204" pitchFamily="34" charset="0"/>
                <a:cs typeface="Arial" panose="020B0604020202020204" pitchFamily="34" charset="0"/>
              </a:rPr>
              <a:t>Hint: </a:t>
            </a:r>
            <a:r>
              <a:rPr lang="en-US">
                <a:latin typeface="Arial" panose="020B0604020202020204" pitchFamily="34" charset="0"/>
                <a:cs typeface="Arial" panose="020B0604020202020204" pitchFamily="34" charset="0"/>
              </a:rPr>
              <a:t>When writing CSVs, format </a:t>
            </a:r>
            <a:r>
              <a:rPr lang="en-US" err="1">
                <a:latin typeface="Courier New" panose="02070309020205020404" pitchFamily="49" charset="0"/>
                <a:cs typeface="Courier New" panose="02070309020205020404" pitchFamily="49" charset="0"/>
              </a:rPr>
              <a:t>reference_date</a:t>
            </a:r>
            <a:r>
              <a:rPr lang="en-US">
                <a:latin typeface="Arial" panose="020B0604020202020204" pitchFamily="34" charset="0"/>
                <a:cs typeface="Arial" panose="020B0604020202020204" pitchFamily="34" charset="0"/>
              </a:rPr>
              <a:t> and </a:t>
            </a:r>
            <a:r>
              <a:rPr lang="en-US" err="1">
                <a:latin typeface="Courier New" panose="02070309020205020404" pitchFamily="49" charset="0"/>
                <a:cs typeface="Courier New" panose="02070309020205020404" pitchFamily="49" charset="0"/>
              </a:rPr>
              <a:t>target_end_date</a:t>
            </a:r>
            <a:r>
              <a:rPr lang="en-US">
                <a:latin typeface="Courier New" panose="02070309020205020404" pitchFamily="49" charset="0"/>
                <a:cs typeface="Courier New" panose="02070309020205020404" pitchFamily="49" charset="0"/>
              </a:rPr>
              <a:t> </a:t>
            </a:r>
            <a:r>
              <a:rPr lang="en-US">
                <a:latin typeface="Arial" panose="020B0604020202020204" pitchFamily="34" charset="0"/>
                <a:cs typeface="Arial" panose="020B0604020202020204" pitchFamily="34" charset="0"/>
              </a:rPr>
              <a:t>as ISO dates (`YYYY-MM-DD`).</a:t>
            </a:r>
          </a:p>
          <a:p>
            <a:endParaRPr lang="en-US"/>
          </a:p>
        </p:txBody>
      </p:sp>
      <p:sp>
        <p:nvSpPr>
          <p:cNvPr id="4" name="Rectangle: Rounded Corners 3">
            <a:extLst>
              <a:ext uri="{FF2B5EF4-FFF2-40B4-BE49-F238E27FC236}">
                <a16:creationId xmlns:a16="http://schemas.microsoft.com/office/drawing/2014/main" id="{3E091042-E87E-30AE-6DF8-681871FB8BEA}"/>
              </a:ext>
            </a:extLst>
          </p:cNvPr>
          <p:cNvSpPr/>
          <p:nvPr/>
        </p:nvSpPr>
        <p:spPr>
          <a:xfrm>
            <a:off x="724974" y="5497688"/>
            <a:ext cx="10859911" cy="1122352"/>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F6AF5A-3BCA-6BC4-8BAE-68BE7BBD9C96}"/>
              </a:ext>
            </a:extLst>
          </p:cNvPr>
          <p:cNvSpPr txBox="1"/>
          <p:nvPr/>
        </p:nvSpPr>
        <p:spPr>
          <a:xfrm>
            <a:off x="724974" y="5596294"/>
            <a:ext cx="10859910" cy="861774"/>
          </a:xfrm>
          <a:prstGeom prst="rect">
            <a:avLst/>
          </a:prstGeom>
          <a:noFill/>
        </p:spPr>
        <p:txBody>
          <a:bodyPr wrap="square">
            <a:spAutoFit/>
          </a:bodyPr>
          <a:lstStyle/>
          <a:p>
            <a:pPr algn="ctr"/>
            <a:r>
              <a:rPr lang="en-US" sz="2500" b="1">
                <a:latin typeface="Arial" panose="020B0604020202020204" pitchFamily="34" charset="0"/>
                <a:cs typeface="Arial" panose="020B0604020202020204" pitchFamily="34" charset="0"/>
              </a:rPr>
              <a:t>Be explicit about dates.</a:t>
            </a:r>
            <a:r>
              <a:rPr lang="en-US" sz="2500">
                <a:latin typeface="Arial" panose="020B0604020202020204" pitchFamily="34" charset="0"/>
                <a:cs typeface="Arial" panose="020B0604020202020204" pitchFamily="34" charset="0"/>
              </a:rPr>
              <a:t> R can handle dates unpredictably; by being explicit we can stop issues and unexpected behavior before they happen. </a:t>
            </a:r>
          </a:p>
        </p:txBody>
      </p:sp>
    </p:spTree>
    <p:extLst>
      <p:ext uri="{BB962C8B-B14F-4D97-AF65-F5344CB8AC3E}">
        <p14:creationId xmlns:p14="http://schemas.microsoft.com/office/powerpoint/2010/main" val="266998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2FE0A-3A1B-6ED8-E183-9B59160A62B4}"/>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8939A66D-4554-C1AC-072B-56B882CCF006}"/>
              </a:ext>
            </a:extLst>
          </p:cNvPr>
          <p:cNvSpPr/>
          <p:nvPr/>
        </p:nvSpPr>
        <p:spPr>
          <a:xfrm>
            <a:off x="914400" y="4798568"/>
            <a:ext cx="10363200" cy="132343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12A5B4DA-3A5D-0429-2C03-ED678B6EAB26}"/>
              </a:ext>
            </a:extLst>
          </p:cNvPr>
          <p:cNvSpPr/>
          <p:nvPr/>
        </p:nvSpPr>
        <p:spPr>
          <a:xfrm>
            <a:off x="914400" y="3524511"/>
            <a:ext cx="10363200" cy="97214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92D09CB8-B138-9AE9-343E-5E32AD5AE93E}"/>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A2AE5644-36AF-E935-C9F0-8BE5F75FDED4}"/>
              </a:ext>
            </a:extLst>
          </p:cNvPr>
          <p:cNvSpPr/>
          <p:nvPr/>
        </p:nvSpPr>
        <p:spPr>
          <a:xfrm>
            <a:off x="914400" y="2154372"/>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51D82C6-64E4-AFC3-B5F9-AE4C95B2EDA7}"/>
              </a:ext>
            </a:extLst>
          </p:cNvPr>
          <p:cNvSpPr txBox="1"/>
          <p:nvPr/>
        </p:nvSpPr>
        <p:spPr>
          <a:xfrm>
            <a:off x="914400" y="1348703"/>
            <a:ext cx="10363200" cy="477054"/>
          </a:xfrm>
          <a:prstGeom prst="rect">
            <a:avLst/>
          </a:prstGeom>
          <a:noFill/>
        </p:spPr>
        <p:txBody>
          <a:bodyPr wrap="square">
            <a:spAutoFit/>
          </a:bodyPr>
          <a:lstStyle/>
          <a:p>
            <a:r>
              <a:rPr lang="en-US" sz="2500" b="1">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B74BBAC5-DAD2-B7AD-208C-10BCB36AC051}"/>
              </a:ext>
            </a:extLst>
          </p:cNvPr>
          <p:cNvSpPr txBox="1"/>
          <p:nvPr/>
        </p:nvSpPr>
        <p:spPr>
          <a:xfrm>
            <a:off x="1080063" y="2362153"/>
            <a:ext cx="10031874" cy="1015663"/>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a:t>
            </a:r>
            <a:r>
              <a:rPr lang="en-US" sz="2000" err="1">
                <a:latin typeface="Courier New" panose="02070309020205020404" pitchFamily="49" charset="0"/>
                <a:cs typeface="Courier New" panose="02070309020205020404" pitchFamily="49" charset="0"/>
              </a:rPr>
              <a:t>reference_date</a:t>
            </a:r>
            <a:r>
              <a:rPr lang="en-US" sz="2000">
                <a:latin typeface="Courier New" panose="02070309020205020404" pitchFamily="49" charset="0"/>
                <a:cs typeface="Courier New" panose="02070309020205020404" pitchFamily="49" charset="0"/>
              </a:rPr>
              <a:t> </a:t>
            </a:r>
            <a:r>
              <a:rPr lang="en-US" sz="2000">
                <a:latin typeface="Arial" panose="020B0604020202020204" pitchFamily="34" charset="0"/>
                <a:cs typeface="Arial" panose="020B0604020202020204" pitchFamily="34" charset="0"/>
              </a:rPr>
              <a:t>and the target </a:t>
            </a:r>
            <a:r>
              <a:rPr lang="en-US" sz="2000">
                <a:latin typeface="Courier New" panose="02070309020205020404" pitchFamily="49" charset="0"/>
                <a:cs typeface="Courier New" panose="02070309020205020404" pitchFamily="49" charset="0"/>
              </a:rPr>
              <a:t>t</a:t>
            </a:r>
            <a:r>
              <a:rPr lang="en-US" sz="2000">
                <a:latin typeface="Arial" panose="020B0604020202020204" pitchFamily="34" charset="0"/>
                <a:cs typeface="Arial" panose="020B0604020202020204" pitchFamily="34" charset="0"/>
              </a:rPr>
              <a:t> are both Date objects (not character or </a:t>
            </a:r>
            <a:r>
              <a:rPr lang="en-US" sz="2000" err="1">
                <a:latin typeface="Arial" panose="020B0604020202020204" pitchFamily="34" charset="0"/>
                <a:cs typeface="Arial" panose="020B0604020202020204" pitchFamily="34" charset="0"/>
              </a:rPr>
              <a:t>POSIXct</a:t>
            </a:r>
            <a:r>
              <a:rPr lang="en-US" sz="2000">
                <a:latin typeface="Arial" panose="020B0604020202020204" pitchFamily="34" charset="0"/>
                <a:cs typeface="Arial" panose="020B0604020202020204" pitchFamily="34" charset="0"/>
              </a:rPr>
              <a:t>); halt if either fails the class check.</a:t>
            </a:r>
            <a:br>
              <a:rPr lang="en-US" sz="2000">
                <a:latin typeface="Arial" panose="020B0604020202020204" pitchFamily="34" charset="0"/>
                <a:cs typeface="Arial" panose="020B0604020202020204" pitchFamily="34" charset="0"/>
              </a:rPr>
            </a:br>
            <a:endParaRPr lang="en-US" sz="200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1BF6E8C3-CC50-C659-CAEA-EE6458ED9452}"/>
              </a:ext>
            </a:extLst>
          </p:cNvPr>
          <p:cNvSpPr txBox="1"/>
          <p:nvPr/>
        </p:nvSpPr>
        <p:spPr>
          <a:xfrm>
            <a:off x="1080063" y="3694845"/>
            <a:ext cx="10031874" cy="1015663"/>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a:t>
            </a:r>
            <a:r>
              <a:rPr lang="en-US" sz="2000" err="1">
                <a:latin typeface="Courier New" panose="02070309020205020404" pitchFamily="49" charset="0"/>
                <a:cs typeface="Courier New" panose="02070309020205020404" pitchFamily="49" charset="0"/>
              </a:rPr>
              <a:t>target_end_date</a:t>
            </a:r>
            <a:r>
              <a:rPr lang="en-US" sz="2000">
                <a:latin typeface="Courier New" panose="02070309020205020404" pitchFamily="49" charset="0"/>
                <a:cs typeface="Courier New" panose="02070309020205020404" pitchFamily="49" charset="0"/>
              </a:rPr>
              <a:t> - </a:t>
            </a:r>
            <a:r>
              <a:rPr lang="en-US" sz="2000" err="1">
                <a:latin typeface="Courier New" panose="02070309020205020404" pitchFamily="49" charset="0"/>
                <a:cs typeface="Courier New" panose="02070309020205020404" pitchFamily="49" charset="0"/>
              </a:rPr>
              <a:t>reference_date</a:t>
            </a:r>
            <a:r>
              <a:rPr lang="en-US" sz="2000">
                <a:latin typeface="Arial" panose="020B0604020202020204" pitchFamily="34" charset="0"/>
                <a:cs typeface="Arial" panose="020B0604020202020204" pitchFamily="34" charset="0"/>
              </a:rPr>
              <a:t> equals exactly 7 days for every row; halt if this fails.</a:t>
            </a:r>
            <a:br>
              <a:rPr lang="en-US" sz="2000"/>
            </a:br>
            <a:endParaRPr lang="en-US" sz="200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3EF6C67-B919-B360-732E-91F34BBA070E}"/>
              </a:ext>
            </a:extLst>
          </p:cNvPr>
          <p:cNvSpPr txBox="1"/>
          <p:nvPr/>
        </p:nvSpPr>
        <p:spPr>
          <a:xfrm>
            <a:off x="1519901" y="4951185"/>
            <a:ext cx="9152198" cy="1323439"/>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 </a:t>
            </a:r>
            <a:r>
              <a:rPr lang="en-US" sz="2000">
                <a:latin typeface="Arial" panose="020B0604020202020204" pitchFamily="34" charset="0"/>
                <a:cs typeface="Arial" panose="020B0604020202020204" pitchFamily="34" charset="0"/>
              </a:rPr>
              <a:t>Print confirmation that the maximum week in the training window is </a:t>
            </a:r>
            <a:r>
              <a:rPr lang="en-US" sz="2000">
                <a:latin typeface="Courier New" panose="02070309020205020404" pitchFamily="49" charset="0"/>
                <a:cs typeface="Courier New" panose="02070309020205020404" pitchFamily="49" charset="0"/>
              </a:rPr>
              <a:t>&lt;= </a:t>
            </a:r>
            <a:r>
              <a:rPr lang="en-US" sz="2000" err="1">
                <a:latin typeface="Courier New" panose="02070309020205020404" pitchFamily="49" charset="0"/>
                <a:cs typeface="Courier New" panose="02070309020205020404" pitchFamily="49" charset="0"/>
              </a:rPr>
              <a:t>reference_date</a:t>
            </a:r>
            <a:r>
              <a:rPr lang="en-US" sz="2000">
                <a:latin typeface="Arial" panose="020B0604020202020204" pitchFamily="34" charset="0"/>
                <a:cs typeface="Arial" panose="020B0604020202020204" pitchFamily="34" charset="0"/>
              </a:rPr>
              <a:t> and strictly less than the </a:t>
            </a:r>
            <a:r>
              <a:rPr lang="en-US" sz="2000" err="1">
                <a:latin typeface="Courier New" panose="02070309020205020404" pitchFamily="49" charset="0"/>
                <a:cs typeface="Courier New" panose="02070309020205020404" pitchFamily="49" charset="0"/>
              </a:rPr>
              <a:t>target_end_date</a:t>
            </a:r>
            <a:r>
              <a:rPr lang="en-US" sz="2000">
                <a:latin typeface="Courier New" panose="02070309020205020404" pitchFamily="49" charset="0"/>
                <a:cs typeface="Courier New" panose="02070309020205020404" pitchFamily="49" charset="0"/>
              </a:rPr>
              <a:t> </a:t>
            </a:r>
            <a:r>
              <a:rPr lang="en-US" sz="2000">
                <a:latin typeface="Arial" panose="020B0604020202020204" pitchFamily="34" charset="0"/>
                <a:cs typeface="Arial" panose="020B0604020202020204" pitchFamily="34" charset="0"/>
              </a:rPr>
              <a:t>(no look-ahead leakage); halt if this fails.</a:t>
            </a:r>
            <a:br>
              <a:rPr lang="en-US" sz="2000">
                <a:latin typeface="Arial" panose="020B0604020202020204" pitchFamily="34" charset="0"/>
                <a:cs typeface="Arial" panose="020B0604020202020204" pitchFamily="34" charset="0"/>
              </a:rPr>
            </a:b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559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72913-9823-9253-0913-CAC5CDA54E1F}"/>
              </a:ext>
            </a:extLst>
          </p:cNvPr>
          <p:cNvSpPr>
            <a:spLocks noGrp="1"/>
          </p:cNvSpPr>
          <p:nvPr>
            <p:ph type="title"/>
          </p:nvPr>
        </p:nvSpPr>
        <p:spPr/>
        <p:txBody>
          <a:bodyPr/>
          <a:lstStyle/>
          <a:p>
            <a:r>
              <a:rPr lang="en-US" dirty="0"/>
              <a:t>What is purpose of next section (Forecast generation)?</a:t>
            </a:r>
          </a:p>
        </p:txBody>
      </p:sp>
      <p:sp>
        <p:nvSpPr>
          <p:cNvPr id="3" name="Content Placeholder 2">
            <a:extLst>
              <a:ext uri="{FF2B5EF4-FFF2-40B4-BE49-F238E27FC236}">
                <a16:creationId xmlns:a16="http://schemas.microsoft.com/office/drawing/2014/main" id="{DC9CB599-BB7B-28E3-317E-E198D4D6764F}"/>
              </a:ext>
            </a:extLst>
          </p:cNvPr>
          <p:cNvSpPr>
            <a:spLocks noGrp="1"/>
          </p:cNvSpPr>
          <p:nvPr>
            <p:ph idx="1"/>
          </p:nvPr>
        </p:nvSpPr>
        <p:spPr/>
        <p:txBody>
          <a:bodyPr/>
          <a:lstStyle/>
          <a:p>
            <a:r>
              <a:rPr lang="en-US" dirty="0"/>
              <a:t>Based on some of this, may be best if we do this as a class?</a:t>
            </a:r>
          </a:p>
          <a:p>
            <a:r>
              <a:rPr lang="en-US" dirty="0"/>
              <a:t>For example, item 2 (detailed rules to handle dates) is a bit confusing</a:t>
            </a:r>
          </a:p>
        </p:txBody>
      </p:sp>
    </p:spTree>
    <p:extLst>
      <p:ext uri="{BB962C8B-B14F-4D97-AF65-F5344CB8AC3E}">
        <p14:creationId xmlns:p14="http://schemas.microsoft.com/office/powerpoint/2010/main" val="3066840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EB105-CDF2-2E9C-F847-04439A461D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184B77-2EBA-9F50-BE8A-44A5A423AB84}"/>
              </a:ext>
            </a:extLst>
          </p:cNvPr>
          <p:cNvSpPr/>
          <p:nvPr/>
        </p:nvSpPr>
        <p:spPr>
          <a:xfrm>
            <a:off x="914400" y="9482"/>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27FB99B8-A4C4-283F-3126-77F47804DED7}"/>
              </a:ext>
            </a:extLst>
          </p:cNvPr>
          <p:cNvSpPr/>
          <p:nvPr/>
        </p:nvSpPr>
        <p:spPr>
          <a:xfrm>
            <a:off x="1061194" y="278125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594E2C33-085C-EF86-C32B-DCE940635DE2}"/>
              </a:ext>
            </a:extLst>
          </p:cNvPr>
          <p:cNvSpPr/>
          <p:nvPr/>
        </p:nvSpPr>
        <p:spPr>
          <a:xfrm>
            <a:off x="1061194" y="278125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206FCCFD-0AA3-7716-01FE-3930EE4DD985}"/>
              </a:ext>
            </a:extLst>
          </p:cNvPr>
          <p:cNvSpPr/>
          <p:nvPr/>
        </p:nvSpPr>
        <p:spPr>
          <a:xfrm>
            <a:off x="1858754" y="2930020"/>
            <a:ext cx="9144000" cy="73152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Create </a:t>
            </a:r>
            <a:r>
              <a:rPr lang="en-US" sz="2200" dirty="0">
                <a:latin typeface="Arial" panose="020B0604020202020204" pitchFamily="34" charset="0"/>
                <a:ea typeface="Calibri" pitchFamily="34" charset="-122"/>
                <a:cs typeface="Arial" panose="020B0604020202020204" pitchFamily="34" charset="0"/>
              </a:rPr>
              <a:t>the </a:t>
            </a:r>
            <a:r>
              <a:rPr lang="en-US" sz="2200" dirty="0">
                <a:latin typeface="Courier New" panose="02070309020205020404" pitchFamily="49" charset="0"/>
                <a:ea typeface="Calibri" pitchFamily="34" charset="-122"/>
                <a:cs typeface="Courier New" panose="02070309020205020404" pitchFamily="49" charset="0"/>
              </a:rPr>
              <a:t>## 5. </a:t>
            </a:r>
            <a:r>
              <a:rPr lang="en-US" sz="2200" dirty="0">
                <a:latin typeface="Courier New" panose="02070309020205020404" pitchFamily="49" charset="0"/>
                <a:cs typeface="Courier New" panose="02070309020205020404" pitchFamily="49" charset="0"/>
              </a:rPr>
              <a:t>Forecast Generation </a:t>
            </a:r>
            <a:r>
              <a:rPr lang="en-US" sz="22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200" dirty="0">
                <a:latin typeface="Arial" panose="020B0604020202020204" pitchFamily="34" charset="0"/>
                <a:ea typeface="Calibri" pitchFamily="34" charset="-122"/>
                <a:cs typeface="Arial" panose="020B0604020202020204" pitchFamily="34" charset="0"/>
              </a:rPr>
              <a:t>in rules.md and add the statement </a:t>
            </a:r>
            <a:r>
              <a:rPr lang="en-US" sz="2200" dirty="0">
                <a:latin typeface="Courier New" panose="02070309020205020404" pitchFamily="49" charset="0"/>
                <a:cs typeface="Courier New" panose="02070309020205020404" pitchFamily="49" charset="0"/>
              </a:rPr>
              <a:t>For each target week `t` in the testing period that is present in the data:</a:t>
            </a:r>
            <a:r>
              <a:rPr lang="en-US" sz="2200" dirty="0">
                <a:latin typeface="Arial" panose="020B0604020202020204" pitchFamily="34" charset="0"/>
                <a:cs typeface="Arial" panose="020B0604020202020204" pitchFamily="34" charset="0"/>
              </a:rPr>
              <a:t> under it. </a:t>
            </a:r>
          </a:p>
          <a:p>
            <a:pPr defTabSz="1219170"/>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DB77AA66-800B-3AC2-168D-CA17C24BC8BE}"/>
              </a:ext>
            </a:extLst>
          </p:cNvPr>
          <p:cNvSpPr/>
          <p:nvPr/>
        </p:nvSpPr>
        <p:spPr>
          <a:xfrm>
            <a:off x="1061194" y="3930128"/>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B33BE15B-68C7-8078-EE5A-5D9E705F16B3}"/>
              </a:ext>
            </a:extLst>
          </p:cNvPr>
          <p:cNvSpPr/>
          <p:nvPr/>
        </p:nvSpPr>
        <p:spPr>
          <a:xfrm>
            <a:off x="1061194" y="3930128"/>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E394679D-0241-FCE6-2D33-A377E6F24F7A}"/>
              </a:ext>
            </a:extLst>
          </p:cNvPr>
          <p:cNvSpPr/>
          <p:nvPr/>
        </p:nvSpPr>
        <p:spPr>
          <a:xfrm>
            <a:off x="1877822" y="3672811"/>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Write detailed rules </a:t>
            </a:r>
            <a:r>
              <a:rPr lang="en-US" sz="2200" dirty="0">
                <a:latin typeface="Arial" panose="020B0604020202020204" pitchFamily="34" charset="0"/>
                <a:ea typeface="Calibri" pitchFamily="34" charset="-122"/>
                <a:cs typeface="Arial" panose="020B0604020202020204" pitchFamily="34" charset="0"/>
              </a:rPr>
              <a:t>to specify how to handle dates in list item one (i.e., under the statement from Step 1; add </a:t>
            </a:r>
            <a:r>
              <a:rPr lang="en-US" sz="2200" dirty="0">
                <a:latin typeface="Courier New" panose="02070309020205020404" pitchFamily="49" charset="0"/>
                <a:ea typeface="Calibri" pitchFamily="34" charset="-122"/>
                <a:cs typeface="Courier New" panose="02070309020205020404" pitchFamily="49" charset="0"/>
              </a:rPr>
              <a:t>1.</a:t>
            </a:r>
            <a:r>
              <a:rPr lang="en-US" sz="2200" dirty="0">
                <a:latin typeface="Arial" panose="020B0604020202020204" pitchFamily="34" charset="0"/>
                <a:ea typeface="Calibri" pitchFamily="34" charset="-122"/>
                <a:cs typeface="Arial" panose="020B0604020202020204" pitchFamily="34" charset="0"/>
              </a:rPr>
              <a:t> and your rules). As part of this step, </a:t>
            </a:r>
            <a:r>
              <a:rPr lang="en-US" sz="2200" b="1" dirty="0">
                <a:solidFill>
                  <a:schemeClr val="accent2"/>
                </a:solidFill>
                <a:latin typeface="Arial" panose="020B0604020202020204" pitchFamily="34" charset="0"/>
                <a:ea typeface="Calibri" pitchFamily="34" charset="-122"/>
                <a:cs typeface="Arial" panose="020B0604020202020204" pitchFamily="34" charset="0"/>
              </a:rPr>
              <a:t>add in validation checks</a:t>
            </a:r>
            <a:r>
              <a:rPr lang="en-US" sz="2200" dirty="0">
                <a:latin typeface="Arial" panose="020B0604020202020204" pitchFamily="34" charset="0"/>
                <a:ea typeface="Calibri" pitchFamily="34" charset="-122"/>
                <a:cs typeface="Arial" panose="020B0604020202020204" pitchFamily="34" charset="0"/>
              </a:rPr>
              <a:t>. </a:t>
            </a:r>
            <a:endParaRPr lang="en-US" sz="22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73847EBC-A4C6-D651-F85D-458A63E75D47}"/>
              </a:ext>
            </a:extLst>
          </p:cNvPr>
          <p:cNvSpPr/>
          <p:nvPr/>
        </p:nvSpPr>
        <p:spPr>
          <a:xfrm>
            <a:off x="1061194" y="4999561"/>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371229DE-485D-469B-C472-92B43B1124AC}"/>
              </a:ext>
            </a:extLst>
          </p:cNvPr>
          <p:cNvSpPr/>
          <p:nvPr/>
        </p:nvSpPr>
        <p:spPr>
          <a:xfrm>
            <a:off x="1061194" y="499956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1D25A000-6B3E-6EED-54DB-AB102C12682B}"/>
              </a:ext>
            </a:extLst>
          </p:cNvPr>
          <p:cNvSpPr/>
          <p:nvPr/>
        </p:nvSpPr>
        <p:spPr>
          <a:xfrm>
            <a:off x="1061194" y="5891175"/>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65D93B10-5DD1-3515-A7CE-39A4ACB54CB8}"/>
              </a:ext>
            </a:extLst>
          </p:cNvPr>
          <p:cNvSpPr/>
          <p:nvPr/>
        </p:nvSpPr>
        <p:spPr>
          <a:xfrm>
            <a:off x="1061194" y="5891175"/>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F304BBA1-D4BC-DFAA-BF21-D585586850D1}"/>
              </a:ext>
            </a:extLst>
          </p:cNvPr>
          <p:cNvSpPr/>
          <p:nvPr/>
        </p:nvSpPr>
        <p:spPr>
          <a:xfrm>
            <a:off x="1858754" y="5838159"/>
            <a:ext cx="9914146" cy="836423"/>
          </a:xfrm>
          <a:prstGeom prst="rect">
            <a:avLst/>
          </a:prstGeom>
          <a:noFill/>
          <a:ln/>
        </p:spPr>
        <p:txBody>
          <a:bodyPr wrap="square" lIns="0" tIns="0" rIns="0" bIns="0" rtlCol="0" anchor="ctr"/>
          <a:lstStyle/>
          <a:p>
            <a:pPr lvl="0" defTabSz="1219170">
              <a:defRPr/>
            </a:pP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2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to re-generate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scripts</a:t>
            </a:r>
            <a:r>
              <a:rPr lang="en-US" sz="2200" b="1" dirty="0">
                <a:solidFill>
                  <a:schemeClr val="accent2"/>
                </a:solidFill>
                <a:latin typeface="Arial" panose="020B0604020202020204" pitchFamily="34" charset="0"/>
                <a:ea typeface="Calibri" pitchFamily="34" charset="-122"/>
                <a:cs typeface="Arial" panose="020B0604020202020204" pitchFamily="34" charset="0"/>
              </a:rPr>
              <a:t>/0</a:t>
            </a:r>
            <a:r>
              <a:rPr lang="en-US" sz="2200" b="1" dirty="0">
                <a:solidFill>
                  <a:schemeClr val="accent2"/>
                </a:solidFill>
                <a:latin typeface="Arial" panose="020B0604020202020204" pitchFamily="34" charset="0"/>
                <a:cs typeface="Arial" panose="020B0604020202020204" pitchFamily="34" charset="0"/>
              </a:rPr>
              <a:t>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check the output.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257261FC-C870-B7E4-296A-5E35CF287E6C}"/>
              </a:ext>
            </a:extLst>
          </p:cNvPr>
          <p:cNvSpPr/>
          <p:nvPr/>
        </p:nvSpPr>
        <p:spPr>
          <a:xfrm>
            <a:off x="800100" y="975115"/>
            <a:ext cx="10591800" cy="1472583"/>
          </a:xfrm>
          <a:prstGeom prst="roundRect">
            <a:avLst/>
          </a:prstGeom>
          <a:solidFill>
            <a:schemeClr val="bg1">
              <a:lumMod val="95000"/>
            </a:schemeClr>
          </a:solidFill>
          <a:ln/>
        </p:spPr>
        <p:txBody>
          <a:bodyPr wrap="square" lIns="0" tIns="0" rIns="0" bIns="0" rtlCol="0" anchor="ctr"/>
          <a:lstStyle/>
          <a:p>
            <a:pPr algn="ctr" defTabSz="1219170"/>
            <a:r>
              <a:rPr lang="en-US" sz="2500" b="1" u="sng">
                <a:solidFill>
                  <a:srgbClr val="334155"/>
                </a:solidFill>
                <a:latin typeface="Arial" panose="020B0604020202020204" pitchFamily="34" charset="0"/>
                <a:ea typeface="Calibri" pitchFamily="34" charset="-122"/>
                <a:cs typeface="Arial" panose="020B0604020202020204" pitchFamily="34" charset="0"/>
              </a:rPr>
              <a:t>On your own</a:t>
            </a:r>
            <a:r>
              <a:rPr lang="en-US" sz="2500">
                <a:solidFill>
                  <a:srgbClr val="334155"/>
                </a:solidFill>
                <a:latin typeface="Arial" panose="020B0604020202020204" pitchFamily="34" charset="0"/>
                <a:ea typeface="Calibri" pitchFamily="34" charset="-122"/>
                <a:cs typeface="Arial" panose="020B0604020202020204" pitchFamily="34" charset="0"/>
              </a:rPr>
              <a:t>, update your rules to include the date formatting requirements discussed on the previous slide. If you get stuck, pay particular attention to the </a:t>
            </a:r>
            <a:r>
              <a:rPr lang="en-US" sz="2500" b="1">
                <a:solidFill>
                  <a:srgbClr val="334155"/>
                </a:solidFill>
                <a:latin typeface="Arial" panose="020B0604020202020204" pitchFamily="34" charset="0"/>
                <a:ea typeface="Calibri" pitchFamily="34" charset="-122"/>
                <a:cs typeface="Arial" panose="020B0604020202020204" pitchFamily="34" charset="0"/>
              </a:rPr>
              <a:t>hints</a:t>
            </a:r>
            <a:r>
              <a:rPr lang="en-US" sz="2500">
                <a:solidFill>
                  <a:srgbClr val="334155"/>
                </a:solidFill>
                <a:latin typeface="Arial" panose="020B0604020202020204" pitchFamily="34" charset="0"/>
                <a:ea typeface="Calibri" pitchFamily="34" charset="-122"/>
                <a:cs typeface="Arial" panose="020B0604020202020204" pitchFamily="34" charset="0"/>
              </a:rPr>
              <a:t> provided on the previous slide(s). </a:t>
            </a:r>
            <a:endParaRPr lang="en-US" sz="250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F84A7679-CA0A-99B9-45E7-BA035A3E262D}"/>
              </a:ext>
            </a:extLst>
          </p:cNvPr>
          <p:cNvSpPr/>
          <p:nvPr/>
        </p:nvSpPr>
        <p:spPr>
          <a:xfrm>
            <a:off x="1858754" y="5128819"/>
            <a:ext cx="9509760" cy="42672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 </a:t>
            </a:r>
            <a:r>
              <a:rPr lang="en-US" sz="2200" dirty="0">
                <a:latin typeface="Arial" panose="020B0604020202020204" pitchFamily="34" charset="0"/>
                <a:ea typeface="Calibri" pitchFamily="34" charset="-122"/>
                <a:cs typeface="Arial" panose="020B0604020202020204" pitchFamily="34" charset="0"/>
              </a:rPr>
              <a:t>from your updated rules document.</a:t>
            </a:r>
            <a:endParaRPr lang="en-US" sz="22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32A8D7DB-E67E-9ACE-6C61-02EDCA0FAA20}"/>
              </a:ext>
            </a:extLst>
          </p:cNvPr>
          <p:cNvPicPr>
            <a:picLocks noChangeAspect="1"/>
          </p:cNvPicPr>
          <p:nvPr/>
        </p:nvPicPr>
        <p:blipFill>
          <a:blip r:embed="rId3"/>
          <a:stretch>
            <a:fillRect/>
          </a:stretch>
        </p:blipFill>
        <p:spPr>
          <a:xfrm>
            <a:off x="2663312" y="-6587"/>
            <a:ext cx="981703" cy="981703"/>
          </a:xfrm>
          <a:prstGeom prst="rect">
            <a:avLst/>
          </a:prstGeom>
        </p:spPr>
      </p:pic>
    </p:spTree>
    <p:extLst>
      <p:ext uri="{BB962C8B-B14F-4D97-AF65-F5344CB8AC3E}">
        <p14:creationId xmlns:p14="http://schemas.microsoft.com/office/powerpoint/2010/main" val="3278205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74887-39DD-3A7B-A0E2-94CEE64F29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3A6A6-66DC-44B7-52C7-01B49A9049B0}"/>
              </a:ext>
            </a:extLst>
          </p:cNvPr>
          <p:cNvSpPr>
            <a:spLocks noGrp="1"/>
          </p:cNvSpPr>
          <p:nvPr>
            <p:ph type="title"/>
          </p:nvPr>
        </p:nvSpPr>
        <p:spPr/>
        <p:txBody>
          <a:bodyPr/>
          <a:lstStyle/>
          <a:p>
            <a:r>
              <a:rPr lang="en-US" dirty="0"/>
              <a:t>What is the purpose of the next slide</a:t>
            </a:r>
          </a:p>
        </p:txBody>
      </p:sp>
      <p:sp>
        <p:nvSpPr>
          <p:cNvPr id="3" name="Content Placeholder 2">
            <a:extLst>
              <a:ext uri="{FF2B5EF4-FFF2-40B4-BE49-F238E27FC236}">
                <a16:creationId xmlns:a16="http://schemas.microsoft.com/office/drawing/2014/main" id="{E2F24AB5-9F5C-BB3A-D592-705A38D043DC}"/>
              </a:ext>
            </a:extLst>
          </p:cNvPr>
          <p:cNvSpPr>
            <a:spLocks noGrp="1"/>
          </p:cNvSpPr>
          <p:nvPr>
            <p:ph idx="1"/>
          </p:nvPr>
        </p:nvSpPr>
        <p:spPr/>
        <p:txBody>
          <a:bodyPr/>
          <a:lstStyle/>
          <a:p>
            <a:r>
              <a:rPr lang="en-US" dirty="0"/>
              <a:t>Why wasn’t this just incorporated into the original rules for training/testing?</a:t>
            </a:r>
          </a:p>
          <a:p>
            <a:r>
              <a:rPr lang="en-US" dirty="0"/>
              <a:t>We should try not to come back to rules unless we are improving the model.</a:t>
            </a:r>
          </a:p>
        </p:txBody>
      </p:sp>
    </p:spTree>
    <p:extLst>
      <p:ext uri="{BB962C8B-B14F-4D97-AF65-F5344CB8AC3E}">
        <p14:creationId xmlns:p14="http://schemas.microsoft.com/office/powerpoint/2010/main" val="3873052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D8030-D4ED-AB3D-641B-21F57BA1E9DA}"/>
              </a:ext>
            </a:extLst>
          </p:cNvPr>
          <p:cNvSpPr>
            <a:spLocks noGrp="1"/>
          </p:cNvSpPr>
          <p:nvPr>
            <p:ph type="title"/>
          </p:nvPr>
        </p:nvSpPr>
        <p:spPr>
          <a:xfrm>
            <a:off x="838200" y="15166"/>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We have our date rules, now what?</a:t>
            </a:r>
          </a:p>
        </p:txBody>
      </p:sp>
      <p:sp>
        <p:nvSpPr>
          <p:cNvPr id="3" name="Content Placeholder 2">
            <a:extLst>
              <a:ext uri="{FF2B5EF4-FFF2-40B4-BE49-F238E27FC236}">
                <a16:creationId xmlns:a16="http://schemas.microsoft.com/office/drawing/2014/main" id="{FF92620D-AA04-2A66-24A0-124FFE481206}"/>
              </a:ext>
            </a:extLst>
          </p:cNvPr>
          <p:cNvSpPr>
            <a:spLocks noGrp="1"/>
          </p:cNvSpPr>
          <p:nvPr>
            <p:ph idx="1"/>
          </p:nvPr>
        </p:nvSpPr>
        <p:spPr>
          <a:xfrm>
            <a:off x="838200" y="1588560"/>
            <a:ext cx="10515600" cy="3335572"/>
          </a:xfrm>
        </p:spPr>
        <p:txBody>
          <a:bodyPr>
            <a:normAutofit/>
          </a:bodyPr>
          <a:lstStyle/>
          <a:p>
            <a:pPr>
              <a:spcAft>
                <a:spcPts val="1200"/>
              </a:spcAft>
              <a:buClr>
                <a:schemeClr val="tx1"/>
              </a:buClr>
            </a:pPr>
            <a:r>
              <a:rPr lang="en-US" sz="2500" b="1" dirty="0">
                <a:solidFill>
                  <a:schemeClr val="accent2"/>
                </a:solidFill>
                <a:latin typeface="Arial" panose="020B0604020202020204" pitchFamily="34" charset="0"/>
                <a:cs typeface="Arial" panose="020B0604020202020204" pitchFamily="34" charset="0"/>
              </a:rPr>
              <a:t>Data leakage</a:t>
            </a:r>
            <a:r>
              <a:rPr lang="en-US" sz="2500" dirty="0">
                <a:solidFill>
                  <a:schemeClr val="accent2"/>
                </a:solidFill>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happens when a model is tested on data used in training (i.e., it "predicts" values it was handed, so the forecast is better than it </a:t>
            </a:r>
            <a:r>
              <a:rPr lang="en-US" sz="2500" dirty="0" err="1">
                <a:latin typeface="Arial" panose="020B0604020202020204" pitchFamily="34" charset="0"/>
                <a:cs typeface="Arial" panose="020B0604020202020204" pitchFamily="34" charset="0"/>
              </a:rPr>
              <a:t>it</a:t>
            </a:r>
            <a:r>
              <a:rPr lang="en-US" sz="2500" dirty="0">
                <a:latin typeface="Arial" panose="020B0604020202020204" pitchFamily="34" charset="0"/>
                <a:cs typeface="Arial" panose="020B0604020202020204" pitchFamily="34" charset="0"/>
              </a:rPr>
              <a:t> would be in practice when you don’t actually see the data).</a:t>
            </a:r>
          </a:p>
          <a:p>
            <a:pPr>
              <a:spcAft>
                <a:spcPts val="1200"/>
              </a:spcAft>
            </a:pPr>
            <a:r>
              <a:rPr lang="en-US" sz="2500" dirty="0">
                <a:latin typeface="Arial" panose="020B0604020202020204" pitchFamily="34" charset="0"/>
                <a:cs typeface="Arial" panose="020B0604020202020204" pitchFamily="34" charset="0"/>
              </a:rPr>
              <a:t>To prevent this, we're explicit about the cutoff: only data on or before the </a:t>
            </a:r>
            <a:r>
              <a:rPr lang="en-US" sz="2500" b="1" dirty="0">
                <a:solidFill>
                  <a:schemeClr val="accent2"/>
                </a:solidFill>
                <a:latin typeface="Arial" panose="020B0604020202020204" pitchFamily="34" charset="0"/>
                <a:cs typeface="Arial" panose="020B0604020202020204" pitchFamily="34" charset="0"/>
              </a:rPr>
              <a:t>reference date</a:t>
            </a:r>
            <a:r>
              <a:rPr lang="en-US" sz="2500" dirty="0">
                <a:solidFill>
                  <a:schemeClr val="accent2"/>
                </a:solidFill>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goes in as input, so the model never sees the weeks it's forecasting.</a:t>
            </a:r>
          </a:p>
          <a:p>
            <a:r>
              <a:rPr lang="en-US" sz="2500" dirty="0">
                <a:latin typeface="Arial" panose="020B0604020202020204" pitchFamily="34" charset="0"/>
                <a:cs typeface="Arial" panose="020B0604020202020204" pitchFamily="34" charset="0"/>
              </a:rPr>
              <a:t>Add the following under the date rule(s): </a:t>
            </a:r>
          </a:p>
          <a:p>
            <a:pPr marL="0" indent="0">
              <a:buNone/>
            </a:pPr>
            <a:endParaRPr lang="en-US" dirty="0"/>
          </a:p>
          <a:p>
            <a:pPr marL="0" indent="0">
              <a:buNone/>
            </a:pPr>
            <a:endParaRPr lang="en-US" dirty="0"/>
          </a:p>
          <a:p>
            <a:endParaRPr lang="en-US" dirty="0"/>
          </a:p>
        </p:txBody>
      </p:sp>
      <p:pic>
        <p:nvPicPr>
          <p:cNvPr id="5" name="Picture 4" descr="Your Turn Rubber Stamp Royalty Free SVG, Cliparts, Vectors, and Stock  Illustration. Image 68258628.">
            <a:extLst>
              <a:ext uri="{FF2B5EF4-FFF2-40B4-BE49-F238E27FC236}">
                <a16:creationId xmlns:a16="http://schemas.microsoft.com/office/drawing/2014/main" id="{02ED2043-CFC9-541C-9371-4558ED975D75}"/>
              </a:ext>
            </a:extLst>
          </p:cNvPr>
          <p:cNvPicPr>
            <a:picLocks noChangeAspect="1"/>
          </p:cNvPicPr>
          <p:nvPr/>
        </p:nvPicPr>
        <p:blipFill>
          <a:blip r:embed="rId3"/>
          <a:stretch>
            <a:fillRect/>
          </a:stretch>
        </p:blipFill>
        <p:spPr>
          <a:xfrm>
            <a:off x="281357" y="164517"/>
            <a:ext cx="981703" cy="981703"/>
          </a:xfrm>
          <a:prstGeom prst="rect">
            <a:avLst/>
          </a:prstGeom>
        </p:spPr>
      </p:pic>
      <p:sp>
        <p:nvSpPr>
          <p:cNvPr id="8" name="Rectangle: Rounded Corners 7">
            <a:extLst>
              <a:ext uri="{FF2B5EF4-FFF2-40B4-BE49-F238E27FC236}">
                <a16:creationId xmlns:a16="http://schemas.microsoft.com/office/drawing/2014/main" id="{23B29FBA-537B-357B-01D4-168DF7176C19}"/>
              </a:ext>
            </a:extLst>
          </p:cNvPr>
          <p:cNvSpPr/>
          <p:nvPr/>
        </p:nvSpPr>
        <p:spPr>
          <a:xfrm>
            <a:off x="955323" y="4956555"/>
            <a:ext cx="10281355" cy="1307335"/>
          </a:xfrm>
          <a:prstGeom prst="roundRect">
            <a:avLst/>
          </a:prstGeom>
          <a:solidFill>
            <a:srgbClr val="FFF4EC"/>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962E9A0-FA4B-8430-D3B7-EBB5501413AE}"/>
              </a:ext>
            </a:extLst>
          </p:cNvPr>
          <p:cNvSpPr txBox="1"/>
          <p:nvPr/>
        </p:nvSpPr>
        <p:spPr>
          <a:xfrm>
            <a:off x="1072445" y="5179336"/>
            <a:ext cx="10047111" cy="861774"/>
          </a:xfrm>
          <a:prstGeom prst="rect">
            <a:avLst/>
          </a:prstGeom>
          <a:noFill/>
        </p:spPr>
        <p:txBody>
          <a:bodyPr wrap="square">
            <a:spAutoFit/>
          </a:bodyPr>
          <a:lstStyle/>
          <a:p>
            <a:pPr marL="0" indent="0" algn="ctr">
              <a:buNone/>
            </a:pPr>
            <a:r>
              <a:rPr lang="en-US"/>
              <a:t> </a:t>
            </a:r>
            <a:r>
              <a:rPr lang="en-US" sz="2500">
                <a:latin typeface="Courier New" panose="02070309020205020404" pitchFamily="49" charset="0"/>
                <a:cs typeface="Courier New" panose="02070309020205020404" pitchFamily="49" charset="0"/>
              </a:rPr>
              <a:t>2. Fit the ARIMA model (Rule 4) on all rows with `week &lt;= </a:t>
            </a:r>
            <a:r>
              <a:rPr lang="en-US" sz="2500" err="1">
                <a:latin typeface="Courier New" panose="02070309020205020404" pitchFamily="49" charset="0"/>
                <a:cs typeface="Courier New" panose="02070309020205020404" pitchFamily="49" charset="0"/>
              </a:rPr>
              <a:t>reference_date</a:t>
            </a:r>
            <a:r>
              <a:rPr lang="en-US" sz="2500">
                <a:latin typeface="Courier New" panose="02070309020205020404" pitchFamily="49" charset="0"/>
                <a:cs typeface="Courier New" panose="02070309020205020404" pitchFamily="49" charset="0"/>
              </a:rPr>
              <a:t>` (expanding-window).</a:t>
            </a:r>
          </a:p>
        </p:txBody>
      </p:sp>
    </p:spTree>
    <p:extLst>
      <p:ext uri="{BB962C8B-B14F-4D97-AF65-F5344CB8AC3E}">
        <p14:creationId xmlns:p14="http://schemas.microsoft.com/office/powerpoint/2010/main" val="69104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EC1F068-E1AC-9475-42F2-15F2A6E47FF8}"/>
              </a:ext>
            </a:extLst>
          </p:cNvPr>
          <p:cNvSpPr/>
          <p:nvPr/>
        </p:nvSpPr>
        <p:spPr>
          <a:xfrm>
            <a:off x="955323" y="5145983"/>
            <a:ext cx="10281355" cy="1307335"/>
          </a:xfrm>
          <a:prstGeom prst="roundRect">
            <a:avLst/>
          </a:prstGeom>
          <a:solidFill>
            <a:srgbClr val="F0ECF8"/>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89662E-B46B-72A6-DEB3-A74BCA9D8172}"/>
              </a:ext>
            </a:extLst>
          </p:cNvPr>
          <p:cNvSpPr>
            <a:spLocks noGrp="1"/>
          </p:cNvSpPr>
          <p:nvPr>
            <p:ph type="title"/>
          </p:nvPr>
        </p:nvSpPr>
        <p:spPr>
          <a:xfrm>
            <a:off x="838200" y="18255"/>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Forecasting (1-Week Ahead)</a:t>
            </a:r>
          </a:p>
        </p:txBody>
      </p:sp>
      <p:graphicFrame>
        <p:nvGraphicFramePr>
          <p:cNvPr id="6" name="Table 5">
            <a:extLst>
              <a:ext uri="{FF2B5EF4-FFF2-40B4-BE49-F238E27FC236}">
                <a16:creationId xmlns:a16="http://schemas.microsoft.com/office/drawing/2014/main" id="{5AB6077F-2836-06EE-9B47-441490FC8037}"/>
              </a:ext>
            </a:extLst>
          </p:cNvPr>
          <p:cNvGraphicFramePr>
            <a:graphicFrameLocks noGrp="1"/>
          </p:cNvGraphicFramePr>
          <p:nvPr>
            <p:extLst>
              <p:ext uri="{D42A27DB-BD31-4B8C-83A1-F6EECF244321}">
                <p14:modId xmlns:p14="http://schemas.microsoft.com/office/powerpoint/2010/main" val="3649100217"/>
              </p:ext>
            </p:extLst>
          </p:nvPr>
        </p:nvGraphicFramePr>
        <p:xfrm>
          <a:off x="955323" y="1668788"/>
          <a:ext cx="10281355" cy="2312902"/>
        </p:xfrm>
        <a:graphic>
          <a:graphicData uri="http://schemas.openxmlformats.org/drawingml/2006/table">
            <a:tbl>
              <a:tblPr firstRow="1" bandRow="1">
                <a:tableStyleId>{5940675A-B579-460E-94D1-54222C63F5DA}</a:tableStyleId>
              </a:tblPr>
              <a:tblGrid>
                <a:gridCol w="2310131">
                  <a:extLst>
                    <a:ext uri="{9D8B030D-6E8A-4147-A177-3AD203B41FA5}">
                      <a16:colId xmlns:a16="http://schemas.microsoft.com/office/drawing/2014/main" val="2076793273"/>
                    </a:ext>
                  </a:extLst>
                </a:gridCol>
                <a:gridCol w="2687577">
                  <a:extLst>
                    <a:ext uri="{9D8B030D-6E8A-4147-A177-3AD203B41FA5}">
                      <a16:colId xmlns:a16="http://schemas.microsoft.com/office/drawing/2014/main" val="955905303"/>
                    </a:ext>
                  </a:extLst>
                </a:gridCol>
                <a:gridCol w="1691518">
                  <a:extLst>
                    <a:ext uri="{9D8B030D-6E8A-4147-A177-3AD203B41FA5}">
                      <a16:colId xmlns:a16="http://schemas.microsoft.com/office/drawing/2014/main" val="3966078537"/>
                    </a:ext>
                  </a:extLst>
                </a:gridCol>
                <a:gridCol w="3592129">
                  <a:extLst>
                    <a:ext uri="{9D8B030D-6E8A-4147-A177-3AD203B41FA5}">
                      <a16:colId xmlns:a16="http://schemas.microsoft.com/office/drawing/2014/main" val="2406510133"/>
                    </a:ext>
                  </a:extLst>
                </a:gridCol>
              </a:tblGrid>
              <a:tr h="865258">
                <a:tc>
                  <a:txBody>
                    <a:bodyPr/>
                    <a:lstStyle/>
                    <a:p>
                      <a:pPr algn="ctr"/>
                      <a:r>
                        <a:rPr lang="en-US" sz="2200" b="1" err="1">
                          <a:latin typeface="Courier New" panose="02070309020205020404" pitchFamily="49" charset="0"/>
                          <a:cs typeface="Courier New" panose="02070309020205020404" pitchFamily="49" charset="0"/>
                        </a:rPr>
                        <a:t>output_type</a:t>
                      </a:r>
                      <a:endParaRPr lang="en-US" sz="2200" b="1">
                        <a:latin typeface="Courier New" panose="02070309020205020404" pitchFamily="49" charset="0"/>
                        <a:cs typeface="Courier New" panose="02070309020205020404" pitchFamily="49" charset="0"/>
                      </a:endParaRPr>
                    </a:p>
                  </a:txBody>
                  <a:tcPr anchor="ctr"/>
                </a:tc>
                <a:tc>
                  <a:txBody>
                    <a:bodyPr/>
                    <a:lstStyle/>
                    <a:p>
                      <a:pPr algn="ctr"/>
                      <a:r>
                        <a:rPr lang="en-US" sz="2200" b="1" err="1">
                          <a:latin typeface="Courier New" panose="02070309020205020404" pitchFamily="49" charset="0"/>
                          <a:cs typeface="Courier New" panose="02070309020205020404" pitchFamily="49" charset="0"/>
                        </a:rPr>
                        <a:t>output_type_id</a:t>
                      </a:r>
                      <a:endParaRPr lang="en-US" sz="2200" b="1">
                        <a:latin typeface="Courier New" panose="02070309020205020404" pitchFamily="49" charset="0"/>
                        <a:cs typeface="Courier New" panose="02070309020205020404" pitchFamily="49" charset="0"/>
                      </a:endParaRPr>
                    </a:p>
                  </a:txBody>
                  <a:tcPr anchor="ctr"/>
                </a:tc>
                <a:tc>
                  <a:txBody>
                    <a:bodyPr/>
                    <a:lstStyle/>
                    <a:p>
                      <a:pPr algn="ctr"/>
                      <a:r>
                        <a:rPr lang="en-US" sz="2200" b="1">
                          <a:latin typeface="Courier New" panose="02070309020205020404" pitchFamily="49" charset="0"/>
                          <a:cs typeface="Courier New" panose="02070309020205020404" pitchFamily="49" charset="0"/>
                        </a:rPr>
                        <a:t>value</a:t>
                      </a:r>
                    </a:p>
                  </a:txBody>
                  <a:tcPr anchor="ctr">
                    <a:lnR w="57150" cap="flat" cmpd="sng" algn="ctr">
                      <a:solidFill>
                        <a:schemeClr val="tx1"/>
                      </a:solidFill>
                      <a:prstDash val="solid"/>
                      <a:round/>
                      <a:headEnd type="none" w="med" len="med"/>
                      <a:tailEnd type="none" w="med" len="med"/>
                    </a:lnR>
                  </a:tcPr>
                </a:tc>
                <a:tc>
                  <a:txBody>
                    <a:bodyPr/>
                    <a:lstStyle/>
                    <a:p>
                      <a:pPr algn="ctr"/>
                      <a:r>
                        <a:rPr lang="en-US" sz="2200" b="1">
                          <a:latin typeface="Arial" panose="020B0604020202020204" pitchFamily="34" charset="0"/>
                          <a:cs typeface="Arial" panose="020B0604020202020204" pitchFamily="34" charset="0"/>
                        </a:rPr>
                        <a:t>Description</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2175483087"/>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0.025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a:latin typeface="Arial" panose="020B0604020202020204" pitchFamily="34" charset="0"/>
                          <a:cs typeface="Arial" panose="020B0604020202020204" pitchFamily="34" charset="0"/>
                        </a:rPr>
                        <a:t>Lower Bound (95%  PI)</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111502466"/>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dirty="0">
                          <a:latin typeface="Arial" panose="020B0604020202020204" pitchFamily="34" charset="0"/>
                          <a:cs typeface="Arial" panose="020B0604020202020204" pitchFamily="34" charset="0"/>
                        </a:rPr>
                        <a:t>Median</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3586299375"/>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0.975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dirty="0">
                          <a:latin typeface="Arial" panose="020B0604020202020204" pitchFamily="34" charset="0"/>
                          <a:cs typeface="Arial" panose="020B0604020202020204" pitchFamily="34" charset="0"/>
                        </a:rPr>
                        <a:t>Upper Bound (95% PI)</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2192071225"/>
                  </a:ext>
                </a:extLst>
              </a:tr>
            </a:tbl>
          </a:graphicData>
        </a:graphic>
      </p:graphicFrame>
      <p:sp>
        <p:nvSpPr>
          <p:cNvPr id="10" name="Oval 9">
            <a:extLst>
              <a:ext uri="{FF2B5EF4-FFF2-40B4-BE49-F238E27FC236}">
                <a16:creationId xmlns:a16="http://schemas.microsoft.com/office/drawing/2014/main" id="{584F93B0-E461-6E8E-21A3-2ABF48AC8185}"/>
              </a:ext>
            </a:extLst>
          </p:cNvPr>
          <p:cNvSpPr/>
          <p:nvPr/>
        </p:nvSpPr>
        <p:spPr>
          <a:xfrm>
            <a:off x="5990742" y="1437071"/>
            <a:ext cx="1597306" cy="2777927"/>
          </a:xfrm>
          <a:prstGeom prst="ellipse">
            <a:avLst/>
          </a:prstGeom>
          <a:noFill/>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3B3C883-2427-E090-3D28-FAC13E0D7A21}"/>
              </a:ext>
            </a:extLst>
          </p:cNvPr>
          <p:cNvSpPr txBox="1"/>
          <p:nvPr/>
        </p:nvSpPr>
        <p:spPr>
          <a:xfrm>
            <a:off x="1119850" y="5568819"/>
            <a:ext cx="9875135" cy="461665"/>
          </a:xfrm>
          <a:prstGeom prst="rect">
            <a:avLst/>
          </a:prstGeom>
          <a:noFill/>
        </p:spPr>
        <p:txBody>
          <a:bodyPr wrap="square">
            <a:spAutoFit/>
          </a:bodyPr>
          <a:lstStyle/>
          <a:p>
            <a:pPr algn="ctr"/>
            <a:r>
              <a:rPr lang="en-US" sz="2400" b="0" kern="1200" dirty="0">
                <a:solidFill>
                  <a:schemeClr val="tx1"/>
                </a:solidFill>
                <a:effectLst/>
                <a:latin typeface="Courier New" panose="02070309020205020404" pitchFamily="49" charset="0"/>
                <a:cs typeface="Courier New" panose="02070309020205020404" pitchFamily="49" charset="0"/>
              </a:rPr>
              <a:t>3. Forecast with `forecast(fit, h = 1, level = </a:t>
            </a:r>
            <a:r>
              <a:rPr lang="en-US" sz="2400" dirty="0">
                <a:latin typeface="Courier New" panose="02070309020205020404" pitchFamily="49" charset="0"/>
                <a:cs typeface="Courier New" panose="02070309020205020404" pitchFamily="49" charset="0"/>
              </a:rPr>
              <a:t>95</a:t>
            </a:r>
            <a:r>
              <a:rPr lang="en-US" sz="2400" b="0" kern="1200" dirty="0">
                <a:solidFill>
                  <a:schemeClr val="tx1"/>
                </a:solidFill>
                <a:effectLst/>
                <a:latin typeface="Courier New" panose="02070309020205020404" pitchFamily="49" charset="0"/>
                <a:cs typeface="Courier New" panose="02070309020205020404" pitchFamily="49" charset="0"/>
              </a:rPr>
              <a:t>)`. </a:t>
            </a:r>
          </a:p>
        </p:txBody>
      </p:sp>
      <p:sp>
        <p:nvSpPr>
          <p:cNvPr id="13" name="TextBox 12">
            <a:extLst>
              <a:ext uri="{FF2B5EF4-FFF2-40B4-BE49-F238E27FC236}">
                <a16:creationId xmlns:a16="http://schemas.microsoft.com/office/drawing/2014/main" id="{A05C55D9-9E59-774D-4D3D-01B3D520956F}"/>
              </a:ext>
            </a:extLst>
          </p:cNvPr>
          <p:cNvSpPr txBox="1"/>
          <p:nvPr/>
        </p:nvSpPr>
        <p:spPr>
          <a:xfrm>
            <a:off x="3870760" y="4459060"/>
            <a:ext cx="4373313" cy="477054"/>
          </a:xfrm>
          <a:prstGeom prst="rect">
            <a:avLst/>
          </a:prstGeom>
          <a:noFill/>
        </p:spPr>
        <p:txBody>
          <a:bodyPr wrap="none" rtlCol="0">
            <a:spAutoFit/>
          </a:bodyPr>
          <a:lstStyle/>
          <a:p>
            <a:r>
              <a:rPr lang="en-US" sz="2500" b="1" dirty="0">
                <a:latin typeface="Arial" panose="020B0604020202020204" pitchFamily="34" charset="0"/>
                <a:cs typeface="Arial" panose="020B0604020202020204" pitchFamily="34" charset="0"/>
              </a:rPr>
              <a:t>How do we get the values? </a:t>
            </a:r>
          </a:p>
        </p:txBody>
      </p:sp>
      <p:pic>
        <p:nvPicPr>
          <p:cNvPr id="9" name="Picture 8" descr="Your Turn Rubber Stamp Royalty Free SVG, Cliparts, Vectors, and Stock  Illustration. Image 68258628.">
            <a:extLst>
              <a:ext uri="{FF2B5EF4-FFF2-40B4-BE49-F238E27FC236}">
                <a16:creationId xmlns:a16="http://schemas.microsoft.com/office/drawing/2014/main" id="{54A4C43E-F0F5-F97B-6EE7-8CDF7EE25477}"/>
              </a:ext>
            </a:extLst>
          </p:cNvPr>
          <p:cNvPicPr>
            <a:picLocks noChangeAspect="1"/>
          </p:cNvPicPr>
          <p:nvPr/>
        </p:nvPicPr>
        <p:blipFill>
          <a:blip r:embed="rId3"/>
          <a:stretch>
            <a:fillRect/>
          </a:stretch>
        </p:blipFill>
        <p:spPr>
          <a:xfrm>
            <a:off x="1195757" y="171134"/>
            <a:ext cx="981703" cy="981703"/>
          </a:xfrm>
          <a:prstGeom prst="rect">
            <a:avLst/>
          </a:prstGeom>
        </p:spPr>
      </p:pic>
    </p:spTree>
    <p:extLst>
      <p:ext uri="{BB962C8B-B14F-4D97-AF65-F5344CB8AC3E}">
        <p14:creationId xmlns:p14="http://schemas.microsoft.com/office/powerpoint/2010/main" val="408172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2" grpId="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3C2DD-5C81-D750-F7B5-E8E0EFF662B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4FA1927-20D9-4103-2164-182827D795A5}"/>
              </a:ext>
            </a:extLst>
          </p:cNvPr>
          <p:cNvSpPr txBox="1"/>
          <p:nvPr/>
        </p:nvSpPr>
        <p:spPr>
          <a:xfrm>
            <a:off x="1251112" y="5292521"/>
            <a:ext cx="9762815" cy="1323439"/>
          </a:xfrm>
          <a:prstGeom prst="rect">
            <a:avLst/>
          </a:prstGeom>
          <a:noFill/>
          <a:ln>
            <a:solidFill>
              <a:schemeClr val="bg1">
                <a:lumMod val="75000"/>
              </a:schemeClr>
            </a:solidFill>
          </a:ln>
        </p:spPr>
        <p:txBody>
          <a:bodyPr wrap="square">
            <a:spAutoFit/>
          </a:bodyPr>
          <a:lstStyle/>
          <a:p>
            <a:pPr algn="ctr"/>
            <a:r>
              <a:rPr lang="en-US" sz="2000" dirty="0">
                <a:latin typeface="Arial" panose="020B0604020202020204" pitchFamily="34" charset="0"/>
                <a:cs typeface="Arial" panose="020B0604020202020204" pitchFamily="34" charset="0"/>
              </a:rPr>
              <a:t>What pieces of information do we need to extract from the forecast call? What format will the data come back in (</a:t>
            </a:r>
            <a:r>
              <a:rPr lang="en-US" sz="2000" b="1" dirty="0">
                <a:latin typeface="Arial" panose="020B0604020202020204" pitchFamily="34" charset="0"/>
                <a:cs typeface="Arial" panose="020B0604020202020204" pitchFamily="34" charset="0"/>
              </a:rPr>
              <a:t>Hint:</a:t>
            </a:r>
            <a:r>
              <a:rPr lang="en-US" sz="2000" dirty="0">
                <a:latin typeface="Arial" panose="020B0604020202020204" pitchFamily="34" charset="0"/>
                <a:cs typeface="Arial" panose="020B0604020202020204" pitchFamily="34" charset="0"/>
              </a:rPr>
              <a:t> The lower and upper bounds come back with one column per level)? Are there any restrictions we want to place on the results (</a:t>
            </a:r>
            <a:r>
              <a:rPr lang="en-US" sz="2000" b="1" dirty="0">
                <a:latin typeface="Arial" panose="020B0604020202020204" pitchFamily="34" charset="0"/>
                <a:cs typeface="Arial" panose="020B0604020202020204" pitchFamily="34" charset="0"/>
              </a:rPr>
              <a:t>Hint:</a:t>
            </a:r>
            <a:r>
              <a:rPr lang="en-US" sz="2000" dirty="0">
                <a:latin typeface="Arial" panose="020B0604020202020204" pitchFamily="34" charset="0"/>
                <a:cs typeface="Arial" panose="020B0604020202020204" pitchFamily="34" charset="0"/>
              </a:rPr>
              <a:t> Rounding, Truncating at 0)?</a:t>
            </a:r>
          </a:p>
        </p:txBody>
      </p:sp>
      <p:sp>
        <p:nvSpPr>
          <p:cNvPr id="14" name="Rectangle: Rounded Corners 13">
            <a:extLst>
              <a:ext uri="{FF2B5EF4-FFF2-40B4-BE49-F238E27FC236}">
                <a16:creationId xmlns:a16="http://schemas.microsoft.com/office/drawing/2014/main" id="{5B2A4A2C-E75E-22D6-BF6F-D27BEDA14537}"/>
              </a:ext>
            </a:extLst>
          </p:cNvPr>
          <p:cNvSpPr/>
          <p:nvPr/>
        </p:nvSpPr>
        <p:spPr>
          <a:xfrm>
            <a:off x="1322529" y="1807520"/>
            <a:ext cx="9711037" cy="659287"/>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37A08CE9-2859-C976-EF85-09168E288BAB}"/>
              </a:ext>
            </a:extLst>
          </p:cNvPr>
          <p:cNvSpPr>
            <a:spLocks noGrp="1"/>
          </p:cNvSpPr>
          <p:nvPr>
            <p:ph type="title"/>
          </p:nvPr>
        </p:nvSpPr>
        <p:spPr>
          <a:xfrm>
            <a:off x="838200" y="20563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Extracting the Median &amp; 95% PI Bounds</a:t>
            </a:r>
          </a:p>
        </p:txBody>
      </p:sp>
      <p:sp>
        <p:nvSpPr>
          <p:cNvPr id="4" name="TextBox 3">
            <a:extLst>
              <a:ext uri="{FF2B5EF4-FFF2-40B4-BE49-F238E27FC236}">
                <a16:creationId xmlns:a16="http://schemas.microsoft.com/office/drawing/2014/main" id="{2DD10F9B-FD57-4961-2BC3-BBA082BD9DAB}"/>
              </a:ext>
            </a:extLst>
          </p:cNvPr>
          <p:cNvSpPr txBox="1"/>
          <p:nvPr/>
        </p:nvSpPr>
        <p:spPr>
          <a:xfrm>
            <a:off x="2743199" y="1889300"/>
            <a:ext cx="6705600" cy="492443"/>
          </a:xfrm>
          <a:prstGeom prst="rect">
            <a:avLst/>
          </a:prstGeom>
          <a:noFill/>
        </p:spPr>
        <p:txBody>
          <a:bodyPr wrap="square">
            <a:spAutoFit/>
          </a:bodyPr>
          <a:lstStyle/>
          <a:p>
            <a:r>
              <a:rPr lang="en-US" sz="2600" b="1" kern="1200" dirty="0">
                <a:solidFill>
                  <a:schemeClr val="tx1"/>
                </a:solidFill>
                <a:effectLst/>
                <a:latin typeface="Courier New" panose="02070309020205020404" pitchFamily="49" charset="0"/>
                <a:cs typeface="Courier New" panose="02070309020205020404" pitchFamily="49" charset="0"/>
              </a:rPr>
              <a:t>forecast(fit, h = 1, level = </a:t>
            </a:r>
            <a:r>
              <a:rPr lang="en-US" sz="2600" b="1" dirty="0">
                <a:latin typeface="Courier New" panose="02070309020205020404" pitchFamily="49" charset="0"/>
                <a:cs typeface="Courier New" panose="02070309020205020404" pitchFamily="49" charset="0"/>
              </a:rPr>
              <a:t>95</a:t>
            </a:r>
            <a:r>
              <a:rPr lang="en-US" sz="2600" b="1" kern="1200" dirty="0">
                <a:solidFill>
                  <a:schemeClr val="tx1"/>
                </a:solidFill>
                <a:effectLst/>
                <a:latin typeface="Courier New" panose="02070309020205020404" pitchFamily="49" charset="0"/>
                <a:cs typeface="Courier New" panose="02070309020205020404" pitchFamily="49" charset="0"/>
              </a:rPr>
              <a:t>)</a:t>
            </a:r>
            <a:endParaRPr lang="en-US" sz="2600" b="1" dirty="0"/>
          </a:p>
        </p:txBody>
      </p:sp>
      <p:sp>
        <p:nvSpPr>
          <p:cNvPr id="15" name="Rectangle: Rounded Corners 14">
            <a:extLst>
              <a:ext uri="{FF2B5EF4-FFF2-40B4-BE49-F238E27FC236}">
                <a16:creationId xmlns:a16="http://schemas.microsoft.com/office/drawing/2014/main" id="{30458D2B-CF88-4F5A-C2B9-47F949068D01}"/>
              </a:ext>
            </a:extLst>
          </p:cNvPr>
          <p:cNvSpPr/>
          <p:nvPr/>
        </p:nvSpPr>
        <p:spPr>
          <a:xfrm>
            <a:off x="1339706" y="3125953"/>
            <a:ext cx="2248076" cy="106083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C34FAC0-3F50-F41F-8737-CB78649F9D15}"/>
              </a:ext>
            </a:extLst>
          </p:cNvPr>
          <p:cNvSpPr txBox="1"/>
          <p:nvPr/>
        </p:nvSpPr>
        <p:spPr>
          <a:xfrm>
            <a:off x="1517010" y="3312231"/>
            <a:ext cx="1893467"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Lower Bound</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fcst$lower</a:t>
            </a:r>
            <a:r>
              <a:rPr lang="en-US" sz="2000" dirty="0">
                <a:latin typeface="Arial" panose="020B0604020202020204" pitchFamily="34" charset="0"/>
                <a:cs typeface="Arial" panose="020B0604020202020204" pitchFamily="34" charset="0"/>
              </a:rPr>
              <a:t>)</a:t>
            </a:r>
          </a:p>
        </p:txBody>
      </p:sp>
      <p:sp>
        <p:nvSpPr>
          <p:cNvPr id="17" name="Rectangle: Rounded Corners 16">
            <a:extLst>
              <a:ext uri="{FF2B5EF4-FFF2-40B4-BE49-F238E27FC236}">
                <a16:creationId xmlns:a16="http://schemas.microsoft.com/office/drawing/2014/main" id="{9CA15913-8386-313B-2919-F0B3361EFE5A}"/>
              </a:ext>
            </a:extLst>
          </p:cNvPr>
          <p:cNvSpPr/>
          <p:nvPr/>
        </p:nvSpPr>
        <p:spPr>
          <a:xfrm>
            <a:off x="5057907" y="3126088"/>
            <a:ext cx="2240280" cy="106070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0E1E6C31-C235-BBB3-6AB0-CCC34CC93680}"/>
              </a:ext>
            </a:extLst>
          </p:cNvPr>
          <p:cNvSpPr/>
          <p:nvPr/>
        </p:nvSpPr>
        <p:spPr>
          <a:xfrm>
            <a:off x="8802596" y="3126088"/>
            <a:ext cx="2240280" cy="106070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6D4609E-FAB3-EC11-391B-E1FF64C77B01}"/>
              </a:ext>
            </a:extLst>
          </p:cNvPr>
          <p:cNvSpPr txBox="1"/>
          <p:nvPr/>
        </p:nvSpPr>
        <p:spPr>
          <a:xfrm>
            <a:off x="5186826" y="3312231"/>
            <a:ext cx="1965603"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Point Forecast</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fcst$mean</a:t>
            </a:r>
            <a:r>
              <a:rPr lang="en-US" sz="2000" dirty="0">
                <a:latin typeface="Arial" panose="020B0604020202020204" pitchFamily="34" charset="0"/>
                <a:cs typeface="Arial" panose="020B0604020202020204" pitchFamily="34" charset="0"/>
              </a:rPr>
              <a:t>)</a:t>
            </a:r>
          </a:p>
        </p:txBody>
      </p:sp>
      <p:sp>
        <p:nvSpPr>
          <p:cNvPr id="13" name="TextBox 12">
            <a:extLst>
              <a:ext uri="{FF2B5EF4-FFF2-40B4-BE49-F238E27FC236}">
                <a16:creationId xmlns:a16="http://schemas.microsoft.com/office/drawing/2014/main" id="{8070090A-10ED-75A2-415A-FCF086DA90C6}"/>
              </a:ext>
            </a:extLst>
          </p:cNvPr>
          <p:cNvSpPr txBox="1"/>
          <p:nvPr/>
        </p:nvSpPr>
        <p:spPr>
          <a:xfrm>
            <a:off x="8976002" y="3312231"/>
            <a:ext cx="1893468"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Upper Bound</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fcst$upper</a:t>
            </a:r>
            <a:r>
              <a:rPr lang="en-US" sz="2000" dirty="0">
                <a:latin typeface="Arial" panose="020B0604020202020204" pitchFamily="34" charset="0"/>
                <a:cs typeface="Arial" panose="020B0604020202020204" pitchFamily="34" charset="0"/>
              </a:rPr>
              <a:t>)</a:t>
            </a:r>
          </a:p>
        </p:txBody>
      </p:sp>
      <p:cxnSp>
        <p:nvCxnSpPr>
          <p:cNvPr id="23" name="Straight Arrow Connector 22">
            <a:extLst>
              <a:ext uri="{FF2B5EF4-FFF2-40B4-BE49-F238E27FC236}">
                <a16:creationId xmlns:a16="http://schemas.microsoft.com/office/drawing/2014/main" id="{366A8FD6-6E61-EF2E-E110-AC1A43598D35}"/>
              </a:ext>
            </a:extLst>
          </p:cNvPr>
          <p:cNvCxnSpPr>
            <a:stCxn id="14" idx="2"/>
            <a:endCxn id="15" idx="0"/>
          </p:cNvCxnSpPr>
          <p:nvPr/>
        </p:nvCxnSpPr>
        <p:spPr>
          <a:xfrm flipH="1">
            <a:off x="2463744" y="2466807"/>
            <a:ext cx="3714304" cy="65914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1C42C46E-CF13-A4EA-FF1F-A8435A05F07D}"/>
              </a:ext>
            </a:extLst>
          </p:cNvPr>
          <p:cNvCxnSpPr>
            <a:stCxn id="14" idx="2"/>
            <a:endCxn id="17" idx="0"/>
          </p:cNvCxnSpPr>
          <p:nvPr/>
        </p:nvCxnSpPr>
        <p:spPr>
          <a:xfrm flipH="1">
            <a:off x="6178047" y="2466807"/>
            <a:ext cx="1" cy="65928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CDF8E05-64ED-F60B-7F83-A26643634A37}"/>
              </a:ext>
            </a:extLst>
          </p:cNvPr>
          <p:cNvCxnSpPr>
            <a:stCxn id="14" idx="2"/>
            <a:endCxn id="21" idx="0"/>
          </p:cNvCxnSpPr>
          <p:nvPr/>
        </p:nvCxnSpPr>
        <p:spPr>
          <a:xfrm>
            <a:off x="6178048" y="2466807"/>
            <a:ext cx="3744688" cy="65928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9B65D90B-C2C6-044B-E706-8CB518B3CDEE}"/>
              </a:ext>
            </a:extLst>
          </p:cNvPr>
          <p:cNvSpPr/>
          <p:nvPr/>
        </p:nvSpPr>
        <p:spPr>
          <a:xfrm>
            <a:off x="1240481" y="4731493"/>
            <a:ext cx="9784080" cy="548640"/>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72BF7CB-8886-BADB-EC60-1021FF78F81C}"/>
              </a:ext>
            </a:extLst>
          </p:cNvPr>
          <p:cNvSpPr txBox="1"/>
          <p:nvPr/>
        </p:nvSpPr>
        <p:spPr>
          <a:xfrm>
            <a:off x="3417222" y="4804699"/>
            <a:ext cx="5357557" cy="44627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Things to think about when writing rules</a:t>
            </a:r>
            <a:r>
              <a:rPr lang="en-US" sz="2300" b="1"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06310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6" grpId="0"/>
      <p:bldP spid="17" grpId="0" animBg="1"/>
      <p:bldP spid="21" grpId="0" animBg="1"/>
      <p:bldP spid="8" grpId="0"/>
      <p:bldP spid="13" grpId="0"/>
      <p:bldP spid="29" grpId="0" animBg="1"/>
      <p:bldP spid="2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4D9C7-8D03-0F38-5A3B-86520AC5BA74}"/>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9D1923CB-37CD-9B91-CC2C-4394A3E307EF}"/>
              </a:ext>
            </a:extLst>
          </p:cNvPr>
          <p:cNvSpPr/>
          <p:nvPr/>
        </p:nvSpPr>
        <p:spPr>
          <a:xfrm>
            <a:off x="914400" y="5434866"/>
            <a:ext cx="10363200" cy="707886"/>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19" name="Rectangle: Rounded Corners 18">
            <a:extLst>
              <a:ext uri="{FF2B5EF4-FFF2-40B4-BE49-F238E27FC236}">
                <a16:creationId xmlns:a16="http://schemas.microsoft.com/office/drawing/2014/main" id="{98910E2A-9F20-B76F-5FE4-94D56E9D86A3}"/>
              </a:ext>
            </a:extLst>
          </p:cNvPr>
          <p:cNvSpPr/>
          <p:nvPr/>
        </p:nvSpPr>
        <p:spPr>
          <a:xfrm>
            <a:off x="892629" y="3938265"/>
            <a:ext cx="10363200" cy="97214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8262E54D-F801-B1EA-EA61-E05290CDC790}"/>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58095EA9-3E08-FA78-7A51-804A0160DA65}"/>
              </a:ext>
            </a:extLst>
          </p:cNvPr>
          <p:cNvSpPr/>
          <p:nvPr/>
        </p:nvSpPr>
        <p:spPr>
          <a:xfrm>
            <a:off x="914400" y="2335363"/>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7A31143-B776-CBAF-2B90-65A066BF544F}"/>
              </a:ext>
            </a:extLst>
          </p:cNvPr>
          <p:cNvSpPr txBox="1"/>
          <p:nvPr/>
        </p:nvSpPr>
        <p:spPr>
          <a:xfrm>
            <a:off x="914400" y="1423134"/>
            <a:ext cx="10363200" cy="477054"/>
          </a:xfrm>
          <a:prstGeom prst="rect">
            <a:avLst/>
          </a:prstGeom>
          <a:noFill/>
        </p:spPr>
        <p:txBody>
          <a:bodyPr wrap="square">
            <a:spAutoFit/>
          </a:bodyPr>
          <a:lstStyle/>
          <a:p>
            <a:r>
              <a:rPr lang="en-US" sz="2500" b="1">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C6CBA168-BA4E-6249-C92C-96D88BA3B7B6}"/>
              </a:ext>
            </a:extLst>
          </p:cNvPr>
          <p:cNvSpPr txBox="1"/>
          <p:nvPr/>
        </p:nvSpPr>
        <p:spPr>
          <a:xfrm>
            <a:off x="1080063" y="2476813"/>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mean, lower, and upper are all finite (no </a:t>
            </a:r>
            <a:r>
              <a:rPr lang="en-US" sz="2200" dirty="0">
                <a:latin typeface="Courier New" panose="02070309020205020404" pitchFamily="49" charset="0"/>
                <a:cs typeface="Courier New" panose="02070309020205020404" pitchFamily="49" charset="0"/>
              </a:rPr>
              <a:t>NA/</a:t>
            </a:r>
            <a:r>
              <a:rPr lang="en-US" sz="2200" dirty="0" err="1">
                <a:latin typeface="Courier New" panose="02070309020205020404" pitchFamily="49" charset="0"/>
                <a:cs typeface="Courier New" panose="02070309020205020404" pitchFamily="49" charset="0"/>
              </a:rPr>
              <a:t>NaN</a:t>
            </a:r>
            <a:r>
              <a:rPr lang="en-US" sz="2200" dirty="0">
                <a:latin typeface="Courier New" panose="02070309020205020404" pitchFamily="49" charset="0"/>
                <a:cs typeface="Courier New" panose="02070309020205020404" pitchFamily="49" charset="0"/>
              </a:rPr>
              <a:t>/Inf</a:t>
            </a:r>
            <a:r>
              <a:rPr lang="en-US" sz="2200" dirty="0">
                <a:latin typeface="Arial" panose="020B0604020202020204" pitchFamily="34" charset="0"/>
                <a:cs typeface="Arial" panose="020B0604020202020204" pitchFamily="34" charset="0"/>
              </a:rPr>
              <a:t>) at each forecast step; halt if not.</a:t>
            </a:r>
          </a:p>
        </p:txBody>
      </p:sp>
      <p:sp>
        <p:nvSpPr>
          <p:cNvPr id="15" name="TextBox 14">
            <a:extLst>
              <a:ext uri="{FF2B5EF4-FFF2-40B4-BE49-F238E27FC236}">
                <a16:creationId xmlns:a16="http://schemas.microsoft.com/office/drawing/2014/main" id="{E398AF0A-C99D-6FB0-E01B-64FB3BA6F465}"/>
              </a:ext>
            </a:extLst>
          </p:cNvPr>
          <p:cNvSpPr txBox="1"/>
          <p:nvPr/>
        </p:nvSpPr>
        <p:spPr>
          <a:xfrm>
            <a:off x="1080063" y="4039615"/>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0.025 ≤ 0.5 ≤ 0.975 (and generally, quantiles non-decreasing) within every target week. Halt on any violation.</a:t>
            </a:r>
          </a:p>
        </p:txBody>
      </p:sp>
      <p:sp>
        <p:nvSpPr>
          <p:cNvPr id="17" name="TextBox 16">
            <a:extLst>
              <a:ext uri="{FF2B5EF4-FFF2-40B4-BE49-F238E27FC236}">
                <a16:creationId xmlns:a16="http://schemas.microsoft.com/office/drawing/2014/main" id="{8A474FCC-268E-7485-B523-B32FE0AAA565}"/>
              </a:ext>
            </a:extLst>
          </p:cNvPr>
          <p:cNvSpPr txBox="1"/>
          <p:nvPr/>
        </p:nvSpPr>
        <p:spPr>
          <a:xfrm>
            <a:off x="1519901" y="5576852"/>
            <a:ext cx="9152198"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 </a:t>
            </a:r>
            <a:r>
              <a:rPr lang="en-US" sz="2200" dirty="0">
                <a:latin typeface="Arial" panose="020B0604020202020204" pitchFamily="34" charset="0"/>
                <a:cs typeface="Arial" panose="020B0604020202020204" pitchFamily="34" charset="0"/>
              </a:rPr>
              <a:t>Confirm all value entries are non-negative integers.</a:t>
            </a:r>
            <a:br>
              <a:rPr lang="en-US" sz="2200" dirty="0">
                <a:latin typeface="Arial" panose="020B0604020202020204" pitchFamily="34" charset="0"/>
                <a:cs typeface="Arial" panose="020B0604020202020204" pitchFamily="34" charset="0"/>
              </a:rPr>
            </a:b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529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B24BE-93CB-7F9B-592F-0E60D40782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9C09176-44C7-571B-C8F8-938E9DA26256}"/>
              </a:ext>
            </a:extLst>
          </p:cNvPr>
          <p:cNvSpPr/>
          <p:nvPr/>
        </p:nvSpPr>
        <p:spPr>
          <a:xfrm>
            <a:off x="914400" y="9482"/>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08E44A54-19EA-98DB-15CE-A28992B70E01}"/>
              </a:ext>
            </a:extLst>
          </p:cNvPr>
          <p:cNvSpPr/>
          <p:nvPr/>
        </p:nvSpPr>
        <p:spPr>
          <a:xfrm>
            <a:off x="1061194" y="2834422"/>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44AF07B7-FE47-C695-2B2A-D3E596458580}"/>
              </a:ext>
            </a:extLst>
          </p:cNvPr>
          <p:cNvSpPr/>
          <p:nvPr/>
        </p:nvSpPr>
        <p:spPr>
          <a:xfrm>
            <a:off x="1061194" y="2834422"/>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6" name="Shape 5">
            <a:extLst>
              <a:ext uri="{FF2B5EF4-FFF2-40B4-BE49-F238E27FC236}">
                <a16:creationId xmlns:a16="http://schemas.microsoft.com/office/drawing/2014/main" id="{6E63A24B-1024-1E10-AC9C-8F34CCA90A09}"/>
              </a:ext>
            </a:extLst>
          </p:cNvPr>
          <p:cNvSpPr/>
          <p:nvPr/>
        </p:nvSpPr>
        <p:spPr>
          <a:xfrm>
            <a:off x="1061194" y="4419232"/>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DD684640-EEDF-7CD1-BB2D-33BF7A962CEC}"/>
              </a:ext>
            </a:extLst>
          </p:cNvPr>
          <p:cNvSpPr/>
          <p:nvPr/>
        </p:nvSpPr>
        <p:spPr>
          <a:xfrm>
            <a:off x="1061194" y="4419232"/>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8720B151-5CEA-5F47-302B-7F3431548D8C}"/>
              </a:ext>
            </a:extLst>
          </p:cNvPr>
          <p:cNvSpPr/>
          <p:nvPr/>
        </p:nvSpPr>
        <p:spPr>
          <a:xfrm>
            <a:off x="1858754" y="2783483"/>
            <a:ext cx="9144000" cy="127215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Using the information from the previous slide, </a:t>
            </a:r>
            <a:r>
              <a:rPr lang="en-US" sz="2200" b="1" dirty="0">
                <a:solidFill>
                  <a:schemeClr val="accent2"/>
                </a:solidFill>
                <a:latin typeface="Arial" panose="020B0604020202020204" pitchFamily="34" charset="0"/>
                <a:ea typeface="Calibri" pitchFamily="34" charset="-122"/>
                <a:cs typeface="Arial" panose="020B0604020202020204" pitchFamily="34" charset="0"/>
              </a:rPr>
              <a:t>write the rule</a:t>
            </a:r>
            <a:r>
              <a:rPr lang="en-US" sz="2200" dirty="0">
                <a:latin typeface="Arial" panose="020B0604020202020204" pitchFamily="34" charset="0"/>
                <a:ea typeface="Calibri" pitchFamily="34" charset="-122"/>
                <a:cs typeface="Arial" panose="020B0604020202020204" pitchFamily="34" charset="0"/>
              </a:rPr>
              <a:t> for extracting the median and 95% PI bounds from the forecast function (Rule 4). Make sure to include a statement about the output structure, any rules about results, and code checks (</a:t>
            </a:r>
            <a:r>
              <a:rPr lang="en-US" sz="2200" b="1" dirty="0">
                <a:latin typeface="Arial" panose="020B0604020202020204" pitchFamily="34" charset="0"/>
                <a:ea typeface="Calibri" pitchFamily="34" charset="-122"/>
                <a:cs typeface="Arial" panose="020B0604020202020204" pitchFamily="34" charset="0"/>
              </a:rPr>
              <a:t>Hint:</a:t>
            </a:r>
            <a:r>
              <a:rPr lang="en-US" sz="2200" dirty="0">
                <a:latin typeface="Arial" panose="020B0604020202020204" pitchFamily="34" charset="0"/>
                <a:ea typeface="Calibri" pitchFamily="34" charset="-122"/>
                <a:cs typeface="Arial" panose="020B0604020202020204" pitchFamily="34" charset="0"/>
              </a:rPr>
              <a:t> See previous slides). </a:t>
            </a:r>
            <a:endParaRPr lang="en-US" sz="22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22E98050-3B26-2E60-47CD-48DCD9692663}"/>
              </a:ext>
            </a:extLst>
          </p:cNvPr>
          <p:cNvSpPr/>
          <p:nvPr/>
        </p:nvSpPr>
        <p:spPr>
          <a:xfrm>
            <a:off x="1061194" y="5610621"/>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F9257B18-CF98-0D3A-8CC1-A41C7053F17B}"/>
              </a:ext>
            </a:extLst>
          </p:cNvPr>
          <p:cNvSpPr/>
          <p:nvPr/>
        </p:nvSpPr>
        <p:spPr>
          <a:xfrm>
            <a:off x="1061194" y="561062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8BF63ABB-052E-B8B6-88A3-076604ABA9EF}"/>
              </a:ext>
            </a:extLst>
          </p:cNvPr>
          <p:cNvSpPr/>
          <p:nvPr/>
        </p:nvSpPr>
        <p:spPr>
          <a:xfrm>
            <a:off x="1858754" y="5497910"/>
            <a:ext cx="9914146" cy="836423"/>
          </a:xfrm>
          <a:prstGeom prst="rect">
            <a:avLst/>
          </a:prstGeom>
          <a:noFill/>
          <a:ln/>
        </p:spPr>
        <p:txBody>
          <a:bodyPr wrap="square" lIns="0" tIns="0" rIns="0" bIns="0" rtlCol="0" anchor="ctr"/>
          <a:lstStyle/>
          <a:p>
            <a:pPr lvl="0" defTabSz="1219170">
              <a:defRPr/>
            </a:pP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2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re-generate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scripts</a:t>
            </a:r>
            <a:r>
              <a:rPr lang="en-US" sz="2200" b="1" dirty="0">
                <a:solidFill>
                  <a:schemeClr val="accent2"/>
                </a:solidFill>
                <a:latin typeface="Arial" panose="020B0604020202020204" pitchFamily="34" charset="0"/>
                <a:ea typeface="Calibri" pitchFamily="34" charset="-122"/>
                <a:cs typeface="Arial" panose="020B0604020202020204" pitchFamily="34" charset="0"/>
              </a:rPr>
              <a:t>/0</a:t>
            </a:r>
            <a:r>
              <a:rPr lang="en-US" sz="2200" b="1" dirty="0">
                <a:solidFill>
                  <a:schemeClr val="accent2"/>
                </a:solidFill>
                <a:latin typeface="Arial" panose="020B0604020202020204" pitchFamily="34" charset="0"/>
                <a:cs typeface="Arial" panose="020B0604020202020204" pitchFamily="34" charset="0"/>
              </a:rPr>
              <a:t>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check the output.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267F6892-7940-C47F-13AF-55651BCF7487}"/>
              </a:ext>
            </a:extLst>
          </p:cNvPr>
          <p:cNvSpPr/>
          <p:nvPr/>
        </p:nvSpPr>
        <p:spPr>
          <a:xfrm>
            <a:off x="800100" y="975115"/>
            <a:ext cx="10591800" cy="1472583"/>
          </a:xfrm>
          <a:prstGeom prst="roundRect">
            <a:avLst/>
          </a:prstGeom>
          <a:solidFill>
            <a:schemeClr val="bg1">
              <a:lumMod val="95000"/>
            </a:schemeClr>
          </a:solidFill>
          <a:ln/>
        </p:spPr>
        <p:txBody>
          <a:bodyPr wrap="square" lIns="0" tIns="0" rIns="0" bIns="0" rtlCol="0" anchor="ctr"/>
          <a:lstStyle/>
          <a:p>
            <a:pPr algn="ctr" defTabSz="1219170"/>
            <a:r>
              <a:rPr lang="en-US" sz="2500" b="1" u="sng" dirty="0">
                <a:solidFill>
                  <a:srgbClr val="334155"/>
                </a:solidFill>
                <a:latin typeface="Arial" panose="020B0604020202020204" pitchFamily="34" charset="0"/>
                <a:ea typeface="Calibri" pitchFamily="34" charset="-122"/>
                <a:cs typeface="Arial" panose="020B0604020202020204" pitchFamily="34" charset="0"/>
              </a:rPr>
              <a:t>On your own</a:t>
            </a:r>
            <a:r>
              <a:rPr lang="en-US" sz="2500" dirty="0">
                <a:solidFill>
                  <a:srgbClr val="334155"/>
                </a:solidFill>
                <a:latin typeface="Arial" panose="020B0604020202020204" pitchFamily="34" charset="0"/>
                <a:ea typeface="Calibri" pitchFamily="34" charset="-122"/>
                <a:cs typeface="Arial" panose="020B0604020202020204" pitchFamily="34" charset="0"/>
              </a:rPr>
              <a:t>, add a rule for extracting the median and 95% PI Bounds. If you get stuck, pay particular attention to the </a:t>
            </a:r>
            <a:r>
              <a:rPr lang="en-US" sz="2500" b="1" dirty="0">
                <a:solidFill>
                  <a:srgbClr val="334155"/>
                </a:solidFill>
                <a:latin typeface="Arial" panose="020B0604020202020204" pitchFamily="34" charset="0"/>
                <a:ea typeface="Calibri" pitchFamily="34" charset="-122"/>
                <a:cs typeface="Arial" panose="020B0604020202020204" pitchFamily="34" charset="0"/>
              </a:rPr>
              <a:t>hints</a:t>
            </a:r>
            <a:r>
              <a:rPr lang="en-US" sz="2500" dirty="0">
                <a:solidFill>
                  <a:srgbClr val="334155"/>
                </a:solidFill>
                <a:latin typeface="Arial" panose="020B0604020202020204" pitchFamily="34" charset="0"/>
                <a:ea typeface="Calibri" pitchFamily="34" charset="-122"/>
                <a:cs typeface="Arial" panose="020B0604020202020204" pitchFamily="34" charset="0"/>
              </a:rPr>
              <a:t> provided on the previous slide.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C79F1E2E-1FF3-4833-041F-7F62F97EEAD8}"/>
              </a:ext>
            </a:extLst>
          </p:cNvPr>
          <p:cNvSpPr/>
          <p:nvPr/>
        </p:nvSpPr>
        <p:spPr>
          <a:xfrm>
            <a:off x="1858754" y="4525912"/>
            <a:ext cx="9509760" cy="42672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200" dirty="0">
                <a:solidFill>
                  <a:schemeClr val="accent2"/>
                </a:solidFill>
                <a:latin typeface="Arial" panose="020B0604020202020204" pitchFamily="34" charset="0"/>
                <a:ea typeface="Calibri" pitchFamily="34" charset="-122"/>
                <a:cs typeface="Arial" panose="020B0604020202020204" pitchFamily="34" charset="0"/>
              </a:rPr>
              <a:t> </a:t>
            </a:r>
            <a:r>
              <a:rPr lang="en-US" sz="2200" dirty="0">
                <a:latin typeface="Arial" panose="020B0604020202020204" pitchFamily="34" charset="0"/>
                <a:ea typeface="Calibri" pitchFamily="34" charset="-122"/>
                <a:cs typeface="Arial" panose="020B0604020202020204" pitchFamily="34" charset="0"/>
              </a:rPr>
              <a:t>from your updated rules document.</a:t>
            </a:r>
            <a:endParaRPr lang="en-US" sz="22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1D64CEC5-A892-F201-1DF9-7D1967A0592E}"/>
              </a:ext>
            </a:extLst>
          </p:cNvPr>
          <p:cNvPicPr>
            <a:picLocks noChangeAspect="1"/>
          </p:cNvPicPr>
          <p:nvPr/>
        </p:nvPicPr>
        <p:blipFill>
          <a:blip r:embed="rId4"/>
          <a:stretch>
            <a:fillRect/>
          </a:stretch>
        </p:blipFill>
        <p:spPr>
          <a:xfrm>
            <a:off x="2663312" y="4046"/>
            <a:ext cx="981703" cy="981703"/>
          </a:xfrm>
          <a:prstGeom prst="rect">
            <a:avLst/>
          </a:prstGeom>
        </p:spPr>
      </p:pic>
    </p:spTree>
    <p:extLst>
      <p:ext uri="{BB962C8B-B14F-4D97-AF65-F5344CB8AC3E}">
        <p14:creationId xmlns:p14="http://schemas.microsoft.com/office/powerpoint/2010/main" val="52842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4" grpId="0" animBg="1"/>
      <p:bldP spid="18" grpId="0" animBg="1"/>
    </p:bldLst>
  </p:timing>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9">
            <a:extLst>
              <a:ext uri="{FF2B5EF4-FFF2-40B4-BE49-F238E27FC236}">
                <a16:creationId xmlns:a16="http://schemas.microsoft.com/office/drawing/2014/main" id="{62DEAB91-CB8F-51BC-CFB9-344D42171A6F}"/>
              </a:ext>
            </a:extLst>
          </p:cNvPr>
          <p:cNvSpPr txBox="1">
            <a:spLocks/>
          </p:cNvSpPr>
          <p:nvPr/>
        </p:nvSpPr>
        <p:spPr>
          <a:xfrm>
            <a:off x="838200" y="2928199"/>
            <a:ext cx="10515600" cy="6400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7030A0"/>
                </a:solidFill>
                <a:latin typeface="Arial" panose="020B0604020202020204" pitchFamily="34" charset="0"/>
                <a:cs typeface="Arial" panose="020B0604020202020204" pitchFamily="34" charset="0"/>
              </a:rPr>
              <a:t>Preparing File in </a:t>
            </a:r>
            <a:r>
              <a:rPr lang="en-US" b="1" dirty="0" err="1">
                <a:solidFill>
                  <a:srgbClr val="7030A0"/>
                </a:solidFill>
                <a:latin typeface="Arial" panose="020B0604020202020204" pitchFamily="34" charset="0"/>
                <a:cs typeface="Arial" panose="020B0604020202020204" pitchFamily="34" charset="0"/>
              </a:rPr>
              <a:t>FluSight</a:t>
            </a:r>
            <a:r>
              <a:rPr lang="en-US" b="1" dirty="0">
                <a:solidFill>
                  <a:srgbClr val="7030A0"/>
                </a:solidFill>
                <a:latin typeface="Arial" panose="020B0604020202020204" pitchFamily="34" charset="0"/>
                <a:cs typeface="Arial" panose="020B0604020202020204" pitchFamily="34" charset="0"/>
              </a:rPr>
              <a:t> Format</a:t>
            </a:r>
          </a:p>
        </p:txBody>
      </p:sp>
      <p:sp>
        <p:nvSpPr>
          <p:cNvPr id="4" name="Title 9">
            <a:extLst>
              <a:ext uri="{FF2B5EF4-FFF2-40B4-BE49-F238E27FC236}">
                <a16:creationId xmlns:a16="http://schemas.microsoft.com/office/drawing/2014/main" id="{90C66CFB-6DF9-6876-499F-83432C4F7811}"/>
              </a:ext>
            </a:extLst>
          </p:cNvPr>
          <p:cNvSpPr txBox="1">
            <a:spLocks/>
          </p:cNvSpPr>
          <p:nvPr/>
        </p:nvSpPr>
        <p:spPr>
          <a:xfrm>
            <a:off x="838200" y="3878048"/>
            <a:ext cx="10515600" cy="6400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a:solidFill>
                  <a:schemeClr val="accent2"/>
                </a:solidFill>
                <a:latin typeface="Arial" panose="020B0604020202020204" pitchFamily="34" charset="0"/>
                <a:cs typeface="Arial" panose="020B0604020202020204" pitchFamily="34" charset="0"/>
              </a:rPr>
              <a:t>What is the </a:t>
            </a:r>
            <a:r>
              <a:rPr lang="en-US" sz="3000" b="1" dirty="0" err="1">
                <a:solidFill>
                  <a:schemeClr val="accent2"/>
                </a:solidFill>
                <a:latin typeface="Arial" panose="020B0604020202020204" pitchFamily="34" charset="0"/>
                <a:cs typeface="Arial" panose="020B0604020202020204" pitchFamily="34" charset="0"/>
              </a:rPr>
              <a:t>FluSight</a:t>
            </a:r>
            <a:r>
              <a:rPr lang="en-US" sz="3000" b="1" dirty="0">
                <a:solidFill>
                  <a:schemeClr val="accent2"/>
                </a:solidFill>
                <a:latin typeface="Arial" panose="020B0604020202020204" pitchFamily="34" charset="0"/>
                <a:cs typeface="Arial" panose="020B0604020202020204" pitchFamily="34" charset="0"/>
              </a:rPr>
              <a:t> format? </a:t>
            </a:r>
          </a:p>
        </p:txBody>
      </p:sp>
    </p:spTree>
    <p:extLst>
      <p:ext uri="{BB962C8B-B14F-4D97-AF65-F5344CB8AC3E}">
        <p14:creationId xmlns:p14="http://schemas.microsoft.com/office/powerpoint/2010/main" val="1191271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3E1B0-B789-6CAB-EAAD-2D4D285E7FD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0633ED7-02FC-D766-EBDE-7758B24E4392}"/>
              </a:ext>
            </a:extLst>
          </p:cNvPr>
          <p:cNvGraphicFramePr>
            <a:graphicFrameLocks noGrp="1"/>
          </p:cNvGraphicFramePr>
          <p:nvPr>
            <p:extLst>
              <p:ext uri="{D42A27DB-BD31-4B8C-83A1-F6EECF244321}">
                <p14:modId xmlns:p14="http://schemas.microsoft.com/office/powerpoint/2010/main" val="3520608925"/>
              </p:ext>
            </p:extLst>
          </p:nvPr>
        </p:nvGraphicFramePr>
        <p:xfrm>
          <a:off x="104900" y="232107"/>
          <a:ext cx="12003465" cy="6294120"/>
        </p:xfrm>
        <a:graphic>
          <a:graphicData uri="http://schemas.openxmlformats.org/drawingml/2006/table">
            <a:tbl>
              <a:tblPr firstRow="1" bandRow="1">
                <a:tableStyleId>{5940675A-B579-460E-94D1-54222C63F5DA}</a:tableStyleId>
              </a:tblPr>
              <a:tblGrid>
                <a:gridCol w="2281287">
                  <a:extLst>
                    <a:ext uri="{9D8B030D-6E8A-4147-A177-3AD203B41FA5}">
                      <a16:colId xmlns:a16="http://schemas.microsoft.com/office/drawing/2014/main" val="833287054"/>
                    </a:ext>
                  </a:extLst>
                </a:gridCol>
                <a:gridCol w="3912124">
                  <a:extLst>
                    <a:ext uri="{9D8B030D-6E8A-4147-A177-3AD203B41FA5}">
                      <a16:colId xmlns:a16="http://schemas.microsoft.com/office/drawing/2014/main" val="2692972846"/>
                    </a:ext>
                  </a:extLst>
                </a:gridCol>
                <a:gridCol w="1979629">
                  <a:extLst>
                    <a:ext uri="{9D8B030D-6E8A-4147-A177-3AD203B41FA5}">
                      <a16:colId xmlns:a16="http://schemas.microsoft.com/office/drawing/2014/main" val="741367170"/>
                    </a:ext>
                  </a:extLst>
                </a:gridCol>
                <a:gridCol w="3830425">
                  <a:extLst>
                    <a:ext uri="{9D8B030D-6E8A-4147-A177-3AD203B41FA5}">
                      <a16:colId xmlns:a16="http://schemas.microsoft.com/office/drawing/2014/main" val="132666660"/>
                    </a:ext>
                  </a:extLst>
                </a:gridCol>
              </a:tblGrid>
              <a:tr h="370840">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37084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70840">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370840">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370840">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370840">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70840">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370840">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370840">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
        <p:nvSpPr>
          <p:cNvPr id="2" name="Rectangle 1">
            <a:extLst>
              <a:ext uri="{FF2B5EF4-FFF2-40B4-BE49-F238E27FC236}">
                <a16:creationId xmlns:a16="http://schemas.microsoft.com/office/drawing/2014/main" id="{CB140064-D1AA-ECDB-7143-2E9AA44AA42C}"/>
              </a:ext>
            </a:extLst>
          </p:cNvPr>
          <p:cNvSpPr/>
          <p:nvPr/>
        </p:nvSpPr>
        <p:spPr>
          <a:xfrm>
            <a:off x="9165266" y="4890981"/>
            <a:ext cx="616688"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44E9603-4101-86C9-957C-D12A42557D6C}"/>
              </a:ext>
            </a:extLst>
          </p:cNvPr>
          <p:cNvSpPr/>
          <p:nvPr/>
        </p:nvSpPr>
        <p:spPr>
          <a:xfrm>
            <a:off x="9101468" y="4416062"/>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635CE24-008B-82D8-017D-839EE921961C}"/>
              </a:ext>
            </a:extLst>
          </p:cNvPr>
          <p:cNvSpPr/>
          <p:nvPr/>
        </p:nvSpPr>
        <p:spPr>
          <a:xfrm>
            <a:off x="9604744" y="5376533"/>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379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C70D8-31BC-1A8E-CE27-F8E563676E11}"/>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First, Handling the Quantiles (Wide-to-Long)</a:t>
            </a:r>
          </a:p>
        </p:txBody>
      </p:sp>
      <p:graphicFrame>
        <p:nvGraphicFramePr>
          <p:cNvPr id="6" name="Table 5">
            <a:extLst>
              <a:ext uri="{FF2B5EF4-FFF2-40B4-BE49-F238E27FC236}">
                <a16:creationId xmlns:a16="http://schemas.microsoft.com/office/drawing/2014/main" id="{C0AC6C85-D289-3119-7683-C5DE1CD8507E}"/>
              </a:ext>
            </a:extLst>
          </p:cNvPr>
          <p:cNvGraphicFramePr>
            <a:graphicFrameLocks noGrp="1"/>
          </p:cNvGraphicFramePr>
          <p:nvPr>
            <p:extLst>
              <p:ext uri="{D42A27DB-BD31-4B8C-83A1-F6EECF244321}">
                <p14:modId xmlns:p14="http://schemas.microsoft.com/office/powerpoint/2010/main" val="3666505147"/>
              </p:ext>
            </p:extLst>
          </p:nvPr>
        </p:nvGraphicFramePr>
        <p:xfrm>
          <a:off x="2032001" y="1990169"/>
          <a:ext cx="8127999" cy="7924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1822723854"/>
                    </a:ext>
                  </a:extLst>
                </a:gridCol>
                <a:gridCol w="2709333">
                  <a:extLst>
                    <a:ext uri="{9D8B030D-6E8A-4147-A177-3AD203B41FA5}">
                      <a16:colId xmlns:a16="http://schemas.microsoft.com/office/drawing/2014/main" val="2579447744"/>
                    </a:ext>
                  </a:extLst>
                </a:gridCol>
                <a:gridCol w="2709333">
                  <a:extLst>
                    <a:ext uri="{9D8B030D-6E8A-4147-A177-3AD203B41FA5}">
                      <a16:colId xmlns:a16="http://schemas.microsoft.com/office/drawing/2014/main" val="3249254809"/>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0.025</a:t>
                      </a:r>
                    </a:p>
                  </a:txBody>
                  <a:tcPr/>
                </a:tc>
                <a:tc>
                  <a:txBody>
                    <a:bodyPr/>
                    <a:lstStyle/>
                    <a:p>
                      <a:pPr algn="ctr"/>
                      <a:r>
                        <a:rPr lang="en-US" sz="2000" dirty="0">
                          <a:latin typeface="Arial" panose="020B0604020202020204" pitchFamily="34" charset="0"/>
                          <a:cs typeface="Arial" panose="020B0604020202020204" pitchFamily="34" charset="0"/>
                        </a:rPr>
                        <a:t>0.5</a:t>
                      </a:r>
                    </a:p>
                  </a:txBody>
                  <a:tcPr/>
                </a:tc>
                <a:tc>
                  <a:txBody>
                    <a:bodyPr/>
                    <a:lstStyle/>
                    <a:p>
                      <a:pPr algn="ctr"/>
                      <a:r>
                        <a:rPr lang="en-US" sz="2000" dirty="0">
                          <a:latin typeface="Arial" panose="020B0604020202020204" pitchFamily="34" charset="0"/>
                          <a:cs typeface="Arial" panose="020B0604020202020204" pitchFamily="34" charset="0"/>
                        </a:rPr>
                        <a:t>0.975</a:t>
                      </a:r>
                    </a:p>
                  </a:txBody>
                  <a:tcPr/>
                </a:tc>
                <a:extLst>
                  <a:ext uri="{0D108BD9-81ED-4DB2-BD59-A6C34878D82A}">
                    <a16:rowId xmlns:a16="http://schemas.microsoft.com/office/drawing/2014/main" val="1181463270"/>
                  </a:ext>
                </a:extLst>
              </a:tr>
              <a:tr h="370840">
                <a:tc>
                  <a:txBody>
                    <a:bodyPr/>
                    <a:lstStyle/>
                    <a:p>
                      <a:pPr algn="ctr"/>
                      <a:r>
                        <a:rPr lang="en-US" sz="2000" dirty="0">
                          <a:latin typeface="Arial" panose="020B0604020202020204" pitchFamily="34" charset="0"/>
                          <a:cs typeface="Arial" panose="020B0604020202020204" pitchFamily="34" charset="0"/>
                        </a:rPr>
                        <a:t>VALUE</a:t>
                      </a:r>
                    </a:p>
                  </a:txBody>
                  <a:tcPr/>
                </a:tc>
                <a:tc>
                  <a:txBody>
                    <a:bodyPr/>
                    <a:lstStyle/>
                    <a:p>
                      <a:pPr algn="ctr"/>
                      <a:r>
                        <a:rPr lang="en-US" sz="2000" dirty="0">
                          <a:latin typeface="Arial" panose="020B0604020202020204" pitchFamily="34" charset="0"/>
                          <a:cs typeface="Arial" panose="020B0604020202020204" pitchFamily="34" charset="0"/>
                        </a:rPr>
                        <a:t>VALUE</a:t>
                      </a:r>
                    </a:p>
                  </a:txBody>
                  <a:tcPr/>
                </a:tc>
                <a:tc>
                  <a:txBody>
                    <a:bodyPr/>
                    <a:lstStyle/>
                    <a:p>
                      <a:pPr algn="ctr"/>
                      <a:r>
                        <a:rPr lang="en-US" sz="2000" dirty="0">
                          <a:latin typeface="Arial" panose="020B0604020202020204" pitchFamily="34" charset="0"/>
                          <a:cs typeface="Arial" panose="020B0604020202020204" pitchFamily="34" charset="0"/>
                        </a:rPr>
                        <a:t>VALUE</a:t>
                      </a:r>
                    </a:p>
                  </a:txBody>
                  <a:tcPr/>
                </a:tc>
                <a:extLst>
                  <a:ext uri="{0D108BD9-81ED-4DB2-BD59-A6C34878D82A}">
                    <a16:rowId xmlns:a16="http://schemas.microsoft.com/office/drawing/2014/main" val="3884397410"/>
                  </a:ext>
                </a:extLst>
              </a:tr>
            </a:tbl>
          </a:graphicData>
        </a:graphic>
      </p:graphicFrame>
      <p:graphicFrame>
        <p:nvGraphicFramePr>
          <p:cNvPr id="10" name="Table 9">
            <a:extLst>
              <a:ext uri="{FF2B5EF4-FFF2-40B4-BE49-F238E27FC236}">
                <a16:creationId xmlns:a16="http://schemas.microsoft.com/office/drawing/2014/main" id="{DDB638B8-8FBC-EEAF-562F-A908AD67250F}"/>
              </a:ext>
            </a:extLst>
          </p:cNvPr>
          <p:cNvGraphicFramePr>
            <a:graphicFrameLocks noGrp="1"/>
          </p:cNvGraphicFramePr>
          <p:nvPr>
            <p:extLst>
              <p:ext uri="{D42A27DB-BD31-4B8C-83A1-F6EECF244321}">
                <p14:modId xmlns:p14="http://schemas.microsoft.com/office/powerpoint/2010/main" val="752947620"/>
              </p:ext>
            </p:extLst>
          </p:nvPr>
        </p:nvGraphicFramePr>
        <p:xfrm>
          <a:off x="3906453" y="4075352"/>
          <a:ext cx="4379095" cy="2312902"/>
        </p:xfrm>
        <a:graphic>
          <a:graphicData uri="http://schemas.openxmlformats.org/drawingml/2006/table">
            <a:tbl>
              <a:tblPr firstRow="1" bandRow="1">
                <a:tableStyleId>{5940675A-B579-460E-94D1-54222C63F5DA}</a:tableStyleId>
              </a:tblPr>
              <a:tblGrid>
                <a:gridCol w="2687577">
                  <a:extLst>
                    <a:ext uri="{9D8B030D-6E8A-4147-A177-3AD203B41FA5}">
                      <a16:colId xmlns:a16="http://schemas.microsoft.com/office/drawing/2014/main" val="955905303"/>
                    </a:ext>
                  </a:extLst>
                </a:gridCol>
                <a:gridCol w="1691518">
                  <a:extLst>
                    <a:ext uri="{9D8B030D-6E8A-4147-A177-3AD203B41FA5}">
                      <a16:colId xmlns:a16="http://schemas.microsoft.com/office/drawing/2014/main" val="3966078537"/>
                    </a:ext>
                  </a:extLst>
                </a:gridCol>
              </a:tblGrid>
              <a:tr h="865258">
                <a:tc>
                  <a:txBody>
                    <a:bodyPr/>
                    <a:lstStyle/>
                    <a:p>
                      <a:pPr algn="ctr"/>
                      <a:r>
                        <a:rPr lang="en-US" sz="2200" b="1" dirty="0" err="1">
                          <a:latin typeface="Courier New" panose="02070309020205020404" pitchFamily="49" charset="0"/>
                          <a:cs typeface="Courier New" panose="02070309020205020404" pitchFamily="49" charset="0"/>
                        </a:rPr>
                        <a:t>output_type_id</a:t>
                      </a:r>
                      <a:endParaRPr lang="en-US" sz="2200" b="1" dirty="0">
                        <a:latin typeface="Courier New" panose="02070309020205020404" pitchFamily="49" charset="0"/>
                        <a:cs typeface="Courier New" panose="02070309020205020404" pitchFamily="49" charset="0"/>
                      </a:endParaRPr>
                    </a:p>
                  </a:txBody>
                  <a:tcPr anchor="ctr"/>
                </a:tc>
                <a:tc>
                  <a:txBody>
                    <a:bodyPr/>
                    <a:lstStyle/>
                    <a:p>
                      <a:pPr algn="ctr"/>
                      <a:r>
                        <a:rPr lang="en-US" sz="2200" b="1">
                          <a:latin typeface="Courier New" panose="02070309020205020404" pitchFamily="49" charset="0"/>
                          <a:cs typeface="Courier New" panose="02070309020205020404" pitchFamily="49" charset="0"/>
                        </a:rPr>
                        <a:t>value</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75483087"/>
                  </a:ext>
                </a:extLst>
              </a:tr>
              <a:tr h="482548">
                <a:tc>
                  <a:txBody>
                    <a:bodyPr/>
                    <a:lstStyle/>
                    <a:p>
                      <a:pPr algn="ctr"/>
                      <a:r>
                        <a:rPr lang="en-US" sz="2000" dirty="0">
                          <a:latin typeface="Arial" panose="020B0604020202020204" pitchFamily="34" charset="0"/>
                          <a:cs typeface="Arial" panose="020B0604020202020204" pitchFamily="34" charset="0"/>
                        </a:rPr>
                        <a:t>0.025</a:t>
                      </a:r>
                    </a:p>
                  </a:txBody>
                  <a:tcPr anchor="ctr"/>
                </a:tc>
                <a:tc>
                  <a:txBody>
                    <a:bodyPr/>
                    <a:lstStyle/>
                    <a:p>
                      <a:pPr algn="ctr"/>
                      <a:r>
                        <a:rPr lang="en-US" sz="2000" dirty="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1502466"/>
                  </a:ext>
                </a:extLst>
              </a:tr>
              <a:tr h="482548">
                <a:tc>
                  <a:txBody>
                    <a:bodyPr/>
                    <a:lstStyle/>
                    <a:p>
                      <a:pPr algn="ctr"/>
                      <a:r>
                        <a:rPr lang="en-US" sz="2000">
                          <a:latin typeface="Arial" panose="020B0604020202020204" pitchFamily="34" charset="0"/>
                          <a:cs typeface="Arial" panose="020B0604020202020204" pitchFamily="34" charset="0"/>
                        </a:rPr>
                        <a:t>0.5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86299375"/>
                  </a:ext>
                </a:extLst>
              </a:tr>
              <a:tr h="482548">
                <a:tc>
                  <a:txBody>
                    <a:bodyPr/>
                    <a:lstStyle/>
                    <a:p>
                      <a:pPr algn="ctr"/>
                      <a:r>
                        <a:rPr lang="en-US" sz="2000" dirty="0">
                          <a:latin typeface="Arial" panose="020B0604020202020204" pitchFamily="34" charset="0"/>
                          <a:cs typeface="Arial" panose="020B0604020202020204" pitchFamily="34" charset="0"/>
                        </a:rPr>
                        <a:t>0.975</a:t>
                      </a:r>
                    </a:p>
                  </a:txBody>
                  <a:tcPr anchor="ctr"/>
                </a:tc>
                <a:tc>
                  <a:txBody>
                    <a:bodyPr/>
                    <a:lstStyle/>
                    <a:p>
                      <a:pPr algn="ctr"/>
                      <a:r>
                        <a:rPr lang="en-US" sz="2000" dirty="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92071225"/>
                  </a:ext>
                </a:extLst>
              </a:tr>
            </a:tbl>
          </a:graphicData>
        </a:graphic>
      </p:graphicFrame>
      <p:sp>
        <p:nvSpPr>
          <p:cNvPr id="12" name="TextBox 11">
            <a:extLst>
              <a:ext uri="{FF2B5EF4-FFF2-40B4-BE49-F238E27FC236}">
                <a16:creationId xmlns:a16="http://schemas.microsoft.com/office/drawing/2014/main" id="{1F371370-3119-1314-1566-602E899E0040}"/>
              </a:ext>
            </a:extLst>
          </p:cNvPr>
          <p:cNvSpPr txBox="1"/>
          <p:nvPr/>
        </p:nvSpPr>
        <p:spPr>
          <a:xfrm>
            <a:off x="4628291" y="1422934"/>
            <a:ext cx="2935419" cy="446276"/>
          </a:xfrm>
          <a:prstGeom prst="rect">
            <a:avLst/>
          </a:prstGeom>
          <a:noFill/>
        </p:spPr>
        <p:txBody>
          <a:bodyPr wrap="none" rtlCol="0">
            <a:spAutoFit/>
          </a:bodyPr>
          <a:lstStyle/>
          <a:p>
            <a:r>
              <a:rPr lang="en-US" sz="2300" b="1" dirty="0">
                <a:latin typeface="Arial" panose="020B0604020202020204" pitchFamily="34" charset="0"/>
                <a:cs typeface="Arial" panose="020B0604020202020204" pitchFamily="34" charset="0"/>
              </a:rPr>
              <a:t>Our Current Format</a:t>
            </a:r>
          </a:p>
        </p:txBody>
      </p:sp>
      <p:sp>
        <p:nvSpPr>
          <p:cNvPr id="14" name="TextBox 13">
            <a:extLst>
              <a:ext uri="{FF2B5EF4-FFF2-40B4-BE49-F238E27FC236}">
                <a16:creationId xmlns:a16="http://schemas.microsoft.com/office/drawing/2014/main" id="{2B1B10CD-B54C-2A84-D022-C298CA116ED4}"/>
              </a:ext>
            </a:extLst>
          </p:cNvPr>
          <p:cNvSpPr txBox="1"/>
          <p:nvPr/>
        </p:nvSpPr>
        <p:spPr>
          <a:xfrm>
            <a:off x="4833475" y="3535475"/>
            <a:ext cx="2525050" cy="446276"/>
          </a:xfrm>
          <a:prstGeom prst="rect">
            <a:avLst/>
          </a:prstGeom>
          <a:noFill/>
        </p:spPr>
        <p:txBody>
          <a:bodyPr wrap="none" rtlCol="0">
            <a:spAutoFit/>
          </a:bodyPr>
          <a:lstStyle/>
          <a:p>
            <a:r>
              <a:rPr lang="en-US" sz="2300" b="1" dirty="0">
                <a:latin typeface="Arial" panose="020B0604020202020204" pitchFamily="34" charset="0"/>
                <a:cs typeface="Arial" panose="020B0604020202020204" pitchFamily="34" charset="0"/>
              </a:rPr>
              <a:t>Our Goal Format</a:t>
            </a:r>
          </a:p>
        </p:txBody>
      </p:sp>
      <p:cxnSp>
        <p:nvCxnSpPr>
          <p:cNvPr id="16" name="Straight Arrow Connector 15">
            <a:extLst>
              <a:ext uri="{FF2B5EF4-FFF2-40B4-BE49-F238E27FC236}">
                <a16:creationId xmlns:a16="http://schemas.microsoft.com/office/drawing/2014/main" id="{96CF0066-3C50-A709-BB83-954561012634}"/>
              </a:ext>
            </a:extLst>
          </p:cNvPr>
          <p:cNvCxnSpPr>
            <a:endCxn id="14" idx="0"/>
          </p:cNvCxnSpPr>
          <p:nvPr/>
        </p:nvCxnSpPr>
        <p:spPr>
          <a:xfrm>
            <a:off x="6096000" y="2782649"/>
            <a:ext cx="0" cy="752826"/>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564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58AEB-CB2E-EEBF-4215-8C74DF687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35357-45E8-324C-BFDC-1BFC3391E704}"/>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How do we get there?</a:t>
            </a:r>
          </a:p>
        </p:txBody>
      </p:sp>
      <p:sp>
        <p:nvSpPr>
          <p:cNvPr id="9" name="Rectangle: Rounded Corners 8">
            <a:extLst>
              <a:ext uri="{FF2B5EF4-FFF2-40B4-BE49-F238E27FC236}">
                <a16:creationId xmlns:a16="http://schemas.microsoft.com/office/drawing/2014/main" id="{1C3C3287-FA46-EE7E-5871-36CAC1CD8A14}"/>
              </a:ext>
            </a:extLst>
          </p:cNvPr>
          <p:cNvSpPr/>
          <p:nvPr/>
        </p:nvSpPr>
        <p:spPr>
          <a:xfrm>
            <a:off x="731736" y="2779222"/>
            <a:ext cx="10728528" cy="1590761"/>
          </a:xfrm>
          <a:prstGeom prst="roundRect">
            <a:avLst/>
          </a:prstGeom>
          <a:solidFill>
            <a:srgbClr val="FFF4EC"/>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9B89A98-1CFC-4118-B999-D6EC26B67390}"/>
              </a:ext>
            </a:extLst>
          </p:cNvPr>
          <p:cNvSpPr txBox="1"/>
          <p:nvPr/>
        </p:nvSpPr>
        <p:spPr>
          <a:xfrm>
            <a:off x="901553" y="2928023"/>
            <a:ext cx="10388895" cy="1323439"/>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4. **</a:t>
            </a:r>
            <a:r>
              <a:rPr lang="en-US" sz="2000" b="1" dirty="0">
                <a:latin typeface="Courier New" panose="02070309020205020404" pitchFamily="49" charset="0"/>
                <a:cs typeface="Courier New" panose="02070309020205020404" pitchFamily="49" charset="0"/>
              </a:rPr>
              <a:t>Reshape wide → long, one row per quantile.</a:t>
            </a:r>
            <a:r>
              <a:rPr lang="en-US" sz="2000" dirty="0">
                <a:latin typeface="Courier New" panose="02070309020205020404" pitchFamily="49" charset="0"/>
                <a:cs typeface="Courier New" panose="02070309020205020404" pitchFamily="49" charset="0"/>
              </a:rPr>
              <a:t>** Map each forecast piece to an `</a:t>
            </a:r>
            <a:r>
              <a:rPr lang="en-US" sz="2000" dirty="0" err="1">
                <a:latin typeface="Courier New" panose="02070309020205020404" pitchFamily="49" charset="0"/>
                <a:cs typeface="Courier New" panose="02070309020205020404" pitchFamily="49" charset="0"/>
              </a:rPr>
              <a:t>output_type_id</a:t>
            </a:r>
            <a:r>
              <a:rPr lang="en-US" sz="2000" dirty="0">
                <a:latin typeface="Courier New" panose="02070309020205020404" pitchFamily="49" charset="0"/>
                <a:cs typeface="Courier New" panose="02070309020205020404" pitchFamily="49" charset="0"/>
              </a:rPr>
              <a:t>`: `mean` → `0.5` (median); each level's lower/upper bound → its two quantiles, per the table. Only include the levels below.</a:t>
            </a:r>
          </a:p>
        </p:txBody>
      </p:sp>
      <p:pic>
        <p:nvPicPr>
          <p:cNvPr id="13" name="Picture 12" descr="Your Turn Rubber Stamp Royalty Free SVG, Cliparts, Vectors, and Stock  Illustration. Image 68258628.">
            <a:extLst>
              <a:ext uri="{FF2B5EF4-FFF2-40B4-BE49-F238E27FC236}">
                <a16:creationId xmlns:a16="http://schemas.microsoft.com/office/drawing/2014/main" id="{B0920535-CE7E-4BB2-A23D-2E999EA65F66}"/>
              </a:ext>
            </a:extLst>
          </p:cNvPr>
          <p:cNvPicPr>
            <a:picLocks noChangeAspect="1"/>
          </p:cNvPicPr>
          <p:nvPr/>
        </p:nvPicPr>
        <p:blipFill>
          <a:blip r:embed="rId2"/>
          <a:stretch>
            <a:fillRect/>
          </a:stretch>
        </p:blipFill>
        <p:spPr>
          <a:xfrm>
            <a:off x="2046622" y="156423"/>
            <a:ext cx="981703" cy="981703"/>
          </a:xfrm>
          <a:prstGeom prst="rect">
            <a:avLst/>
          </a:prstGeom>
        </p:spPr>
      </p:pic>
      <p:sp>
        <p:nvSpPr>
          <p:cNvPr id="15" name="TextBox 14">
            <a:extLst>
              <a:ext uri="{FF2B5EF4-FFF2-40B4-BE49-F238E27FC236}">
                <a16:creationId xmlns:a16="http://schemas.microsoft.com/office/drawing/2014/main" id="{F03F8498-ABEC-CF91-F90A-3D7DFB3411FA}"/>
              </a:ext>
            </a:extLst>
          </p:cNvPr>
          <p:cNvSpPr txBox="1"/>
          <p:nvPr/>
        </p:nvSpPr>
        <p:spPr>
          <a:xfrm>
            <a:off x="731736" y="1723802"/>
            <a:ext cx="9103380" cy="477054"/>
          </a:xfrm>
          <a:prstGeom prst="rect">
            <a:avLst/>
          </a:prstGeom>
          <a:noFill/>
        </p:spPr>
        <p:txBody>
          <a:bodyPr wrap="square" rtlCol="0">
            <a:spAutoFit/>
          </a:bodyPr>
          <a:lstStyle/>
          <a:p>
            <a:r>
              <a:rPr lang="en-US" dirty="0"/>
              <a:t> </a:t>
            </a:r>
            <a:r>
              <a:rPr lang="en-US" sz="2500" b="1" dirty="0">
                <a:latin typeface="Arial" panose="020B0604020202020204" pitchFamily="34" charset="0"/>
                <a:cs typeface="Arial" panose="020B0604020202020204" pitchFamily="34" charset="0"/>
              </a:rPr>
              <a:t>Add the following (Including the table): </a:t>
            </a:r>
          </a:p>
        </p:txBody>
      </p:sp>
      <p:graphicFrame>
        <p:nvGraphicFramePr>
          <p:cNvPr id="19" name="Table 18">
            <a:extLst>
              <a:ext uri="{FF2B5EF4-FFF2-40B4-BE49-F238E27FC236}">
                <a16:creationId xmlns:a16="http://schemas.microsoft.com/office/drawing/2014/main" id="{C5055215-E2F6-C622-9E02-F3F0E05FEB6E}"/>
              </a:ext>
            </a:extLst>
          </p:cNvPr>
          <p:cNvGraphicFramePr>
            <a:graphicFrameLocks noGrp="1"/>
          </p:cNvGraphicFramePr>
          <p:nvPr>
            <p:extLst>
              <p:ext uri="{D42A27DB-BD31-4B8C-83A1-F6EECF244321}">
                <p14:modId xmlns:p14="http://schemas.microsoft.com/office/powerpoint/2010/main" val="1795095271"/>
              </p:ext>
            </p:extLst>
          </p:nvPr>
        </p:nvGraphicFramePr>
        <p:xfrm>
          <a:off x="784968" y="5061097"/>
          <a:ext cx="10622064" cy="762000"/>
        </p:xfrm>
        <a:graphic>
          <a:graphicData uri="http://schemas.openxmlformats.org/drawingml/2006/table">
            <a:tbl>
              <a:tblPr firstRow="1" bandRow="1">
                <a:tableStyleId>{5940675A-B579-460E-94D1-54222C63F5DA}</a:tableStyleId>
              </a:tblPr>
              <a:tblGrid>
                <a:gridCol w="2654707">
                  <a:extLst>
                    <a:ext uri="{9D8B030D-6E8A-4147-A177-3AD203B41FA5}">
                      <a16:colId xmlns:a16="http://schemas.microsoft.com/office/drawing/2014/main" val="1769220971"/>
                    </a:ext>
                  </a:extLst>
                </a:gridCol>
                <a:gridCol w="3905534">
                  <a:extLst>
                    <a:ext uri="{9D8B030D-6E8A-4147-A177-3AD203B41FA5}">
                      <a16:colId xmlns:a16="http://schemas.microsoft.com/office/drawing/2014/main" val="1931972419"/>
                    </a:ext>
                  </a:extLst>
                </a:gridCol>
                <a:gridCol w="4061823">
                  <a:extLst>
                    <a:ext uri="{9D8B030D-6E8A-4147-A177-3AD203B41FA5}">
                      <a16:colId xmlns:a16="http://schemas.microsoft.com/office/drawing/2014/main" val="3788959459"/>
                    </a:ext>
                  </a:extLst>
                </a:gridCol>
              </a:tblGrid>
              <a:tr h="372613">
                <a:tc>
                  <a:txBody>
                    <a:bodyPr/>
                    <a:lstStyle/>
                    <a:p>
                      <a:pPr algn="ctr"/>
                      <a:r>
                        <a:rPr lang="en-US" sz="1900" b="1" dirty="0">
                          <a:latin typeface="Arial" panose="020B0604020202020204" pitchFamily="34" charset="0"/>
                          <a:cs typeface="Arial" panose="020B0604020202020204" pitchFamily="34" charset="0"/>
                        </a:rPr>
                        <a:t>Coverage Level</a:t>
                      </a:r>
                    </a:p>
                  </a:txBody>
                  <a:tcPr>
                    <a:solidFill>
                      <a:schemeClr val="bg1">
                        <a:lumMod val="95000"/>
                      </a:schemeClr>
                    </a:solidFill>
                  </a:tcPr>
                </a:tc>
                <a:tc>
                  <a:txBody>
                    <a:bodyPr/>
                    <a:lstStyle/>
                    <a:p>
                      <a:pPr algn="ctr"/>
                      <a:r>
                        <a:rPr lang="en-US" sz="1900" b="1" dirty="0">
                          <a:latin typeface="Arial" panose="020B0604020202020204" pitchFamily="34" charset="0"/>
                          <a:cs typeface="Arial" panose="020B0604020202020204" pitchFamily="34" charset="0"/>
                        </a:rPr>
                        <a:t>LB Quantile (`</a:t>
                      </a:r>
                      <a:r>
                        <a:rPr lang="en-US" sz="1900" b="1" dirty="0" err="1">
                          <a:latin typeface="Arial" panose="020B0604020202020204" pitchFamily="34" charset="0"/>
                          <a:cs typeface="Arial" panose="020B0604020202020204" pitchFamily="34" charset="0"/>
                        </a:rPr>
                        <a:t>output_type_id</a:t>
                      </a:r>
                      <a:r>
                        <a:rPr lang="en-US" sz="1900" b="1" dirty="0">
                          <a:latin typeface="Arial" panose="020B0604020202020204" pitchFamily="34" charset="0"/>
                          <a:cs typeface="Arial" panose="020B0604020202020204" pitchFamily="34" charset="0"/>
                        </a:rPr>
                        <a:t>`)</a:t>
                      </a:r>
                    </a:p>
                  </a:txBody>
                  <a:tcPr>
                    <a:solidFill>
                      <a:schemeClr val="bg1">
                        <a:lumMod val="95000"/>
                      </a:schemeClr>
                    </a:solidFill>
                  </a:tcPr>
                </a:tc>
                <a:tc>
                  <a:txBody>
                    <a:bodyPr/>
                    <a:lstStyle/>
                    <a:p>
                      <a:pPr algn="ctr"/>
                      <a:r>
                        <a:rPr lang="en-US" sz="1900" b="1" dirty="0">
                          <a:latin typeface="Arial" panose="020B0604020202020204" pitchFamily="34" charset="0"/>
                          <a:cs typeface="Arial" panose="020B0604020202020204" pitchFamily="34" charset="0"/>
                        </a:rPr>
                        <a:t>UB Quantile (`</a:t>
                      </a:r>
                      <a:r>
                        <a:rPr lang="en-US" sz="1900" b="1" dirty="0" err="1">
                          <a:latin typeface="Arial" panose="020B0604020202020204" pitchFamily="34" charset="0"/>
                          <a:cs typeface="Arial" panose="020B0604020202020204" pitchFamily="34" charset="0"/>
                        </a:rPr>
                        <a:t>output_type_id</a:t>
                      </a:r>
                      <a:r>
                        <a:rPr lang="en-US" sz="1900" b="1" dirty="0">
                          <a:latin typeface="Arial" panose="020B0604020202020204" pitchFamily="34" charset="0"/>
                          <a:cs typeface="Arial" panose="020B0604020202020204" pitchFamily="34" charset="0"/>
                        </a:rPr>
                        <a:t>`)</a:t>
                      </a:r>
                    </a:p>
                  </a:txBody>
                  <a:tcPr>
                    <a:solidFill>
                      <a:schemeClr val="bg1">
                        <a:lumMod val="95000"/>
                      </a:schemeClr>
                    </a:solidFill>
                  </a:tcPr>
                </a:tc>
                <a:extLst>
                  <a:ext uri="{0D108BD9-81ED-4DB2-BD59-A6C34878D82A}">
                    <a16:rowId xmlns:a16="http://schemas.microsoft.com/office/drawing/2014/main" val="2991046283"/>
                  </a:ext>
                </a:extLst>
              </a:tr>
              <a:tr h="370840">
                <a:tc>
                  <a:txBody>
                    <a:bodyPr/>
                    <a:lstStyle/>
                    <a:p>
                      <a:pPr algn="ctr"/>
                      <a:r>
                        <a:rPr lang="en-US" sz="1900" dirty="0">
                          <a:latin typeface="Arial" panose="020B0604020202020204" pitchFamily="34" charset="0"/>
                          <a:cs typeface="Arial" panose="020B0604020202020204" pitchFamily="34" charset="0"/>
                        </a:rPr>
                        <a:t>95</a:t>
                      </a:r>
                    </a:p>
                  </a:txBody>
                  <a:tcPr/>
                </a:tc>
                <a:tc>
                  <a:txBody>
                    <a:bodyPr/>
                    <a:lstStyle/>
                    <a:p>
                      <a:pPr algn="ctr"/>
                      <a:r>
                        <a:rPr lang="en-US" sz="1900" dirty="0">
                          <a:latin typeface="Arial" panose="020B0604020202020204" pitchFamily="34" charset="0"/>
                          <a:cs typeface="Arial" panose="020B0604020202020204" pitchFamily="34" charset="0"/>
                        </a:rPr>
                        <a:t>0.025</a:t>
                      </a:r>
                    </a:p>
                  </a:txBody>
                  <a:tcPr/>
                </a:tc>
                <a:tc>
                  <a:txBody>
                    <a:bodyPr/>
                    <a:lstStyle/>
                    <a:p>
                      <a:pPr algn="ctr"/>
                      <a:r>
                        <a:rPr lang="en-US" sz="1900" dirty="0">
                          <a:latin typeface="Arial" panose="020B0604020202020204" pitchFamily="34" charset="0"/>
                          <a:cs typeface="Arial" panose="020B0604020202020204" pitchFamily="34" charset="0"/>
                        </a:rPr>
                        <a:t>0.975</a:t>
                      </a:r>
                    </a:p>
                  </a:txBody>
                  <a:tcPr/>
                </a:tc>
                <a:extLst>
                  <a:ext uri="{0D108BD9-81ED-4DB2-BD59-A6C34878D82A}">
                    <a16:rowId xmlns:a16="http://schemas.microsoft.com/office/drawing/2014/main" val="1726092389"/>
                  </a:ext>
                </a:extLst>
              </a:tr>
            </a:tbl>
          </a:graphicData>
        </a:graphic>
      </p:graphicFrame>
    </p:spTree>
    <p:extLst>
      <p:ext uri="{BB962C8B-B14F-4D97-AF65-F5344CB8AC3E}">
        <p14:creationId xmlns:p14="http://schemas.microsoft.com/office/powerpoint/2010/main" val="36408603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1B83E-F783-F637-F068-0C1F36D6F0EE}"/>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Why do we need the table? </a:t>
            </a:r>
          </a:p>
        </p:txBody>
      </p:sp>
      <p:sp>
        <p:nvSpPr>
          <p:cNvPr id="3" name="Content Placeholder 2">
            <a:extLst>
              <a:ext uri="{FF2B5EF4-FFF2-40B4-BE49-F238E27FC236}">
                <a16:creationId xmlns:a16="http://schemas.microsoft.com/office/drawing/2014/main" id="{E29F54AE-86F0-2F92-5D1B-D9CD88DDEE98}"/>
              </a:ext>
            </a:extLst>
          </p:cNvPr>
          <p:cNvSpPr>
            <a:spLocks noGrp="1"/>
          </p:cNvSpPr>
          <p:nvPr>
            <p:ph idx="1"/>
          </p:nvPr>
        </p:nvSpPr>
        <p:spPr>
          <a:xfrm>
            <a:off x="838200" y="1609911"/>
            <a:ext cx="10515600" cy="2909205"/>
          </a:xfrm>
        </p:spPr>
        <p:txBody>
          <a:bodyPr>
            <a:normAutofit/>
          </a:bodyPr>
          <a:lstStyle/>
          <a:p>
            <a:pPr marL="0" indent="0" algn="ctr">
              <a:lnSpc>
                <a:spcPct val="110000"/>
              </a:lnSpc>
              <a:buNone/>
            </a:pPr>
            <a:r>
              <a:rPr lang="en-US" dirty="0">
                <a:latin typeface="Courier New" panose="02070309020205020404" pitchFamily="49" charset="0"/>
                <a:cs typeface="Courier New" panose="02070309020205020404" pitchFamily="49" charset="0"/>
              </a:rPr>
              <a:t>forecast()</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FluSight</a:t>
            </a:r>
            <a:r>
              <a:rPr lang="en-US" dirty="0">
                <a:latin typeface="Arial" panose="020B0604020202020204" pitchFamily="34" charset="0"/>
                <a:cs typeface="Arial" panose="020B0604020202020204" pitchFamily="34" charset="0"/>
              </a:rPr>
              <a:t> describe the same thing in two different languages. When you ask for a "95% interval," </a:t>
            </a:r>
            <a:r>
              <a:rPr lang="en-US" dirty="0">
                <a:latin typeface="Courier New" panose="02070309020205020404" pitchFamily="49" charset="0"/>
                <a:cs typeface="Courier New" panose="02070309020205020404" pitchFamily="49" charset="0"/>
              </a:rPr>
              <a:t>forecast() </a:t>
            </a:r>
            <a:r>
              <a:rPr lang="en-US" dirty="0">
                <a:latin typeface="Arial" panose="020B0604020202020204" pitchFamily="34" charset="0"/>
                <a:cs typeface="Arial" panose="020B0604020202020204" pitchFamily="34" charset="0"/>
              </a:rPr>
              <a:t>gives you a </a:t>
            </a:r>
            <a:r>
              <a:rPr lang="en-US" b="1" dirty="0">
                <a:solidFill>
                  <a:schemeClr val="accent2"/>
                </a:solidFill>
                <a:latin typeface="Arial" panose="020B0604020202020204" pitchFamily="34" charset="0"/>
                <a:cs typeface="Arial" panose="020B0604020202020204" pitchFamily="34" charset="0"/>
              </a:rPr>
              <a:t>lower</a:t>
            </a:r>
            <a:r>
              <a:rPr lang="en-US" dirty="0">
                <a:latin typeface="Arial" panose="020B0604020202020204" pitchFamily="34" charset="0"/>
                <a:cs typeface="Arial" panose="020B0604020202020204" pitchFamily="34" charset="0"/>
              </a:rPr>
              <a:t> and an </a:t>
            </a:r>
            <a:r>
              <a:rPr lang="en-US" b="1" dirty="0">
                <a:solidFill>
                  <a:schemeClr val="accent2"/>
                </a:solidFill>
                <a:latin typeface="Arial" panose="020B0604020202020204" pitchFamily="34" charset="0"/>
                <a:cs typeface="Arial" panose="020B0604020202020204" pitchFamily="34" charset="0"/>
              </a:rPr>
              <a:t>upper edge </a:t>
            </a:r>
            <a:r>
              <a:rPr lang="en-US" dirty="0">
                <a:latin typeface="Arial" panose="020B0604020202020204" pitchFamily="34" charset="0"/>
                <a:cs typeface="Arial" panose="020B0604020202020204" pitchFamily="34" charset="0"/>
              </a:rPr>
              <a:t>— those edges are the 0.025 and 0.975 quantiles that </a:t>
            </a:r>
            <a:r>
              <a:rPr lang="en-US" dirty="0" err="1">
                <a:latin typeface="Arial" panose="020B0604020202020204" pitchFamily="34" charset="0"/>
                <a:cs typeface="Arial" panose="020B0604020202020204" pitchFamily="34" charset="0"/>
              </a:rPr>
              <a:t>FluSight</a:t>
            </a:r>
            <a:r>
              <a:rPr lang="en-US" dirty="0">
                <a:latin typeface="Arial" panose="020B0604020202020204" pitchFamily="34" charset="0"/>
                <a:cs typeface="Arial" panose="020B0604020202020204" pitchFamily="34" charset="0"/>
              </a:rPr>
              <a:t> asks for. Think of the table as your &amp; the AI’s </a:t>
            </a:r>
            <a:r>
              <a:rPr lang="en-US" b="1" dirty="0">
                <a:solidFill>
                  <a:schemeClr val="accent2"/>
                </a:solidFill>
                <a:latin typeface="Arial" panose="020B0604020202020204" pitchFamily="34" charset="0"/>
                <a:cs typeface="Arial" panose="020B0604020202020204" pitchFamily="34" charset="0"/>
              </a:rPr>
              <a:t>translation guide </a:t>
            </a:r>
            <a:r>
              <a:rPr lang="en-US" dirty="0">
                <a:latin typeface="Arial" panose="020B0604020202020204" pitchFamily="34" charset="0"/>
                <a:cs typeface="Arial" panose="020B0604020202020204" pitchFamily="34" charset="0"/>
              </a:rPr>
              <a:t>between the two.</a:t>
            </a:r>
          </a:p>
        </p:txBody>
      </p:sp>
      <p:sp>
        <p:nvSpPr>
          <p:cNvPr id="5" name="TextBox 4">
            <a:extLst>
              <a:ext uri="{FF2B5EF4-FFF2-40B4-BE49-F238E27FC236}">
                <a16:creationId xmlns:a16="http://schemas.microsoft.com/office/drawing/2014/main" id="{0F1D0BC4-B474-C6FE-5BFD-A52170CC2A4B}"/>
              </a:ext>
            </a:extLst>
          </p:cNvPr>
          <p:cNvSpPr txBox="1"/>
          <p:nvPr/>
        </p:nvSpPr>
        <p:spPr>
          <a:xfrm>
            <a:off x="838200" y="4902173"/>
            <a:ext cx="10515599" cy="1379101"/>
          </a:xfrm>
          <a:prstGeom prst="roundRect">
            <a:avLst/>
          </a:prstGeom>
          <a:solidFill>
            <a:srgbClr val="E8F4F8"/>
          </a:solidFill>
        </p:spPr>
        <p:txBody>
          <a:bodyPr wrap="square">
            <a:spAutoFit/>
          </a:bodyPr>
          <a:lstStyle/>
          <a:p>
            <a:pPr algn="ctr"/>
            <a:r>
              <a:rPr lang="en-US" sz="2500" b="1" dirty="0">
                <a:latin typeface="Arial" panose="020B0604020202020204" pitchFamily="34" charset="0"/>
                <a:cs typeface="Arial" panose="020B0604020202020204" pitchFamily="34" charset="0"/>
              </a:rPr>
              <a:t>Hint (for later):</a:t>
            </a:r>
            <a:r>
              <a:rPr lang="en-US" sz="2500" dirty="0">
                <a:latin typeface="Arial" panose="020B0604020202020204" pitchFamily="34" charset="0"/>
                <a:cs typeface="Arial" panose="020B0604020202020204" pitchFamily="34" charset="0"/>
              </a:rPr>
              <a:t> Want more quantiles? Update </a:t>
            </a:r>
            <a:r>
              <a:rPr lang="en-US" sz="2500" b="1" dirty="0">
                <a:solidFill>
                  <a:schemeClr val="accent2"/>
                </a:solidFill>
                <a:latin typeface="Arial" panose="020B0604020202020204" pitchFamily="34" charset="0"/>
                <a:cs typeface="Arial" panose="020B0604020202020204" pitchFamily="34" charset="0"/>
              </a:rPr>
              <a:t>two things together </a:t>
            </a:r>
            <a:r>
              <a:rPr lang="en-US" sz="2500" dirty="0">
                <a:latin typeface="Arial" panose="020B0604020202020204" pitchFamily="34" charset="0"/>
                <a:cs typeface="Arial" panose="020B0604020202020204" pitchFamily="34" charset="0"/>
              </a:rPr>
              <a:t>— add a row here (table) </a:t>
            </a:r>
            <a:r>
              <a:rPr lang="en-US" sz="2500" b="1" dirty="0">
                <a:solidFill>
                  <a:schemeClr val="accent2"/>
                </a:solidFill>
                <a:latin typeface="Arial" panose="020B0604020202020204" pitchFamily="34" charset="0"/>
                <a:cs typeface="Arial" panose="020B0604020202020204" pitchFamily="34" charset="0"/>
              </a:rPr>
              <a:t>and</a:t>
            </a:r>
            <a:r>
              <a:rPr lang="en-US" sz="2500" dirty="0">
                <a:latin typeface="Arial" panose="020B0604020202020204" pitchFamily="34" charset="0"/>
                <a:cs typeface="Arial" panose="020B0604020202020204" pitchFamily="34" charset="0"/>
              </a:rPr>
              <a:t> set </a:t>
            </a:r>
            <a:r>
              <a:rPr lang="en-US" sz="2500" dirty="0">
                <a:latin typeface="Courier New" panose="02070309020205020404" pitchFamily="49" charset="0"/>
                <a:cs typeface="Courier New" panose="02070309020205020404" pitchFamily="49" charset="0"/>
              </a:rPr>
              <a:t>level</a:t>
            </a:r>
            <a:r>
              <a:rPr lang="en-US" sz="2500" dirty="0">
                <a:latin typeface="Arial" panose="020B0604020202020204" pitchFamily="34" charset="0"/>
                <a:cs typeface="Arial" panose="020B0604020202020204" pitchFamily="34" charset="0"/>
              </a:rPr>
              <a:t> in the forecast call to match. After that, everything downstream follows automatically.</a:t>
            </a:r>
          </a:p>
        </p:txBody>
      </p:sp>
    </p:spTree>
    <p:extLst>
      <p:ext uri="{BB962C8B-B14F-4D97-AF65-F5344CB8AC3E}">
        <p14:creationId xmlns:p14="http://schemas.microsoft.com/office/powerpoint/2010/main" val="169804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78423-4912-C194-3B70-203D4DD2343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BFA159A-1648-9B53-2A97-1EBA5CAEB722}"/>
              </a:ext>
            </a:extLst>
          </p:cNvPr>
          <p:cNvGraphicFramePr>
            <a:graphicFrameLocks noGrp="1"/>
          </p:cNvGraphicFramePr>
          <p:nvPr/>
        </p:nvGraphicFramePr>
        <p:xfrm>
          <a:off x="104900" y="232107"/>
          <a:ext cx="12003465" cy="6294120"/>
        </p:xfrm>
        <a:graphic>
          <a:graphicData uri="http://schemas.openxmlformats.org/drawingml/2006/table">
            <a:tbl>
              <a:tblPr firstRow="1" bandRow="1">
                <a:tableStyleId>{5940675A-B579-460E-94D1-54222C63F5DA}</a:tableStyleId>
              </a:tblPr>
              <a:tblGrid>
                <a:gridCol w="2281287">
                  <a:extLst>
                    <a:ext uri="{9D8B030D-6E8A-4147-A177-3AD203B41FA5}">
                      <a16:colId xmlns:a16="http://schemas.microsoft.com/office/drawing/2014/main" val="833287054"/>
                    </a:ext>
                  </a:extLst>
                </a:gridCol>
                <a:gridCol w="3912124">
                  <a:extLst>
                    <a:ext uri="{9D8B030D-6E8A-4147-A177-3AD203B41FA5}">
                      <a16:colId xmlns:a16="http://schemas.microsoft.com/office/drawing/2014/main" val="2692972846"/>
                    </a:ext>
                  </a:extLst>
                </a:gridCol>
                <a:gridCol w="1979629">
                  <a:extLst>
                    <a:ext uri="{9D8B030D-6E8A-4147-A177-3AD203B41FA5}">
                      <a16:colId xmlns:a16="http://schemas.microsoft.com/office/drawing/2014/main" val="741367170"/>
                    </a:ext>
                  </a:extLst>
                </a:gridCol>
                <a:gridCol w="3830425">
                  <a:extLst>
                    <a:ext uri="{9D8B030D-6E8A-4147-A177-3AD203B41FA5}">
                      <a16:colId xmlns:a16="http://schemas.microsoft.com/office/drawing/2014/main" val="132666660"/>
                    </a:ext>
                  </a:extLst>
                </a:gridCol>
              </a:tblGrid>
              <a:tr h="370840">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37084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70840">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370840">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370840">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370840">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70840">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370840">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370840">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
        <p:nvSpPr>
          <p:cNvPr id="2" name="Rectangle 1">
            <a:extLst>
              <a:ext uri="{FF2B5EF4-FFF2-40B4-BE49-F238E27FC236}">
                <a16:creationId xmlns:a16="http://schemas.microsoft.com/office/drawing/2014/main" id="{919A5911-F5D4-EB2F-AF7C-F53A15ABA103}"/>
              </a:ext>
            </a:extLst>
          </p:cNvPr>
          <p:cNvSpPr/>
          <p:nvPr/>
        </p:nvSpPr>
        <p:spPr>
          <a:xfrm>
            <a:off x="9165266" y="4890981"/>
            <a:ext cx="616688"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690D8B4-FCCC-8F1D-2955-E0D0941623C4}"/>
              </a:ext>
            </a:extLst>
          </p:cNvPr>
          <p:cNvSpPr/>
          <p:nvPr/>
        </p:nvSpPr>
        <p:spPr>
          <a:xfrm>
            <a:off x="9101468" y="4416062"/>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78135C7-9CDF-1179-1163-5639B6A998AD}"/>
              </a:ext>
            </a:extLst>
          </p:cNvPr>
          <p:cNvSpPr/>
          <p:nvPr/>
        </p:nvSpPr>
        <p:spPr>
          <a:xfrm>
            <a:off x="9604744" y="5376533"/>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6A6C494-2188-8881-7600-C9EE66A2B919}"/>
              </a:ext>
            </a:extLst>
          </p:cNvPr>
          <p:cNvSpPr txBox="1"/>
          <p:nvPr/>
        </p:nvSpPr>
        <p:spPr>
          <a:xfrm>
            <a:off x="2705985" y="2441938"/>
            <a:ext cx="6801293" cy="1246495"/>
          </a:xfrm>
          <a:prstGeom prst="rect">
            <a:avLst/>
          </a:prstGeom>
          <a:solidFill>
            <a:schemeClr val="bg1">
              <a:lumMod val="95000"/>
            </a:schemeClr>
          </a:solidFill>
          <a:ln w="57150">
            <a:solidFill>
              <a:schemeClr val="tx1"/>
            </a:solidFill>
          </a:ln>
        </p:spPr>
        <p:txBody>
          <a:bodyPr wrap="square" rtlCol="0">
            <a:spAutoFit/>
          </a:bodyPr>
          <a:lstStyle/>
          <a:p>
            <a:pPr algn="ctr"/>
            <a:r>
              <a:rPr lang="en-US" sz="2500" dirty="0">
                <a:latin typeface="Arial" panose="020B0604020202020204" pitchFamily="34" charset="0"/>
                <a:cs typeface="Arial" panose="020B0604020202020204" pitchFamily="34" charset="0"/>
              </a:rPr>
              <a:t>We’ve gotten the </a:t>
            </a:r>
            <a:r>
              <a:rPr lang="en-US" sz="2500" dirty="0" err="1">
                <a:latin typeface="Courier New" panose="02070309020205020404" pitchFamily="49" charset="0"/>
                <a:cs typeface="Courier New" panose="02070309020205020404" pitchFamily="49" charset="0"/>
              </a:rPr>
              <a:t>output_type_id</a:t>
            </a:r>
            <a:r>
              <a:rPr lang="en-US" sz="2500" dirty="0">
                <a:latin typeface="Arial" panose="020B0604020202020204" pitchFamily="34" charset="0"/>
                <a:cs typeface="Arial" panose="020B0604020202020204" pitchFamily="34" charset="0"/>
              </a:rPr>
              <a:t> and </a:t>
            </a:r>
            <a:r>
              <a:rPr lang="en-US" sz="2500" dirty="0">
                <a:latin typeface="Courier New" panose="02070309020205020404" pitchFamily="49" charset="0"/>
                <a:cs typeface="Courier New" panose="02070309020205020404" pitchFamily="49" charset="0"/>
              </a:rPr>
              <a:t>value</a:t>
            </a:r>
            <a:r>
              <a:rPr lang="en-US" sz="2500" dirty="0">
                <a:latin typeface="Arial" panose="020B0604020202020204" pitchFamily="34" charset="0"/>
                <a:cs typeface="Arial" panose="020B0604020202020204" pitchFamily="34" charset="0"/>
              </a:rPr>
              <a:t> ready (previous slides), now we need to pull everything together into one data set!</a:t>
            </a:r>
          </a:p>
        </p:txBody>
      </p:sp>
    </p:spTree>
    <p:extLst>
      <p:ext uri="{BB962C8B-B14F-4D97-AF65-F5344CB8AC3E}">
        <p14:creationId xmlns:p14="http://schemas.microsoft.com/office/powerpoint/2010/main" val="283310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254B0-C0AF-27DA-E827-4AEEDBFAD6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1FC2AED-C523-742E-5312-E74D9451F294}"/>
              </a:ext>
            </a:extLst>
          </p:cNvPr>
          <p:cNvSpPr/>
          <p:nvPr/>
        </p:nvSpPr>
        <p:spPr>
          <a:xfrm>
            <a:off x="914400" y="105179"/>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75D7E2D7-EDD1-1A55-2654-720D80571134}"/>
              </a:ext>
            </a:extLst>
          </p:cNvPr>
          <p:cNvSpPr/>
          <p:nvPr/>
        </p:nvSpPr>
        <p:spPr>
          <a:xfrm>
            <a:off x="997399" y="303754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DFEF63AD-B952-C5DD-AE65-725E86A4A175}"/>
              </a:ext>
            </a:extLst>
          </p:cNvPr>
          <p:cNvSpPr/>
          <p:nvPr/>
        </p:nvSpPr>
        <p:spPr>
          <a:xfrm>
            <a:off x="997399" y="303754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D074D61A-B2D8-0704-77F1-EE1A97AE78A2}"/>
              </a:ext>
            </a:extLst>
          </p:cNvPr>
          <p:cNvSpPr/>
          <p:nvPr/>
        </p:nvSpPr>
        <p:spPr>
          <a:xfrm>
            <a:off x="1858754" y="4318019"/>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Save the file </a:t>
            </a:r>
            <a:r>
              <a:rPr lang="en-US" sz="2200" dirty="0">
                <a:latin typeface="Arial" panose="020B0604020202020204" pitchFamily="34" charset="0"/>
                <a:ea typeface="Calibri" pitchFamily="34" charset="-122"/>
                <a:cs typeface="Arial" panose="020B0604020202020204" pitchFamily="34" charset="0"/>
              </a:rPr>
              <a:t>to </a:t>
            </a:r>
            <a:r>
              <a:rPr lang="en-US" sz="2200" dirty="0">
                <a:latin typeface="Courier New" panose="02070309020205020404" pitchFamily="49" charset="0"/>
                <a:cs typeface="Courier New" panose="02070309020205020404" pitchFamily="49" charset="0"/>
              </a:rPr>
              <a:t>output/data/03_forecast/flusight_forecasts.csv</a:t>
            </a:r>
            <a:r>
              <a:rPr lang="en-US" sz="2200" dirty="0">
                <a:latin typeface="Arial" panose="020B0604020202020204" pitchFamily="34" charset="0"/>
                <a:cs typeface="Arial" panose="020B0604020202020204" pitchFamily="34" charset="0"/>
              </a:rPr>
              <a:t>; create the folder if it is absent. </a:t>
            </a:r>
          </a:p>
          <a:p>
            <a:pPr defTabSz="1219170"/>
            <a:endParaRPr lang="en-US" sz="2200" dirty="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235FE41C-A150-7A80-5D17-BE683E7EA3D7}"/>
              </a:ext>
            </a:extLst>
          </p:cNvPr>
          <p:cNvSpPr/>
          <p:nvPr/>
        </p:nvSpPr>
        <p:spPr>
          <a:xfrm>
            <a:off x="1858754" y="5611435"/>
            <a:ext cx="9418846" cy="836423"/>
          </a:xfrm>
          <a:prstGeom prst="rect">
            <a:avLst/>
          </a:prstGeom>
          <a:noFill/>
          <a:ln/>
        </p:spPr>
        <p:txBody>
          <a:bodyPr wrap="square" lIns="0" tIns="0" rIns="0" bIns="0" rtlCol="0" anchor="ctr"/>
          <a:lstStyle/>
          <a:p>
            <a:pPr lvl="0" defTabSz="1219170">
              <a:defRPr/>
            </a:pPr>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200" dirty="0">
                <a:solidFill>
                  <a:schemeClr val="accent2"/>
                </a:solidFill>
                <a:latin typeface="Arial" panose="020B0604020202020204" pitchFamily="34" charset="0"/>
                <a:ea typeface="Calibri" pitchFamily="34" charset="-122"/>
                <a:cs typeface="Arial" panose="020B0604020202020204" pitchFamily="34" charset="0"/>
              </a:rPr>
              <a:t> </a:t>
            </a:r>
            <a:r>
              <a:rPr lang="en-US" sz="2200" dirty="0">
                <a:latin typeface="Arial" panose="020B0604020202020204" pitchFamily="34" charset="0"/>
                <a:ea typeface="Calibri" pitchFamily="34" charset="-122"/>
                <a:cs typeface="Arial" panose="020B0604020202020204" pitchFamily="34" charset="0"/>
              </a:rPr>
              <a:t>from your updated rules document and u</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se the </a:t>
            </a:r>
            <a:r>
              <a:rPr kumimoji="0" lang="en-US" sz="220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20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re-generate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scripts</a:t>
            </a:r>
            <a:r>
              <a:rPr lang="en-US" sz="2200" b="1" dirty="0">
                <a:solidFill>
                  <a:schemeClr val="accent2"/>
                </a:solidFill>
                <a:latin typeface="Arial" panose="020B0604020202020204" pitchFamily="34" charset="0"/>
                <a:ea typeface="Calibri" pitchFamily="34" charset="-122"/>
                <a:cs typeface="Arial" panose="020B0604020202020204" pitchFamily="34" charset="0"/>
              </a:rPr>
              <a:t>/0</a:t>
            </a:r>
            <a:r>
              <a:rPr lang="en-US" sz="2200" b="1" dirty="0">
                <a:solidFill>
                  <a:schemeClr val="accent2"/>
                </a:solidFill>
                <a:latin typeface="Arial" panose="020B0604020202020204" pitchFamily="34" charset="0"/>
                <a:cs typeface="Arial" panose="020B0604020202020204" pitchFamily="34" charset="0"/>
              </a:rPr>
              <a:t>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check the output.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D971AF36-B37E-BA89-2C05-688D11055ABC}"/>
              </a:ext>
            </a:extLst>
          </p:cNvPr>
          <p:cNvSpPr/>
          <p:nvPr/>
        </p:nvSpPr>
        <p:spPr>
          <a:xfrm>
            <a:off x="800100" y="1070812"/>
            <a:ext cx="10591800" cy="1472583"/>
          </a:xfrm>
          <a:prstGeom prst="roundRect">
            <a:avLst/>
          </a:prstGeom>
          <a:solidFill>
            <a:schemeClr val="bg1">
              <a:lumMod val="95000"/>
            </a:schemeClr>
          </a:solidFill>
          <a:ln/>
        </p:spPr>
        <p:txBody>
          <a:bodyPr wrap="square" lIns="0" tIns="0" rIns="0" bIns="0" rtlCol="0" anchor="ctr"/>
          <a:lstStyle/>
          <a:p>
            <a:pPr algn="ctr" defTabSz="1219170"/>
            <a:r>
              <a:rPr lang="en-US" sz="2500" b="1" u="sng" dirty="0">
                <a:solidFill>
                  <a:srgbClr val="334155"/>
                </a:solidFill>
                <a:latin typeface="Arial" panose="020B0604020202020204" pitchFamily="34" charset="0"/>
                <a:ea typeface="Calibri" pitchFamily="34" charset="-122"/>
                <a:cs typeface="Arial" panose="020B0604020202020204" pitchFamily="34" charset="0"/>
              </a:rPr>
              <a:t>On your own</a:t>
            </a:r>
            <a:r>
              <a:rPr lang="en-US" sz="2500" dirty="0">
                <a:solidFill>
                  <a:srgbClr val="334155"/>
                </a:solidFill>
                <a:latin typeface="Arial" panose="020B0604020202020204" pitchFamily="34" charset="0"/>
                <a:ea typeface="Calibri" pitchFamily="34" charset="-122"/>
                <a:cs typeface="Arial" panose="020B0604020202020204" pitchFamily="34" charset="0"/>
              </a:rPr>
              <a:t>, add the </a:t>
            </a:r>
            <a:r>
              <a:rPr lang="en-US" sz="2500" b="1" dirty="0">
                <a:solidFill>
                  <a:schemeClr val="accent2"/>
                </a:solidFill>
                <a:latin typeface="Arial" panose="020B0604020202020204" pitchFamily="34" charset="0"/>
                <a:ea typeface="Calibri" pitchFamily="34" charset="-122"/>
                <a:cs typeface="Arial" panose="020B0604020202020204" pitchFamily="34" charset="0"/>
              </a:rPr>
              <a:t>rules for formatting </a:t>
            </a:r>
            <a:r>
              <a:rPr lang="en-US" sz="2500" dirty="0">
                <a:solidFill>
                  <a:srgbClr val="334155"/>
                </a:solidFill>
                <a:latin typeface="Arial" panose="020B0604020202020204" pitchFamily="34" charset="0"/>
                <a:ea typeface="Calibri" pitchFamily="34" charset="-122"/>
                <a:cs typeface="Arial" panose="020B0604020202020204" pitchFamily="34" charset="0"/>
              </a:rPr>
              <a:t>the forecast in </a:t>
            </a:r>
            <a:r>
              <a:rPr lang="en-US" sz="2500" dirty="0" err="1">
                <a:solidFill>
                  <a:srgbClr val="334155"/>
                </a:solidFill>
                <a:latin typeface="Arial" panose="020B0604020202020204" pitchFamily="34" charset="0"/>
                <a:ea typeface="Calibri" pitchFamily="34" charset="-122"/>
                <a:cs typeface="Arial" panose="020B0604020202020204" pitchFamily="34" charset="0"/>
              </a:rPr>
              <a:t>FluSight</a:t>
            </a:r>
            <a:r>
              <a:rPr lang="en-US" sz="2500" dirty="0">
                <a:solidFill>
                  <a:srgbClr val="334155"/>
                </a:solidFill>
                <a:latin typeface="Arial" panose="020B0604020202020204" pitchFamily="34" charset="0"/>
                <a:ea typeface="Calibri" pitchFamily="34" charset="-122"/>
                <a:cs typeface="Arial" panose="020B0604020202020204" pitchFamily="34" charset="0"/>
              </a:rPr>
              <a:t> format and </a:t>
            </a:r>
            <a:r>
              <a:rPr lang="en-US" sz="2500" b="1" dirty="0">
                <a:solidFill>
                  <a:schemeClr val="accent2"/>
                </a:solidFill>
                <a:latin typeface="Arial" panose="020B0604020202020204" pitchFamily="34" charset="0"/>
                <a:ea typeface="Calibri" pitchFamily="34" charset="-122"/>
                <a:cs typeface="Arial" panose="020B0604020202020204" pitchFamily="34" charset="0"/>
              </a:rPr>
              <a:t>saving the file </a:t>
            </a:r>
            <a:r>
              <a:rPr lang="en-US" sz="2500" dirty="0">
                <a:solidFill>
                  <a:srgbClr val="334155"/>
                </a:solidFill>
                <a:latin typeface="Arial" panose="020B0604020202020204" pitchFamily="34" charset="0"/>
                <a:ea typeface="Calibri" pitchFamily="34" charset="-122"/>
                <a:cs typeface="Arial" panose="020B0604020202020204" pitchFamily="34" charset="0"/>
              </a:rPr>
              <a:t>(</a:t>
            </a:r>
            <a:r>
              <a:rPr lang="en-US" sz="2500" b="1" dirty="0">
                <a:solidFill>
                  <a:srgbClr val="334155"/>
                </a:solidFill>
                <a:latin typeface="Arial" panose="020B0604020202020204" pitchFamily="34" charset="0"/>
                <a:ea typeface="Calibri" pitchFamily="34" charset="-122"/>
                <a:cs typeface="Arial" panose="020B0604020202020204" pitchFamily="34" charset="0"/>
              </a:rPr>
              <a:t>Hint:</a:t>
            </a:r>
            <a:r>
              <a:rPr lang="en-US" sz="2500" dirty="0">
                <a:solidFill>
                  <a:srgbClr val="334155"/>
                </a:solidFill>
                <a:latin typeface="Arial" panose="020B0604020202020204" pitchFamily="34" charset="0"/>
                <a:ea typeface="Calibri" pitchFamily="34" charset="-122"/>
                <a:cs typeface="Arial" panose="020B0604020202020204" pitchFamily="34" charset="0"/>
              </a:rPr>
              <a:t> look at the column names and descriptions provided on the previous slide). </a:t>
            </a:r>
            <a:endParaRPr lang="en-US" sz="2500" dirty="0">
              <a:solidFill>
                <a:prstClr val="black"/>
              </a:solidFill>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0300337F-DE86-E594-0B96-42F73776F401}"/>
              </a:ext>
            </a:extLst>
          </p:cNvPr>
          <p:cNvPicPr>
            <a:picLocks noChangeAspect="1"/>
          </p:cNvPicPr>
          <p:nvPr/>
        </p:nvPicPr>
        <p:blipFill>
          <a:blip r:embed="rId3"/>
          <a:stretch>
            <a:fillRect/>
          </a:stretch>
        </p:blipFill>
        <p:spPr>
          <a:xfrm>
            <a:off x="2663312" y="4046"/>
            <a:ext cx="981703" cy="981703"/>
          </a:xfrm>
          <a:prstGeom prst="rect">
            <a:avLst/>
          </a:prstGeom>
        </p:spPr>
      </p:pic>
      <p:sp>
        <p:nvSpPr>
          <p:cNvPr id="5" name="Text 7">
            <a:extLst>
              <a:ext uri="{FF2B5EF4-FFF2-40B4-BE49-F238E27FC236}">
                <a16:creationId xmlns:a16="http://schemas.microsoft.com/office/drawing/2014/main" id="{C78FA08B-5E27-6B27-C373-0B70D890212D}"/>
              </a:ext>
            </a:extLst>
          </p:cNvPr>
          <p:cNvSpPr/>
          <p:nvPr/>
        </p:nvSpPr>
        <p:spPr>
          <a:xfrm>
            <a:off x="1858754" y="2944547"/>
            <a:ext cx="9144000" cy="127215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Using a table format (see </a:t>
            </a:r>
            <a:r>
              <a:rPr lang="en-US" sz="2200" b="1" dirty="0">
                <a:latin typeface="Courier New" panose="02070309020205020404" pitchFamily="49" charset="0"/>
                <a:cs typeface="Courier New" panose="02070309020205020404" pitchFamily="49" charset="0"/>
              </a:rPr>
              <a:t>Reshape wide </a:t>
            </a:r>
            <a:r>
              <a:rPr lang="en-US" sz="2200" dirty="0">
                <a:latin typeface="Arial" panose="020B0604020202020204" pitchFamily="34" charset="0"/>
                <a:cs typeface="Arial" panose="020B0604020202020204" pitchFamily="34" charset="0"/>
              </a:rPr>
              <a:t>slide</a:t>
            </a:r>
            <a:r>
              <a:rPr lang="en-US" sz="2200" dirty="0">
                <a:latin typeface="Arial" panose="020B0604020202020204" pitchFamily="34" charset="0"/>
                <a:ea typeface="Calibri" pitchFamily="34" charset="-122"/>
                <a:cs typeface="Arial" panose="020B0604020202020204" pitchFamily="34" charset="0"/>
              </a:rPr>
              <a:t>), </a:t>
            </a:r>
            <a:r>
              <a:rPr lang="en-US" sz="2200" b="1" dirty="0">
                <a:solidFill>
                  <a:schemeClr val="accent2"/>
                </a:solidFill>
                <a:latin typeface="Arial" panose="020B0604020202020204" pitchFamily="34" charset="0"/>
                <a:ea typeface="Calibri" pitchFamily="34" charset="-122"/>
                <a:cs typeface="Arial" panose="020B0604020202020204" pitchFamily="34" charset="0"/>
              </a:rPr>
              <a:t>create a table </a:t>
            </a:r>
            <a:r>
              <a:rPr lang="en-US" sz="2200" dirty="0">
                <a:latin typeface="Arial" panose="020B0604020202020204" pitchFamily="34" charset="0"/>
                <a:ea typeface="Calibri" pitchFamily="34" charset="-122"/>
                <a:cs typeface="Arial" panose="020B0604020202020204" pitchFamily="34" charset="0"/>
              </a:rPr>
              <a:t>with the </a:t>
            </a:r>
            <a:r>
              <a:rPr lang="en-US" sz="2200" dirty="0">
                <a:latin typeface="Courier New" panose="02070309020205020404" pitchFamily="49" charset="0"/>
                <a:ea typeface="Calibri" pitchFamily="34" charset="-122"/>
                <a:cs typeface="Courier New" panose="02070309020205020404" pitchFamily="49" charset="0"/>
              </a:rPr>
              <a:t>Column </a:t>
            </a:r>
            <a:r>
              <a:rPr lang="en-US" sz="2200" dirty="0">
                <a:latin typeface="Arial" panose="020B0604020202020204" pitchFamily="34" charset="0"/>
                <a:ea typeface="Calibri" pitchFamily="34" charset="-122"/>
                <a:cs typeface="Arial" panose="020B0604020202020204" pitchFamily="34" charset="0"/>
              </a:rPr>
              <a:t>names and </a:t>
            </a:r>
            <a:r>
              <a:rPr lang="en-US" sz="2200" dirty="0">
                <a:latin typeface="Courier New" panose="02070309020205020404" pitchFamily="49" charset="0"/>
                <a:ea typeface="Calibri" pitchFamily="34" charset="-122"/>
                <a:cs typeface="Courier New" panose="02070309020205020404" pitchFamily="49" charset="0"/>
              </a:rPr>
              <a:t>Type/Value </a:t>
            </a:r>
            <a:r>
              <a:rPr lang="en-US" sz="2200" dirty="0">
                <a:latin typeface="Arial" panose="020B0604020202020204" pitchFamily="34" charset="0"/>
                <a:ea typeface="Calibri" pitchFamily="34" charset="-122"/>
                <a:cs typeface="Arial" panose="020B0604020202020204" pitchFamily="34" charset="0"/>
              </a:rPr>
              <a:t>for each field required for </a:t>
            </a:r>
            <a:r>
              <a:rPr lang="en-US" sz="2200" dirty="0" err="1">
                <a:latin typeface="Arial" panose="020B0604020202020204" pitchFamily="34" charset="0"/>
                <a:ea typeface="Calibri" pitchFamily="34" charset="-122"/>
                <a:cs typeface="Arial" panose="020B0604020202020204" pitchFamily="34" charset="0"/>
              </a:rPr>
              <a:t>FluSight</a:t>
            </a:r>
            <a:r>
              <a:rPr lang="en-US" sz="2200" dirty="0">
                <a:latin typeface="Arial" panose="020B0604020202020204" pitchFamily="34" charset="0"/>
                <a:ea typeface="Calibri" pitchFamily="34" charset="-122"/>
                <a:cs typeface="Arial" panose="020B0604020202020204" pitchFamily="34" charset="0"/>
              </a:rPr>
              <a:t>. Include this table as part of </a:t>
            </a:r>
            <a:r>
              <a:rPr lang="en-US" sz="2200" b="1" dirty="0">
                <a:solidFill>
                  <a:schemeClr val="accent2"/>
                </a:solidFill>
                <a:latin typeface="Arial" panose="020B0604020202020204" pitchFamily="34" charset="0"/>
                <a:ea typeface="Calibri" pitchFamily="34" charset="-122"/>
                <a:cs typeface="Arial" panose="020B0604020202020204" pitchFamily="34" charset="0"/>
              </a:rPr>
              <a:t>Rule 5</a:t>
            </a:r>
            <a:r>
              <a:rPr lang="en-US" sz="2200" dirty="0">
                <a:latin typeface="Arial" panose="020B0604020202020204" pitchFamily="34" charset="0"/>
                <a:ea typeface="Calibri" pitchFamily="34" charset="-122"/>
                <a:cs typeface="Arial" panose="020B0604020202020204" pitchFamily="34" charset="0"/>
              </a:rPr>
              <a:t>. Use the table on the previous slide to guide you.   </a:t>
            </a:r>
            <a:endParaRPr lang="en-US" sz="2200" dirty="0">
              <a:latin typeface="Arial" panose="020B0604020202020204" pitchFamily="34" charset="0"/>
              <a:cs typeface="Arial" panose="020B0604020202020204" pitchFamily="34" charset="0"/>
            </a:endParaRPr>
          </a:p>
          <a:p>
            <a:pPr defTabSz="1219170"/>
            <a:endParaRPr lang="en-US" sz="2200" dirty="0">
              <a:latin typeface="Arial" panose="020B0604020202020204" pitchFamily="34" charset="0"/>
              <a:cs typeface="Arial" panose="020B0604020202020204" pitchFamily="34" charset="0"/>
            </a:endParaRPr>
          </a:p>
        </p:txBody>
      </p:sp>
      <p:sp>
        <p:nvSpPr>
          <p:cNvPr id="12" name="Shape 2">
            <a:extLst>
              <a:ext uri="{FF2B5EF4-FFF2-40B4-BE49-F238E27FC236}">
                <a16:creationId xmlns:a16="http://schemas.microsoft.com/office/drawing/2014/main" id="{366E133F-6431-48B0-D1DF-5767473F5477}"/>
              </a:ext>
            </a:extLst>
          </p:cNvPr>
          <p:cNvSpPr/>
          <p:nvPr/>
        </p:nvSpPr>
        <p:spPr>
          <a:xfrm>
            <a:off x="997399" y="447648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3">
            <a:extLst>
              <a:ext uri="{FF2B5EF4-FFF2-40B4-BE49-F238E27FC236}">
                <a16:creationId xmlns:a16="http://schemas.microsoft.com/office/drawing/2014/main" id="{4B5577AC-C677-7229-1CF9-686D08953C34}"/>
              </a:ext>
            </a:extLst>
          </p:cNvPr>
          <p:cNvSpPr/>
          <p:nvPr/>
        </p:nvSpPr>
        <p:spPr>
          <a:xfrm>
            <a:off x="997399" y="447648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dirty="0">
                <a:solidFill>
                  <a:schemeClr val="bg1"/>
                </a:solidFill>
                <a:latin typeface="Trebuchet MS" pitchFamily="34" charset="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6" name="Shape 2">
            <a:extLst>
              <a:ext uri="{FF2B5EF4-FFF2-40B4-BE49-F238E27FC236}">
                <a16:creationId xmlns:a16="http://schemas.microsoft.com/office/drawing/2014/main" id="{AE594CBC-4879-4190-D860-1A37F3AFF753}"/>
              </a:ext>
            </a:extLst>
          </p:cNvPr>
          <p:cNvSpPr/>
          <p:nvPr/>
        </p:nvSpPr>
        <p:spPr>
          <a:xfrm>
            <a:off x="997399" y="5691491"/>
            <a:ext cx="640080" cy="640080"/>
          </a:xfrm>
          <a:prstGeom prst="ellipse">
            <a:avLst/>
          </a:prstGeom>
          <a:solidFill>
            <a:srgbClr val="0E9AA7"/>
          </a:solidFill>
          <a:ln/>
        </p:spPr>
        <p:txBody>
          <a:bodyPr/>
          <a:lstStyle/>
          <a:p>
            <a:pPr algn="ctr" defTabSz="1219170">
              <a:defRPr/>
            </a:pPr>
            <a:r>
              <a:rPr lang="en-US" sz="2400" dirty="0">
                <a:solidFill>
                  <a:schemeClr val="bg1"/>
                </a:solidFill>
                <a:latin typeface="Trebuchet MS" pitchFamily="34" charset="0"/>
              </a:rPr>
              <a:t>3</a:t>
            </a:r>
            <a:endParaRPr lang="en-US" sz="2400" dirty="0">
              <a:solidFill>
                <a:schemeClr val="bg1"/>
              </a:solidFill>
              <a:latin typeface="Calibri" panose="020F0502020204030204"/>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7" name="Text 3">
            <a:extLst>
              <a:ext uri="{FF2B5EF4-FFF2-40B4-BE49-F238E27FC236}">
                <a16:creationId xmlns:a16="http://schemas.microsoft.com/office/drawing/2014/main" id="{2EA97B18-FAD7-A4BC-805B-5DC282204F27}"/>
              </a:ext>
            </a:extLst>
          </p:cNvPr>
          <p:cNvSpPr/>
          <p:nvPr/>
        </p:nvSpPr>
        <p:spPr>
          <a:xfrm>
            <a:off x="997399" y="569149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051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14" grpId="0" animBg="1"/>
      <p:bldP spid="5" grpId="0" animBg="1"/>
      <p:bldP spid="12" grpId="0" animBg="1"/>
      <p:bldP spid="13" grpId="0" animBg="1"/>
      <p:bldP spid="16" grpId="0" animBg="1"/>
      <p:bldP spid="1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4A843-2A0D-09B0-8530-EBEDF40B0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371A9-1D22-E4DD-3C4C-EFAC97BC604F}"/>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4: Visualization</a:t>
            </a:r>
          </a:p>
        </p:txBody>
      </p:sp>
    </p:spTree>
    <p:extLst>
      <p:ext uri="{BB962C8B-B14F-4D97-AF65-F5344CB8AC3E}">
        <p14:creationId xmlns:p14="http://schemas.microsoft.com/office/powerpoint/2010/main" val="18911368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8DDA4-0068-D900-CF8D-309894197C5A}"/>
              </a:ext>
            </a:extLst>
          </p:cNvPr>
          <p:cNvSpPr>
            <a:spLocks noGrp="1"/>
          </p:cNvSpPr>
          <p:nvPr>
            <p:ph type="title"/>
          </p:nvPr>
        </p:nvSpPr>
        <p:spPr>
          <a:xfrm>
            <a:off x="914400" y="180058"/>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Visualizing our Results</a:t>
            </a:r>
          </a:p>
        </p:txBody>
      </p:sp>
      <p:sp>
        <p:nvSpPr>
          <p:cNvPr id="3" name="Content Placeholder 2">
            <a:extLst>
              <a:ext uri="{FF2B5EF4-FFF2-40B4-BE49-F238E27FC236}">
                <a16:creationId xmlns:a16="http://schemas.microsoft.com/office/drawing/2014/main" id="{67B81FC1-1F81-360C-FDFC-14D625F6677C}"/>
              </a:ext>
            </a:extLst>
          </p:cNvPr>
          <p:cNvSpPr>
            <a:spLocks noGrp="1"/>
          </p:cNvSpPr>
          <p:nvPr>
            <p:ph idx="1"/>
          </p:nvPr>
        </p:nvSpPr>
        <p:spPr/>
        <p:txBody>
          <a:bodyPr/>
          <a:lstStyle/>
          <a:p>
            <a:pPr>
              <a:spcAft>
                <a:spcPts val="600"/>
              </a:spcAft>
            </a:pPr>
            <a:r>
              <a:rPr lang="en-US" dirty="0">
                <a:latin typeface="Arial" panose="020B0604020202020204" pitchFamily="34" charset="0"/>
                <a:cs typeface="Arial" panose="020B0604020202020204" pitchFamily="34" charset="0"/>
              </a:rPr>
              <a:t>As a final step, we will </a:t>
            </a:r>
            <a:r>
              <a:rPr lang="en-US" b="1" dirty="0">
                <a:solidFill>
                  <a:schemeClr val="accent2"/>
                </a:solidFill>
                <a:latin typeface="Arial" panose="020B0604020202020204" pitchFamily="34" charset="0"/>
                <a:cs typeface="Arial" panose="020B0604020202020204" pitchFamily="34" charset="0"/>
              </a:rPr>
              <a:t>visualize our results</a:t>
            </a:r>
            <a:r>
              <a:rPr lang="en-US" dirty="0">
                <a:latin typeface="Arial" panose="020B0604020202020204" pitchFamily="34" charset="0"/>
                <a:cs typeface="Arial" panose="020B0604020202020204" pitchFamily="34" charset="0"/>
              </a:rPr>
              <a:t>. A quick plot lets us catch any immediate issues (misaligned dates, wildly wide intervals, forecasts that ignore the trend) and get a feel for overall performance. </a:t>
            </a:r>
          </a:p>
          <a:p>
            <a:pPr>
              <a:spcAft>
                <a:spcPts val="600"/>
              </a:spcAft>
            </a:pPr>
            <a:r>
              <a:rPr lang="en-US" dirty="0">
                <a:latin typeface="Arial" panose="020B0604020202020204" pitchFamily="34" charset="0"/>
                <a:cs typeface="Arial" panose="020B0604020202020204" pitchFamily="34" charset="0"/>
              </a:rPr>
              <a:t>Remember, the rules for figures should </a:t>
            </a:r>
            <a:r>
              <a:rPr lang="en-US" b="1" dirty="0">
                <a:solidFill>
                  <a:schemeClr val="accent2"/>
                </a:solidFill>
                <a:latin typeface="Arial" panose="020B0604020202020204" pitchFamily="34" charset="0"/>
                <a:cs typeface="Arial" panose="020B0604020202020204" pitchFamily="34" charset="0"/>
              </a:rPr>
              <a:t>be specific </a:t>
            </a:r>
            <a:r>
              <a:rPr lang="en-US" dirty="0">
                <a:latin typeface="Arial" panose="020B0604020202020204" pitchFamily="34" charset="0"/>
                <a:cs typeface="Arial" panose="020B0604020202020204" pitchFamily="34" charset="0"/>
              </a:rPr>
              <a:t>enough that someone (or an AI) could produce the plot without asking any follow-up questions. </a:t>
            </a:r>
          </a:p>
          <a:p>
            <a:r>
              <a:rPr lang="en-US" dirty="0">
                <a:latin typeface="Arial" panose="020B0604020202020204" pitchFamily="34" charset="0"/>
                <a:cs typeface="Arial" panose="020B0604020202020204" pitchFamily="34" charset="0"/>
              </a:rPr>
              <a:t>We'll work </a:t>
            </a:r>
            <a:r>
              <a:rPr lang="en-US" b="1" dirty="0">
                <a:solidFill>
                  <a:schemeClr val="accent2"/>
                </a:solidFill>
                <a:latin typeface="Arial" panose="020B0604020202020204" pitchFamily="34" charset="0"/>
                <a:cs typeface="Arial" panose="020B0604020202020204" pitchFamily="34" charset="0"/>
              </a:rPr>
              <a:t>together</a:t>
            </a:r>
            <a:r>
              <a:rPr lang="en-US" dirty="0">
                <a:latin typeface="Arial" panose="020B0604020202020204" pitchFamily="34" charset="0"/>
                <a:cs typeface="Arial" panose="020B0604020202020204" pitchFamily="34" charset="0"/>
              </a:rPr>
              <a:t> to build our final figure.</a:t>
            </a:r>
          </a:p>
        </p:txBody>
      </p:sp>
    </p:spTree>
    <p:extLst>
      <p:ext uri="{BB962C8B-B14F-4D97-AF65-F5344CB8AC3E}">
        <p14:creationId xmlns:p14="http://schemas.microsoft.com/office/powerpoint/2010/main" val="174181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C3634A-381C-61F7-C5D0-DE876F1E29DB}"/>
              </a:ext>
            </a:extLst>
          </p:cNvPr>
          <p:cNvPicPr>
            <a:picLocks noChangeAspect="1"/>
          </p:cNvPicPr>
          <p:nvPr/>
        </p:nvPicPr>
        <p:blipFill>
          <a:blip r:embed="rId2"/>
          <a:stretch>
            <a:fillRect/>
          </a:stretch>
        </p:blipFill>
        <p:spPr>
          <a:xfrm>
            <a:off x="828675" y="268605"/>
            <a:ext cx="10534650" cy="6320790"/>
          </a:xfrm>
          <a:prstGeom prst="rect">
            <a:avLst/>
          </a:prstGeom>
        </p:spPr>
      </p:pic>
    </p:spTree>
    <p:extLst>
      <p:ext uri="{BB962C8B-B14F-4D97-AF65-F5344CB8AC3E}">
        <p14:creationId xmlns:p14="http://schemas.microsoft.com/office/powerpoint/2010/main" val="8321634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18288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Writing the Visualization Rules</a:t>
            </a:r>
            <a:endParaRPr lang="en-US" sz="4000" dirty="0">
              <a:solidFill>
                <a:srgbClr val="7030A0"/>
              </a:solidFill>
              <a:latin typeface="Arial" panose="020B0604020202020204" pitchFamily="34" charset="0"/>
              <a:cs typeface="Arial" panose="020B0604020202020204" pitchFamily="34" charset="0"/>
            </a:endParaRPr>
          </a:p>
        </p:txBody>
      </p:sp>
      <p:sp>
        <p:nvSpPr>
          <p:cNvPr id="4" name="Text 2"/>
          <p:cNvSpPr/>
          <p:nvPr/>
        </p:nvSpPr>
        <p:spPr>
          <a:xfrm>
            <a:off x="401054" y="1407160"/>
            <a:ext cx="9753600" cy="426720"/>
          </a:xfrm>
          <a:prstGeom prst="rect">
            <a:avLst/>
          </a:prstGeom>
          <a:noFill/>
          <a:ln/>
        </p:spPr>
        <p:txBody>
          <a:bodyPr wrap="square" lIns="0" tIns="0" rIns="0" bIns="0" rtlCol="0" anchor="ctr"/>
          <a:lstStyle/>
          <a:p>
            <a:pPr defTabSz="1219170"/>
            <a:r>
              <a:rPr lang="en-US" sz="2500" b="1" dirty="0">
                <a:solidFill>
                  <a:srgbClr val="0B2545"/>
                </a:solidFill>
                <a:latin typeface="Arial" panose="020B0604020202020204" pitchFamily="34" charset="0"/>
                <a:ea typeface="Trebuchet MS" pitchFamily="34" charset="-122"/>
                <a:cs typeface="Arial" panose="020B0604020202020204" pitchFamily="34" charset="0"/>
              </a:rPr>
              <a:t>Things to think about:</a:t>
            </a:r>
            <a:endParaRPr lang="en-US" sz="2500" dirty="0">
              <a:solidFill>
                <a:prstClr val="black"/>
              </a:solidFill>
              <a:latin typeface="Arial" panose="020B0604020202020204" pitchFamily="34" charset="0"/>
              <a:cs typeface="Arial" panose="020B0604020202020204" pitchFamily="34" charset="0"/>
            </a:endParaRPr>
          </a:p>
        </p:txBody>
      </p:sp>
      <p:graphicFrame>
        <p:nvGraphicFramePr>
          <p:cNvPr id="25" name="Table 24">
            <a:extLst>
              <a:ext uri="{FF2B5EF4-FFF2-40B4-BE49-F238E27FC236}">
                <a16:creationId xmlns:a16="http://schemas.microsoft.com/office/drawing/2014/main" id="{319859AC-CB52-C499-7BF6-A441ADEA298D}"/>
              </a:ext>
            </a:extLst>
          </p:cNvPr>
          <p:cNvGraphicFramePr>
            <a:graphicFrameLocks noGrp="1"/>
          </p:cNvGraphicFramePr>
          <p:nvPr>
            <p:extLst>
              <p:ext uri="{D42A27DB-BD31-4B8C-83A1-F6EECF244321}">
                <p14:modId xmlns:p14="http://schemas.microsoft.com/office/powerpoint/2010/main" val="1456349300"/>
              </p:ext>
            </p:extLst>
          </p:nvPr>
        </p:nvGraphicFramePr>
        <p:xfrm>
          <a:off x="401054" y="2204720"/>
          <a:ext cx="11389893" cy="4114800"/>
        </p:xfrm>
        <a:graphic>
          <a:graphicData uri="http://schemas.openxmlformats.org/drawingml/2006/table">
            <a:tbl>
              <a:tblPr firstRow="1" bandRow="1">
                <a:tableStyleId>{5940675A-B579-460E-94D1-54222C63F5DA}</a:tableStyleId>
              </a:tblPr>
              <a:tblGrid>
                <a:gridCol w="3883564">
                  <a:extLst>
                    <a:ext uri="{9D8B030D-6E8A-4147-A177-3AD203B41FA5}">
                      <a16:colId xmlns:a16="http://schemas.microsoft.com/office/drawing/2014/main" val="4266282761"/>
                    </a:ext>
                  </a:extLst>
                </a:gridCol>
                <a:gridCol w="7506329">
                  <a:extLst>
                    <a:ext uri="{9D8B030D-6E8A-4147-A177-3AD203B41FA5}">
                      <a16:colId xmlns:a16="http://schemas.microsoft.com/office/drawing/2014/main" val="2861197655"/>
                    </a:ext>
                  </a:extLst>
                </a:gridCol>
              </a:tblGrid>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Element</a:t>
                      </a:r>
                    </a:p>
                  </a:txBody>
                  <a:tcPr anchor="ctr">
                    <a:solidFill>
                      <a:srgbClr val="F0F9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Description</a:t>
                      </a:r>
                    </a:p>
                  </a:txBody>
                  <a:tcPr anchor="ctr">
                    <a:solidFill>
                      <a:srgbClr val="F0F9FF"/>
                    </a:solidFill>
                  </a:tcPr>
                </a:tc>
                <a:extLst>
                  <a:ext uri="{0D108BD9-81ED-4DB2-BD59-A6C34878D82A}">
                    <a16:rowId xmlns:a16="http://schemas.microsoft.com/office/drawing/2014/main" val="3040343983"/>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Plot type &amp; Plot Elements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line chart, bar chart, scatter, etc.</a:t>
                      </a:r>
                    </a:p>
                  </a:txBody>
                  <a:tcPr anchor="ctr"/>
                </a:tc>
                <a:extLst>
                  <a:ext uri="{0D108BD9-81ED-4DB2-BD59-A6C34878D82A}">
                    <a16:rowId xmlns:a16="http://schemas.microsoft.com/office/drawing/2014/main" val="3766415225"/>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X-Axis and Y-Axis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variable, label text, date format, start at zero?</a:t>
                      </a:r>
                    </a:p>
                  </a:txBody>
                  <a:tcPr anchor="ctr"/>
                </a:tc>
                <a:extLst>
                  <a:ext uri="{0D108BD9-81ED-4DB2-BD59-A6C34878D82A}">
                    <a16:rowId xmlns:a16="http://schemas.microsoft.com/office/drawing/2014/main" val="1431164405"/>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Title</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exact title text for the figure</a:t>
                      </a:r>
                    </a:p>
                  </a:txBody>
                  <a:tcPr anchor="ctr"/>
                </a:tc>
                <a:extLst>
                  <a:ext uri="{0D108BD9-81ED-4DB2-BD59-A6C34878D82A}">
                    <a16:rowId xmlns:a16="http://schemas.microsoft.com/office/drawing/2014/main" val="1100436042"/>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Colors and highlights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line color, shading, annotation colors</a:t>
                      </a:r>
                    </a:p>
                  </a:txBody>
                  <a:tcPr anchor="ctr"/>
                </a:tc>
                <a:extLst>
                  <a:ext uri="{0D108BD9-81ED-4DB2-BD59-A6C34878D82A}">
                    <a16:rowId xmlns:a16="http://schemas.microsoft.com/office/drawing/2014/main" val="2569343291"/>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Annotations and markers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peak markers, reference lines, text labels</a:t>
                      </a:r>
                    </a:p>
                  </a:txBody>
                  <a:tcPr anchor="ctr"/>
                </a:tc>
                <a:extLst>
                  <a:ext uri="{0D108BD9-81ED-4DB2-BD59-A6C34878D82A}">
                    <a16:rowId xmlns:a16="http://schemas.microsoft.com/office/drawing/2014/main" val="1313927436"/>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Legend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Legend elements, labels, colors</a:t>
                      </a:r>
                    </a:p>
                  </a:txBody>
                  <a:tcPr anchor="ctr"/>
                </a:tc>
                <a:extLst>
                  <a:ext uri="{0D108BD9-81ED-4DB2-BD59-A6C34878D82A}">
                    <a16:rowId xmlns:a16="http://schemas.microsoft.com/office/drawing/2014/main" val="291044372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Output file name</a:t>
                      </a:r>
                    </a:p>
                  </a:txBody>
                  <a:tcPr anchor="ctr"/>
                </a:tc>
                <a:tc>
                  <a:txBody>
                    <a:bodyPr/>
                    <a:lstStyle/>
                    <a:p>
                      <a:r>
                        <a:rPr lang="en-US" sz="2400" b="0" kern="1200" dirty="0">
                          <a:solidFill>
                            <a:schemeClr val="tx1"/>
                          </a:solidFill>
                          <a:effectLst/>
                          <a:latin typeface="+mn-lt"/>
                          <a:ea typeface="+mn-ea"/>
                          <a:cs typeface="+mn-cs"/>
                        </a:rPr>
                        <a:t>output/figures/03_forecast/forecast_vs_observed.png</a:t>
                      </a:r>
                    </a:p>
                  </a:txBody>
                  <a:tcPr anchor="ctr"/>
                </a:tc>
                <a:extLst>
                  <a:ext uri="{0D108BD9-81ED-4DB2-BD59-A6C34878D82A}">
                    <a16:rowId xmlns:a16="http://schemas.microsoft.com/office/drawing/2014/main" val="204744296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Save Requirements</a:t>
                      </a:r>
                    </a:p>
                  </a:txBody>
                  <a:tcPr anchor="ctr"/>
                </a:tc>
                <a:tc>
                  <a:txBody>
                    <a:bodyPr/>
                    <a:lstStyle/>
                    <a:p>
                      <a:r>
                        <a:rPr lang="en-US" sz="2400" b="0" kern="1200" dirty="0">
                          <a:solidFill>
                            <a:schemeClr val="tx1"/>
                          </a:solidFill>
                          <a:effectLst/>
                          <a:latin typeface="+mn-lt"/>
                          <a:ea typeface="+mn-ea"/>
                          <a:cs typeface="+mn-cs"/>
                        </a:rPr>
                        <a:t>DPI</a:t>
                      </a:r>
                    </a:p>
                  </a:txBody>
                  <a:tcPr anchor="ctr"/>
                </a:tc>
                <a:extLst>
                  <a:ext uri="{0D108BD9-81ED-4DB2-BD59-A6C34878D82A}">
                    <a16:rowId xmlns:a16="http://schemas.microsoft.com/office/drawing/2014/main" val="260677642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F69E9-59A4-5091-CDCA-AF218A896B7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EE30C68-F076-E244-B770-D1986693C46E}"/>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3731BD9E-44DC-4ECD-5EDF-1CA969BE6EB3}"/>
              </a:ext>
            </a:extLst>
          </p:cNvPr>
          <p:cNvSpPr/>
          <p:nvPr/>
        </p:nvSpPr>
        <p:spPr>
          <a:xfrm>
            <a:off x="1061194" y="2404151"/>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9C173C25-B8FD-B3DD-643A-C7D2049AC922}"/>
              </a:ext>
            </a:extLst>
          </p:cNvPr>
          <p:cNvSpPr/>
          <p:nvPr/>
        </p:nvSpPr>
        <p:spPr>
          <a:xfrm>
            <a:off x="1061194" y="240415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6C842E04-5CB2-2831-2D8C-4C9A891CA1C0}"/>
              </a:ext>
            </a:extLst>
          </p:cNvPr>
          <p:cNvSpPr/>
          <p:nvPr/>
        </p:nvSpPr>
        <p:spPr>
          <a:xfrm>
            <a:off x="1858754" y="2431145"/>
            <a:ext cx="9144000" cy="607709"/>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200" dirty="0">
                <a:latin typeface="Arial" panose="020B0604020202020204" pitchFamily="34" charset="0"/>
                <a:ea typeface="Calibri" pitchFamily="34" charset="-122"/>
                <a:cs typeface="Arial" panose="020B0604020202020204" pitchFamily="34" charset="0"/>
              </a:rPr>
              <a:t> the </a:t>
            </a:r>
            <a:r>
              <a:rPr lang="en-US" sz="2200" dirty="0">
                <a:latin typeface="Courier New" panose="02070309020205020404" pitchFamily="49" charset="0"/>
                <a:ea typeface="Calibri" pitchFamily="34" charset="-122"/>
                <a:cs typeface="Courier New" panose="02070309020205020404" pitchFamily="49" charset="0"/>
              </a:rPr>
              <a:t>## 6. Forecast Figure</a:t>
            </a:r>
            <a:r>
              <a:rPr lang="en-US" sz="2200" dirty="0">
                <a:latin typeface="Arial" panose="020B0604020202020204" pitchFamily="34" charset="0"/>
                <a:ea typeface="Calibri" pitchFamily="34" charset="-122"/>
                <a:cs typeface="Arial" panose="020B0604020202020204" pitchFamily="34" charset="0"/>
              </a:rPr>
              <a:t> </a:t>
            </a:r>
            <a:r>
              <a:rPr lang="en-US" sz="22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200" dirty="0">
                <a:latin typeface="Arial" panose="020B0604020202020204" pitchFamily="34" charset="0"/>
                <a:ea typeface="Calibri" pitchFamily="34" charset="-122"/>
                <a:cs typeface="Arial" panose="020B0604020202020204" pitchFamily="34" charset="0"/>
              </a:rPr>
              <a:t>under </a:t>
            </a:r>
          </a:p>
          <a:p>
            <a:pPr defTabSz="1219170"/>
            <a:r>
              <a:rPr lang="en-US" sz="2200" dirty="0">
                <a:latin typeface="Courier New" panose="02070309020205020404" pitchFamily="49" charset="0"/>
                <a:ea typeface="Calibri" pitchFamily="34" charset="-122"/>
                <a:cs typeface="Courier New" panose="02070309020205020404" pitchFamily="49" charset="0"/>
              </a:rPr>
              <a:t>## 5. </a:t>
            </a:r>
            <a:r>
              <a:rPr lang="en-US" sz="2200" dirty="0">
                <a:latin typeface="Courier New" panose="02070309020205020404" pitchFamily="49" charset="0"/>
                <a:cs typeface="Courier New" panose="02070309020205020404" pitchFamily="49" charset="0"/>
              </a:rPr>
              <a:t>Forecast Generation</a:t>
            </a:r>
            <a:r>
              <a:rPr lang="en-US" sz="2200" dirty="0">
                <a:latin typeface="Courier New" panose="02070309020205020404" pitchFamily="49" charset="0"/>
                <a:ea typeface="Calibri" pitchFamily="34" charset="-122"/>
                <a:cs typeface="Courier New" panose="02070309020205020404" pitchFamily="49" charset="0"/>
              </a:rPr>
              <a:t> section </a:t>
            </a:r>
            <a:r>
              <a:rPr lang="en-US" sz="2200" dirty="0">
                <a:latin typeface="Arial" panose="020B0604020202020204" pitchFamily="34" charset="0"/>
                <a:ea typeface="Calibri" pitchFamily="34" charset="-122"/>
                <a:cs typeface="Arial" panose="020B0604020202020204" pitchFamily="34" charset="0"/>
              </a:rPr>
              <a:t>header in rules.md.</a:t>
            </a:r>
            <a:endParaRPr lang="en-US" sz="22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C9D55DB9-52F1-B6EC-0CE3-0186385E063A}"/>
              </a:ext>
            </a:extLst>
          </p:cNvPr>
          <p:cNvSpPr/>
          <p:nvPr/>
        </p:nvSpPr>
        <p:spPr>
          <a:xfrm>
            <a:off x="1061194" y="348848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B1E5D116-59E1-9BE4-CE0C-0173984FF3CC}"/>
              </a:ext>
            </a:extLst>
          </p:cNvPr>
          <p:cNvSpPr/>
          <p:nvPr/>
        </p:nvSpPr>
        <p:spPr>
          <a:xfrm>
            <a:off x="1061194" y="348848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8A4D9455-3ECD-682C-B1A8-062ADD3D50E7}"/>
              </a:ext>
            </a:extLst>
          </p:cNvPr>
          <p:cNvSpPr/>
          <p:nvPr/>
        </p:nvSpPr>
        <p:spPr>
          <a:xfrm>
            <a:off x="1858754" y="3191750"/>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Write detailed rules </a:t>
            </a:r>
            <a:r>
              <a:rPr lang="en-US" sz="2200" dirty="0">
                <a:latin typeface="Arial" panose="020B0604020202020204" pitchFamily="34" charset="0"/>
                <a:ea typeface="Calibri" pitchFamily="34" charset="-122"/>
                <a:cs typeface="Arial" panose="020B0604020202020204" pitchFamily="34" charset="0"/>
              </a:rPr>
              <a:t>to obtain the forecast visual. Make sure to specify plot types, axes, colors, annotations, file names, etc. (vague rules = vague output). </a:t>
            </a:r>
            <a:endParaRPr lang="en-US" sz="22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7A78F304-7611-F49B-BA73-9AB32B43F2B4}"/>
              </a:ext>
            </a:extLst>
          </p:cNvPr>
          <p:cNvSpPr/>
          <p:nvPr/>
        </p:nvSpPr>
        <p:spPr>
          <a:xfrm>
            <a:off x="1061194" y="4598248"/>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9E0C45DD-4E91-004F-8AC2-FD08F3186D95}"/>
              </a:ext>
            </a:extLst>
          </p:cNvPr>
          <p:cNvSpPr/>
          <p:nvPr/>
        </p:nvSpPr>
        <p:spPr>
          <a:xfrm>
            <a:off x="1061194" y="4598248"/>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48F59CB4-FCA9-3402-EE0C-FC5FB33AB3F3}"/>
              </a:ext>
            </a:extLst>
          </p:cNvPr>
          <p:cNvSpPr/>
          <p:nvPr/>
        </p:nvSpPr>
        <p:spPr>
          <a:xfrm>
            <a:off x="1061194" y="559164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3AACBDDD-442F-1873-4FDD-C729F63D35B7}"/>
              </a:ext>
            </a:extLst>
          </p:cNvPr>
          <p:cNvSpPr/>
          <p:nvPr/>
        </p:nvSpPr>
        <p:spPr>
          <a:xfrm>
            <a:off x="1061194" y="5591649"/>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0C65D749-E0B5-9B8C-326E-958AA14C213E}"/>
              </a:ext>
            </a:extLst>
          </p:cNvPr>
          <p:cNvSpPr/>
          <p:nvPr/>
        </p:nvSpPr>
        <p:spPr>
          <a:xfrm>
            <a:off x="1858754" y="5493477"/>
            <a:ext cx="9914146" cy="836423"/>
          </a:xfrm>
          <a:prstGeom prst="rect">
            <a:avLst/>
          </a:prstGeom>
          <a:noFill/>
          <a:ln/>
        </p:spPr>
        <p:txBody>
          <a:bodyPr wrap="square" lIns="0" tIns="0" rIns="0" bIns="0" rtlCol="0" anchor="ctr"/>
          <a:lstStyle/>
          <a:p>
            <a:pPr lvl="0" defTabSz="1219170">
              <a:defRPr/>
            </a:pP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2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a:t>
            </a:r>
            <a:r>
              <a:rPr lang="en-US" sz="2200" dirty="0">
                <a:latin typeface="Arial" panose="020B0604020202020204" pitchFamily="34" charset="0"/>
                <a:ea typeface="Calibri" pitchFamily="34" charset="-122"/>
                <a:cs typeface="Arial" panose="020B0604020202020204" pitchFamily="34" charset="0"/>
              </a:rPr>
              <a:t>update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scripts</a:t>
            </a:r>
            <a:r>
              <a:rPr lang="en-US" sz="2200" b="1" dirty="0">
                <a:solidFill>
                  <a:schemeClr val="accent2"/>
                </a:solidFill>
                <a:latin typeface="Arial" panose="020B0604020202020204" pitchFamily="34" charset="0"/>
                <a:ea typeface="Calibri" pitchFamily="34" charset="-122"/>
                <a:cs typeface="Arial" panose="020B0604020202020204" pitchFamily="34" charset="0"/>
              </a:rPr>
              <a:t>/0</a:t>
            </a:r>
            <a:r>
              <a:rPr lang="en-US" sz="2200" b="1" dirty="0">
                <a:solidFill>
                  <a:schemeClr val="accent2"/>
                </a:solidFill>
                <a:latin typeface="Arial" panose="020B0604020202020204" pitchFamily="34" charset="0"/>
                <a:cs typeface="Arial" panose="020B0604020202020204" pitchFamily="34" charset="0"/>
              </a:rPr>
              <a:t>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a:t>
            </a:r>
            <a:r>
              <a:rPr lang="en-US" sz="2200" b="1" dirty="0">
                <a:solidFill>
                  <a:schemeClr val="accent2"/>
                </a:solidFill>
                <a:latin typeface="Arial" panose="020B0604020202020204" pitchFamily="34" charset="0"/>
                <a:cs typeface="Arial" panose="020B0604020202020204" pitchFamily="34" charset="0"/>
              </a:rPr>
              <a:t>check the output</a:t>
            </a:r>
            <a:r>
              <a:rPr lang="en-US" sz="2200" dirty="0">
                <a:latin typeface="Arial" panose="020B0604020202020204" pitchFamily="34" charset="0"/>
                <a:cs typeface="Arial" panose="020B0604020202020204" pitchFamily="34" charset="0"/>
              </a:rPr>
              <a: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6497CAFB-1E6B-462D-18FD-B1B33004E34A}"/>
              </a:ext>
            </a:extLst>
          </p:cNvPr>
          <p:cNvSpPr/>
          <p:nvPr/>
        </p:nvSpPr>
        <p:spPr>
          <a:xfrm>
            <a:off x="800100" y="109960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dirty="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dirty="0">
                <a:solidFill>
                  <a:srgbClr val="334155"/>
                </a:solidFill>
                <a:latin typeface="Arial" panose="020B0604020202020204" pitchFamily="34" charset="0"/>
                <a:ea typeface="Calibri" pitchFamily="34" charset="-122"/>
                <a:cs typeface="Arial" panose="020B0604020202020204" pitchFamily="34" charset="0"/>
              </a:rPr>
              <a:t>together</a:t>
            </a:r>
            <a:r>
              <a:rPr lang="en-US" sz="2500" dirty="0">
                <a:solidFill>
                  <a:srgbClr val="334155"/>
                </a:solidFill>
                <a:latin typeface="Arial" panose="020B0604020202020204" pitchFamily="34" charset="0"/>
                <a:ea typeface="Calibri" pitchFamily="34" charset="-122"/>
                <a:cs typeface="Arial" panose="020B0604020202020204" pitchFamily="34" charset="0"/>
              </a:rPr>
              <a:t> to add that next section to our </a:t>
            </a:r>
            <a:r>
              <a:rPr lang="en-US" sz="2500" b="1" dirty="0">
                <a:solidFill>
                  <a:srgbClr val="334155"/>
                </a:solidFill>
                <a:latin typeface="Arial" panose="020B0604020202020204" pitchFamily="34" charset="0"/>
                <a:ea typeface="Calibri" pitchFamily="34" charset="-122"/>
                <a:cs typeface="Arial" panose="020B0604020202020204" pitchFamily="34" charset="0"/>
              </a:rPr>
              <a:t>rules.md</a:t>
            </a:r>
            <a:r>
              <a:rPr lang="en-US" sz="2500" dirty="0">
                <a:solidFill>
                  <a:srgbClr val="334155"/>
                </a:solidFill>
                <a:latin typeface="Arial" panose="020B0604020202020204" pitchFamily="34" charset="0"/>
                <a:ea typeface="Calibri" pitchFamily="34" charset="-122"/>
                <a:cs typeface="Arial" panose="020B0604020202020204" pitchFamily="34" charset="0"/>
              </a:rPr>
              <a:t> document.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ACD433B3-FBF1-F83A-7FA4-667204D6965E}"/>
              </a:ext>
            </a:extLst>
          </p:cNvPr>
          <p:cNvSpPr/>
          <p:nvPr/>
        </p:nvSpPr>
        <p:spPr>
          <a:xfrm>
            <a:off x="1858754" y="4715814"/>
            <a:ext cx="9509760" cy="42672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 </a:t>
            </a:r>
            <a:r>
              <a:rPr lang="en-US" sz="2200" dirty="0">
                <a:latin typeface="Arial" panose="020B0604020202020204" pitchFamily="34" charset="0"/>
                <a:ea typeface="Calibri" pitchFamily="34" charset="-122"/>
                <a:cs typeface="Arial" panose="020B0604020202020204" pitchFamily="34" charset="0"/>
              </a:rPr>
              <a:t>from your updated rules document</a:t>
            </a:r>
            <a:endParaRPr lang="en-US" sz="22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526226AE-C63F-FF6F-6D64-97C206295C1D}"/>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225408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35A33-2038-AB47-55C7-5A639FFB3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3D87F-8CAD-9466-9943-5546E0E0150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5: Extensions</a:t>
            </a:r>
          </a:p>
        </p:txBody>
      </p:sp>
    </p:spTree>
    <p:extLst>
      <p:ext uri="{BB962C8B-B14F-4D97-AF65-F5344CB8AC3E}">
        <p14:creationId xmlns:p14="http://schemas.microsoft.com/office/powerpoint/2010/main" val="14329229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1E76-96BF-0B10-A3D2-A8644E2158FF}"/>
              </a:ext>
            </a:extLst>
          </p:cNvPr>
          <p:cNvSpPr>
            <a:spLocks noGrp="1"/>
          </p:cNvSpPr>
          <p:nvPr>
            <p:ph type="title"/>
          </p:nvPr>
        </p:nvSpPr>
        <p:spPr>
          <a:xfrm>
            <a:off x="838200" y="201831"/>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Expanding to full </a:t>
            </a:r>
            <a:r>
              <a:rPr lang="en-US" b="1" dirty="0" err="1">
                <a:solidFill>
                  <a:srgbClr val="7030A0"/>
                </a:solidFill>
                <a:latin typeface="Arial" panose="020B0604020202020204" pitchFamily="34" charset="0"/>
                <a:cs typeface="Arial" panose="020B0604020202020204" pitchFamily="34" charset="0"/>
              </a:rPr>
              <a:t>FluSight</a:t>
            </a:r>
            <a:r>
              <a:rPr lang="en-US" b="1" dirty="0">
                <a:solidFill>
                  <a:srgbClr val="7030A0"/>
                </a:solidFill>
                <a:latin typeface="Arial" panose="020B0604020202020204" pitchFamily="34" charset="0"/>
                <a:cs typeface="Arial" panose="020B0604020202020204" pitchFamily="34" charset="0"/>
              </a:rPr>
              <a:t> Format</a:t>
            </a:r>
          </a:p>
        </p:txBody>
      </p:sp>
      <p:sp>
        <p:nvSpPr>
          <p:cNvPr id="3" name="Content Placeholder 2">
            <a:extLst>
              <a:ext uri="{FF2B5EF4-FFF2-40B4-BE49-F238E27FC236}">
                <a16:creationId xmlns:a16="http://schemas.microsoft.com/office/drawing/2014/main" id="{D22CDE09-0920-72A2-562B-EFE4A8892745}"/>
              </a:ext>
            </a:extLst>
          </p:cNvPr>
          <p:cNvSpPr>
            <a:spLocks noGrp="1"/>
          </p:cNvSpPr>
          <p:nvPr>
            <p:ph idx="1"/>
          </p:nvPr>
        </p:nvSpPr>
        <p:spPr>
          <a:xfrm>
            <a:off x="838200" y="1618791"/>
            <a:ext cx="10515600" cy="4351338"/>
          </a:xfrm>
        </p:spPr>
        <p:txBody>
          <a:bodyPr/>
          <a:lstStyle/>
          <a:p>
            <a:r>
              <a:rPr lang="en-US" sz="2500" dirty="0">
                <a:latin typeface="Arial" panose="020B0604020202020204" pitchFamily="34" charset="0"/>
                <a:cs typeface="Arial" panose="020B0604020202020204" pitchFamily="34" charset="0"/>
              </a:rPr>
              <a:t>Our current forecasts </a:t>
            </a:r>
            <a:r>
              <a:rPr lang="en-US" sz="2500" b="1" dirty="0">
                <a:solidFill>
                  <a:schemeClr val="accent2"/>
                </a:solidFill>
                <a:latin typeface="Arial" panose="020B0604020202020204" pitchFamily="34" charset="0"/>
                <a:cs typeface="Arial" panose="020B0604020202020204" pitchFamily="34" charset="0"/>
              </a:rPr>
              <a:t>do not </a:t>
            </a:r>
            <a:r>
              <a:rPr lang="en-US" sz="2500" dirty="0">
                <a:latin typeface="Arial" panose="020B0604020202020204" pitchFamily="34" charset="0"/>
                <a:cs typeface="Arial" panose="020B0604020202020204" pitchFamily="34" charset="0"/>
              </a:rPr>
              <a:t>capture all horizons and quantiles required by </a:t>
            </a:r>
            <a:r>
              <a:rPr lang="en-US" sz="2500" dirty="0" err="1">
                <a:latin typeface="Arial" panose="020B0604020202020204" pitchFamily="34" charset="0"/>
                <a:cs typeface="Arial" panose="020B0604020202020204" pitchFamily="34" charset="0"/>
              </a:rPr>
              <a:t>FluSight</a:t>
            </a:r>
            <a:r>
              <a:rPr lang="en-US" sz="2500" dirty="0">
                <a:latin typeface="Arial" panose="020B0604020202020204" pitchFamily="34" charset="0"/>
                <a:cs typeface="Arial" panose="020B0604020202020204" pitchFamily="34" charset="0"/>
              </a:rPr>
              <a:t>. </a:t>
            </a:r>
          </a:p>
          <a:p>
            <a:r>
              <a:rPr lang="en-US" sz="2500" dirty="0">
                <a:latin typeface="Arial" panose="020B0604020202020204" pitchFamily="34" charset="0"/>
                <a:cs typeface="Arial" panose="020B0604020202020204" pitchFamily="34" charset="0"/>
              </a:rPr>
              <a:t>The remainder of this activity will focus on expanding our current framework to all </a:t>
            </a:r>
            <a:r>
              <a:rPr lang="en-US" sz="2500" b="1" dirty="0">
                <a:solidFill>
                  <a:schemeClr val="accent2"/>
                </a:solidFill>
                <a:latin typeface="Arial" panose="020B0604020202020204" pitchFamily="34" charset="0"/>
                <a:cs typeface="Arial" panose="020B0604020202020204" pitchFamily="34" charset="0"/>
              </a:rPr>
              <a:t>23 quantiles</a:t>
            </a:r>
            <a:r>
              <a:rPr lang="en-US" sz="2500" dirty="0">
                <a:latin typeface="Arial" panose="020B0604020202020204" pitchFamily="34" charset="0"/>
                <a:cs typeface="Arial" panose="020B0604020202020204" pitchFamily="34" charset="0"/>
              </a:rPr>
              <a:t> and </a:t>
            </a:r>
            <a:r>
              <a:rPr lang="en-US" sz="2500" b="1" dirty="0">
                <a:solidFill>
                  <a:schemeClr val="accent2"/>
                </a:solidFill>
                <a:latin typeface="Arial" panose="020B0604020202020204" pitchFamily="34" charset="0"/>
                <a:cs typeface="Arial" panose="020B0604020202020204" pitchFamily="34" charset="0"/>
              </a:rPr>
              <a:t>forecasting horizons</a:t>
            </a:r>
            <a:r>
              <a:rPr lang="en-US" sz="2500" dirty="0">
                <a:latin typeface="Arial" panose="020B0604020202020204" pitchFamily="34" charset="0"/>
                <a:cs typeface="Arial" panose="020B0604020202020204" pitchFamily="34" charset="0"/>
              </a:rPr>
              <a:t> required by the challenge. </a:t>
            </a:r>
          </a:p>
          <a:p>
            <a:pPr marL="457200" lvl="1" indent="0">
              <a:buNone/>
            </a:pPr>
            <a:endParaRPr lang="en-US" dirty="0"/>
          </a:p>
        </p:txBody>
      </p:sp>
      <p:graphicFrame>
        <p:nvGraphicFramePr>
          <p:cNvPr id="4" name="Table 3">
            <a:extLst>
              <a:ext uri="{FF2B5EF4-FFF2-40B4-BE49-F238E27FC236}">
                <a16:creationId xmlns:a16="http://schemas.microsoft.com/office/drawing/2014/main" id="{2ABBA509-3600-242F-FE22-17262A551658}"/>
              </a:ext>
            </a:extLst>
          </p:cNvPr>
          <p:cNvGraphicFramePr>
            <a:graphicFrameLocks noGrp="1"/>
          </p:cNvGraphicFramePr>
          <p:nvPr>
            <p:extLst>
              <p:ext uri="{D42A27DB-BD31-4B8C-83A1-F6EECF244321}">
                <p14:modId xmlns:p14="http://schemas.microsoft.com/office/powerpoint/2010/main" val="2720084867"/>
              </p:ext>
            </p:extLst>
          </p:nvPr>
        </p:nvGraphicFramePr>
        <p:xfrm>
          <a:off x="993848" y="3966387"/>
          <a:ext cx="10204305" cy="2204720"/>
        </p:xfrm>
        <a:graphic>
          <a:graphicData uri="http://schemas.openxmlformats.org/drawingml/2006/table">
            <a:tbl>
              <a:tblPr firstRow="1" bandRow="1">
                <a:tableStyleId>{5940675A-B579-460E-94D1-54222C63F5DA}</a:tableStyleId>
              </a:tblPr>
              <a:tblGrid>
                <a:gridCol w="3401435">
                  <a:extLst>
                    <a:ext uri="{9D8B030D-6E8A-4147-A177-3AD203B41FA5}">
                      <a16:colId xmlns:a16="http://schemas.microsoft.com/office/drawing/2014/main" val="3477913489"/>
                    </a:ext>
                  </a:extLst>
                </a:gridCol>
                <a:gridCol w="3401435">
                  <a:extLst>
                    <a:ext uri="{9D8B030D-6E8A-4147-A177-3AD203B41FA5}">
                      <a16:colId xmlns:a16="http://schemas.microsoft.com/office/drawing/2014/main" val="2711285860"/>
                    </a:ext>
                  </a:extLst>
                </a:gridCol>
                <a:gridCol w="3401435">
                  <a:extLst>
                    <a:ext uri="{9D8B030D-6E8A-4147-A177-3AD203B41FA5}">
                      <a16:colId xmlns:a16="http://schemas.microsoft.com/office/drawing/2014/main" val="3713721280"/>
                    </a:ext>
                  </a:extLst>
                </a:gridCol>
              </a:tblGrid>
              <a:tr h="370840">
                <a:tc>
                  <a:txBody>
                    <a:bodyPr/>
                    <a:lstStyle/>
                    <a:p>
                      <a:endParaRPr lang="en-US" dirty="0">
                        <a:latin typeface="Arial" panose="020B0604020202020204" pitchFamily="34" charset="0"/>
                        <a:cs typeface="Arial" panose="020B0604020202020204" pitchFamily="34"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tcPr>
                </a:tc>
                <a:tc>
                  <a:txBody>
                    <a:bodyPr/>
                    <a:lstStyle/>
                    <a:p>
                      <a:pPr algn="ctr"/>
                      <a:r>
                        <a:rPr lang="en-US" b="1" dirty="0">
                          <a:latin typeface="Arial" panose="020B0604020202020204" pitchFamily="34" charset="0"/>
                          <a:cs typeface="Arial" panose="020B0604020202020204" pitchFamily="34" charset="0"/>
                        </a:rPr>
                        <a:t>Current </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US" b="1" dirty="0">
                          <a:latin typeface="Arial" panose="020B0604020202020204" pitchFamily="34" charset="0"/>
                          <a:cs typeface="Arial" panose="020B0604020202020204" pitchFamily="34" charset="0"/>
                        </a:rPr>
                        <a:t>Goal</a:t>
                      </a:r>
                    </a:p>
                  </a:txBody>
                  <a:tcPr anchor="ctr">
                    <a:solidFill>
                      <a:schemeClr val="bg1">
                        <a:lumMod val="95000"/>
                      </a:schemeClr>
                    </a:solidFill>
                  </a:tcPr>
                </a:tc>
                <a:extLst>
                  <a:ext uri="{0D108BD9-81ED-4DB2-BD59-A6C34878D82A}">
                    <a16:rowId xmlns:a16="http://schemas.microsoft.com/office/drawing/2014/main" val="3150909744"/>
                  </a:ext>
                </a:extLst>
              </a:tr>
              <a:tr h="370840">
                <a:tc>
                  <a:txBody>
                    <a:bodyPr/>
                    <a:lstStyle/>
                    <a:p>
                      <a:pPr algn="ctr"/>
                      <a:r>
                        <a:rPr lang="en-US" b="1" dirty="0">
                          <a:latin typeface="Arial" panose="020B0604020202020204" pitchFamily="34" charset="0"/>
                          <a:cs typeface="Arial" panose="020B0604020202020204" pitchFamily="34" charset="0"/>
                        </a:rPr>
                        <a:t>Horizons</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dirty="0">
                          <a:latin typeface="Arial" panose="020B0604020202020204" pitchFamily="34" charset="0"/>
                          <a:cs typeface="Arial" panose="020B0604020202020204" pitchFamily="34" charset="0"/>
                        </a:rPr>
                        <a:t>1-Week</a:t>
                      </a:r>
                    </a:p>
                  </a:txBody>
                  <a:tcPr anchor="ctr"/>
                </a:tc>
                <a:tc>
                  <a:txBody>
                    <a:bodyPr/>
                    <a:lstStyle/>
                    <a:p>
                      <a:pPr algn="ctr"/>
                      <a:r>
                        <a:rPr lang="en-US" dirty="0">
                          <a:latin typeface="Arial" panose="020B0604020202020204" pitchFamily="34" charset="0"/>
                          <a:cs typeface="Arial" panose="020B0604020202020204" pitchFamily="34" charset="0"/>
                        </a:rPr>
                        <a:t>1 Week - 3 Weeks</a:t>
                      </a:r>
                    </a:p>
                  </a:txBody>
                  <a:tcPr anchor="ctr"/>
                </a:tc>
                <a:extLst>
                  <a:ext uri="{0D108BD9-81ED-4DB2-BD59-A6C34878D82A}">
                    <a16:rowId xmlns:a16="http://schemas.microsoft.com/office/drawing/2014/main" val="3360757000"/>
                  </a:ext>
                </a:extLst>
              </a:tr>
              <a:tr h="370840">
                <a:tc>
                  <a:txBody>
                    <a:bodyPr/>
                    <a:lstStyle/>
                    <a:p>
                      <a:pPr algn="ctr"/>
                      <a:r>
                        <a:rPr lang="en-US" b="1" dirty="0">
                          <a:latin typeface="Arial" panose="020B0604020202020204" pitchFamily="34" charset="0"/>
                          <a:cs typeface="Arial" panose="020B0604020202020204" pitchFamily="34" charset="0"/>
                        </a:rPr>
                        <a:t>Quantiles</a:t>
                      </a:r>
                    </a:p>
                  </a:txBody>
                  <a:tcPr anchor="ctr">
                    <a:solidFill>
                      <a:schemeClr val="bg1">
                        <a:lumMod val="95000"/>
                      </a:schemeClr>
                    </a:solidFill>
                  </a:tcPr>
                </a:tc>
                <a:tc>
                  <a:txBody>
                    <a:bodyPr/>
                    <a:lstStyle/>
                    <a:p>
                      <a:pPr algn="ctr"/>
                      <a:r>
                        <a:rPr lang="en-US" sz="1800" b="0" kern="1200" dirty="0">
                          <a:solidFill>
                            <a:schemeClr val="tx1"/>
                          </a:solidFill>
                          <a:effectLst/>
                          <a:latin typeface="Arial" panose="020B0604020202020204" pitchFamily="34" charset="0"/>
                          <a:cs typeface="Arial" panose="020B0604020202020204" pitchFamily="34" charset="0"/>
                        </a:rPr>
                        <a:t>0.025, 0.5, 0.975</a:t>
                      </a:r>
                      <a:endParaRPr lang="en-US"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Arial" panose="020B0604020202020204" pitchFamily="34" charset="0"/>
                          <a:cs typeface="Arial" panose="020B0604020202020204" pitchFamily="34" charset="0"/>
                        </a:rPr>
                        <a:t>0.01, 0.025, 0.05, 0.1, 0.15, 0.2, 0.25, 0.3, 0.35, 0.4, 0.45, 0.5, 0.55, 0.6, 0.65, 0.7, 0.75, 0.8, 0.85, 0.9, 0.95, 0.975, and 0.99</a:t>
                      </a:r>
                      <a:endParaRPr lang="en-US" sz="1800" b="0" i="0" kern="1200" dirty="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2594653142"/>
                  </a:ext>
                </a:extLst>
              </a:tr>
            </a:tbl>
          </a:graphicData>
        </a:graphic>
      </p:graphicFrame>
    </p:spTree>
    <p:extLst>
      <p:ext uri="{BB962C8B-B14F-4D97-AF65-F5344CB8AC3E}">
        <p14:creationId xmlns:p14="http://schemas.microsoft.com/office/powerpoint/2010/main" val="2474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C985-78BF-F71F-CC84-C831D396D739}"/>
              </a:ext>
            </a:extLst>
          </p:cNvPr>
          <p:cNvSpPr>
            <a:spLocks noGrp="1"/>
          </p:cNvSpPr>
          <p:nvPr>
            <p:ph type="title"/>
          </p:nvPr>
        </p:nvSpPr>
        <p:spPr/>
        <p:txBody>
          <a:bodyPr/>
          <a:lstStyle/>
          <a:p>
            <a:pPr algn="ctr"/>
            <a:r>
              <a:rPr lang="en-US" b="1" dirty="0">
                <a:solidFill>
                  <a:srgbClr val="7030A0"/>
                </a:solidFill>
                <a:latin typeface="Arial" panose="020B0604020202020204" pitchFamily="34" charset="0"/>
                <a:cs typeface="Arial" panose="020B0604020202020204" pitchFamily="34" charset="0"/>
              </a:rPr>
              <a:t>Adding the 2- and 3-Week Forecasts </a:t>
            </a:r>
          </a:p>
        </p:txBody>
      </p:sp>
      <p:sp>
        <p:nvSpPr>
          <p:cNvPr id="3" name="Content Placeholder 2">
            <a:extLst>
              <a:ext uri="{FF2B5EF4-FFF2-40B4-BE49-F238E27FC236}">
                <a16:creationId xmlns:a16="http://schemas.microsoft.com/office/drawing/2014/main" id="{7CC91BF8-3761-E5F4-8D05-2543E25CF6D7}"/>
              </a:ext>
            </a:extLst>
          </p:cNvPr>
          <p:cNvSpPr>
            <a:spLocks noGrp="1"/>
          </p:cNvSpPr>
          <p:nvPr>
            <p:ph idx="1"/>
          </p:nvPr>
        </p:nvSpPr>
        <p:spPr/>
        <p:txBody>
          <a:bodyPr/>
          <a:lstStyle/>
          <a:p>
            <a:pPr>
              <a:spcAft>
                <a:spcPts val="600"/>
              </a:spcAft>
            </a:pPr>
            <a:r>
              <a:rPr lang="en-US" dirty="0">
                <a:latin typeface="Arial" panose="020B0604020202020204" pitchFamily="34" charset="0"/>
                <a:cs typeface="Arial" panose="020B0604020202020204" pitchFamily="34" charset="0"/>
              </a:rPr>
              <a:t>We reference our horizon (1-week) in many places — across the rules document and throughout the code. Rather than manually updating each one, </a:t>
            </a:r>
            <a:r>
              <a:rPr lang="en-US" b="1" dirty="0">
                <a:solidFill>
                  <a:schemeClr val="accent2"/>
                </a:solidFill>
                <a:latin typeface="Arial" panose="020B0604020202020204" pitchFamily="34" charset="0"/>
                <a:cs typeface="Arial" panose="020B0604020202020204" pitchFamily="34" charset="0"/>
              </a:rPr>
              <a:t>we can use AI to help</a:t>
            </a:r>
            <a:r>
              <a:rPr lang="en-US" dirty="0">
                <a:latin typeface="Arial" panose="020B0604020202020204" pitchFamily="34" charset="0"/>
                <a:cs typeface="Arial" panose="020B0604020202020204" pitchFamily="34" charset="0"/>
              </a:rPr>
              <a:t>.</a:t>
            </a:r>
          </a:p>
          <a:p>
            <a:pPr>
              <a:spcAft>
                <a:spcPts val="600"/>
              </a:spcAft>
            </a:pPr>
            <a:r>
              <a:rPr lang="en-US" dirty="0">
                <a:latin typeface="Arial" panose="020B0604020202020204" pitchFamily="34" charset="0"/>
                <a:cs typeface="Arial" panose="020B0604020202020204" pitchFamily="34" charset="0"/>
              </a:rPr>
              <a:t>There are two ways we can go about it: (1) Manually update the rules document or (2) Work with AI to update the rules document and subsequent code. </a:t>
            </a:r>
          </a:p>
          <a:p>
            <a:pPr>
              <a:spcAft>
                <a:spcPts val="600"/>
              </a:spcAft>
            </a:pPr>
            <a:r>
              <a:rPr lang="en-US" dirty="0">
                <a:latin typeface="Arial" panose="020B0604020202020204" pitchFamily="34" charset="0"/>
                <a:cs typeface="Arial" panose="020B0604020202020204" pitchFamily="34" charset="0"/>
              </a:rPr>
              <a:t>For this exercise, we will be </a:t>
            </a:r>
            <a:r>
              <a:rPr lang="en-US" b="1" dirty="0">
                <a:solidFill>
                  <a:schemeClr val="accent2"/>
                </a:solidFill>
                <a:latin typeface="Arial" panose="020B0604020202020204" pitchFamily="34" charset="0"/>
                <a:cs typeface="Arial" panose="020B0604020202020204" pitchFamily="34" charset="0"/>
              </a:rPr>
              <a:t>using AI to help </a:t>
            </a:r>
            <a:r>
              <a:rPr lang="en-US" dirty="0">
                <a:latin typeface="Arial" panose="020B0604020202020204" pitchFamily="34" charset="0"/>
                <a:cs typeface="Arial" panose="020B0604020202020204" pitchFamily="34" charset="0"/>
              </a:rPr>
              <a:t>us update the rules to get exactly what we want. </a:t>
            </a:r>
          </a:p>
        </p:txBody>
      </p:sp>
    </p:spTree>
    <p:extLst>
      <p:ext uri="{BB962C8B-B14F-4D97-AF65-F5344CB8AC3E}">
        <p14:creationId xmlns:p14="http://schemas.microsoft.com/office/powerpoint/2010/main" val="228221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8D6028-17D2-1442-EAB8-DB0B1088C43C}"/>
              </a:ext>
            </a:extLst>
          </p:cNvPr>
          <p:cNvSpPr/>
          <p:nvPr/>
        </p:nvSpPr>
        <p:spPr>
          <a:xfrm>
            <a:off x="838200" y="4060374"/>
            <a:ext cx="2953512"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09D794-56E7-451D-F7D0-8FE8058907C1}"/>
              </a:ext>
            </a:extLst>
          </p:cNvPr>
          <p:cNvSpPr>
            <a:spLocks noGrp="1"/>
          </p:cNvSpPr>
          <p:nvPr>
            <p:ph type="title"/>
          </p:nvPr>
        </p:nvSpPr>
        <p:spPr>
          <a:xfrm>
            <a:off x="838200" y="269428"/>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Prompting &amp; Things to Consider</a:t>
            </a:r>
          </a:p>
        </p:txBody>
      </p:sp>
      <p:sp>
        <p:nvSpPr>
          <p:cNvPr id="3" name="Content Placeholder 2">
            <a:extLst>
              <a:ext uri="{FF2B5EF4-FFF2-40B4-BE49-F238E27FC236}">
                <a16:creationId xmlns:a16="http://schemas.microsoft.com/office/drawing/2014/main" id="{DED4BBF3-F4F2-C4B6-BBFD-C5E3F1ED34CE}"/>
              </a:ext>
            </a:extLst>
          </p:cNvPr>
          <p:cNvSpPr>
            <a:spLocks noGrp="1"/>
          </p:cNvSpPr>
          <p:nvPr>
            <p:ph idx="1"/>
          </p:nvPr>
        </p:nvSpPr>
        <p:spPr>
          <a:xfrm>
            <a:off x="838200" y="1825625"/>
            <a:ext cx="10515600" cy="1995261"/>
          </a:xfrm>
        </p:spPr>
        <p:txBody>
          <a:bodyPr>
            <a:normAutofit/>
          </a:bodyPr>
          <a:lstStyle/>
          <a:p>
            <a:pPr>
              <a:spcAft>
                <a:spcPts val="1200"/>
              </a:spcAft>
            </a:pPr>
            <a:r>
              <a:rPr lang="en-US" sz="2500" dirty="0">
                <a:latin typeface="Arial" panose="020B0604020202020204" pitchFamily="34" charset="0"/>
                <a:cs typeface="Arial" panose="020B0604020202020204" pitchFamily="34" charset="0"/>
              </a:rPr>
              <a:t>We are a </a:t>
            </a:r>
            <a:r>
              <a:rPr lang="en-US" sz="2500" b="1" dirty="0">
                <a:solidFill>
                  <a:schemeClr val="accent2"/>
                </a:solidFill>
                <a:latin typeface="Arial" panose="020B0604020202020204" pitchFamily="34" charset="0"/>
                <a:cs typeface="Arial" panose="020B0604020202020204" pitchFamily="34" charset="0"/>
              </a:rPr>
              <a:t>human-AI team</a:t>
            </a:r>
            <a:r>
              <a:rPr lang="en-US" sz="2500" dirty="0">
                <a:latin typeface="Arial" panose="020B0604020202020204" pitchFamily="34" charset="0"/>
                <a:cs typeface="Arial" panose="020B0604020202020204" pitchFamily="34" charset="0"/>
              </a:rPr>
              <a:t>, so we need to make sure we give the AI the domain instruction it needs to help us execute our updates. </a:t>
            </a:r>
          </a:p>
          <a:p>
            <a:r>
              <a:rPr lang="en-US" sz="2500" dirty="0">
                <a:latin typeface="Arial" panose="020B0604020202020204" pitchFamily="34" charset="0"/>
                <a:cs typeface="Arial" panose="020B0604020202020204" pitchFamily="34" charset="0"/>
              </a:rPr>
              <a:t>First, let’s think about the </a:t>
            </a:r>
            <a:r>
              <a:rPr lang="en-US" sz="2500" b="1" dirty="0">
                <a:solidFill>
                  <a:schemeClr val="accent2"/>
                </a:solidFill>
                <a:latin typeface="Arial" panose="020B0604020202020204" pitchFamily="34" charset="0"/>
                <a:cs typeface="Arial" panose="020B0604020202020204" pitchFamily="34" charset="0"/>
              </a:rPr>
              <a:t>different pieces </a:t>
            </a:r>
            <a:r>
              <a:rPr lang="en-US" sz="2500" dirty="0">
                <a:latin typeface="Arial" panose="020B0604020202020204" pitchFamily="34" charset="0"/>
                <a:cs typeface="Arial" panose="020B0604020202020204" pitchFamily="34" charset="0"/>
              </a:rPr>
              <a:t>of our forecasting system that incorporates our forecasting horizon specification:</a:t>
            </a:r>
          </a:p>
        </p:txBody>
      </p:sp>
      <p:sp>
        <p:nvSpPr>
          <p:cNvPr id="12" name="Rectangle 11">
            <a:extLst>
              <a:ext uri="{FF2B5EF4-FFF2-40B4-BE49-F238E27FC236}">
                <a16:creationId xmlns:a16="http://schemas.microsoft.com/office/drawing/2014/main" id="{C3D005A1-94F2-4AE2-F0AC-E7FE1227762A}"/>
              </a:ext>
            </a:extLst>
          </p:cNvPr>
          <p:cNvSpPr/>
          <p:nvPr/>
        </p:nvSpPr>
        <p:spPr>
          <a:xfrm>
            <a:off x="4618265" y="5072744"/>
            <a:ext cx="2955471"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7126D9-8A5B-9BE2-E404-A3B954648A9E}"/>
              </a:ext>
            </a:extLst>
          </p:cNvPr>
          <p:cNvSpPr txBox="1"/>
          <p:nvPr/>
        </p:nvSpPr>
        <p:spPr>
          <a:xfrm>
            <a:off x="1283153" y="4354287"/>
            <a:ext cx="2057400"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Forecasting </a:t>
            </a:r>
          </a:p>
        </p:txBody>
      </p:sp>
      <p:sp>
        <p:nvSpPr>
          <p:cNvPr id="7" name="TextBox 6">
            <a:extLst>
              <a:ext uri="{FF2B5EF4-FFF2-40B4-BE49-F238E27FC236}">
                <a16:creationId xmlns:a16="http://schemas.microsoft.com/office/drawing/2014/main" id="{1D15A2AC-58FB-C566-F23F-F394DA202C59}"/>
              </a:ext>
            </a:extLst>
          </p:cNvPr>
          <p:cNvSpPr txBox="1"/>
          <p:nvPr/>
        </p:nvSpPr>
        <p:spPr>
          <a:xfrm>
            <a:off x="4452257" y="5340402"/>
            <a:ext cx="3287486"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Data Formatting </a:t>
            </a:r>
          </a:p>
        </p:txBody>
      </p:sp>
      <p:sp>
        <p:nvSpPr>
          <p:cNvPr id="14" name="Rectangle 13">
            <a:extLst>
              <a:ext uri="{FF2B5EF4-FFF2-40B4-BE49-F238E27FC236}">
                <a16:creationId xmlns:a16="http://schemas.microsoft.com/office/drawing/2014/main" id="{25E7EF02-9A44-EF2E-B050-8FCBC9C73FE4}"/>
              </a:ext>
            </a:extLst>
          </p:cNvPr>
          <p:cNvSpPr/>
          <p:nvPr/>
        </p:nvSpPr>
        <p:spPr>
          <a:xfrm>
            <a:off x="8400288" y="4060373"/>
            <a:ext cx="2953512"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7A0EFAB-8587-7425-69D9-C1698587A8B9}"/>
              </a:ext>
            </a:extLst>
          </p:cNvPr>
          <p:cNvSpPr txBox="1"/>
          <p:nvPr/>
        </p:nvSpPr>
        <p:spPr>
          <a:xfrm>
            <a:off x="8798487" y="4328031"/>
            <a:ext cx="2157113"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Visualization</a:t>
            </a:r>
          </a:p>
        </p:txBody>
      </p:sp>
    </p:spTree>
    <p:extLst>
      <p:ext uri="{BB962C8B-B14F-4D97-AF65-F5344CB8AC3E}">
        <p14:creationId xmlns:p14="http://schemas.microsoft.com/office/powerpoint/2010/main" val="1696104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5" grpId="0"/>
      <p:bldP spid="7" grpId="0"/>
      <p:bldP spid="14" grpId="0" animBg="1"/>
      <p:bldP spid="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9315F-EDAD-BD85-8B85-90CC223D445B}"/>
              </a:ext>
            </a:extLst>
          </p:cNvPr>
          <p:cNvSpPr>
            <a:spLocks noGrp="1"/>
          </p:cNvSpPr>
          <p:nvPr>
            <p:ph type="title"/>
          </p:nvPr>
        </p:nvSpPr>
        <p:spPr>
          <a:xfrm>
            <a:off x="838200" y="11883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Updating is Often Iterative</a:t>
            </a:r>
          </a:p>
        </p:txBody>
      </p:sp>
      <p:sp>
        <p:nvSpPr>
          <p:cNvPr id="3" name="Content Placeholder 2">
            <a:extLst>
              <a:ext uri="{FF2B5EF4-FFF2-40B4-BE49-F238E27FC236}">
                <a16:creationId xmlns:a16="http://schemas.microsoft.com/office/drawing/2014/main" id="{C873DC51-37AA-CF35-163E-080E7CBD4C74}"/>
              </a:ext>
            </a:extLst>
          </p:cNvPr>
          <p:cNvSpPr>
            <a:spLocks noGrp="1"/>
          </p:cNvSpPr>
          <p:nvPr>
            <p:ph idx="1"/>
          </p:nvPr>
        </p:nvSpPr>
        <p:spPr>
          <a:xfrm>
            <a:off x="838200" y="1519324"/>
            <a:ext cx="10515600" cy="4351338"/>
          </a:xfrm>
        </p:spPr>
        <p:txBody>
          <a:bodyPr/>
          <a:lstStyle/>
          <a:p>
            <a:r>
              <a:rPr lang="en-US" dirty="0"/>
              <a:t>AI is </a:t>
            </a:r>
            <a:r>
              <a:rPr lang="en-US" b="1" dirty="0">
                <a:solidFill>
                  <a:schemeClr val="accent2"/>
                </a:solidFill>
              </a:rPr>
              <a:t>NOT</a:t>
            </a:r>
            <a:r>
              <a:rPr lang="en-US" dirty="0"/>
              <a:t> perfect and may return different results each time you run it. It often may take a bit a </a:t>
            </a:r>
            <a:r>
              <a:rPr lang="en-US" b="1" dirty="0">
                <a:solidFill>
                  <a:schemeClr val="accent2"/>
                </a:solidFill>
              </a:rPr>
              <a:t>back-and-forth</a:t>
            </a:r>
            <a:r>
              <a:rPr lang="en-US" dirty="0"/>
              <a:t> to get to the final product you desire. </a:t>
            </a:r>
          </a:p>
          <a:p>
            <a:r>
              <a:rPr lang="en-US" dirty="0"/>
              <a:t>For each iteration, make sure to check </a:t>
            </a:r>
            <a:r>
              <a:rPr lang="en-US" b="1" dirty="0">
                <a:solidFill>
                  <a:schemeClr val="accent2"/>
                </a:solidFill>
              </a:rPr>
              <a:t>all</a:t>
            </a:r>
            <a:r>
              <a:rPr lang="en-US" dirty="0"/>
              <a:t> changes the AI makes. </a:t>
            </a:r>
          </a:p>
        </p:txBody>
      </p:sp>
      <p:sp>
        <p:nvSpPr>
          <p:cNvPr id="4" name="TextBox 3">
            <a:extLst>
              <a:ext uri="{FF2B5EF4-FFF2-40B4-BE49-F238E27FC236}">
                <a16:creationId xmlns:a16="http://schemas.microsoft.com/office/drawing/2014/main" id="{99D7E52C-A24F-62A9-8F45-FC6FCCF633B9}"/>
              </a:ext>
            </a:extLst>
          </p:cNvPr>
          <p:cNvSpPr txBox="1"/>
          <p:nvPr/>
        </p:nvSpPr>
        <p:spPr>
          <a:xfrm>
            <a:off x="1696820" y="3892579"/>
            <a:ext cx="1970314" cy="1015663"/>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a:t>
            </a:r>
            <a:r>
              <a:rPr lang="en-US" sz="2000" b="1" dirty="0">
                <a:latin typeface="Arial" panose="020B0604020202020204" pitchFamily="34" charset="0"/>
                <a:cs typeface="Arial" panose="020B0604020202020204" pitchFamily="34" charset="0"/>
              </a:rPr>
              <a:t>rules.md.</a:t>
            </a:r>
          </a:p>
        </p:txBody>
      </p:sp>
      <p:sp>
        <p:nvSpPr>
          <p:cNvPr id="6" name="TextBox 5">
            <a:extLst>
              <a:ext uri="{FF2B5EF4-FFF2-40B4-BE49-F238E27FC236}">
                <a16:creationId xmlns:a16="http://schemas.microsoft.com/office/drawing/2014/main" id="{AEAA3026-B8F8-38C2-E6A9-29D422CB181F}"/>
              </a:ext>
            </a:extLst>
          </p:cNvPr>
          <p:cNvSpPr txBox="1"/>
          <p:nvPr/>
        </p:nvSpPr>
        <p:spPr>
          <a:xfrm>
            <a:off x="3351443" y="5734433"/>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sp>
        <p:nvSpPr>
          <p:cNvPr id="8" name="TextBox 7">
            <a:extLst>
              <a:ext uri="{FF2B5EF4-FFF2-40B4-BE49-F238E27FC236}">
                <a16:creationId xmlns:a16="http://schemas.microsoft.com/office/drawing/2014/main" id="{5CC18D28-B48C-694F-1ED9-E7E263881966}"/>
              </a:ext>
            </a:extLst>
          </p:cNvPr>
          <p:cNvSpPr txBox="1"/>
          <p:nvPr/>
        </p:nvSpPr>
        <p:spPr>
          <a:xfrm>
            <a:off x="4563837" y="3892578"/>
            <a:ext cx="1970314" cy="1015663"/>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a:t>
            </a:r>
            <a:r>
              <a:rPr lang="en-US" sz="2000" b="1" dirty="0">
                <a:latin typeface="Arial" panose="020B0604020202020204" pitchFamily="34" charset="0"/>
                <a:cs typeface="Arial" panose="020B0604020202020204" pitchFamily="34" charset="0"/>
              </a:rPr>
              <a:t>agents.md.</a:t>
            </a:r>
          </a:p>
        </p:txBody>
      </p:sp>
      <p:sp>
        <p:nvSpPr>
          <p:cNvPr id="12" name="TextBox 11">
            <a:extLst>
              <a:ext uri="{FF2B5EF4-FFF2-40B4-BE49-F238E27FC236}">
                <a16:creationId xmlns:a16="http://schemas.microsoft.com/office/drawing/2014/main" id="{4093FD2C-2F32-2CC8-A2DB-E9A2578C5A7F}"/>
              </a:ext>
            </a:extLst>
          </p:cNvPr>
          <p:cNvSpPr txBox="1"/>
          <p:nvPr/>
        </p:nvSpPr>
        <p:spPr>
          <a:xfrm>
            <a:off x="7462162" y="3738689"/>
            <a:ext cx="1970314" cy="1323439"/>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the script &amp; run the script. </a:t>
            </a:r>
          </a:p>
        </p:txBody>
      </p:sp>
      <p:sp>
        <p:nvSpPr>
          <p:cNvPr id="16" name="TextBox 15">
            <a:extLst>
              <a:ext uri="{FF2B5EF4-FFF2-40B4-BE49-F238E27FC236}">
                <a16:creationId xmlns:a16="http://schemas.microsoft.com/office/drawing/2014/main" id="{995F627D-EC0C-69CB-7236-4343E63100C9}"/>
              </a:ext>
            </a:extLst>
          </p:cNvPr>
          <p:cNvSpPr txBox="1"/>
          <p:nvPr/>
        </p:nvSpPr>
        <p:spPr>
          <a:xfrm>
            <a:off x="6176964" y="5699752"/>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sp>
        <p:nvSpPr>
          <p:cNvPr id="18" name="TextBox 17">
            <a:extLst>
              <a:ext uri="{FF2B5EF4-FFF2-40B4-BE49-F238E27FC236}">
                <a16:creationId xmlns:a16="http://schemas.microsoft.com/office/drawing/2014/main" id="{9B7D6915-8381-9C3F-5A0D-AB6547621283}"/>
              </a:ext>
            </a:extLst>
          </p:cNvPr>
          <p:cNvSpPr txBox="1"/>
          <p:nvPr/>
        </p:nvSpPr>
        <p:spPr>
          <a:xfrm>
            <a:off x="9002485" y="5708614"/>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cxnSp>
        <p:nvCxnSpPr>
          <p:cNvPr id="20" name="Straight Arrow Connector 19">
            <a:extLst>
              <a:ext uri="{FF2B5EF4-FFF2-40B4-BE49-F238E27FC236}">
                <a16:creationId xmlns:a16="http://schemas.microsoft.com/office/drawing/2014/main" id="{B09C90CC-3C61-ED42-8804-ADBDB68C6DD3}"/>
              </a:ext>
            </a:extLst>
          </p:cNvPr>
          <p:cNvCxnSpPr/>
          <p:nvPr/>
        </p:nvCxnSpPr>
        <p:spPr>
          <a:xfrm>
            <a:off x="3548742" y="4908241"/>
            <a:ext cx="0" cy="800373"/>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75E78DD6-1887-9047-1DEB-BEF5DB0D2A7F}"/>
              </a:ext>
            </a:extLst>
          </p:cNvPr>
          <p:cNvCxnSpPr>
            <a:cxnSpLocks/>
          </p:cNvCxnSpPr>
          <p:nvPr/>
        </p:nvCxnSpPr>
        <p:spPr>
          <a:xfrm flipV="1">
            <a:off x="4931228" y="4908241"/>
            <a:ext cx="0" cy="826192"/>
          </a:xfrm>
          <a:prstGeom prst="straightConnector1">
            <a:avLst/>
          </a:prstGeom>
          <a:ln w="5715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78A54FF-A05A-8EF0-01BC-13B487257A45}"/>
              </a:ext>
            </a:extLst>
          </p:cNvPr>
          <p:cNvCxnSpPr>
            <a:cxnSpLocks/>
          </p:cNvCxnSpPr>
          <p:nvPr/>
        </p:nvCxnSpPr>
        <p:spPr>
          <a:xfrm>
            <a:off x="6389914" y="4908241"/>
            <a:ext cx="0" cy="800373"/>
          </a:xfrm>
          <a:prstGeom prst="straightConnector1">
            <a:avLst/>
          </a:prstGeom>
          <a:ln w="5715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911FDF9-6051-1225-18A3-4E3D9D932274}"/>
              </a:ext>
            </a:extLst>
          </p:cNvPr>
          <p:cNvCxnSpPr/>
          <p:nvPr/>
        </p:nvCxnSpPr>
        <p:spPr>
          <a:xfrm flipV="1">
            <a:off x="7717971" y="5062128"/>
            <a:ext cx="0" cy="637624"/>
          </a:xfrm>
          <a:prstGeom prst="straightConnector1">
            <a:avLst/>
          </a:prstGeom>
          <a:ln w="5715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7B10C5A-EEF5-C9A0-38A0-D7269618456B}"/>
              </a:ext>
            </a:extLst>
          </p:cNvPr>
          <p:cNvCxnSpPr/>
          <p:nvPr/>
        </p:nvCxnSpPr>
        <p:spPr>
          <a:xfrm>
            <a:off x="9252857" y="5062128"/>
            <a:ext cx="0" cy="637624"/>
          </a:xfrm>
          <a:prstGeom prst="straightConnector1">
            <a:avLst/>
          </a:prstGeom>
          <a:ln w="571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AB61C756-6D08-805D-6401-96F75892C77F}"/>
              </a:ext>
            </a:extLst>
          </p:cNvPr>
          <p:cNvCxnSpPr>
            <a:stCxn id="6" idx="1"/>
          </p:cNvCxnSpPr>
          <p:nvPr/>
        </p:nvCxnSpPr>
        <p:spPr>
          <a:xfrm rot="10800000">
            <a:off x="2166257" y="4908242"/>
            <a:ext cx="1185186" cy="1180135"/>
          </a:xfrm>
          <a:prstGeom prst="bentConnector3">
            <a:avLst>
              <a:gd name="adj1" fmla="val 100516"/>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Elbow 34">
            <a:extLst>
              <a:ext uri="{FF2B5EF4-FFF2-40B4-BE49-F238E27FC236}">
                <a16:creationId xmlns:a16="http://schemas.microsoft.com/office/drawing/2014/main" id="{820A8469-A52E-0D5F-3644-FE60DCE73E2A}"/>
              </a:ext>
            </a:extLst>
          </p:cNvPr>
          <p:cNvCxnSpPr>
            <a:stCxn id="16" idx="0"/>
            <a:endCxn id="8" idx="3"/>
          </p:cNvCxnSpPr>
          <p:nvPr/>
        </p:nvCxnSpPr>
        <p:spPr>
          <a:xfrm rot="16200000" flipV="1">
            <a:off x="6131790" y="4802771"/>
            <a:ext cx="1299342" cy="494620"/>
          </a:xfrm>
          <a:prstGeom prst="bentConnector2">
            <a:avLst/>
          </a:prstGeom>
          <a:ln w="5715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77F62A5B-6098-6EB6-2A09-F77941670337}"/>
              </a:ext>
            </a:extLst>
          </p:cNvPr>
          <p:cNvCxnSpPr>
            <a:endCxn id="12" idx="3"/>
          </p:cNvCxnSpPr>
          <p:nvPr/>
        </p:nvCxnSpPr>
        <p:spPr>
          <a:xfrm rot="16200000" flipV="1">
            <a:off x="9221965" y="4610921"/>
            <a:ext cx="1308205" cy="887181"/>
          </a:xfrm>
          <a:prstGeom prst="bentConnector2">
            <a:avLst/>
          </a:prstGeom>
          <a:ln w="571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3689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2" grpId="0" animBg="1"/>
      <p:bldP spid="16" grpId="0" animBg="1"/>
      <p:bldP spid="1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AB29B-5C35-71E3-8CF6-0C0F332ECA8A}"/>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6344C2D5-81F2-5EA2-4437-37C0DD25AB4B}"/>
              </a:ext>
            </a:extLst>
          </p:cNvPr>
          <p:cNvSpPr/>
          <p:nvPr/>
        </p:nvSpPr>
        <p:spPr>
          <a:xfrm>
            <a:off x="914400" y="5284175"/>
            <a:ext cx="10363200" cy="1330446"/>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9" name="Rectangle: Rounded Corners 18">
            <a:extLst>
              <a:ext uri="{FF2B5EF4-FFF2-40B4-BE49-F238E27FC236}">
                <a16:creationId xmlns:a16="http://schemas.microsoft.com/office/drawing/2014/main" id="{1F0FC565-2613-D114-C8B3-0D4A6AFBDDFA}"/>
              </a:ext>
            </a:extLst>
          </p:cNvPr>
          <p:cNvSpPr/>
          <p:nvPr/>
        </p:nvSpPr>
        <p:spPr>
          <a:xfrm>
            <a:off x="914400" y="3815502"/>
            <a:ext cx="10363200" cy="1120396"/>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F8443979-9E8E-46C9-D092-E96676639F71}"/>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98D63F4A-CACE-C37F-1791-1454DFDE3909}"/>
              </a:ext>
            </a:extLst>
          </p:cNvPr>
          <p:cNvSpPr/>
          <p:nvPr/>
        </p:nvSpPr>
        <p:spPr>
          <a:xfrm>
            <a:off x="914400" y="2049055"/>
            <a:ext cx="10363200" cy="1437839"/>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1EFEFF00-4B11-13CC-E710-2C3BCB779977}"/>
              </a:ext>
            </a:extLst>
          </p:cNvPr>
          <p:cNvSpPr txBox="1"/>
          <p:nvPr/>
        </p:nvSpPr>
        <p:spPr>
          <a:xfrm>
            <a:off x="914400" y="1253008"/>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AI can make mistakes, so we need to make sure to stay in the loop!</a:t>
            </a:r>
          </a:p>
        </p:txBody>
      </p:sp>
      <p:sp>
        <p:nvSpPr>
          <p:cNvPr id="14" name="TextBox 13">
            <a:extLst>
              <a:ext uri="{FF2B5EF4-FFF2-40B4-BE49-F238E27FC236}">
                <a16:creationId xmlns:a16="http://schemas.microsoft.com/office/drawing/2014/main" id="{0CE5FB7D-FE8D-A2D6-B131-2880FAE06944}"/>
              </a:ext>
            </a:extLst>
          </p:cNvPr>
          <p:cNvSpPr txBox="1"/>
          <p:nvPr/>
        </p:nvSpPr>
        <p:spPr>
          <a:xfrm>
            <a:off x="1080063" y="2213293"/>
            <a:ext cx="10031874" cy="1107996"/>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intervals get wider (or stay equal) as the horizon grows: width at h=3 ≥ h=2 ≥ h=1.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intervals widen with horizon: OK"; stop() otherwise.</a:t>
            </a:r>
          </a:p>
        </p:txBody>
      </p:sp>
      <p:sp>
        <p:nvSpPr>
          <p:cNvPr id="15" name="TextBox 14">
            <a:extLst>
              <a:ext uri="{FF2B5EF4-FFF2-40B4-BE49-F238E27FC236}">
                <a16:creationId xmlns:a16="http://schemas.microsoft.com/office/drawing/2014/main" id="{70A74F79-F5CC-1AB1-1FAF-5AAD6DC655DC}"/>
              </a:ext>
            </a:extLst>
          </p:cNvPr>
          <p:cNvSpPr txBox="1"/>
          <p:nvPr/>
        </p:nvSpPr>
        <p:spPr>
          <a:xfrm>
            <a:off x="1080063" y="3989976"/>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a:t>
            </a:r>
            <a:r>
              <a:rPr lang="en-US" sz="2200" dirty="0" err="1">
                <a:latin typeface="Arial" panose="020B0604020202020204" pitchFamily="34" charset="0"/>
                <a:cs typeface="Arial" panose="020B0604020202020204" pitchFamily="34" charset="0"/>
              </a:rPr>
              <a:t>target_end_date</a:t>
            </a:r>
            <a:r>
              <a:rPr lang="en-US" sz="2200" dirty="0">
                <a:latin typeface="Arial" panose="020B0604020202020204" pitchFamily="34" charset="0"/>
                <a:cs typeface="Arial" panose="020B0604020202020204" pitchFamily="34" charset="0"/>
              </a:rPr>
              <a:t> == </a:t>
            </a:r>
            <a:r>
              <a:rPr lang="en-US" sz="2200" dirty="0" err="1">
                <a:latin typeface="Arial" panose="020B0604020202020204" pitchFamily="34" charset="0"/>
                <a:cs typeface="Arial" panose="020B0604020202020204" pitchFamily="34" charset="0"/>
              </a:rPr>
              <a:t>reference_date</a:t>
            </a:r>
            <a:r>
              <a:rPr lang="en-US" sz="2200" dirty="0">
                <a:latin typeface="Arial" panose="020B0604020202020204" pitchFamily="34" charset="0"/>
                <a:cs typeface="Arial" panose="020B0604020202020204" pitchFamily="34" charset="0"/>
              </a:rPr>
              <a:t> + 7 * horizon for every row.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target dates correct: OK"; stop() otherwise.</a:t>
            </a:r>
          </a:p>
        </p:txBody>
      </p:sp>
      <p:sp>
        <p:nvSpPr>
          <p:cNvPr id="17" name="TextBox 16">
            <a:extLst>
              <a:ext uri="{FF2B5EF4-FFF2-40B4-BE49-F238E27FC236}">
                <a16:creationId xmlns:a16="http://schemas.microsoft.com/office/drawing/2014/main" id="{D65E199F-BCE6-9C2F-03FB-9459D61F34C4}"/>
              </a:ext>
            </a:extLst>
          </p:cNvPr>
          <p:cNvSpPr txBox="1"/>
          <p:nvPr/>
        </p:nvSpPr>
        <p:spPr>
          <a:xfrm>
            <a:off x="1519901" y="5416291"/>
            <a:ext cx="9152198" cy="1107996"/>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each reference date is fit once, with all three horizons taken from that single forecast.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one fit, three horizons: OK"; stop() otherwise.</a:t>
            </a:r>
          </a:p>
        </p:txBody>
      </p:sp>
    </p:spTree>
    <p:extLst>
      <p:ext uri="{BB962C8B-B14F-4D97-AF65-F5344CB8AC3E}">
        <p14:creationId xmlns:p14="http://schemas.microsoft.com/office/powerpoint/2010/main" val="1828792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E43BA-4D2C-864A-F41B-4EB7BF91E0F6}"/>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p>
        </p:txBody>
      </p:sp>
      <p:sp>
        <p:nvSpPr>
          <p:cNvPr id="6" name="Rectangle: Rounded Corners 5">
            <a:extLst>
              <a:ext uri="{FF2B5EF4-FFF2-40B4-BE49-F238E27FC236}">
                <a16:creationId xmlns:a16="http://schemas.microsoft.com/office/drawing/2014/main" id="{F205FC7D-83AF-00D5-986B-3041DD8C1F33}"/>
              </a:ext>
            </a:extLst>
          </p:cNvPr>
          <p:cNvSpPr/>
          <p:nvPr/>
        </p:nvSpPr>
        <p:spPr>
          <a:xfrm>
            <a:off x="745672" y="4332514"/>
            <a:ext cx="10700657" cy="2111829"/>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24C6549-FA13-BD9C-C49C-59F65EB3067E}"/>
              </a:ext>
            </a:extLst>
          </p:cNvPr>
          <p:cNvSpPr>
            <a:spLocks noGrp="1"/>
          </p:cNvSpPr>
          <p:nvPr>
            <p:ph idx="1"/>
          </p:nvPr>
        </p:nvSpPr>
        <p:spPr>
          <a:xfrm>
            <a:off x="838200" y="1325563"/>
            <a:ext cx="10515600" cy="4982255"/>
          </a:xfrm>
        </p:spPr>
        <p:txBody>
          <a:bodyPr>
            <a:normAutofit/>
          </a:bodyPr>
          <a:lstStyle/>
          <a:p>
            <a:r>
              <a:rPr lang="en-US" dirty="0">
                <a:latin typeface="Arial" panose="020B0604020202020204" pitchFamily="34" charset="0"/>
                <a:cs typeface="Arial" panose="020B0604020202020204" pitchFamily="34" charset="0"/>
              </a:rPr>
              <a:t>We are going to work with AI to help us write the </a:t>
            </a:r>
            <a:r>
              <a:rPr lang="en-US" b="1" dirty="0">
                <a:solidFill>
                  <a:schemeClr val="accent2"/>
                </a:solidFill>
                <a:latin typeface="Arial" panose="020B0604020202020204" pitchFamily="34" charset="0"/>
                <a:cs typeface="Arial" panose="020B0604020202020204" pitchFamily="34" charset="0"/>
              </a:rPr>
              <a:t>updated rules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We want to make sure we are </a:t>
            </a:r>
            <a:r>
              <a:rPr lang="en-US" b="1" dirty="0">
                <a:solidFill>
                  <a:schemeClr val="accent2"/>
                </a:solidFill>
                <a:latin typeface="Arial" panose="020B0604020202020204" pitchFamily="34" charset="0"/>
                <a:cs typeface="Arial" panose="020B0604020202020204" pitchFamily="34" charset="0"/>
              </a:rPr>
              <a:t>explicit</a:t>
            </a:r>
            <a:r>
              <a:rPr lang="en-US" dirty="0">
                <a:latin typeface="Arial" panose="020B0604020202020204" pitchFamily="34" charset="0"/>
                <a:cs typeface="Arial" panose="020B0604020202020204" pitchFamily="34" charset="0"/>
              </a:rPr>
              <a:t> about the changes we want and review </a:t>
            </a:r>
            <a:r>
              <a:rPr lang="en-US" b="1" dirty="0">
                <a:solidFill>
                  <a:schemeClr val="accent2"/>
                </a:solidFill>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changes it suggests. </a:t>
            </a:r>
          </a:p>
          <a:p>
            <a:r>
              <a:rPr lang="en-US" dirty="0">
                <a:latin typeface="Arial" panose="020B0604020202020204" pitchFamily="34" charset="0"/>
                <a:cs typeface="Arial" panose="020B0604020202020204" pitchFamily="34" charset="0"/>
              </a:rPr>
              <a:t>Remember, we need to ask for changes </a:t>
            </a:r>
            <a:r>
              <a:rPr lang="en-US" b="1" dirty="0">
                <a:solidFill>
                  <a:schemeClr val="accent2"/>
                </a:solidFill>
                <a:latin typeface="Arial" panose="020B0604020202020204" pitchFamily="34" charset="0"/>
                <a:cs typeface="Arial" panose="020B0604020202020204" pitchFamily="34" charset="0"/>
              </a:rPr>
              <a:t>in all places</a:t>
            </a:r>
            <a:r>
              <a:rPr lang="en-US" dirty="0">
                <a:latin typeface="Arial" panose="020B0604020202020204" pitchFamily="34" charset="0"/>
                <a:cs typeface="Arial" panose="020B0604020202020204" pitchFamily="34" charset="0"/>
              </a:rPr>
              <a:t> where we specify the forecast horizons:</a:t>
            </a:r>
          </a:p>
        </p:txBody>
      </p:sp>
      <p:sp>
        <p:nvSpPr>
          <p:cNvPr id="5" name="TextBox 4">
            <a:extLst>
              <a:ext uri="{FF2B5EF4-FFF2-40B4-BE49-F238E27FC236}">
                <a16:creationId xmlns:a16="http://schemas.microsoft.com/office/drawing/2014/main" id="{93135EE4-8202-7E43-0C71-B65AF2E8F76C}"/>
              </a:ext>
            </a:extLst>
          </p:cNvPr>
          <p:cNvSpPr txBox="1"/>
          <p:nvPr/>
        </p:nvSpPr>
        <p:spPr>
          <a:xfrm>
            <a:off x="838200" y="4408975"/>
            <a:ext cx="10515600" cy="1785104"/>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First Part of Prompt: Introducing the Ask</a:t>
            </a:r>
          </a:p>
          <a:p>
            <a:pPr marL="0" indent="0" algn="ctr">
              <a:buNone/>
            </a:pPr>
            <a:endParaRPr lang="en-US" sz="2200" b="1" dirty="0">
              <a:latin typeface="Arial" panose="020B0604020202020204" pitchFamily="34" charset="0"/>
              <a:cs typeface="Arial" panose="020B0604020202020204" pitchFamily="34" charset="0"/>
            </a:endParaRPr>
          </a:p>
          <a:p>
            <a:pPr marL="0" indent="0">
              <a:buNone/>
            </a:pPr>
            <a:r>
              <a:rPr lang="en-US" sz="2200" dirty="0">
                <a:latin typeface="Courier New" panose="02070309020205020404" pitchFamily="49" charset="0"/>
                <a:cs typeface="Courier New" panose="02070309020205020404" pitchFamily="49" charset="0"/>
              </a:rPr>
              <a:t>I want to extend my forecasting to include 1-, 2-, and 3-week forecasting horizons. Please update the rules document where we forecast, prepare the data file, and visualizations. </a:t>
            </a:r>
          </a:p>
        </p:txBody>
      </p:sp>
      <p:pic>
        <p:nvPicPr>
          <p:cNvPr id="8" name="Picture 7" descr="Your Turn Rubber Stamp Royalty Free SVG, Cliparts, Vectors, and Stock  Illustration. Image 68258628.">
            <a:extLst>
              <a:ext uri="{FF2B5EF4-FFF2-40B4-BE49-F238E27FC236}">
                <a16:creationId xmlns:a16="http://schemas.microsoft.com/office/drawing/2014/main" id="{80C11CDC-BCE4-6519-5B0D-F04486F6BCEE}"/>
              </a:ext>
            </a:extLst>
          </p:cNvPr>
          <p:cNvPicPr>
            <a:picLocks noChangeAspect="1"/>
          </p:cNvPicPr>
          <p:nvPr/>
        </p:nvPicPr>
        <p:blipFill>
          <a:blip r:embed="rId3"/>
          <a:stretch>
            <a:fillRect/>
          </a:stretch>
        </p:blipFill>
        <p:spPr>
          <a:xfrm>
            <a:off x="2053712" y="171929"/>
            <a:ext cx="981703" cy="981703"/>
          </a:xfrm>
          <a:prstGeom prst="rect">
            <a:avLst/>
          </a:prstGeom>
        </p:spPr>
      </p:pic>
    </p:spTree>
    <p:extLst>
      <p:ext uri="{BB962C8B-B14F-4D97-AF65-F5344CB8AC3E}">
        <p14:creationId xmlns:p14="http://schemas.microsoft.com/office/powerpoint/2010/main" val="340154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3E60A-2531-6A79-034D-1F9C06D25820}"/>
              </a:ext>
            </a:extLst>
          </p:cNvPr>
          <p:cNvSpPr>
            <a:spLocks noGrp="1"/>
          </p:cNvSpPr>
          <p:nvPr>
            <p:ph type="title"/>
          </p:nvPr>
        </p:nvSpPr>
        <p:spPr>
          <a:xfrm>
            <a:off x="838199" y="12563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sp>
        <p:nvSpPr>
          <p:cNvPr id="5" name="Rectangle: Rounded Corners 4">
            <a:extLst>
              <a:ext uri="{FF2B5EF4-FFF2-40B4-BE49-F238E27FC236}">
                <a16:creationId xmlns:a16="http://schemas.microsoft.com/office/drawing/2014/main" id="{5B6D8918-4CC0-6E1D-98D3-D0AC5FA5D35E}"/>
              </a:ext>
            </a:extLst>
          </p:cNvPr>
          <p:cNvSpPr/>
          <p:nvPr/>
        </p:nvSpPr>
        <p:spPr>
          <a:xfrm>
            <a:off x="745671" y="1699868"/>
            <a:ext cx="10700657" cy="1447805"/>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23A735D-144F-35DE-1519-0AC787A7FEA8}"/>
              </a:ext>
            </a:extLst>
          </p:cNvPr>
          <p:cNvSpPr txBox="1"/>
          <p:nvPr/>
        </p:nvSpPr>
        <p:spPr>
          <a:xfrm>
            <a:off x="838199" y="1776329"/>
            <a:ext cx="10515600" cy="1138773"/>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Second Part of Prompt: Data Format</a:t>
            </a:r>
          </a:p>
          <a:p>
            <a:pPr marL="0" indent="0" algn="ctr">
              <a:buNone/>
            </a:pPr>
            <a:endParaRPr lang="en-US" sz="2200" b="1" dirty="0">
              <a:latin typeface="Arial" panose="020B0604020202020204" pitchFamily="34" charset="0"/>
              <a:cs typeface="Arial" panose="020B0604020202020204" pitchFamily="34" charset="0"/>
            </a:endParaRPr>
          </a:p>
          <a:p>
            <a:pPr algn="ctr"/>
            <a:r>
              <a:rPr lang="en-US" sz="2400" dirty="0">
                <a:latin typeface="Courier New" panose="02070309020205020404" pitchFamily="49" charset="0"/>
                <a:cs typeface="Courier New" panose="02070309020205020404" pitchFamily="49" charset="0"/>
              </a:rPr>
              <a:t>Please keep the </a:t>
            </a:r>
            <a:r>
              <a:rPr lang="en-US" sz="2400" dirty="0" err="1">
                <a:latin typeface="Courier New" panose="02070309020205020404" pitchFamily="49" charset="0"/>
                <a:cs typeface="Courier New" panose="02070309020205020404" pitchFamily="49" charset="0"/>
              </a:rPr>
              <a:t>flusight</a:t>
            </a:r>
            <a:r>
              <a:rPr lang="en-US" sz="2400" dirty="0">
                <a:latin typeface="Courier New" panose="02070309020205020404" pitchFamily="49" charset="0"/>
                <a:cs typeface="Courier New" panose="02070309020205020404" pitchFamily="49" charset="0"/>
              </a:rPr>
              <a:t> format for the data file. </a:t>
            </a:r>
          </a:p>
        </p:txBody>
      </p:sp>
      <p:pic>
        <p:nvPicPr>
          <p:cNvPr id="9" name="Picture 8" descr="Your Turn Rubber Stamp Royalty Free SVG, Cliparts, Vectors, and Stock  Illustration. Image 68258628.">
            <a:extLst>
              <a:ext uri="{FF2B5EF4-FFF2-40B4-BE49-F238E27FC236}">
                <a16:creationId xmlns:a16="http://schemas.microsoft.com/office/drawing/2014/main" id="{51D443CD-F2D2-532C-7370-E767FFBAF926}"/>
              </a:ext>
            </a:extLst>
          </p:cNvPr>
          <p:cNvPicPr>
            <a:picLocks noChangeAspect="1"/>
          </p:cNvPicPr>
          <p:nvPr/>
        </p:nvPicPr>
        <p:blipFill>
          <a:blip r:embed="rId2"/>
          <a:stretch>
            <a:fillRect/>
          </a:stretch>
        </p:blipFill>
        <p:spPr>
          <a:xfrm>
            <a:off x="2097255" y="297568"/>
            <a:ext cx="981703" cy="981703"/>
          </a:xfrm>
          <a:prstGeom prst="rect">
            <a:avLst/>
          </a:prstGeom>
        </p:spPr>
      </p:pic>
      <p:sp>
        <p:nvSpPr>
          <p:cNvPr id="13" name="Rectangle: Rounded Corners 12">
            <a:extLst>
              <a:ext uri="{FF2B5EF4-FFF2-40B4-BE49-F238E27FC236}">
                <a16:creationId xmlns:a16="http://schemas.microsoft.com/office/drawing/2014/main" id="{70471EF2-1339-9714-5BB4-9D8A1E14071A}"/>
              </a:ext>
            </a:extLst>
          </p:cNvPr>
          <p:cNvSpPr/>
          <p:nvPr/>
        </p:nvSpPr>
        <p:spPr>
          <a:xfrm>
            <a:off x="745672" y="3624942"/>
            <a:ext cx="10700657" cy="2612571"/>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2D4C93C-A94D-47F6-EA13-3FBA9910765E}"/>
              </a:ext>
            </a:extLst>
          </p:cNvPr>
          <p:cNvSpPr txBox="1"/>
          <p:nvPr/>
        </p:nvSpPr>
        <p:spPr>
          <a:xfrm>
            <a:off x="930728" y="3744690"/>
            <a:ext cx="10515600" cy="2246769"/>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Third Part of Prompt: Visualizations</a:t>
            </a:r>
          </a:p>
          <a:p>
            <a:pPr marL="0" indent="0" algn="ctr">
              <a:buNone/>
            </a:pPr>
            <a:endParaRPr lang="en-US" sz="2200" b="1" dirty="0">
              <a:latin typeface="Arial" panose="020B0604020202020204" pitchFamily="34" charset="0"/>
              <a:cs typeface="Arial" panose="020B0604020202020204" pitchFamily="34" charset="0"/>
            </a:endParaRPr>
          </a:p>
          <a:p>
            <a:r>
              <a:rPr lang="en-US" sz="2400" dirty="0">
                <a:latin typeface="Courier New" panose="02070309020205020404" pitchFamily="49" charset="0"/>
                <a:cs typeface="Courier New" panose="02070309020205020404" pitchFamily="49" charset="0"/>
              </a:rPr>
              <a:t>For the visualizations, I want each horizon to have their own line like what we do currently for 1-week horizons. Make sure the colors are distinct, and the legend clearly includes all graph elements. </a:t>
            </a:r>
          </a:p>
        </p:txBody>
      </p:sp>
    </p:spTree>
    <p:extLst>
      <p:ext uri="{BB962C8B-B14F-4D97-AF65-F5344CB8AC3E}">
        <p14:creationId xmlns:p14="http://schemas.microsoft.com/office/powerpoint/2010/main" val="10253455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65F2-46DC-ECFE-A0A2-A95FA297C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0F0FD-012A-C863-C8A0-D689FA17D603}"/>
              </a:ext>
            </a:extLst>
          </p:cNvPr>
          <p:cNvSpPr>
            <a:spLocks noGrp="1"/>
          </p:cNvSpPr>
          <p:nvPr>
            <p:ph type="title"/>
          </p:nvPr>
        </p:nvSpPr>
        <p:spPr>
          <a:xfrm>
            <a:off x="838200" y="-4629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pic>
        <p:nvPicPr>
          <p:cNvPr id="9" name="Picture 8" descr="Your Turn Rubber Stamp Royalty Free SVG, Cliparts, Vectors, and Stock  Illustration. Image 68258628.">
            <a:extLst>
              <a:ext uri="{FF2B5EF4-FFF2-40B4-BE49-F238E27FC236}">
                <a16:creationId xmlns:a16="http://schemas.microsoft.com/office/drawing/2014/main" id="{202B1277-5899-6D6C-6FCC-C901B4E44EC3}"/>
              </a:ext>
            </a:extLst>
          </p:cNvPr>
          <p:cNvPicPr>
            <a:picLocks noChangeAspect="1"/>
          </p:cNvPicPr>
          <p:nvPr/>
        </p:nvPicPr>
        <p:blipFill>
          <a:blip r:embed="rId3"/>
          <a:stretch>
            <a:fillRect/>
          </a:stretch>
        </p:blipFill>
        <p:spPr>
          <a:xfrm>
            <a:off x="2151683" y="125637"/>
            <a:ext cx="981703" cy="981703"/>
          </a:xfrm>
          <a:prstGeom prst="rect">
            <a:avLst/>
          </a:prstGeom>
        </p:spPr>
      </p:pic>
      <p:sp>
        <p:nvSpPr>
          <p:cNvPr id="13" name="Rectangle: Rounded Corners 12">
            <a:extLst>
              <a:ext uri="{FF2B5EF4-FFF2-40B4-BE49-F238E27FC236}">
                <a16:creationId xmlns:a16="http://schemas.microsoft.com/office/drawing/2014/main" id="{7F67BDFB-9D8A-6CD6-3CD1-505A58E5F7C5}"/>
              </a:ext>
            </a:extLst>
          </p:cNvPr>
          <p:cNvSpPr/>
          <p:nvPr/>
        </p:nvSpPr>
        <p:spPr>
          <a:xfrm>
            <a:off x="304801" y="1279269"/>
            <a:ext cx="11484428" cy="5453094"/>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8764DDC-E181-AD21-446B-34466995F25F}"/>
              </a:ext>
            </a:extLst>
          </p:cNvPr>
          <p:cNvSpPr txBox="1"/>
          <p:nvPr/>
        </p:nvSpPr>
        <p:spPr>
          <a:xfrm>
            <a:off x="527957" y="1505630"/>
            <a:ext cx="11136085" cy="4770537"/>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Final Part of Prompt: Validations</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300" dirty="0">
                <a:latin typeface="Courier New" panose="02070309020205020404" pitchFamily="49" charset="0"/>
                <a:cs typeface="Courier New" panose="02070309020205020404" pitchFamily="49" charset="0"/>
              </a:rPr>
              <a:t>Please also include the following data checks: </a:t>
            </a:r>
          </a:p>
          <a:p>
            <a:pPr>
              <a:spcAft>
                <a:spcPts val="1200"/>
              </a:spcAft>
            </a:pPr>
            <a:r>
              <a:rPr lang="en-US" sz="2300" dirty="0">
                <a:latin typeface="Courier New" panose="02070309020205020404" pitchFamily="49" charset="0"/>
                <a:cs typeface="Courier New" panose="02070309020205020404" pitchFamily="49" charset="0"/>
              </a:rPr>
              <a:t>Validations: Confirm intervals get wider (or stay equal) as the horizon grows: width at h=3 ≥ h=2 ≥ h=1.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intervals widen with horizon: OK"; stop() otherwise. </a:t>
            </a:r>
          </a:p>
          <a:p>
            <a:pPr>
              <a:spcAft>
                <a:spcPts val="1200"/>
              </a:spcAft>
            </a:pPr>
            <a:r>
              <a:rPr lang="en-US" sz="2300" dirty="0">
                <a:latin typeface="Courier New" panose="02070309020205020404" pitchFamily="49" charset="0"/>
                <a:cs typeface="Courier New" panose="02070309020205020404" pitchFamily="49" charset="0"/>
              </a:rPr>
              <a:t>Validations: Confirm </a:t>
            </a:r>
            <a:r>
              <a:rPr lang="en-US" sz="2300" dirty="0" err="1">
                <a:latin typeface="Courier New" panose="02070309020205020404" pitchFamily="49" charset="0"/>
                <a:cs typeface="Courier New" panose="02070309020205020404" pitchFamily="49" charset="0"/>
              </a:rPr>
              <a:t>target_end_date</a:t>
            </a:r>
            <a:r>
              <a:rPr lang="en-US" sz="2300" dirty="0">
                <a:latin typeface="Courier New" panose="02070309020205020404" pitchFamily="49" charset="0"/>
                <a:cs typeface="Courier New" panose="02070309020205020404" pitchFamily="49" charset="0"/>
              </a:rPr>
              <a:t> == </a:t>
            </a:r>
            <a:r>
              <a:rPr lang="en-US" sz="2300" dirty="0" err="1">
                <a:latin typeface="Courier New" panose="02070309020205020404" pitchFamily="49" charset="0"/>
                <a:cs typeface="Courier New" panose="02070309020205020404" pitchFamily="49" charset="0"/>
              </a:rPr>
              <a:t>reference_date</a:t>
            </a:r>
            <a:r>
              <a:rPr lang="en-US" sz="2300" dirty="0">
                <a:latin typeface="Courier New" panose="02070309020205020404" pitchFamily="49" charset="0"/>
                <a:cs typeface="Courier New" panose="02070309020205020404" pitchFamily="49" charset="0"/>
              </a:rPr>
              <a:t> + 7 * horizon for every row.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target dates correct: OK"; stop() otherwise. </a:t>
            </a:r>
          </a:p>
          <a:p>
            <a:r>
              <a:rPr lang="en-US" sz="2300" dirty="0">
                <a:latin typeface="Courier New" panose="02070309020205020404" pitchFamily="49" charset="0"/>
                <a:cs typeface="Courier New" panose="02070309020205020404" pitchFamily="49" charset="0"/>
              </a:rPr>
              <a:t>Validations: Confirm each reference date is fit once, with all three horizons taken from that single forecast.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one fit, three horizons: OK"; stop() otherwise.</a:t>
            </a:r>
          </a:p>
        </p:txBody>
      </p:sp>
    </p:spTree>
    <p:extLst>
      <p:ext uri="{BB962C8B-B14F-4D97-AF65-F5344CB8AC3E}">
        <p14:creationId xmlns:p14="http://schemas.microsoft.com/office/powerpoint/2010/main" val="28194224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F7B3F8-29B2-DDCB-FB64-AF580306A9E4}"/>
              </a:ext>
            </a:extLst>
          </p:cNvPr>
          <p:cNvPicPr>
            <a:picLocks noChangeAspect="1"/>
          </p:cNvPicPr>
          <p:nvPr/>
        </p:nvPicPr>
        <p:blipFill>
          <a:blip r:embed="rId2"/>
          <a:stretch>
            <a:fillRect/>
          </a:stretch>
        </p:blipFill>
        <p:spPr>
          <a:xfrm>
            <a:off x="592853" y="177141"/>
            <a:ext cx="11006294" cy="6503719"/>
          </a:xfrm>
          <a:prstGeom prst="rect">
            <a:avLst/>
          </a:prstGeom>
        </p:spPr>
      </p:pic>
    </p:spTree>
    <p:extLst>
      <p:ext uri="{BB962C8B-B14F-4D97-AF65-F5344CB8AC3E}">
        <p14:creationId xmlns:p14="http://schemas.microsoft.com/office/powerpoint/2010/main" val="2364595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7A0F4-B55C-F324-BD2C-22D065E1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4D882B-1507-D585-316C-2E845961DE18}"/>
              </a:ext>
            </a:extLst>
          </p:cNvPr>
          <p:cNvSpPr>
            <a:spLocks noGrp="1"/>
          </p:cNvSpPr>
          <p:nvPr>
            <p:ph type="title"/>
          </p:nvPr>
        </p:nvSpPr>
        <p:spPr>
          <a:xfrm>
            <a:off x="838200" y="2077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Updating the Quantiles</a:t>
            </a:r>
          </a:p>
        </p:txBody>
      </p:sp>
      <p:sp>
        <p:nvSpPr>
          <p:cNvPr id="3" name="Content Placeholder 2">
            <a:extLst>
              <a:ext uri="{FF2B5EF4-FFF2-40B4-BE49-F238E27FC236}">
                <a16:creationId xmlns:a16="http://schemas.microsoft.com/office/drawing/2014/main" id="{C6DE218A-545A-F0A9-9E52-AF6B171C2A17}"/>
              </a:ext>
            </a:extLst>
          </p:cNvPr>
          <p:cNvSpPr>
            <a:spLocks noGrp="1"/>
          </p:cNvSpPr>
          <p:nvPr>
            <p:ph idx="1"/>
          </p:nvPr>
        </p:nvSpPr>
        <p:spPr>
          <a:xfrm>
            <a:off x="838200" y="1624417"/>
            <a:ext cx="10515600" cy="4667250"/>
          </a:xfrm>
        </p:spPr>
        <p:txBody>
          <a:bodyPr>
            <a:normAutofit/>
          </a:bodyPr>
          <a:lstStyle/>
          <a:p>
            <a:pPr fontAlgn="ctr">
              <a:spcAft>
                <a:spcPts val="1800"/>
              </a:spcAft>
            </a:pPr>
            <a:r>
              <a:rPr lang="en-US" dirty="0">
                <a:latin typeface="Arial" panose="020B0604020202020204" pitchFamily="34" charset="0"/>
                <a:cs typeface="Arial" panose="020B0604020202020204" pitchFamily="34" charset="0"/>
              </a:rPr>
              <a:t>Now that we have updated our forecasting horizons, we now need to update our pipeline to capture all </a:t>
            </a:r>
            <a:r>
              <a:rPr lang="en-US" b="1" dirty="0">
                <a:solidFill>
                  <a:schemeClr val="accent2"/>
                </a:solidFill>
                <a:latin typeface="Arial" panose="020B0604020202020204" pitchFamily="34" charset="0"/>
                <a:cs typeface="Arial" panose="020B0604020202020204" pitchFamily="34" charset="0"/>
              </a:rPr>
              <a:t>23 quantiles </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a:spcAft>
                <a:spcPts val="600"/>
              </a:spcAft>
            </a:pPr>
            <a:r>
              <a:rPr lang="en-US" dirty="0">
                <a:latin typeface="Arial" panose="020B0604020202020204" pitchFamily="34" charset="0"/>
                <a:cs typeface="Arial" panose="020B0604020202020204" pitchFamily="34" charset="0"/>
              </a:rPr>
              <a:t>For this exercise, we will be </a:t>
            </a:r>
            <a:r>
              <a:rPr lang="en-US" b="1" dirty="0">
                <a:solidFill>
                  <a:schemeClr val="accent2"/>
                </a:solidFill>
                <a:latin typeface="Arial" panose="020B0604020202020204" pitchFamily="34" charset="0"/>
                <a:cs typeface="Arial" panose="020B0604020202020204" pitchFamily="34" charset="0"/>
              </a:rPr>
              <a:t>using AI to help </a:t>
            </a:r>
            <a:r>
              <a:rPr lang="en-US" dirty="0">
                <a:latin typeface="Arial" panose="020B0604020202020204" pitchFamily="34" charset="0"/>
                <a:cs typeface="Arial" panose="020B0604020202020204" pitchFamily="34" charset="0"/>
              </a:rPr>
              <a:t>us update the rules to get exactly what we want. </a:t>
            </a:r>
          </a:p>
        </p:txBody>
      </p:sp>
      <p:graphicFrame>
        <p:nvGraphicFramePr>
          <p:cNvPr id="6" name="Table 5">
            <a:extLst>
              <a:ext uri="{FF2B5EF4-FFF2-40B4-BE49-F238E27FC236}">
                <a16:creationId xmlns:a16="http://schemas.microsoft.com/office/drawing/2014/main" id="{970BA442-1B4C-FDCB-E156-F1782058B22D}"/>
              </a:ext>
            </a:extLst>
          </p:cNvPr>
          <p:cNvGraphicFramePr>
            <a:graphicFrameLocks noGrp="1"/>
          </p:cNvGraphicFramePr>
          <p:nvPr>
            <p:extLst>
              <p:ext uri="{D42A27DB-BD31-4B8C-83A1-F6EECF244321}">
                <p14:modId xmlns:p14="http://schemas.microsoft.com/office/powerpoint/2010/main" val="556349483"/>
              </p:ext>
            </p:extLst>
          </p:nvPr>
        </p:nvGraphicFramePr>
        <p:xfrm>
          <a:off x="993847" y="3041102"/>
          <a:ext cx="10204305" cy="1833880"/>
        </p:xfrm>
        <a:graphic>
          <a:graphicData uri="http://schemas.openxmlformats.org/drawingml/2006/table">
            <a:tbl>
              <a:tblPr firstRow="1" bandRow="1">
                <a:tableStyleId>{5940675A-B579-460E-94D1-54222C63F5DA}</a:tableStyleId>
              </a:tblPr>
              <a:tblGrid>
                <a:gridCol w="3401435">
                  <a:extLst>
                    <a:ext uri="{9D8B030D-6E8A-4147-A177-3AD203B41FA5}">
                      <a16:colId xmlns:a16="http://schemas.microsoft.com/office/drawing/2014/main" val="3477913489"/>
                    </a:ext>
                  </a:extLst>
                </a:gridCol>
                <a:gridCol w="3401435">
                  <a:extLst>
                    <a:ext uri="{9D8B030D-6E8A-4147-A177-3AD203B41FA5}">
                      <a16:colId xmlns:a16="http://schemas.microsoft.com/office/drawing/2014/main" val="2711285860"/>
                    </a:ext>
                  </a:extLst>
                </a:gridCol>
                <a:gridCol w="3401435">
                  <a:extLst>
                    <a:ext uri="{9D8B030D-6E8A-4147-A177-3AD203B41FA5}">
                      <a16:colId xmlns:a16="http://schemas.microsoft.com/office/drawing/2014/main" val="3713721280"/>
                    </a:ext>
                  </a:extLst>
                </a:gridCol>
              </a:tblGrid>
              <a:tr h="370840">
                <a:tc>
                  <a:txBody>
                    <a:bodyPr/>
                    <a:lstStyle/>
                    <a:p>
                      <a:endParaRPr lang="en-US" dirty="0">
                        <a:latin typeface="Arial" panose="020B0604020202020204" pitchFamily="34" charset="0"/>
                        <a:cs typeface="Arial" panose="020B0604020202020204" pitchFamily="34"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tcPr>
                </a:tc>
                <a:tc>
                  <a:txBody>
                    <a:bodyPr/>
                    <a:lstStyle/>
                    <a:p>
                      <a:pPr algn="ctr"/>
                      <a:r>
                        <a:rPr lang="en-US" b="1" dirty="0">
                          <a:latin typeface="Arial" panose="020B0604020202020204" pitchFamily="34" charset="0"/>
                          <a:cs typeface="Arial" panose="020B0604020202020204" pitchFamily="34" charset="0"/>
                        </a:rPr>
                        <a:t>Current </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US" b="1" dirty="0">
                          <a:latin typeface="Arial" panose="020B0604020202020204" pitchFamily="34" charset="0"/>
                          <a:cs typeface="Arial" panose="020B0604020202020204" pitchFamily="34" charset="0"/>
                        </a:rPr>
                        <a:t>Goal</a:t>
                      </a:r>
                    </a:p>
                  </a:txBody>
                  <a:tcPr anchor="ctr">
                    <a:solidFill>
                      <a:schemeClr val="bg1">
                        <a:lumMod val="95000"/>
                      </a:schemeClr>
                    </a:solidFill>
                  </a:tcPr>
                </a:tc>
                <a:extLst>
                  <a:ext uri="{0D108BD9-81ED-4DB2-BD59-A6C34878D82A}">
                    <a16:rowId xmlns:a16="http://schemas.microsoft.com/office/drawing/2014/main" val="3150909744"/>
                  </a:ext>
                </a:extLst>
              </a:tr>
              <a:tr h="394429">
                <a:tc>
                  <a:txBody>
                    <a:bodyPr/>
                    <a:lstStyle/>
                    <a:p>
                      <a:pPr algn="ctr"/>
                      <a:r>
                        <a:rPr lang="en-US" b="1" dirty="0">
                          <a:latin typeface="Arial" panose="020B0604020202020204" pitchFamily="34" charset="0"/>
                          <a:cs typeface="Arial" panose="020B0604020202020204" pitchFamily="34" charset="0"/>
                        </a:rPr>
                        <a:t>Quantiles</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sz="1800" b="0" kern="1200" dirty="0">
                          <a:solidFill>
                            <a:schemeClr val="tx1"/>
                          </a:solidFill>
                          <a:effectLst/>
                          <a:latin typeface="Arial" panose="020B0604020202020204" pitchFamily="34" charset="0"/>
                          <a:cs typeface="Arial" panose="020B0604020202020204" pitchFamily="34" charset="0"/>
                        </a:rPr>
                        <a:t>0.025, 0.5, 0.975</a:t>
                      </a:r>
                      <a:endParaRPr lang="en-US"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Arial" panose="020B0604020202020204" pitchFamily="34" charset="0"/>
                          <a:cs typeface="Arial" panose="020B0604020202020204" pitchFamily="34" charset="0"/>
                        </a:rPr>
                        <a:t>0.01, 0.025, 0.05, 0.1, 0.15, 0.2, 0.25, 0.3, 0.35, 0.4, 0.45, 0.5, 0.55, 0.6, 0.65, 0.7, 0.75, 0.8, 0.85, 0.9, 0.95, 0.975, and 0.99</a:t>
                      </a:r>
                      <a:endParaRPr lang="en-US" sz="1800" b="0" i="0" kern="1200" dirty="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2594653142"/>
                  </a:ext>
                </a:extLst>
              </a:tr>
            </a:tbl>
          </a:graphicData>
        </a:graphic>
      </p:graphicFrame>
    </p:spTree>
    <p:extLst>
      <p:ext uri="{BB962C8B-B14F-4D97-AF65-F5344CB8AC3E}">
        <p14:creationId xmlns:p14="http://schemas.microsoft.com/office/powerpoint/2010/main" val="16623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B3331-A719-887B-123E-F0D590700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AA61F-DF41-648D-B31A-B1759A390388}"/>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p>
        </p:txBody>
      </p:sp>
      <p:sp>
        <p:nvSpPr>
          <p:cNvPr id="6" name="Rectangle: Rounded Corners 5">
            <a:extLst>
              <a:ext uri="{FF2B5EF4-FFF2-40B4-BE49-F238E27FC236}">
                <a16:creationId xmlns:a16="http://schemas.microsoft.com/office/drawing/2014/main" id="{2EF95FAA-E29D-C356-81F5-C721ADA41F4E}"/>
              </a:ext>
            </a:extLst>
          </p:cNvPr>
          <p:cNvSpPr/>
          <p:nvPr/>
        </p:nvSpPr>
        <p:spPr>
          <a:xfrm>
            <a:off x="838200" y="3701142"/>
            <a:ext cx="10700657" cy="2950533"/>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86F2204-4F57-8E04-EE95-B1AEDD8F38F0}"/>
              </a:ext>
            </a:extLst>
          </p:cNvPr>
          <p:cNvSpPr>
            <a:spLocks noGrp="1"/>
          </p:cNvSpPr>
          <p:nvPr>
            <p:ph idx="1"/>
          </p:nvPr>
        </p:nvSpPr>
        <p:spPr>
          <a:xfrm>
            <a:off x="838200" y="1497492"/>
            <a:ext cx="10515600" cy="4982255"/>
          </a:xfrm>
        </p:spPr>
        <p:txBody>
          <a:bodyPr>
            <a:normAutofit/>
          </a:bodyPr>
          <a:lstStyle/>
          <a:p>
            <a:pPr>
              <a:spcAft>
                <a:spcPts val="1200"/>
              </a:spcAft>
            </a:pPr>
            <a:r>
              <a:rPr lang="en-US" dirty="0">
                <a:latin typeface="Arial" panose="020B0604020202020204" pitchFamily="34" charset="0"/>
                <a:cs typeface="Arial" panose="020B0604020202020204" pitchFamily="34" charset="0"/>
              </a:rPr>
              <a:t>We are going to work with AI to help us write the </a:t>
            </a:r>
            <a:r>
              <a:rPr lang="en-US" b="1" dirty="0">
                <a:solidFill>
                  <a:schemeClr val="accent2"/>
                </a:solidFill>
                <a:latin typeface="Arial" panose="020B0604020202020204" pitchFamily="34" charset="0"/>
                <a:cs typeface="Arial" panose="020B0604020202020204" pitchFamily="34" charset="0"/>
              </a:rPr>
              <a:t>updated rules</a:t>
            </a:r>
            <a:r>
              <a:rPr lang="en-US" dirty="0">
                <a:latin typeface="Arial" panose="020B0604020202020204" pitchFamily="34" charset="0"/>
                <a:cs typeface="Arial" panose="020B0604020202020204" pitchFamily="34" charset="0"/>
              </a:rPr>
              <a:t> around adding additional quantiles. </a:t>
            </a:r>
          </a:p>
          <a:p>
            <a:r>
              <a:rPr lang="en-US" dirty="0">
                <a:latin typeface="Arial" panose="020B0604020202020204" pitchFamily="34" charset="0"/>
                <a:cs typeface="Arial" panose="020B0604020202020204" pitchFamily="34" charset="0"/>
              </a:rPr>
              <a:t>We want to make sure we are </a:t>
            </a:r>
            <a:r>
              <a:rPr lang="en-US" b="1" dirty="0">
                <a:solidFill>
                  <a:schemeClr val="accent2"/>
                </a:solidFill>
                <a:latin typeface="Arial" panose="020B0604020202020204" pitchFamily="34" charset="0"/>
                <a:cs typeface="Arial" panose="020B0604020202020204" pitchFamily="34" charset="0"/>
              </a:rPr>
              <a:t>explicit</a:t>
            </a:r>
            <a:r>
              <a:rPr lang="en-US" dirty="0">
                <a:latin typeface="Arial" panose="020B0604020202020204" pitchFamily="34" charset="0"/>
                <a:cs typeface="Arial" panose="020B0604020202020204" pitchFamily="34" charset="0"/>
              </a:rPr>
              <a:t> about the changes we want and review </a:t>
            </a:r>
            <a:r>
              <a:rPr lang="en-US" b="1" dirty="0">
                <a:solidFill>
                  <a:schemeClr val="accent2"/>
                </a:solidFill>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changes it suggests. </a:t>
            </a:r>
          </a:p>
        </p:txBody>
      </p:sp>
      <p:sp>
        <p:nvSpPr>
          <p:cNvPr id="5" name="TextBox 4">
            <a:extLst>
              <a:ext uri="{FF2B5EF4-FFF2-40B4-BE49-F238E27FC236}">
                <a16:creationId xmlns:a16="http://schemas.microsoft.com/office/drawing/2014/main" id="{BEA65079-B11E-5E30-4874-76759065F9A5}"/>
              </a:ext>
            </a:extLst>
          </p:cNvPr>
          <p:cNvSpPr txBox="1"/>
          <p:nvPr/>
        </p:nvSpPr>
        <p:spPr>
          <a:xfrm>
            <a:off x="1115786" y="3766459"/>
            <a:ext cx="10107385" cy="2616101"/>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Prompt: Updating the Quantiles </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200" dirty="0">
                <a:latin typeface="Courier New" panose="02070309020205020404" pitchFamily="49" charset="0"/>
                <a:cs typeface="Courier New" panose="02070309020205020404" pitchFamily="49" charset="0"/>
              </a:rPr>
              <a:t>Now I want to update the quantiles we are forecasting. Please expand our forecasts and data files to capture the following quantiles (see attached). Please update the rules document to start.</a:t>
            </a:r>
          </a:p>
          <a:p>
            <a:r>
              <a:rPr lang="en-US" sz="2200" dirty="0">
                <a:latin typeface="Courier New" panose="02070309020205020404" pitchFamily="49" charset="0"/>
                <a:cs typeface="Courier New" panose="02070309020205020404" pitchFamily="49" charset="0"/>
              </a:rPr>
              <a:t>Then, update the agents.md and 03_forecast.R. </a:t>
            </a:r>
          </a:p>
        </p:txBody>
      </p:sp>
      <p:pic>
        <p:nvPicPr>
          <p:cNvPr id="8" name="Picture 7" descr="Your Turn Rubber Stamp Royalty Free SVG, Cliparts, Vectors, and Stock  Illustration. Image 68258628.">
            <a:extLst>
              <a:ext uri="{FF2B5EF4-FFF2-40B4-BE49-F238E27FC236}">
                <a16:creationId xmlns:a16="http://schemas.microsoft.com/office/drawing/2014/main" id="{85586771-7EE8-6380-2514-24AD0C70FBED}"/>
              </a:ext>
            </a:extLst>
          </p:cNvPr>
          <p:cNvPicPr>
            <a:picLocks noChangeAspect="1"/>
          </p:cNvPicPr>
          <p:nvPr/>
        </p:nvPicPr>
        <p:blipFill>
          <a:blip r:embed="rId3"/>
          <a:stretch>
            <a:fillRect/>
          </a:stretch>
        </p:blipFill>
        <p:spPr>
          <a:xfrm>
            <a:off x="2260540" y="171929"/>
            <a:ext cx="981703" cy="981703"/>
          </a:xfrm>
          <a:prstGeom prst="rect">
            <a:avLst/>
          </a:prstGeom>
        </p:spPr>
      </p:pic>
    </p:spTree>
    <p:extLst>
      <p:ext uri="{BB962C8B-B14F-4D97-AF65-F5344CB8AC3E}">
        <p14:creationId xmlns:p14="http://schemas.microsoft.com/office/powerpoint/2010/main" val="3587655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B7299-C2D3-7066-3390-57762001F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6DC5B-1619-087F-94D5-D7DFDB82BB9B}"/>
              </a:ext>
            </a:extLst>
          </p:cNvPr>
          <p:cNvSpPr>
            <a:spLocks noGrp="1"/>
          </p:cNvSpPr>
          <p:nvPr>
            <p:ph type="title"/>
          </p:nvPr>
        </p:nvSpPr>
        <p:spPr>
          <a:xfrm>
            <a:off x="838200" y="-4629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pic>
        <p:nvPicPr>
          <p:cNvPr id="9" name="Picture 8" descr="Your Turn Rubber Stamp Royalty Free SVG, Cliparts, Vectors, and Stock  Illustration. Image 68258628.">
            <a:extLst>
              <a:ext uri="{FF2B5EF4-FFF2-40B4-BE49-F238E27FC236}">
                <a16:creationId xmlns:a16="http://schemas.microsoft.com/office/drawing/2014/main" id="{66C90128-7CFB-3327-4F6A-7361C0E0D371}"/>
              </a:ext>
            </a:extLst>
          </p:cNvPr>
          <p:cNvPicPr>
            <a:picLocks noChangeAspect="1"/>
          </p:cNvPicPr>
          <p:nvPr/>
        </p:nvPicPr>
        <p:blipFill>
          <a:blip r:embed="rId3"/>
          <a:stretch>
            <a:fillRect/>
          </a:stretch>
        </p:blipFill>
        <p:spPr>
          <a:xfrm>
            <a:off x="2151683" y="125637"/>
            <a:ext cx="981703" cy="981703"/>
          </a:xfrm>
          <a:prstGeom prst="rect">
            <a:avLst/>
          </a:prstGeom>
        </p:spPr>
      </p:pic>
      <p:sp>
        <p:nvSpPr>
          <p:cNvPr id="13" name="Rectangle: Rounded Corners 12">
            <a:extLst>
              <a:ext uri="{FF2B5EF4-FFF2-40B4-BE49-F238E27FC236}">
                <a16:creationId xmlns:a16="http://schemas.microsoft.com/office/drawing/2014/main" id="{CC707DEB-02CE-05C0-D061-2A374F0EFA08}"/>
              </a:ext>
            </a:extLst>
          </p:cNvPr>
          <p:cNvSpPr/>
          <p:nvPr/>
        </p:nvSpPr>
        <p:spPr>
          <a:xfrm>
            <a:off x="244929" y="1214989"/>
            <a:ext cx="11702143" cy="5517373"/>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7888C97-1E1C-1608-613F-75D3301876FF}"/>
              </a:ext>
            </a:extLst>
          </p:cNvPr>
          <p:cNvSpPr txBox="1"/>
          <p:nvPr/>
        </p:nvSpPr>
        <p:spPr>
          <a:xfrm>
            <a:off x="527958" y="1225876"/>
            <a:ext cx="11136085" cy="5324535"/>
          </a:xfrm>
          <a:prstGeom prst="rect">
            <a:avLst/>
          </a:prstGeom>
          <a:noFill/>
        </p:spPr>
        <p:txBody>
          <a:bodyPr wrap="square">
            <a:spAutoFit/>
          </a:bodyPr>
          <a:lstStyle/>
          <a:p>
            <a:pPr marL="0" indent="0" algn="ctr">
              <a:buNone/>
            </a:pPr>
            <a:r>
              <a:rPr lang="en-US" sz="2300" b="1" dirty="0">
                <a:latin typeface="Arial" panose="020B0604020202020204" pitchFamily="34" charset="0"/>
                <a:cs typeface="Arial" panose="020B0604020202020204" pitchFamily="34" charset="0"/>
              </a:rPr>
              <a:t>Final Part of Prompt: Validations</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300" dirty="0">
                <a:latin typeface="Courier New" panose="02070309020205020404" pitchFamily="49" charset="0"/>
                <a:cs typeface="Courier New" panose="02070309020205020404" pitchFamily="49" charset="0"/>
              </a:rPr>
              <a:t>Please also include the following data checks: </a:t>
            </a:r>
          </a:p>
          <a:p>
            <a:pPr>
              <a:spcAft>
                <a:spcPts val="1200"/>
              </a:spcAft>
            </a:pPr>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For each reference date and horizon, confirm the quantiles are non-decreasing across every level: 0.01 ≤ 0.025 ≤ … ≤ 0.975 ≤ 0.99.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quantiles non-decreasing: OK"; stop() otherwise.</a:t>
            </a:r>
          </a:p>
          <a:p>
            <a:pPr>
              <a:spcAft>
                <a:spcPts val="1200"/>
              </a:spcAft>
            </a:pPr>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Confirm every reference-date/horizon has the exact required set of quantile levels — none missing, none extra.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all quantile levels present: OK"; stop() otherwise.</a:t>
            </a:r>
          </a:p>
          <a:p>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Confirm the median (0.5) equals the point forecast and symmetric pairs are equidistant from it (e.g. 0.025 and 0.975).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median centered, quantiles symmetric: OK"; stop() otherwise.</a:t>
            </a:r>
          </a:p>
        </p:txBody>
      </p:sp>
    </p:spTree>
    <p:extLst>
      <p:ext uri="{BB962C8B-B14F-4D97-AF65-F5344CB8AC3E}">
        <p14:creationId xmlns:p14="http://schemas.microsoft.com/office/powerpoint/2010/main" val="9381134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840B19-0269-7236-3982-DF4668E98077}"/>
              </a:ext>
            </a:extLst>
          </p:cNvPr>
          <p:cNvPicPr>
            <a:picLocks noChangeAspect="1"/>
          </p:cNvPicPr>
          <p:nvPr/>
        </p:nvPicPr>
        <p:blipFill>
          <a:blip r:embed="rId2"/>
          <a:stretch>
            <a:fillRect/>
          </a:stretch>
        </p:blipFill>
        <p:spPr>
          <a:xfrm>
            <a:off x="1382167" y="803007"/>
            <a:ext cx="9427666" cy="5251987"/>
          </a:xfrm>
          <a:prstGeom prst="rect">
            <a:avLst/>
          </a:prstGeom>
        </p:spPr>
      </p:pic>
    </p:spTree>
    <p:extLst>
      <p:ext uri="{BB962C8B-B14F-4D97-AF65-F5344CB8AC3E}">
        <p14:creationId xmlns:p14="http://schemas.microsoft.com/office/powerpoint/2010/main" val="3404059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2842</TotalTime>
  <Words>9230</Words>
  <Application>Microsoft Office PowerPoint</Application>
  <PresentationFormat>Widescreen</PresentationFormat>
  <Paragraphs>783</Paragraphs>
  <Slides>67</Slides>
  <Notes>46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67</vt:i4>
      </vt:variant>
    </vt:vector>
  </HeadingPairs>
  <TitlesOfParts>
    <vt:vector size="75" baseType="lpstr">
      <vt:lpstr>Aptos</vt:lpstr>
      <vt:lpstr>Aptos Display</vt:lpstr>
      <vt:lpstr>Arial</vt:lpstr>
      <vt:lpstr>Calibri</vt:lpstr>
      <vt:lpstr>Cambria Math</vt:lpstr>
      <vt:lpstr>Courier New</vt:lpstr>
      <vt:lpstr>Trebuchet MS</vt:lpstr>
      <vt:lpstr>Office Theme</vt:lpstr>
      <vt:lpstr>Activity 03: Modeling &amp; Forecasting</vt:lpstr>
      <vt:lpstr>PowerPoint Presentation</vt:lpstr>
      <vt:lpstr>PowerPoint Presentation</vt:lpstr>
      <vt:lpstr>PowerPoint Presentation</vt:lpstr>
      <vt:lpstr>PowerPoint Presentation</vt:lpstr>
      <vt:lpstr>PowerPoint Presentation</vt:lpstr>
      <vt:lpstr>Your Task</vt:lpstr>
      <vt:lpstr>Task 0: Set-Up</vt:lpstr>
      <vt:lpstr># Forecasting</vt:lpstr>
      <vt:lpstr>## 1.Input Data</vt:lpstr>
      <vt:lpstr>Input Data Validations</vt:lpstr>
      <vt:lpstr>Insert slide</vt:lpstr>
      <vt:lpstr>PowerPoint Presentation</vt:lpstr>
      <vt:lpstr>PowerPoint Presentation</vt:lpstr>
      <vt:lpstr>PowerPoint Presentation</vt:lpstr>
      <vt:lpstr>Task 1: Specifying the Training and Forecast Period </vt:lpstr>
      <vt:lpstr>PowerPoint Presentation</vt:lpstr>
      <vt:lpstr>PowerPoint Presentation</vt:lpstr>
      <vt:lpstr>PowerPoint Presentation</vt:lpstr>
      <vt:lpstr>PowerPoint Presentation</vt:lpstr>
      <vt:lpstr>Task 2: Baseline Model Specification</vt:lpstr>
      <vt:lpstr>Auto Regressive Integrated Moving Average (ARIMA)</vt:lpstr>
      <vt:lpstr>Model Specification Rules</vt:lpstr>
      <vt:lpstr>PowerPoint Presentation</vt:lpstr>
      <vt:lpstr>PowerPoint Presentation</vt:lpstr>
      <vt:lpstr>PowerPoint Presentation</vt:lpstr>
      <vt:lpstr>PowerPoint Presentation</vt:lpstr>
      <vt:lpstr>Task 3: Forecasting </vt:lpstr>
      <vt:lpstr>What does our data look like? </vt:lpstr>
      <vt:lpstr>Reference Dates </vt:lpstr>
      <vt:lpstr>Target End Dates </vt:lpstr>
      <vt:lpstr>Things to Consider </vt:lpstr>
      <vt:lpstr>PowerPoint Presentation</vt:lpstr>
      <vt:lpstr>What is purpose of next section (Forecast generation)?</vt:lpstr>
      <vt:lpstr>PowerPoint Presentation</vt:lpstr>
      <vt:lpstr>What is the purpose of the next slide</vt:lpstr>
      <vt:lpstr>We have our date rules, now what?</vt:lpstr>
      <vt:lpstr>Forecasting (1-Week Ahead)</vt:lpstr>
      <vt:lpstr>Extracting the Median &amp; 95% PI Bounds</vt:lpstr>
      <vt:lpstr>PowerPoint Presentation</vt:lpstr>
      <vt:lpstr>PowerPoint Presentation</vt:lpstr>
      <vt:lpstr>PowerPoint Presentation</vt:lpstr>
      <vt:lpstr>PowerPoint Presentation</vt:lpstr>
      <vt:lpstr>First, Handling the Quantiles (Wide-to-Long)</vt:lpstr>
      <vt:lpstr>How do we get there?</vt:lpstr>
      <vt:lpstr>Why do we need the table? </vt:lpstr>
      <vt:lpstr>PowerPoint Presentation</vt:lpstr>
      <vt:lpstr>PowerPoint Presentation</vt:lpstr>
      <vt:lpstr>Task 4: Visualization</vt:lpstr>
      <vt:lpstr>Visualizing our Results</vt:lpstr>
      <vt:lpstr>PowerPoint Presentation</vt:lpstr>
      <vt:lpstr>PowerPoint Presentation</vt:lpstr>
      <vt:lpstr>PowerPoint Presentation</vt:lpstr>
      <vt:lpstr>Task 5: Extensions</vt:lpstr>
      <vt:lpstr>Expanding to full FluSight Format</vt:lpstr>
      <vt:lpstr>Adding the 2- and 3-Week Forecasts </vt:lpstr>
      <vt:lpstr>Prompting &amp; Things to Consider</vt:lpstr>
      <vt:lpstr>Updating is Often Iterative</vt:lpstr>
      <vt:lpstr>PowerPoint Presentation</vt:lpstr>
      <vt:lpstr>Writing the Prompt</vt:lpstr>
      <vt:lpstr>Writing the Prompt</vt:lpstr>
      <vt:lpstr>Writing the Prompt</vt:lpstr>
      <vt:lpstr>PowerPoint Presentation</vt:lpstr>
      <vt:lpstr>Updating the Quantiles</vt:lpstr>
      <vt:lpstr>Writing the Prompt</vt:lpstr>
      <vt:lpstr>Writing the Prompt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Lior Rennert</cp:lastModifiedBy>
  <cp:revision>3</cp:revision>
  <dcterms:created xsi:type="dcterms:W3CDTF">2026-07-06T02:38:13Z</dcterms:created>
  <dcterms:modified xsi:type="dcterms:W3CDTF">2026-07-14T16:11:10Z</dcterms:modified>
</cp:coreProperties>
</file>