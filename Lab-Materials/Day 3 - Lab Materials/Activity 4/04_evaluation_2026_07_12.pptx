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405" r:id="rId2"/>
    <p:sldId id="425" r:id="rId3"/>
    <p:sldId id="426" r:id="rId4"/>
    <p:sldId id="419" r:id="rId5"/>
    <p:sldId id="420" r:id="rId6"/>
    <p:sldId id="458" r:id="rId7"/>
    <p:sldId id="462" r:id="rId8"/>
    <p:sldId id="288" r:id="rId9"/>
    <p:sldId id="342" r:id="rId10"/>
    <p:sldId id="343" r:id="rId11"/>
    <p:sldId id="347" r:id="rId12"/>
    <p:sldId id="346" r:id="rId13"/>
    <p:sldId id="344" r:id="rId14"/>
    <p:sldId id="464" r:id="rId15"/>
    <p:sldId id="461" r:id="rId16"/>
    <p:sldId id="465" r:id="rId17"/>
    <p:sldId id="467" r:id="rId18"/>
    <p:sldId id="468" r:id="rId19"/>
    <p:sldId id="470" r:id="rId20"/>
    <p:sldId id="471" r:id="rId21"/>
    <p:sldId id="472" r:id="rId22"/>
    <p:sldId id="476" r:id="rId23"/>
    <p:sldId id="473" r:id="rId24"/>
    <p:sldId id="480" r:id="rId25"/>
    <p:sldId id="481" r:id="rId26"/>
    <p:sldId id="477" r:id="rId27"/>
    <p:sldId id="474" r:id="rId28"/>
    <p:sldId id="484" r:id="rId29"/>
    <p:sldId id="483" r:id="rId30"/>
    <p:sldId id="475" r:id="rId31"/>
    <p:sldId id="485" r:id="rId32"/>
    <p:sldId id="48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4F8"/>
    <a:srgbClr val="DCEAF7"/>
    <a:srgbClr val="F0ECF8"/>
    <a:srgbClr val="FFF4EC"/>
    <a:srgbClr val="334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013" autoAdjust="0"/>
  </p:normalViewPr>
  <p:slideViewPr>
    <p:cSldViewPr snapToGrid="0">
      <p:cViewPr>
        <p:scale>
          <a:sx n="70" d="100"/>
          <a:sy n="70" d="100"/>
        </p:scale>
        <p:origin x="11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F0F67C-CB55-428E-AECD-4A745EC14CD1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89832D4-5385-46E2-B16E-8F239AE7E695}">
      <dgm:prSet phldrT="[Text]" phldr="0"/>
      <dgm:spPr>
        <a:solidFill>
          <a:srgbClr val="DCEAF7"/>
        </a:solidFill>
        <a:ln>
          <a:solidFill>
            <a:srgbClr val="DCEAF7"/>
          </a:solidFill>
        </a:ln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Prepare the Forecasts</a:t>
          </a:r>
        </a:p>
      </dgm:t>
    </dgm:pt>
    <dgm:pt modelId="{EDCD069C-CB44-4CC2-B847-E0CDDC16578C}" type="parTrans" cxnId="{44EDE54C-7D75-4A45-8A68-3BCC398FC017}">
      <dgm:prSet/>
      <dgm:spPr/>
      <dgm:t>
        <a:bodyPr/>
        <a:lstStyle/>
        <a:p>
          <a:endParaRPr lang="en-US"/>
        </a:p>
      </dgm:t>
    </dgm:pt>
    <dgm:pt modelId="{11CBA08E-D107-48C3-854F-52DDF559E82A}" type="sibTrans" cxnId="{44EDE54C-7D75-4A45-8A68-3BCC398FC017}">
      <dgm:prSet/>
      <dgm:spPr/>
      <dgm:t>
        <a:bodyPr/>
        <a:lstStyle/>
        <a:p>
          <a:endParaRPr lang="en-US"/>
        </a:p>
      </dgm:t>
    </dgm:pt>
    <dgm:pt modelId="{DF273F89-46A9-4265-957B-EC49B3070CA5}">
      <dgm:prSet phldrT="[Text]" phldr="0"/>
      <dgm:spPr>
        <a:solidFill>
          <a:srgbClr val="FFF4EC"/>
        </a:solidFill>
        <a:ln>
          <a:solidFill>
            <a:srgbClr val="FFF4EC"/>
          </a:solidFill>
        </a:ln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‘Score’ the Forecasts</a:t>
          </a:r>
        </a:p>
      </dgm:t>
    </dgm:pt>
    <dgm:pt modelId="{048EC0FC-39E1-4FD8-AFFE-3F60B000C620}" type="parTrans" cxnId="{60AA49EC-DD2D-4CEF-A7CF-630CE13388D7}">
      <dgm:prSet/>
      <dgm:spPr/>
      <dgm:t>
        <a:bodyPr/>
        <a:lstStyle/>
        <a:p>
          <a:endParaRPr lang="en-US"/>
        </a:p>
      </dgm:t>
    </dgm:pt>
    <dgm:pt modelId="{7AC737BC-B38D-4A51-A0B9-4712F8564E40}" type="sibTrans" cxnId="{60AA49EC-DD2D-4CEF-A7CF-630CE13388D7}">
      <dgm:prSet/>
      <dgm:spPr/>
      <dgm:t>
        <a:bodyPr/>
        <a:lstStyle/>
        <a:p>
          <a:endParaRPr lang="en-US"/>
        </a:p>
      </dgm:t>
    </dgm:pt>
    <dgm:pt modelId="{44F233E5-CB30-4E8A-9806-50BF9EC380E5}">
      <dgm:prSet phldrT="[Text]" phldr="0"/>
      <dgm:spPr>
        <a:solidFill>
          <a:srgbClr val="F0ECF8"/>
        </a:solidFill>
        <a:ln>
          <a:solidFill>
            <a:srgbClr val="F0ECF8"/>
          </a:solidFill>
        </a:ln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Summarize the Results</a:t>
          </a:r>
        </a:p>
      </dgm:t>
    </dgm:pt>
    <dgm:pt modelId="{86EB8376-F214-4491-96BF-0CE3DC00350C}" type="parTrans" cxnId="{74152814-1A43-4AD8-B0DE-2197CABB7379}">
      <dgm:prSet/>
      <dgm:spPr/>
      <dgm:t>
        <a:bodyPr/>
        <a:lstStyle/>
        <a:p>
          <a:endParaRPr lang="en-US"/>
        </a:p>
      </dgm:t>
    </dgm:pt>
    <dgm:pt modelId="{4DB72E8B-6230-473B-898B-4F85F9B7474F}" type="sibTrans" cxnId="{74152814-1A43-4AD8-B0DE-2197CABB7379}">
      <dgm:prSet/>
      <dgm:spPr/>
      <dgm:t>
        <a:bodyPr/>
        <a:lstStyle/>
        <a:p>
          <a:endParaRPr lang="en-US"/>
        </a:p>
      </dgm:t>
    </dgm:pt>
    <dgm:pt modelId="{C7074B77-446B-46B9-B6E7-053849495CF1}" type="pres">
      <dgm:prSet presAssocID="{56F0F67C-CB55-428E-AECD-4A745EC14CD1}" presName="Name0" presStyleCnt="0">
        <dgm:presLayoutVars>
          <dgm:dir/>
          <dgm:resizeHandles val="exact"/>
        </dgm:presLayoutVars>
      </dgm:prSet>
      <dgm:spPr/>
    </dgm:pt>
    <dgm:pt modelId="{8091ED7E-D087-4FBB-B1C7-7AC3DC98A91E}" type="pres">
      <dgm:prSet presAssocID="{689832D4-5385-46E2-B16E-8F239AE7E695}" presName="node" presStyleLbl="node1" presStyleIdx="0" presStyleCnt="3">
        <dgm:presLayoutVars>
          <dgm:bulletEnabled val="1"/>
        </dgm:presLayoutVars>
      </dgm:prSet>
      <dgm:spPr/>
    </dgm:pt>
    <dgm:pt modelId="{073DFEC5-FA91-4BF5-B5E1-494C1376051B}" type="pres">
      <dgm:prSet presAssocID="{11CBA08E-D107-48C3-854F-52DDF559E82A}" presName="sibTrans" presStyleLbl="sibTrans2D1" presStyleIdx="0" presStyleCnt="2"/>
      <dgm:spPr/>
    </dgm:pt>
    <dgm:pt modelId="{677825BB-A157-41B9-BDDB-A3EC494E8B69}" type="pres">
      <dgm:prSet presAssocID="{11CBA08E-D107-48C3-854F-52DDF559E82A}" presName="connectorText" presStyleLbl="sibTrans2D1" presStyleIdx="0" presStyleCnt="2"/>
      <dgm:spPr/>
    </dgm:pt>
    <dgm:pt modelId="{78F03A55-E746-4BA3-B31F-1D6E3C4CF4C8}" type="pres">
      <dgm:prSet presAssocID="{DF273F89-46A9-4265-957B-EC49B3070CA5}" presName="node" presStyleLbl="node1" presStyleIdx="1" presStyleCnt="3">
        <dgm:presLayoutVars>
          <dgm:bulletEnabled val="1"/>
        </dgm:presLayoutVars>
      </dgm:prSet>
      <dgm:spPr/>
    </dgm:pt>
    <dgm:pt modelId="{F6286006-F5C9-4ABD-A7C8-A4DF07E33CA3}" type="pres">
      <dgm:prSet presAssocID="{7AC737BC-B38D-4A51-A0B9-4712F8564E40}" presName="sibTrans" presStyleLbl="sibTrans2D1" presStyleIdx="1" presStyleCnt="2"/>
      <dgm:spPr/>
    </dgm:pt>
    <dgm:pt modelId="{68D6CA0A-29A2-439E-8E85-500B5848437E}" type="pres">
      <dgm:prSet presAssocID="{7AC737BC-B38D-4A51-A0B9-4712F8564E40}" presName="connectorText" presStyleLbl="sibTrans2D1" presStyleIdx="1" presStyleCnt="2"/>
      <dgm:spPr/>
    </dgm:pt>
    <dgm:pt modelId="{697F2F6A-7092-4C09-9BA3-C287D32C1E16}" type="pres">
      <dgm:prSet presAssocID="{44F233E5-CB30-4E8A-9806-50BF9EC380E5}" presName="node" presStyleLbl="node1" presStyleIdx="2" presStyleCnt="3">
        <dgm:presLayoutVars>
          <dgm:bulletEnabled val="1"/>
        </dgm:presLayoutVars>
      </dgm:prSet>
      <dgm:spPr/>
    </dgm:pt>
  </dgm:ptLst>
  <dgm:cxnLst>
    <dgm:cxn modelId="{74152814-1A43-4AD8-B0DE-2197CABB7379}" srcId="{56F0F67C-CB55-428E-AECD-4A745EC14CD1}" destId="{44F233E5-CB30-4E8A-9806-50BF9EC380E5}" srcOrd="2" destOrd="0" parTransId="{86EB8376-F214-4491-96BF-0CE3DC00350C}" sibTransId="{4DB72E8B-6230-473B-898B-4F85F9B7474F}"/>
    <dgm:cxn modelId="{44EDE54C-7D75-4A45-8A68-3BCC398FC017}" srcId="{56F0F67C-CB55-428E-AECD-4A745EC14CD1}" destId="{689832D4-5385-46E2-B16E-8F239AE7E695}" srcOrd="0" destOrd="0" parTransId="{EDCD069C-CB44-4CC2-B847-E0CDDC16578C}" sibTransId="{11CBA08E-D107-48C3-854F-52DDF559E82A}"/>
    <dgm:cxn modelId="{C97A6C87-642D-4B45-BF0C-95AB6A04E618}" type="presOf" srcId="{689832D4-5385-46E2-B16E-8F239AE7E695}" destId="{8091ED7E-D087-4FBB-B1C7-7AC3DC98A91E}" srcOrd="0" destOrd="0" presId="urn:microsoft.com/office/officeart/2005/8/layout/process1"/>
    <dgm:cxn modelId="{061CBE93-58F6-4A91-923E-4C6FF8AF7B12}" type="presOf" srcId="{44F233E5-CB30-4E8A-9806-50BF9EC380E5}" destId="{697F2F6A-7092-4C09-9BA3-C287D32C1E16}" srcOrd="0" destOrd="0" presId="urn:microsoft.com/office/officeart/2005/8/layout/process1"/>
    <dgm:cxn modelId="{CD006095-11AD-41C0-A1DC-ADB48A3EDD4E}" type="presOf" srcId="{7AC737BC-B38D-4A51-A0B9-4712F8564E40}" destId="{68D6CA0A-29A2-439E-8E85-500B5848437E}" srcOrd="1" destOrd="0" presId="urn:microsoft.com/office/officeart/2005/8/layout/process1"/>
    <dgm:cxn modelId="{D8CEA4C3-0692-4318-9592-8D2B37482234}" type="presOf" srcId="{DF273F89-46A9-4265-957B-EC49B3070CA5}" destId="{78F03A55-E746-4BA3-B31F-1D6E3C4CF4C8}" srcOrd="0" destOrd="0" presId="urn:microsoft.com/office/officeart/2005/8/layout/process1"/>
    <dgm:cxn modelId="{9B627CCA-345B-4C0C-B0EB-6016EB31E4FF}" type="presOf" srcId="{11CBA08E-D107-48C3-854F-52DDF559E82A}" destId="{677825BB-A157-41B9-BDDB-A3EC494E8B69}" srcOrd="1" destOrd="0" presId="urn:microsoft.com/office/officeart/2005/8/layout/process1"/>
    <dgm:cxn modelId="{DC70B3CA-0BBF-468E-9EF9-F279682A158C}" type="presOf" srcId="{56F0F67C-CB55-428E-AECD-4A745EC14CD1}" destId="{C7074B77-446B-46B9-B6E7-053849495CF1}" srcOrd="0" destOrd="0" presId="urn:microsoft.com/office/officeart/2005/8/layout/process1"/>
    <dgm:cxn modelId="{60AA49EC-DD2D-4CEF-A7CF-630CE13388D7}" srcId="{56F0F67C-CB55-428E-AECD-4A745EC14CD1}" destId="{DF273F89-46A9-4265-957B-EC49B3070CA5}" srcOrd="1" destOrd="0" parTransId="{048EC0FC-39E1-4FD8-AFFE-3F60B000C620}" sibTransId="{7AC737BC-B38D-4A51-A0B9-4712F8564E40}"/>
    <dgm:cxn modelId="{99D334F1-CB09-4EE6-96D0-4BEFE9801E02}" type="presOf" srcId="{11CBA08E-D107-48C3-854F-52DDF559E82A}" destId="{073DFEC5-FA91-4BF5-B5E1-494C1376051B}" srcOrd="0" destOrd="0" presId="urn:microsoft.com/office/officeart/2005/8/layout/process1"/>
    <dgm:cxn modelId="{8B27DEF4-70B3-4E7A-A3B5-08B9152AF401}" type="presOf" srcId="{7AC737BC-B38D-4A51-A0B9-4712F8564E40}" destId="{F6286006-F5C9-4ABD-A7C8-A4DF07E33CA3}" srcOrd="0" destOrd="0" presId="urn:microsoft.com/office/officeart/2005/8/layout/process1"/>
    <dgm:cxn modelId="{334EE957-1B54-4DAA-B298-9AEB1742BFD9}" type="presParOf" srcId="{C7074B77-446B-46B9-B6E7-053849495CF1}" destId="{8091ED7E-D087-4FBB-B1C7-7AC3DC98A91E}" srcOrd="0" destOrd="0" presId="urn:microsoft.com/office/officeart/2005/8/layout/process1"/>
    <dgm:cxn modelId="{56F84B20-49E4-40ED-A89C-11F5761C41FC}" type="presParOf" srcId="{C7074B77-446B-46B9-B6E7-053849495CF1}" destId="{073DFEC5-FA91-4BF5-B5E1-494C1376051B}" srcOrd="1" destOrd="0" presId="urn:microsoft.com/office/officeart/2005/8/layout/process1"/>
    <dgm:cxn modelId="{29FD273A-4A63-4802-AED1-721B1CEB1065}" type="presParOf" srcId="{073DFEC5-FA91-4BF5-B5E1-494C1376051B}" destId="{677825BB-A157-41B9-BDDB-A3EC494E8B69}" srcOrd="0" destOrd="0" presId="urn:microsoft.com/office/officeart/2005/8/layout/process1"/>
    <dgm:cxn modelId="{144FA7CF-A31D-454A-BE38-FC53765988F6}" type="presParOf" srcId="{C7074B77-446B-46B9-B6E7-053849495CF1}" destId="{78F03A55-E746-4BA3-B31F-1D6E3C4CF4C8}" srcOrd="2" destOrd="0" presId="urn:microsoft.com/office/officeart/2005/8/layout/process1"/>
    <dgm:cxn modelId="{FD02E355-DDBD-45E2-9034-9F2AF4DE048C}" type="presParOf" srcId="{C7074B77-446B-46B9-B6E7-053849495CF1}" destId="{F6286006-F5C9-4ABD-A7C8-A4DF07E33CA3}" srcOrd="3" destOrd="0" presId="urn:microsoft.com/office/officeart/2005/8/layout/process1"/>
    <dgm:cxn modelId="{32180EA2-3074-45F2-A319-10B13531FCF7}" type="presParOf" srcId="{F6286006-F5C9-4ABD-A7C8-A4DF07E33CA3}" destId="{68D6CA0A-29A2-439E-8E85-500B5848437E}" srcOrd="0" destOrd="0" presId="urn:microsoft.com/office/officeart/2005/8/layout/process1"/>
    <dgm:cxn modelId="{8DA8590F-322E-4860-928D-C5CEEF6F4E6A}" type="presParOf" srcId="{C7074B77-446B-46B9-B6E7-053849495CF1}" destId="{697F2F6A-7092-4C09-9BA3-C287D32C1E1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F0F67C-CB55-428E-AECD-4A745EC14CD1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89832D4-5385-46E2-B16E-8F239AE7E695}">
      <dgm:prSet phldrT="[Text]" phldr="0" custT="1"/>
      <dgm:spPr>
        <a:solidFill>
          <a:srgbClr val="DCEAF7"/>
        </a:solidFill>
        <a:ln>
          <a:solidFill>
            <a:srgbClr val="DCEAF7"/>
          </a:solidFill>
        </a:ln>
      </dgm:spPr>
      <dgm:t>
        <a:bodyPr/>
        <a:lstStyle/>
        <a:p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Rule 1</a:t>
          </a:r>
        </a:p>
        <a:p>
          <a:r>
            <a:rPr lang="en-US" sz="2000" b="0" dirty="0">
              <a:latin typeface="Arial" panose="020B0604020202020204" pitchFamily="34" charset="0"/>
              <a:cs typeface="Arial" panose="020B0604020202020204" pitchFamily="34" charset="0"/>
            </a:rPr>
            <a:t>Input Preparation</a:t>
          </a:r>
        </a:p>
      </dgm:t>
    </dgm:pt>
    <dgm:pt modelId="{EDCD069C-CB44-4CC2-B847-E0CDDC16578C}" type="parTrans" cxnId="{44EDE54C-7D75-4A45-8A68-3BCC398FC01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CBA08E-D107-48C3-854F-52DDF559E82A}" type="sibTrans" cxnId="{44EDE54C-7D75-4A45-8A68-3BCC398FC017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273F89-46A9-4265-957B-EC49B3070CA5}">
      <dgm:prSet phldrT="[Text]" phldr="0" custT="1"/>
      <dgm:spPr>
        <a:solidFill>
          <a:srgbClr val="FFF4EC"/>
        </a:solidFill>
        <a:ln>
          <a:solidFill>
            <a:srgbClr val="FFF4EC"/>
          </a:solidFill>
        </a:ln>
      </dgm:spPr>
      <dgm:t>
        <a:bodyPr/>
        <a:lstStyle/>
        <a:p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Rule 2 </a:t>
          </a:r>
        </a:p>
        <a:p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0" dirty="0">
              <a:latin typeface="Arial" panose="020B0604020202020204" pitchFamily="34" charset="0"/>
              <a:cs typeface="Arial" panose="020B0604020202020204" pitchFamily="34" charset="0"/>
            </a:rPr>
            <a:t>Scoring with </a:t>
          </a:r>
          <a:r>
            <a:rPr lang="en-US" sz="1900" b="0" dirty="0" err="1">
              <a:latin typeface="Courier New" panose="02070309020205020404" pitchFamily="49" charset="0"/>
              <a:cs typeface="Courier New" panose="02070309020205020404" pitchFamily="49" charset="0"/>
            </a:rPr>
            <a:t>scoringutils</a:t>
          </a:r>
          <a:endParaRPr lang="en-US" sz="1900" b="0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048EC0FC-39E1-4FD8-AFFE-3F60B000C620}" type="parTrans" cxnId="{60AA49EC-DD2D-4CEF-A7CF-630CE13388D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C737BC-B38D-4A51-A0B9-4712F8564E40}" type="sibTrans" cxnId="{60AA49EC-DD2D-4CEF-A7CF-630CE13388D7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F233E5-CB30-4E8A-9806-50BF9EC380E5}">
      <dgm:prSet phldrT="[Text]" phldr="0" custT="1"/>
      <dgm:spPr>
        <a:solidFill>
          <a:srgbClr val="F0ECF8"/>
        </a:solidFill>
        <a:ln>
          <a:solidFill>
            <a:srgbClr val="F0ECF8"/>
          </a:solidFill>
        </a:ln>
      </dgm:spPr>
      <dgm:t>
        <a:bodyPr/>
        <a:lstStyle/>
        <a:p>
          <a:pPr>
            <a:spcAft>
              <a:spcPts val="1200"/>
            </a:spcAft>
          </a:pPr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Rule 3 </a:t>
          </a:r>
        </a:p>
        <a:p>
          <a:pPr>
            <a:spcAft>
              <a:spcPct val="35000"/>
            </a:spcAft>
          </a:pPr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0" dirty="0">
              <a:latin typeface="Arial" panose="020B0604020202020204" pitchFamily="34" charset="0"/>
              <a:cs typeface="Arial" panose="020B0604020202020204" pitchFamily="34" charset="0"/>
            </a:rPr>
            <a:t>Output table </a:t>
          </a:r>
        </a:p>
      </dgm:t>
    </dgm:pt>
    <dgm:pt modelId="{86EB8376-F214-4491-96BF-0CE3DC00350C}" type="parTrans" cxnId="{74152814-1A43-4AD8-B0DE-2197CABB737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B72E8B-6230-473B-898B-4F85F9B7474F}" type="sibTrans" cxnId="{74152814-1A43-4AD8-B0DE-2197CABB7379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42F472-DCD6-4F35-AAAC-0BD6023AAD78}">
      <dgm:prSet phldrT="[Text]" custT="1"/>
      <dgm:spPr>
        <a:solidFill>
          <a:srgbClr val="E8F4F8"/>
        </a:solidFill>
        <a:ln>
          <a:solidFill>
            <a:srgbClr val="E8F4F8"/>
          </a:solidFill>
        </a:ln>
      </dgm:spPr>
      <dgm:t>
        <a:bodyPr/>
        <a:lstStyle/>
        <a:p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Rule 4 </a:t>
          </a:r>
        </a:p>
        <a:p>
          <a:r>
            <a:rPr lang="en-US" sz="2000" b="0" dirty="0">
              <a:latin typeface="Arial" panose="020B0604020202020204" pitchFamily="34" charset="0"/>
              <a:cs typeface="Arial" panose="020B0604020202020204" pitchFamily="34" charset="0"/>
            </a:rPr>
            <a:t> Summary by horizon</a:t>
          </a:r>
        </a:p>
      </dgm:t>
    </dgm:pt>
    <dgm:pt modelId="{2A5C6540-1250-43DC-8F6A-5FC7AF3C7642}" type="parTrans" cxnId="{6B4C7619-6CD6-48B9-A487-6BA46D48F9B8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6B64DDE-E3BF-4A54-8346-FDCD56771AEE}" type="sibTrans" cxnId="{6B4C7619-6CD6-48B9-A487-6BA46D48F9B8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074B77-446B-46B9-B6E7-053849495CF1}" type="pres">
      <dgm:prSet presAssocID="{56F0F67C-CB55-428E-AECD-4A745EC14CD1}" presName="Name0" presStyleCnt="0">
        <dgm:presLayoutVars>
          <dgm:dir/>
          <dgm:resizeHandles val="exact"/>
        </dgm:presLayoutVars>
      </dgm:prSet>
      <dgm:spPr/>
    </dgm:pt>
    <dgm:pt modelId="{8091ED7E-D087-4FBB-B1C7-7AC3DC98A91E}" type="pres">
      <dgm:prSet presAssocID="{689832D4-5385-46E2-B16E-8F239AE7E695}" presName="node" presStyleLbl="node1" presStyleIdx="0" presStyleCnt="4">
        <dgm:presLayoutVars>
          <dgm:bulletEnabled val="1"/>
        </dgm:presLayoutVars>
      </dgm:prSet>
      <dgm:spPr/>
    </dgm:pt>
    <dgm:pt modelId="{073DFEC5-FA91-4BF5-B5E1-494C1376051B}" type="pres">
      <dgm:prSet presAssocID="{11CBA08E-D107-48C3-854F-52DDF559E82A}" presName="sibTrans" presStyleLbl="sibTrans2D1" presStyleIdx="0" presStyleCnt="3"/>
      <dgm:spPr/>
    </dgm:pt>
    <dgm:pt modelId="{677825BB-A157-41B9-BDDB-A3EC494E8B69}" type="pres">
      <dgm:prSet presAssocID="{11CBA08E-D107-48C3-854F-52DDF559E82A}" presName="connectorText" presStyleLbl="sibTrans2D1" presStyleIdx="0" presStyleCnt="3"/>
      <dgm:spPr/>
    </dgm:pt>
    <dgm:pt modelId="{78F03A55-E746-4BA3-B31F-1D6E3C4CF4C8}" type="pres">
      <dgm:prSet presAssocID="{DF273F89-46A9-4265-957B-EC49B3070CA5}" presName="node" presStyleLbl="node1" presStyleIdx="1" presStyleCnt="4">
        <dgm:presLayoutVars>
          <dgm:bulletEnabled val="1"/>
        </dgm:presLayoutVars>
      </dgm:prSet>
      <dgm:spPr/>
    </dgm:pt>
    <dgm:pt modelId="{F6286006-F5C9-4ABD-A7C8-A4DF07E33CA3}" type="pres">
      <dgm:prSet presAssocID="{7AC737BC-B38D-4A51-A0B9-4712F8564E40}" presName="sibTrans" presStyleLbl="sibTrans2D1" presStyleIdx="1" presStyleCnt="3"/>
      <dgm:spPr/>
    </dgm:pt>
    <dgm:pt modelId="{68D6CA0A-29A2-439E-8E85-500B5848437E}" type="pres">
      <dgm:prSet presAssocID="{7AC737BC-B38D-4A51-A0B9-4712F8564E40}" presName="connectorText" presStyleLbl="sibTrans2D1" presStyleIdx="1" presStyleCnt="3"/>
      <dgm:spPr/>
    </dgm:pt>
    <dgm:pt modelId="{697F2F6A-7092-4C09-9BA3-C287D32C1E16}" type="pres">
      <dgm:prSet presAssocID="{44F233E5-CB30-4E8A-9806-50BF9EC380E5}" presName="node" presStyleLbl="node1" presStyleIdx="2" presStyleCnt="4">
        <dgm:presLayoutVars>
          <dgm:bulletEnabled val="1"/>
        </dgm:presLayoutVars>
      </dgm:prSet>
      <dgm:spPr/>
    </dgm:pt>
    <dgm:pt modelId="{6F3187DC-089D-4644-AC34-62862B4DFCF8}" type="pres">
      <dgm:prSet presAssocID="{4DB72E8B-6230-473B-898B-4F85F9B7474F}" presName="sibTrans" presStyleLbl="sibTrans2D1" presStyleIdx="2" presStyleCnt="3"/>
      <dgm:spPr/>
    </dgm:pt>
    <dgm:pt modelId="{17226DD2-2B77-47BA-8E77-C8A9435375CB}" type="pres">
      <dgm:prSet presAssocID="{4DB72E8B-6230-473B-898B-4F85F9B7474F}" presName="connectorText" presStyleLbl="sibTrans2D1" presStyleIdx="2" presStyleCnt="3"/>
      <dgm:spPr/>
    </dgm:pt>
    <dgm:pt modelId="{670EBA63-B015-419C-A43A-831BDA8A7899}" type="pres">
      <dgm:prSet presAssocID="{3E42F472-DCD6-4F35-AAAC-0BD6023AAD78}" presName="node" presStyleLbl="node1" presStyleIdx="3" presStyleCnt="4">
        <dgm:presLayoutVars>
          <dgm:bulletEnabled val="1"/>
        </dgm:presLayoutVars>
      </dgm:prSet>
      <dgm:spPr/>
    </dgm:pt>
  </dgm:ptLst>
  <dgm:cxnLst>
    <dgm:cxn modelId="{74152814-1A43-4AD8-B0DE-2197CABB7379}" srcId="{56F0F67C-CB55-428E-AECD-4A745EC14CD1}" destId="{44F233E5-CB30-4E8A-9806-50BF9EC380E5}" srcOrd="2" destOrd="0" parTransId="{86EB8376-F214-4491-96BF-0CE3DC00350C}" sibTransId="{4DB72E8B-6230-473B-898B-4F85F9B7474F}"/>
    <dgm:cxn modelId="{6B4C7619-6CD6-48B9-A487-6BA46D48F9B8}" srcId="{56F0F67C-CB55-428E-AECD-4A745EC14CD1}" destId="{3E42F472-DCD6-4F35-AAAC-0BD6023AAD78}" srcOrd="3" destOrd="0" parTransId="{2A5C6540-1250-43DC-8F6A-5FC7AF3C7642}" sibTransId="{16B64DDE-E3BF-4A54-8346-FDCD56771AEE}"/>
    <dgm:cxn modelId="{44EDE54C-7D75-4A45-8A68-3BCC398FC017}" srcId="{56F0F67C-CB55-428E-AECD-4A745EC14CD1}" destId="{689832D4-5385-46E2-B16E-8F239AE7E695}" srcOrd="0" destOrd="0" parTransId="{EDCD069C-CB44-4CC2-B847-E0CDDC16578C}" sibTransId="{11CBA08E-D107-48C3-854F-52DDF559E82A}"/>
    <dgm:cxn modelId="{0C30B274-FD9F-4DA9-9BD0-F9372A067D71}" type="presOf" srcId="{4DB72E8B-6230-473B-898B-4F85F9B7474F}" destId="{6F3187DC-089D-4644-AC34-62862B4DFCF8}" srcOrd="0" destOrd="0" presId="urn:microsoft.com/office/officeart/2005/8/layout/process1"/>
    <dgm:cxn modelId="{C97A6C87-642D-4B45-BF0C-95AB6A04E618}" type="presOf" srcId="{689832D4-5385-46E2-B16E-8F239AE7E695}" destId="{8091ED7E-D087-4FBB-B1C7-7AC3DC98A91E}" srcOrd="0" destOrd="0" presId="urn:microsoft.com/office/officeart/2005/8/layout/process1"/>
    <dgm:cxn modelId="{061CBE93-58F6-4A91-923E-4C6FF8AF7B12}" type="presOf" srcId="{44F233E5-CB30-4E8A-9806-50BF9EC380E5}" destId="{697F2F6A-7092-4C09-9BA3-C287D32C1E16}" srcOrd="0" destOrd="0" presId="urn:microsoft.com/office/officeart/2005/8/layout/process1"/>
    <dgm:cxn modelId="{CD006095-11AD-41C0-A1DC-ADB48A3EDD4E}" type="presOf" srcId="{7AC737BC-B38D-4A51-A0B9-4712F8564E40}" destId="{68D6CA0A-29A2-439E-8E85-500B5848437E}" srcOrd="1" destOrd="0" presId="urn:microsoft.com/office/officeart/2005/8/layout/process1"/>
    <dgm:cxn modelId="{D8CEA4C3-0692-4318-9592-8D2B37482234}" type="presOf" srcId="{DF273F89-46A9-4265-957B-EC49B3070CA5}" destId="{78F03A55-E746-4BA3-B31F-1D6E3C4CF4C8}" srcOrd="0" destOrd="0" presId="urn:microsoft.com/office/officeart/2005/8/layout/process1"/>
    <dgm:cxn modelId="{9B627CCA-345B-4C0C-B0EB-6016EB31E4FF}" type="presOf" srcId="{11CBA08E-D107-48C3-854F-52DDF559E82A}" destId="{677825BB-A157-41B9-BDDB-A3EC494E8B69}" srcOrd="1" destOrd="0" presId="urn:microsoft.com/office/officeart/2005/8/layout/process1"/>
    <dgm:cxn modelId="{DC70B3CA-0BBF-468E-9EF9-F279682A158C}" type="presOf" srcId="{56F0F67C-CB55-428E-AECD-4A745EC14CD1}" destId="{C7074B77-446B-46B9-B6E7-053849495CF1}" srcOrd="0" destOrd="0" presId="urn:microsoft.com/office/officeart/2005/8/layout/process1"/>
    <dgm:cxn modelId="{387D54DB-80C2-4134-9E96-5595B7B07121}" type="presOf" srcId="{4DB72E8B-6230-473B-898B-4F85F9B7474F}" destId="{17226DD2-2B77-47BA-8E77-C8A9435375CB}" srcOrd="1" destOrd="0" presId="urn:microsoft.com/office/officeart/2005/8/layout/process1"/>
    <dgm:cxn modelId="{107B38E4-1689-442E-B7D3-4F1DFDE69470}" type="presOf" srcId="{3E42F472-DCD6-4F35-AAAC-0BD6023AAD78}" destId="{670EBA63-B015-419C-A43A-831BDA8A7899}" srcOrd="0" destOrd="0" presId="urn:microsoft.com/office/officeart/2005/8/layout/process1"/>
    <dgm:cxn modelId="{60AA49EC-DD2D-4CEF-A7CF-630CE13388D7}" srcId="{56F0F67C-CB55-428E-AECD-4A745EC14CD1}" destId="{DF273F89-46A9-4265-957B-EC49B3070CA5}" srcOrd="1" destOrd="0" parTransId="{048EC0FC-39E1-4FD8-AFFE-3F60B000C620}" sibTransId="{7AC737BC-B38D-4A51-A0B9-4712F8564E40}"/>
    <dgm:cxn modelId="{99D334F1-CB09-4EE6-96D0-4BEFE9801E02}" type="presOf" srcId="{11CBA08E-D107-48C3-854F-52DDF559E82A}" destId="{073DFEC5-FA91-4BF5-B5E1-494C1376051B}" srcOrd="0" destOrd="0" presId="urn:microsoft.com/office/officeart/2005/8/layout/process1"/>
    <dgm:cxn modelId="{8B27DEF4-70B3-4E7A-A3B5-08B9152AF401}" type="presOf" srcId="{7AC737BC-B38D-4A51-A0B9-4712F8564E40}" destId="{F6286006-F5C9-4ABD-A7C8-A4DF07E33CA3}" srcOrd="0" destOrd="0" presId="urn:microsoft.com/office/officeart/2005/8/layout/process1"/>
    <dgm:cxn modelId="{334EE957-1B54-4DAA-B298-9AEB1742BFD9}" type="presParOf" srcId="{C7074B77-446B-46B9-B6E7-053849495CF1}" destId="{8091ED7E-D087-4FBB-B1C7-7AC3DC98A91E}" srcOrd="0" destOrd="0" presId="urn:microsoft.com/office/officeart/2005/8/layout/process1"/>
    <dgm:cxn modelId="{56F84B20-49E4-40ED-A89C-11F5761C41FC}" type="presParOf" srcId="{C7074B77-446B-46B9-B6E7-053849495CF1}" destId="{073DFEC5-FA91-4BF5-B5E1-494C1376051B}" srcOrd="1" destOrd="0" presId="urn:microsoft.com/office/officeart/2005/8/layout/process1"/>
    <dgm:cxn modelId="{29FD273A-4A63-4802-AED1-721B1CEB1065}" type="presParOf" srcId="{073DFEC5-FA91-4BF5-B5E1-494C1376051B}" destId="{677825BB-A157-41B9-BDDB-A3EC494E8B69}" srcOrd="0" destOrd="0" presId="urn:microsoft.com/office/officeart/2005/8/layout/process1"/>
    <dgm:cxn modelId="{144FA7CF-A31D-454A-BE38-FC53765988F6}" type="presParOf" srcId="{C7074B77-446B-46B9-B6E7-053849495CF1}" destId="{78F03A55-E746-4BA3-B31F-1D6E3C4CF4C8}" srcOrd="2" destOrd="0" presId="urn:microsoft.com/office/officeart/2005/8/layout/process1"/>
    <dgm:cxn modelId="{FD02E355-DDBD-45E2-9034-9F2AF4DE048C}" type="presParOf" srcId="{C7074B77-446B-46B9-B6E7-053849495CF1}" destId="{F6286006-F5C9-4ABD-A7C8-A4DF07E33CA3}" srcOrd="3" destOrd="0" presId="urn:microsoft.com/office/officeart/2005/8/layout/process1"/>
    <dgm:cxn modelId="{32180EA2-3074-45F2-A319-10B13531FCF7}" type="presParOf" srcId="{F6286006-F5C9-4ABD-A7C8-A4DF07E33CA3}" destId="{68D6CA0A-29A2-439E-8E85-500B5848437E}" srcOrd="0" destOrd="0" presId="urn:microsoft.com/office/officeart/2005/8/layout/process1"/>
    <dgm:cxn modelId="{8DA8590F-322E-4860-928D-C5CEEF6F4E6A}" type="presParOf" srcId="{C7074B77-446B-46B9-B6E7-053849495CF1}" destId="{697F2F6A-7092-4C09-9BA3-C287D32C1E16}" srcOrd="4" destOrd="0" presId="urn:microsoft.com/office/officeart/2005/8/layout/process1"/>
    <dgm:cxn modelId="{6ACDA241-CADA-4838-A9D9-4251557FBFAF}" type="presParOf" srcId="{C7074B77-446B-46B9-B6E7-053849495CF1}" destId="{6F3187DC-089D-4644-AC34-62862B4DFCF8}" srcOrd="5" destOrd="0" presId="urn:microsoft.com/office/officeart/2005/8/layout/process1"/>
    <dgm:cxn modelId="{7339FFD0-D752-4951-80A3-556B93A48BDD}" type="presParOf" srcId="{6F3187DC-089D-4644-AC34-62862B4DFCF8}" destId="{17226DD2-2B77-47BA-8E77-C8A9435375CB}" srcOrd="0" destOrd="0" presId="urn:microsoft.com/office/officeart/2005/8/layout/process1"/>
    <dgm:cxn modelId="{6E797415-255C-452F-B65D-C42EDC9227A4}" type="presParOf" srcId="{C7074B77-446B-46B9-B6E7-053849495CF1}" destId="{670EBA63-B015-419C-A43A-831BDA8A789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1ED7E-D087-4FBB-B1C7-7AC3DC98A91E}">
      <dsp:nvSpPr>
        <dsp:cNvPr id="0" name=""/>
        <dsp:cNvSpPr/>
      </dsp:nvSpPr>
      <dsp:spPr>
        <a:xfrm>
          <a:off x="8192" y="790514"/>
          <a:ext cx="2448793" cy="1469275"/>
        </a:xfrm>
        <a:prstGeom prst="roundRect">
          <a:avLst>
            <a:gd name="adj" fmla="val 10000"/>
          </a:avLst>
        </a:prstGeom>
        <a:solidFill>
          <a:srgbClr val="DCEAF7"/>
        </a:solidFill>
        <a:ln w="19050" cap="flat" cmpd="sng" algn="ctr">
          <a:solidFill>
            <a:srgbClr val="DCEAF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Arial" panose="020B0604020202020204" pitchFamily="34" charset="0"/>
              <a:cs typeface="Arial" panose="020B0604020202020204" pitchFamily="34" charset="0"/>
            </a:rPr>
            <a:t>Prepare the Forecasts</a:t>
          </a:r>
        </a:p>
      </dsp:txBody>
      <dsp:txXfrm>
        <a:off x="51226" y="833548"/>
        <a:ext cx="2362725" cy="1383207"/>
      </dsp:txXfrm>
    </dsp:sp>
    <dsp:sp modelId="{073DFEC5-FA91-4BF5-B5E1-494C1376051B}">
      <dsp:nvSpPr>
        <dsp:cNvPr id="0" name=""/>
        <dsp:cNvSpPr/>
      </dsp:nvSpPr>
      <dsp:spPr>
        <a:xfrm>
          <a:off x="2701865" y="1221502"/>
          <a:ext cx="519144" cy="60730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2701865" y="1342962"/>
        <a:ext cx="363401" cy="364380"/>
      </dsp:txXfrm>
    </dsp:sp>
    <dsp:sp modelId="{78F03A55-E746-4BA3-B31F-1D6E3C4CF4C8}">
      <dsp:nvSpPr>
        <dsp:cNvPr id="0" name=""/>
        <dsp:cNvSpPr/>
      </dsp:nvSpPr>
      <dsp:spPr>
        <a:xfrm>
          <a:off x="3436503" y="790514"/>
          <a:ext cx="2448793" cy="1469275"/>
        </a:xfrm>
        <a:prstGeom prst="roundRect">
          <a:avLst>
            <a:gd name="adj" fmla="val 10000"/>
          </a:avLst>
        </a:prstGeom>
        <a:solidFill>
          <a:srgbClr val="FFF4EC"/>
        </a:solidFill>
        <a:ln w="19050" cap="flat" cmpd="sng" algn="ctr">
          <a:solidFill>
            <a:srgbClr val="FFF4E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Arial" panose="020B0604020202020204" pitchFamily="34" charset="0"/>
              <a:cs typeface="Arial" panose="020B0604020202020204" pitchFamily="34" charset="0"/>
            </a:rPr>
            <a:t>‘Score’ the Forecasts</a:t>
          </a:r>
        </a:p>
      </dsp:txBody>
      <dsp:txXfrm>
        <a:off x="3479537" y="833548"/>
        <a:ext cx="2362725" cy="1383207"/>
      </dsp:txXfrm>
    </dsp:sp>
    <dsp:sp modelId="{F6286006-F5C9-4ABD-A7C8-A4DF07E33CA3}">
      <dsp:nvSpPr>
        <dsp:cNvPr id="0" name=""/>
        <dsp:cNvSpPr/>
      </dsp:nvSpPr>
      <dsp:spPr>
        <a:xfrm>
          <a:off x="6130175" y="1221502"/>
          <a:ext cx="519144" cy="60730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130175" y="1342962"/>
        <a:ext cx="363401" cy="364380"/>
      </dsp:txXfrm>
    </dsp:sp>
    <dsp:sp modelId="{697F2F6A-7092-4C09-9BA3-C287D32C1E16}">
      <dsp:nvSpPr>
        <dsp:cNvPr id="0" name=""/>
        <dsp:cNvSpPr/>
      </dsp:nvSpPr>
      <dsp:spPr>
        <a:xfrm>
          <a:off x="6864813" y="790514"/>
          <a:ext cx="2448793" cy="1469275"/>
        </a:xfrm>
        <a:prstGeom prst="roundRect">
          <a:avLst>
            <a:gd name="adj" fmla="val 10000"/>
          </a:avLst>
        </a:prstGeom>
        <a:solidFill>
          <a:srgbClr val="F0ECF8"/>
        </a:solidFill>
        <a:ln w="19050" cap="flat" cmpd="sng" algn="ctr">
          <a:solidFill>
            <a:srgbClr val="F0ECF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Arial" panose="020B0604020202020204" pitchFamily="34" charset="0"/>
              <a:cs typeface="Arial" panose="020B0604020202020204" pitchFamily="34" charset="0"/>
            </a:rPr>
            <a:t>Summarize the Results</a:t>
          </a:r>
        </a:p>
      </dsp:txBody>
      <dsp:txXfrm>
        <a:off x="6907847" y="833548"/>
        <a:ext cx="2362725" cy="13832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1ED7E-D087-4FBB-B1C7-7AC3DC98A91E}">
      <dsp:nvSpPr>
        <dsp:cNvPr id="0" name=""/>
        <dsp:cNvSpPr/>
      </dsp:nvSpPr>
      <dsp:spPr>
        <a:xfrm>
          <a:off x="4535" y="612648"/>
          <a:ext cx="1983221" cy="1189932"/>
        </a:xfrm>
        <a:prstGeom prst="roundRect">
          <a:avLst>
            <a:gd name="adj" fmla="val 10000"/>
          </a:avLst>
        </a:prstGeom>
        <a:solidFill>
          <a:srgbClr val="DCEAF7"/>
        </a:solidFill>
        <a:ln w="19050" cap="flat" cmpd="sng" algn="ctr">
          <a:solidFill>
            <a:srgbClr val="DCEAF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Rule 1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" panose="020B0604020202020204" pitchFamily="34" charset="0"/>
              <a:cs typeface="Arial" panose="020B0604020202020204" pitchFamily="34" charset="0"/>
            </a:rPr>
            <a:t>Input Preparation</a:t>
          </a:r>
        </a:p>
      </dsp:txBody>
      <dsp:txXfrm>
        <a:off x="39387" y="647500"/>
        <a:ext cx="1913517" cy="1120228"/>
      </dsp:txXfrm>
    </dsp:sp>
    <dsp:sp modelId="{073DFEC5-FA91-4BF5-B5E1-494C1376051B}">
      <dsp:nvSpPr>
        <dsp:cNvPr id="0" name=""/>
        <dsp:cNvSpPr/>
      </dsp:nvSpPr>
      <dsp:spPr>
        <a:xfrm>
          <a:off x="2186079" y="961695"/>
          <a:ext cx="420442" cy="49183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86079" y="1060063"/>
        <a:ext cx="294309" cy="295102"/>
      </dsp:txXfrm>
    </dsp:sp>
    <dsp:sp modelId="{78F03A55-E746-4BA3-B31F-1D6E3C4CF4C8}">
      <dsp:nvSpPr>
        <dsp:cNvPr id="0" name=""/>
        <dsp:cNvSpPr/>
      </dsp:nvSpPr>
      <dsp:spPr>
        <a:xfrm>
          <a:off x="2781045" y="612648"/>
          <a:ext cx="1983221" cy="1189932"/>
        </a:xfrm>
        <a:prstGeom prst="roundRect">
          <a:avLst>
            <a:gd name="adj" fmla="val 10000"/>
          </a:avLst>
        </a:prstGeom>
        <a:solidFill>
          <a:srgbClr val="FFF4EC"/>
        </a:solidFill>
        <a:ln w="19050" cap="flat" cmpd="sng" algn="ctr">
          <a:solidFill>
            <a:srgbClr val="FFF4E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Rule 2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0" kern="1200" dirty="0">
              <a:latin typeface="Arial" panose="020B0604020202020204" pitchFamily="34" charset="0"/>
              <a:cs typeface="Arial" panose="020B0604020202020204" pitchFamily="34" charset="0"/>
            </a:rPr>
            <a:t>Scoring with </a:t>
          </a:r>
          <a:r>
            <a:rPr lang="en-US" sz="1900" b="0" kern="1200" dirty="0" err="1">
              <a:latin typeface="Courier New" panose="02070309020205020404" pitchFamily="49" charset="0"/>
              <a:cs typeface="Courier New" panose="02070309020205020404" pitchFamily="49" charset="0"/>
            </a:rPr>
            <a:t>scoringutils</a:t>
          </a:r>
          <a:endParaRPr lang="en-US" sz="1900" b="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2815897" y="647500"/>
        <a:ext cx="1913517" cy="1120228"/>
      </dsp:txXfrm>
    </dsp:sp>
    <dsp:sp modelId="{F6286006-F5C9-4ABD-A7C8-A4DF07E33CA3}">
      <dsp:nvSpPr>
        <dsp:cNvPr id="0" name=""/>
        <dsp:cNvSpPr/>
      </dsp:nvSpPr>
      <dsp:spPr>
        <a:xfrm>
          <a:off x="4962589" y="961695"/>
          <a:ext cx="420442" cy="49183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62589" y="1060063"/>
        <a:ext cx="294309" cy="295102"/>
      </dsp:txXfrm>
    </dsp:sp>
    <dsp:sp modelId="{697F2F6A-7092-4C09-9BA3-C287D32C1E16}">
      <dsp:nvSpPr>
        <dsp:cNvPr id="0" name=""/>
        <dsp:cNvSpPr/>
      </dsp:nvSpPr>
      <dsp:spPr>
        <a:xfrm>
          <a:off x="5557555" y="612648"/>
          <a:ext cx="1983221" cy="1189932"/>
        </a:xfrm>
        <a:prstGeom prst="roundRect">
          <a:avLst>
            <a:gd name="adj" fmla="val 10000"/>
          </a:avLst>
        </a:prstGeom>
        <a:solidFill>
          <a:srgbClr val="F0ECF8"/>
        </a:solidFill>
        <a:ln w="19050" cap="flat" cmpd="sng" algn="ctr">
          <a:solidFill>
            <a:srgbClr val="F0ECF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12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Rule 3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0" kern="1200" dirty="0">
              <a:latin typeface="Arial" panose="020B0604020202020204" pitchFamily="34" charset="0"/>
              <a:cs typeface="Arial" panose="020B0604020202020204" pitchFamily="34" charset="0"/>
            </a:rPr>
            <a:t>Output table </a:t>
          </a:r>
        </a:p>
      </dsp:txBody>
      <dsp:txXfrm>
        <a:off x="5592407" y="647500"/>
        <a:ext cx="1913517" cy="1120228"/>
      </dsp:txXfrm>
    </dsp:sp>
    <dsp:sp modelId="{6F3187DC-089D-4644-AC34-62862B4DFCF8}">
      <dsp:nvSpPr>
        <dsp:cNvPr id="0" name=""/>
        <dsp:cNvSpPr/>
      </dsp:nvSpPr>
      <dsp:spPr>
        <a:xfrm>
          <a:off x="7739099" y="961695"/>
          <a:ext cx="420442" cy="49183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739099" y="1060063"/>
        <a:ext cx="294309" cy="295102"/>
      </dsp:txXfrm>
    </dsp:sp>
    <dsp:sp modelId="{670EBA63-B015-419C-A43A-831BDA8A7899}">
      <dsp:nvSpPr>
        <dsp:cNvPr id="0" name=""/>
        <dsp:cNvSpPr/>
      </dsp:nvSpPr>
      <dsp:spPr>
        <a:xfrm>
          <a:off x="8334065" y="612648"/>
          <a:ext cx="1983221" cy="1189932"/>
        </a:xfrm>
        <a:prstGeom prst="roundRect">
          <a:avLst>
            <a:gd name="adj" fmla="val 10000"/>
          </a:avLst>
        </a:prstGeom>
        <a:solidFill>
          <a:srgbClr val="E8F4F8"/>
        </a:solidFill>
        <a:ln w="19050" cap="flat" cmpd="sng" algn="ctr">
          <a:solidFill>
            <a:srgbClr val="E8F4F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Rule 4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" panose="020B0604020202020204" pitchFamily="34" charset="0"/>
              <a:cs typeface="Arial" panose="020B0604020202020204" pitchFamily="34" charset="0"/>
            </a:rPr>
            <a:t> Summary by horizon</a:t>
          </a:r>
        </a:p>
      </dsp:txBody>
      <dsp:txXfrm>
        <a:off x="8368917" y="647500"/>
        <a:ext cx="1913517" cy="1120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C271D-C9EE-4B4D-8644-60B1A4C3A5E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34952-62EA-425F-AB7E-6176509C9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8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FF89-7C27-50AA-441C-F59B2572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7DD59-76F5-730B-E689-371561C0E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3EFF-722C-7A1B-75C3-5A52FD15A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7BAB4-EA8A-1015-3FDF-2B2C59D58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413E-B74C-39CC-A72E-7831F742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26EA-727A-970E-133A-F6B2AE7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7EABB-B541-36A6-E49A-C571F1AC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1D26-A705-542C-97B4-249BF6C46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51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6DAB-09CD-204F-9BD5-CF9C2132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47A4B-2330-76DE-76EE-F58F694F2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C8372-542B-D1E9-2107-990FD6772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Provide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4AEDD-45DF-40B4-69C4-49FA724B3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51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B75FD-7E5C-72B1-0CD9-258A1D5D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37A14-E9EE-F28E-8EEA-E4E9C8773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98E96-449B-886E-94AE-4A7845CC3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4A66AC"/>
              </a:buClr>
              <a:buSzPct val="100000"/>
              <a:buFont typeface="Courier New" panose="02070309020205020404" pitchFamily="49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04B8D-4B2D-6C41-6B02-06D81B524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AA50D-1954-4E07-B31A-F11C899FC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53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D2A19-D3D7-0E4C-13FB-93BB501A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6FB6C-CEC5-BF7E-B45D-77991414B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BA0F5-A497-7C5E-93EB-FC6F07298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4A66AC"/>
              </a:buClr>
              <a:buSzPct val="100000"/>
              <a:buFont typeface="Courier New" panose="02070309020205020404" pitchFamily="49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89ADD-0667-1BB1-28F9-219F2D859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AA50D-1954-4E07-B31A-F11C899FC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01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0AEF1-C001-4424-A118-FA9FF27CDD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65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52E32-A0DA-3931-30FD-00ECDD52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41FAB-E44E-1FCF-06D3-BBC1E31E6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6E015-4D6C-89EF-B427-D9382BFFD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4A66AC"/>
              </a:buClr>
              <a:buSzPct val="100000"/>
              <a:buFont typeface="Courier New" panose="02070309020205020404" pitchFamily="49" charset="0"/>
              <a:buNone/>
              <a:tabLst/>
              <a:defRPr/>
            </a:pPr>
            <a:r>
              <a:rPr lang="en-US" dirty="0"/>
              <a:t>https://epiforecasts.io/scoringutils/articles/scoring-rules.html?q=interval%20scores#weighted-interval-score-wis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8BEAA-5693-C281-1AEC-5FB238D27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AA50D-1954-4E07-B31A-F11C899FC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83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FB2B-88A4-DF6A-3AE6-EE7629AA8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F0FF9-43A0-5403-472A-0F8254FF2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9904D-3E80-5204-6D21-589968595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4A66AC"/>
              </a:buClr>
              <a:buSzPct val="100000"/>
              <a:buFont typeface="Courier New" panose="02070309020205020404" pitchFamily="49" charset="0"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Quantiles are assumed to be the lower and upper bounds of prediction interval symmetric around the median.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41243-4C06-DE5A-DB84-8A7B4F842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AA50D-1954-4E07-B31A-F11C899FC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24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87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# Forecast Evaluation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Save all code in this section to `output/scripts/04_evaluation.R`. If the folder</a:t>
            </a:r>
          </a:p>
          <a:p>
            <a:r>
              <a:rPr lang="en-US" dirty="0"/>
              <a:t>path is not present, create it before saving the script.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Use the </a:t>
            </a:r>
            <a:r>
              <a:rPr lang="en-US" b="1" dirty="0"/>
              <a:t>**</a:t>
            </a:r>
            <a:r>
              <a:rPr lang="en-US" b="1" dirty="0" err="1"/>
              <a:t>scoringutils</a:t>
            </a:r>
            <a:r>
              <a:rPr lang="en-US" b="1" dirty="0"/>
              <a:t>**</a:t>
            </a:r>
            <a:r>
              <a:rPr lang="en-US" dirty="0"/>
              <a:t> package to compute the metrics — do not hand-code the scoring</a:t>
            </a:r>
          </a:p>
          <a:p>
            <a:r>
              <a:rPr lang="en-US" dirty="0"/>
              <a:t>formulas.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7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1. Input Data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the forecasts from `output/data/03_forecast/flusight_forecasts.csv` (the</a:t>
            </a: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FluSight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 format: one row per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`horizon`, and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output_type_id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quantile). Read the observed truth from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`output/data/01_cleaning/cleaned_flu_admissions.csv` (`week`, `location`,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`value`).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40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 each forecast row to the observed truth by matching the forecast's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target_end_date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to the observed `week` (both are US, weekly). Keep only the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reference-date/horizon combinations whose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target_end_date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has an observed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— the 2- and 3-week-ahead targets that fall beyond the last observed week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 be scored and are dropped. Note in a message how many combinations were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dropped for lack of an observed target.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74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6F5C-9A18-DBC1-81C5-3CB01FC2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83D07-C4CC-5E06-8AAE-123D981C8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F9FF9-9026-5AF8-D6B6-206A8CAE9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AF7D4-D757-E084-2C57-FD32BD18D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35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2. Scoring with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scoringutils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Shape the joined data into the long quantile format that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scoringutils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expects,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renaming columns to its conventions: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output_type_id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→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quantile_level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`value` → `predicted`, and the joined truth → `observed`. Add a constant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`model` column (e.g. `"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"`).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05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the forecast object with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scoringutils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as_forecast_quantile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()`, setting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forecast unit to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`horizon`,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target_end_date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`location`,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`model` so each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× `horizon` is scored as its own forecast.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call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scoringutils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::score()` on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76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scored output, take the metrics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FluSight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reports: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**WIS**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`wis` column returned by `score()`.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**MAE**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ae_median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column (absolute error of the median forecast).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**95% PI coverage**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95% interval-coverage metric. If `score()`'s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defaults do not already include it, add it via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scoringutils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interval-coverage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metric at the 95% range (e.g. supply a custom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interval_coverage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metric with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the interval range set to 95).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6F5C-9A18-DBC1-81C5-3CB01FC2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83D07-C4CC-5E06-8AAE-123D981C8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F9FF9-9026-5AF8-D6B6-206A8CAE9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AF7D4-D757-E084-2C57-FD32BD18D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35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3. Output Table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one row per scored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× `horizon` with these columns in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order: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`horizon`,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target_end_date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`observed`, `WIS`,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`MAE`, `coverage_95`. Sort ascending by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reference_date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then `horizon`. Round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`WIS` and `MAE` to one decimal.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 the table to the console and write it to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`output/data/04_evaluation/forecast_scores.csv` (create the folder if absent).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97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CDB1A-314E-6F61-7583-CBB39BED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97FBF-42DE-B1AF-D179-F44E4251A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546D6-AB33-7015-B705-1BAC2192C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189DC-4A86-7D08-76A6-646D06E4F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62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4. Summary by Horizon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 the per-reference-date scores across all reference dates, grouped by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`horizon`, to show how forecast skill changes with lead time. For each horizon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(`1`, `2`, `3`), compute over that horizon's scored reference dates: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**mean**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`WIS`, `MAE`, and `coverage_95` (the mean of the 0/1 coverage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is the empirical 95% coverage rate), and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**range**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(minimum and maximum) of `WIS` and `MAE`.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Assemble one row per horizon with these columns in order: `horizon`, `n`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(number of scored reference dates),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WIS_mean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WIS_min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WIS_max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MAE_mean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MAE_min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MAE_max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`coverage_95_mean`. Sort ascending by `horizon`. Round the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`WIS_*` and `MAE_*` columns to one decimal and `coverage_95_mean` to two.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 this table to the console and write it to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`output/data/04_evaluation/forecast_scores_by_horizon.csv`.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989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A4B5F-D17F-EF4F-F088-E75F09F5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E98D6-8F77-80AD-C475-8B0E6C16A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5021C-754C-1789-6F2C-D89EEDBA5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09E33-B412-AEB2-34EC-44E016A2C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9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9001-81E0-AC7E-3C88-5330E3726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C6456-F515-6B01-BFD8-B5B6B0052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BD0F0-D63A-367E-4891-2FBFAEF7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2C8DD-2E90-93BE-2D64-F203A785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5B236-27E4-7D2B-3837-58A7BE75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9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2FFF-D5D3-75AD-8791-925729F5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60917-1471-0453-8036-C53858041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4D16C-FA38-49F2-7215-1CA96061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3439C-BFF3-8DE9-6001-25EB24D5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76AA0-29C4-04C7-13B1-56FB2165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5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3F6B-7167-4A05-0218-EB2091FF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8CDA7-FE4B-441F-F293-25548C3E3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35D5C-0F3C-82DA-99F2-C457B166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9940-C954-97E6-4D36-2AB60E5C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4522C-0925-46C2-DA28-1D2810D8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3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17E2-DB1E-88E3-E952-ABE72239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1DB26-070D-1A02-C7B3-95D4BD448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3DA82-E805-EB9F-51E4-218E2BC98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EFBBD-DAA7-29F6-DE24-7487CBC0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988F8-C3CA-57B3-67AA-0D34E5D1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CD254-B22B-565D-46B7-55A953AC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D2EA-C443-E9EB-9BE6-069D14AE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E0B85-35A1-5CFE-4446-F7AE83B20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FFD68-86B3-6CDA-0E06-A8D2A22AE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931DB-57DF-414C-8071-0CD6E8450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75460-7070-B219-F9AF-22AC81B0A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00D214-55F1-6A5E-FB5F-1B6BD6D0E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5EA46-CFA7-B1A4-45B2-4D0A6A702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65FFE6-2500-F7D2-B340-39DC39C8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8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148F-DF72-0B37-1639-2BF96FFD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0BBFE-78C7-0A22-4434-C7BB003F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CDCE0-37A6-20FF-00B3-17F3EC69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9FD68-5B1D-F434-161C-6CA55C8D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2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298D6-C284-DAEF-D3AF-4DC8A79C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4B806-FBD6-D78B-28D6-DB18EF39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9884F-FE0C-D609-A416-4A2A0A31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4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F4F0-88BC-7943-90EE-1DA0738CF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1A2C-3187-252F-037F-BB1608AD4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31476-3CCF-7DBE-CC60-50D463C25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B2930-D8C4-DF41-E8E6-590269D3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E63F7-9BC0-9A52-83F2-E4003B45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2FF06-C366-FBB2-6DFC-870D982A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7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6575-2D01-D409-69A6-E03F0BD9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08C87-6663-D095-F361-6ABAF2D9C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E8106-00F1-50AC-47F0-F6A2B94E8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5AF5A-71E1-29DC-B5FF-FE4B092D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60959-E2D8-404F-3856-FAD498E1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EADF4-4023-EAD7-2B32-0E07793D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84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48F4-7B51-B6D4-2809-B5437A31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0966A-D93D-6DB3-2785-7044B6EBF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FB7EA-7CA7-A492-5D67-C5A6E38ED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C6F76-F842-B7EC-4453-1D7FCFA4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10F3-7665-2FE7-2090-4C3E1BC0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9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AFAE8-CDBA-DCA6-2FDA-EB2D00763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387DD-CF63-2B4D-CB13-BE9CB69FD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87D38-0102-F986-7858-06D9A591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289AD-6ABF-5FBA-8733-CFC9EF51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4E614-64B6-3423-3AD1-3E5CEDE4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7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572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EA528-B7C4-8159-64AE-DF2099887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02E0-41FE-1804-9C63-E4C130821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82705-FB1F-CB86-E8A5-DBFFB749A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14E10-84DD-4EBA-83F9-B953F371CC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2B9E2-746A-0F39-EEBB-84BDB2AB4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D1694-2ECC-8E7F-7F6F-EB58EB2C7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0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04: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 – 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F726-9E5F-AB57-6346-7512C1C4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CF0019-CF23-77D6-BD88-212E5205DAB5}"/>
              </a:ext>
            </a:extLst>
          </p:cNvPr>
          <p:cNvSpPr/>
          <p:nvPr/>
        </p:nvSpPr>
        <p:spPr>
          <a:xfrm>
            <a:off x="3490452" y="1808306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EA35B4-F3D9-B1C0-0C84-8C0BA15E8932}"/>
              </a:ext>
            </a:extLst>
          </p:cNvPr>
          <p:cNvSpPr/>
          <p:nvPr/>
        </p:nvSpPr>
        <p:spPr>
          <a:xfrm>
            <a:off x="914400" y="241088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Housekeeping</a:t>
            </a:r>
            <a:endParaRPr lang="en-US" sz="4267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F562BAD3-807E-90DC-48DF-6ED89758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83" y="4210588"/>
            <a:ext cx="2111552" cy="2111552"/>
          </a:xfrm>
          <a:prstGeom prst="rect">
            <a:avLst/>
          </a:prstGeom>
        </p:spPr>
      </p:pic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62747D9E-0CD4-F48E-D4EB-111C3643B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068" y="1682967"/>
            <a:ext cx="2182761" cy="2182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345B43-4698-0CF1-9CCC-C922B37C6628}"/>
              </a:ext>
            </a:extLst>
          </p:cNvPr>
          <p:cNvSpPr txBox="1"/>
          <p:nvPr/>
        </p:nvSpPr>
        <p:spPr>
          <a:xfrm>
            <a:off x="3702112" y="1921584"/>
            <a:ext cx="78055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Any slide with this icon contains the </a:t>
            </a:r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expected outputs</a:t>
            </a: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 for the activity. All outputs listed in </a:t>
            </a:r>
          </a:p>
          <a:p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the tables on these slides should be uploaded to the </a:t>
            </a:r>
          </a:p>
          <a:p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course GitHub repository for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FD0BD9-3A02-3B90-E88E-E7D65070D184}"/>
              </a:ext>
            </a:extLst>
          </p:cNvPr>
          <p:cNvSpPr/>
          <p:nvPr/>
        </p:nvSpPr>
        <p:spPr>
          <a:xfrm>
            <a:off x="3490452" y="4325570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6E982-51E2-2726-1C8C-4712524F1BCB}"/>
              </a:ext>
            </a:extLst>
          </p:cNvPr>
          <p:cNvSpPr txBox="1"/>
          <p:nvPr/>
        </p:nvSpPr>
        <p:spPr>
          <a:xfrm>
            <a:off x="3702111" y="4414058"/>
            <a:ext cx="75737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Any slide with this icon indicates that it is </a:t>
            </a:r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time to complete a hands-on activity</a:t>
            </a: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. Carefully follow the instructions provided, complete the required task, and verify your results. </a:t>
            </a:r>
          </a:p>
        </p:txBody>
      </p:sp>
    </p:spTree>
    <p:extLst>
      <p:ext uri="{BB962C8B-B14F-4D97-AF65-F5344CB8AC3E}">
        <p14:creationId xmlns:p14="http://schemas.microsoft.com/office/powerpoint/2010/main" val="183337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/>
      <p:bldP spid="15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B55-68AE-8821-5B95-140FD9B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33">
            <a:extLst>
              <a:ext uri="{FF2B5EF4-FFF2-40B4-BE49-F238E27FC236}">
                <a16:creationId xmlns:a16="http://schemas.microsoft.com/office/drawing/2014/main" id="{457AC859-6DCC-BE97-86ED-E048D25F6114}"/>
              </a:ext>
            </a:extLst>
          </p:cNvPr>
          <p:cNvSpPr/>
          <p:nvPr/>
        </p:nvSpPr>
        <p:spPr>
          <a:xfrm>
            <a:off x="9688079" y="1823563"/>
            <a:ext cx="0" cy="24384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907A02-70CC-B6B4-834F-E13C5C0C9F64}"/>
              </a:ext>
            </a:extLst>
          </p:cNvPr>
          <p:cNvSpPr/>
          <p:nvPr/>
        </p:nvSpPr>
        <p:spPr>
          <a:xfrm>
            <a:off x="1549204" y="2164732"/>
            <a:ext cx="9144000" cy="145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890016" y="28041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Timeline</a:t>
            </a:r>
            <a:endParaRPr lang="en-US" sz="4267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D24C60-8CD2-2C8E-9716-09CAE25048C8}"/>
              </a:ext>
            </a:extLst>
          </p:cNvPr>
          <p:cNvSpPr/>
          <p:nvPr/>
        </p:nvSpPr>
        <p:spPr>
          <a:xfrm>
            <a:off x="2383304" y="2023937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19A4B9F-A65A-1733-6D2E-588A119EA19C}"/>
              </a:ext>
            </a:extLst>
          </p:cNvPr>
          <p:cNvSpPr/>
          <p:nvPr/>
        </p:nvSpPr>
        <p:spPr>
          <a:xfrm>
            <a:off x="4737916" y="2009620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E1455AB2-15A8-F5AE-5130-665283EA9BD5}"/>
              </a:ext>
            </a:extLst>
          </p:cNvPr>
          <p:cNvSpPr/>
          <p:nvPr/>
        </p:nvSpPr>
        <p:spPr>
          <a:xfrm>
            <a:off x="7068148" y="2007143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A9364971-3E90-46A2-2ED2-FDEF5AE837CB}"/>
              </a:ext>
            </a:extLst>
          </p:cNvPr>
          <p:cNvSpPr/>
          <p:nvPr/>
        </p:nvSpPr>
        <p:spPr>
          <a:xfrm>
            <a:off x="9447140" y="2017429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0CC4D98A-E089-7C28-0A6C-876F927952EC}"/>
              </a:ext>
            </a:extLst>
          </p:cNvPr>
          <p:cNvSpPr/>
          <p:nvPr/>
        </p:nvSpPr>
        <p:spPr>
          <a:xfrm>
            <a:off x="9117766" y="1486726"/>
            <a:ext cx="1243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FF6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are here</a:t>
            </a:r>
            <a:endParaRPr 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6B49BA8-C354-79A2-945B-978B75512156}"/>
              </a:ext>
            </a:extLst>
          </p:cNvPr>
          <p:cNvSpPr/>
          <p:nvPr/>
        </p:nvSpPr>
        <p:spPr>
          <a:xfrm>
            <a:off x="1603016" y="2714849"/>
            <a:ext cx="2011680" cy="2348421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B31A114-939A-4179-1E5F-E2DC4AD5E50B}"/>
              </a:ext>
            </a:extLst>
          </p:cNvPr>
          <p:cNvSpPr/>
          <p:nvPr/>
        </p:nvSpPr>
        <p:spPr>
          <a:xfrm>
            <a:off x="1700552" y="27947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1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B6F49E5-F2BC-E24D-9EAF-6832B079F7E6}"/>
              </a:ext>
            </a:extLst>
          </p:cNvPr>
          <p:cNvSpPr/>
          <p:nvPr/>
        </p:nvSpPr>
        <p:spPr>
          <a:xfrm>
            <a:off x="1700552" y="3251517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 &amp;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Visuals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C3B5751-C997-DA00-49B7-6D30F54EF177}"/>
              </a:ext>
            </a:extLst>
          </p:cNvPr>
          <p:cNvSpPr/>
          <p:nvPr/>
        </p:nvSpPr>
        <p:spPr>
          <a:xfrm>
            <a:off x="1681053" y="3751235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21E81B3-7C7B-AFF3-2CD7-D838E99DBDB8}"/>
              </a:ext>
            </a:extLst>
          </p:cNvPr>
          <p:cNvSpPr/>
          <p:nvPr/>
        </p:nvSpPr>
        <p:spPr>
          <a:xfrm>
            <a:off x="3957628" y="2714849"/>
            <a:ext cx="2011680" cy="2348421"/>
          </a:xfrm>
          <a:prstGeom prst="rect">
            <a:avLst/>
          </a:prstGeom>
          <a:solidFill>
            <a:srgbClr val="DCEAF7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BC8BA95-75D2-7609-33F3-36316F5BAD5E}"/>
              </a:ext>
            </a:extLst>
          </p:cNvPr>
          <p:cNvSpPr/>
          <p:nvPr/>
        </p:nvSpPr>
        <p:spPr>
          <a:xfrm>
            <a:off x="4055164" y="28143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467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CE34AAD-E68C-14CB-418A-0DC41D057032}"/>
              </a:ext>
            </a:extLst>
          </p:cNvPr>
          <p:cNvSpPr/>
          <p:nvPr/>
        </p:nvSpPr>
        <p:spPr>
          <a:xfrm>
            <a:off x="4055164" y="320253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D335F5-09E1-FAFB-3E6E-7C6C53666821}"/>
              </a:ext>
            </a:extLst>
          </p:cNvPr>
          <p:cNvSpPr/>
          <p:nvPr/>
        </p:nvSpPr>
        <p:spPr>
          <a:xfrm>
            <a:off x="4055164" y="373066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B19830D-A4CA-FDF7-0E67-B7080F99E228}"/>
              </a:ext>
            </a:extLst>
          </p:cNvPr>
          <p:cNvSpPr/>
          <p:nvPr/>
        </p:nvSpPr>
        <p:spPr>
          <a:xfrm>
            <a:off x="6312240" y="2714849"/>
            <a:ext cx="2011680" cy="2348421"/>
          </a:xfrm>
          <a:prstGeom prst="rect">
            <a:avLst/>
          </a:prstGeom>
          <a:solidFill>
            <a:srgbClr val="F0EC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024C291-1FB2-2AB6-8B79-44EB66FCE1DC}"/>
              </a:ext>
            </a:extLst>
          </p:cNvPr>
          <p:cNvSpPr/>
          <p:nvPr/>
        </p:nvSpPr>
        <p:spPr>
          <a:xfrm>
            <a:off x="6403616" y="27947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CEAD20A-334B-DDA6-7DBB-C3D7AF597E88}"/>
              </a:ext>
            </a:extLst>
          </p:cNvPr>
          <p:cNvSpPr/>
          <p:nvPr/>
        </p:nvSpPr>
        <p:spPr>
          <a:xfrm>
            <a:off x="6409776" y="3736377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297AF3D-B736-2285-27DF-0F8C5325A858}"/>
              </a:ext>
            </a:extLst>
          </p:cNvPr>
          <p:cNvSpPr/>
          <p:nvPr/>
        </p:nvSpPr>
        <p:spPr>
          <a:xfrm>
            <a:off x="8680596" y="2701961"/>
            <a:ext cx="2011680" cy="2371422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8B73C53-56DB-B616-D1AE-7682F4C83ED2}"/>
              </a:ext>
            </a:extLst>
          </p:cNvPr>
          <p:cNvSpPr/>
          <p:nvPr/>
        </p:nvSpPr>
        <p:spPr>
          <a:xfrm>
            <a:off x="8764388" y="279320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50C5788-ECB9-E56B-F9F9-E56A33CF52A2}"/>
              </a:ext>
            </a:extLst>
          </p:cNvPr>
          <p:cNvSpPr/>
          <p:nvPr/>
        </p:nvSpPr>
        <p:spPr>
          <a:xfrm>
            <a:off x="6417425" y="3194641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F67E240-E41D-8771-9712-C5A3940355B9}"/>
              </a:ext>
            </a:extLst>
          </p:cNvPr>
          <p:cNvSpPr/>
          <p:nvPr/>
        </p:nvSpPr>
        <p:spPr>
          <a:xfrm>
            <a:off x="8764388" y="373066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0203F5E-D982-3547-75C3-120ACCC2476E}"/>
              </a:ext>
            </a:extLst>
          </p:cNvPr>
          <p:cNvSpPr/>
          <p:nvPr/>
        </p:nvSpPr>
        <p:spPr>
          <a:xfrm>
            <a:off x="8779188" y="320358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17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C0F420-C2BD-E340-AFA6-2A3710880024}"/>
              </a:ext>
            </a:extLst>
          </p:cNvPr>
          <p:cNvCxnSpPr>
            <a:cxnSpLocks/>
            <a:stCxn id="20" idx="2"/>
            <a:endCxn id="17" idx="2"/>
          </p:cNvCxnSpPr>
          <p:nvPr/>
        </p:nvCxnSpPr>
        <p:spPr>
          <a:xfrm rot="5400000" flipH="1">
            <a:off x="8497201" y="3884149"/>
            <a:ext cx="10113" cy="2368356"/>
          </a:xfrm>
          <a:prstGeom prst="bentConnector3">
            <a:avLst>
              <a:gd name="adj1" fmla="val -6927222"/>
            </a:avLst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">
            <a:extLst>
              <a:ext uri="{FF2B5EF4-FFF2-40B4-BE49-F238E27FC236}">
                <a16:creationId xmlns:a16="http://schemas.microsoft.com/office/drawing/2014/main" id="{F7F5A57B-CEF8-1AE1-110A-11E02D32F4D8}"/>
              </a:ext>
            </a:extLst>
          </p:cNvPr>
          <p:cNvSpPr/>
          <p:nvPr/>
        </p:nvSpPr>
        <p:spPr>
          <a:xfrm>
            <a:off x="8276705" y="5538511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B0207FA-97BD-2917-EBDF-A708BDBBCF75}"/>
              </a:ext>
            </a:extLst>
          </p:cNvPr>
          <p:cNvSpPr/>
          <p:nvPr/>
        </p:nvSpPr>
        <p:spPr>
          <a:xfrm>
            <a:off x="6976678" y="6149139"/>
            <a:ext cx="3289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5 </a:t>
            </a:r>
            <a:r>
              <a:rPr lang="en-US" sz="1467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Incremental Revisions</a:t>
            </a:r>
          </a:p>
        </p:txBody>
      </p:sp>
    </p:spTree>
    <p:extLst>
      <p:ext uri="{BB962C8B-B14F-4D97-AF65-F5344CB8AC3E}">
        <p14:creationId xmlns:p14="http://schemas.microsoft.com/office/powerpoint/2010/main" val="388621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Roadmap</a:t>
            </a:r>
          </a:p>
        </p:txBody>
      </p:sp>
      <p:sp>
        <p:nvSpPr>
          <p:cNvPr id="3" name="Subtitle"/>
          <p:cNvSpPr/>
          <p:nvPr/>
        </p:nvSpPr>
        <p:spPr>
          <a:xfrm>
            <a:off x="729996" y="1307000"/>
            <a:ext cx="10732008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steps we will work through to fit the model and produce forecasts.</a:t>
            </a:r>
          </a:p>
        </p:txBody>
      </p:sp>
      <p:sp>
        <p:nvSpPr>
          <p:cNvPr id="100" name="Connector"/>
          <p:cNvSpPr/>
          <p:nvPr/>
        </p:nvSpPr>
        <p:spPr>
          <a:xfrm>
            <a:off x="1716000" y="2442100"/>
            <a:ext cx="8760000" cy="0"/>
          </a:xfrm>
          <a:prstGeom prst="line">
            <a:avLst/>
          </a:prstGeom>
          <a:noFill/>
          <a:ln w="22225" cap="rnd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Card1"/>
          <p:cNvSpPr/>
          <p:nvPr/>
        </p:nvSpPr>
        <p:spPr>
          <a:xfrm>
            <a:off x="436000" y="2912100"/>
            <a:ext cx="2560000" cy="2300000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Card2"/>
          <p:cNvSpPr/>
          <p:nvPr/>
        </p:nvSpPr>
        <p:spPr>
          <a:xfrm>
            <a:off x="3356000" y="2912100"/>
            <a:ext cx="2560000" cy="2300000"/>
          </a:xfrm>
          <a:prstGeom prst="rect">
            <a:avLst/>
          </a:prstGeom>
          <a:solidFill>
            <a:srgbClr val="F0ECF8"/>
          </a:solidFill>
          <a:ln>
            <a:solidFill>
              <a:srgbClr val="F0ECF8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Card3"/>
          <p:cNvSpPr/>
          <p:nvPr/>
        </p:nvSpPr>
        <p:spPr>
          <a:xfrm>
            <a:off x="6276000" y="2912100"/>
            <a:ext cx="2560000" cy="2300000"/>
          </a:xfrm>
          <a:prstGeom prst="rect">
            <a:avLst/>
          </a:prstGeom>
          <a:solidFill>
            <a:srgbClr val="FFF4EC"/>
          </a:solidFill>
          <a:ln>
            <a:solidFill>
              <a:srgbClr val="DCEAF7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Card4"/>
          <p:cNvSpPr/>
          <p:nvPr/>
        </p:nvSpPr>
        <p:spPr>
          <a:xfrm>
            <a:off x="9196000" y="2912100"/>
            <a:ext cx="2560000" cy="2300000"/>
          </a:xfrm>
          <a:prstGeom prst="rect">
            <a:avLst/>
          </a:prstGeom>
          <a:solidFill>
            <a:srgbClr val="DCEAF7"/>
          </a:solidFill>
          <a:ln>
            <a:solidFill>
              <a:srgbClr val="DCEAF7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Num1"/>
          <p:cNvSpPr/>
          <p:nvPr/>
        </p:nvSpPr>
        <p:spPr>
          <a:xfrm>
            <a:off x="1396000" y="2122100"/>
            <a:ext cx="640000" cy="640000"/>
          </a:xfrm>
          <a:prstGeom prst="ellipse">
            <a:avLst/>
          </a:prstGeom>
          <a:solidFill>
            <a:srgbClr val="13678A"/>
          </a:solidFill>
          <a:ln/>
          <a:effectLst>
            <a:outerShdw blurRad="38100" dist="19050" dir="8100000" algn="bl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2" name="Num2"/>
          <p:cNvSpPr/>
          <p:nvPr/>
        </p:nvSpPr>
        <p:spPr>
          <a:xfrm>
            <a:off x="4316000" y="2122100"/>
            <a:ext cx="640000" cy="640000"/>
          </a:xfrm>
          <a:prstGeom prst="ellipse">
            <a:avLst/>
          </a:prstGeom>
          <a:solidFill>
            <a:srgbClr val="13678A"/>
          </a:solidFill>
          <a:ln/>
          <a:effectLst>
            <a:outerShdw blurRad="38100" dist="19050" dir="8100000" algn="bl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3" name="Num3"/>
          <p:cNvSpPr/>
          <p:nvPr/>
        </p:nvSpPr>
        <p:spPr>
          <a:xfrm>
            <a:off x="7236000" y="2122100"/>
            <a:ext cx="640000" cy="640000"/>
          </a:xfrm>
          <a:prstGeom prst="ellipse">
            <a:avLst/>
          </a:prstGeom>
          <a:solidFill>
            <a:srgbClr val="13678A"/>
          </a:solidFill>
          <a:ln/>
          <a:effectLst>
            <a:outerShdw blurRad="38100" dist="19050" dir="8100000" algn="bl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4" name="Num4"/>
          <p:cNvSpPr/>
          <p:nvPr/>
        </p:nvSpPr>
        <p:spPr>
          <a:xfrm>
            <a:off x="10156000" y="2122100"/>
            <a:ext cx="640000" cy="640000"/>
          </a:xfrm>
          <a:prstGeom prst="ellipse">
            <a:avLst/>
          </a:prstGeom>
          <a:solidFill>
            <a:srgbClr val="13678A"/>
          </a:solidFill>
          <a:ln/>
          <a:effectLst>
            <a:outerShdw blurRad="38100" dist="19050" dir="8100000" algn="bl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1" name="Card1Title"/>
          <p:cNvSpPr/>
          <p:nvPr/>
        </p:nvSpPr>
        <p:spPr>
          <a:xfrm>
            <a:off x="606000" y="3052100"/>
            <a:ext cx="22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the Rules</a:t>
            </a:r>
          </a:p>
        </p:txBody>
      </p:sp>
      <p:sp>
        <p:nvSpPr>
          <p:cNvPr id="132" name="Card2Title"/>
          <p:cNvSpPr/>
          <p:nvPr/>
        </p:nvSpPr>
        <p:spPr>
          <a:xfrm>
            <a:off x="3526000" y="3052100"/>
            <a:ext cx="22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the Agent</a:t>
            </a:r>
          </a:p>
        </p:txBody>
      </p:sp>
      <p:sp>
        <p:nvSpPr>
          <p:cNvPr id="133" name="Card3Title"/>
          <p:cNvSpPr/>
          <p:nvPr/>
        </p:nvSpPr>
        <p:spPr>
          <a:xfrm>
            <a:off x="6446000" y="3052100"/>
            <a:ext cx="22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the Script</a:t>
            </a:r>
          </a:p>
        </p:txBody>
      </p:sp>
      <p:sp>
        <p:nvSpPr>
          <p:cNvPr id="134" name="Card4Title"/>
          <p:cNvSpPr/>
          <p:nvPr/>
        </p:nvSpPr>
        <p:spPr>
          <a:xfrm>
            <a:off x="9366000" y="3052100"/>
            <a:ext cx="222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&amp; Commit</a:t>
            </a:r>
          </a:p>
        </p:txBody>
      </p:sp>
      <p:sp>
        <p:nvSpPr>
          <p:cNvPr id="141" name="Card1Desc"/>
          <p:cNvSpPr/>
          <p:nvPr/>
        </p:nvSpPr>
        <p:spPr>
          <a:xfrm>
            <a:off x="606000" y="3552100"/>
            <a:ext cx="2220000" cy="15200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 </a:t>
            </a:r>
            <a:r>
              <a:rPr lang="en-US" sz="1700" dirty="0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Forecasting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section to our rules document with precise rules for Task 0 through Task 5.</a:t>
            </a:r>
          </a:p>
        </p:txBody>
      </p:sp>
      <p:sp>
        <p:nvSpPr>
          <p:cNvPr id="142" name="Card2Desc"/>
          <p:cNvSpPr/>
          <p:nvPr/>
        </p:nvSpPr>
        <p:spPr>
          <a:xfrm>
            <a:off x="3526000" y="3552100"/>
            <a:ext cx="2220000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Regenerate </a:t>
            </a:r>
            <a:r>
              <a:rPr lang="en-US" sz="1700" dirty="0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agents.md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your updated rules so the agent follows your new instructions.</a:t>
            </a:r>
          </a:p>
        </p:txBody>
      </p:sp>
      <p:sp>
        <p:nvSpPr>
          <p:cNvPr id="143" name="Card3Desc"/>
          <p:cNvSpPr/>
          <p:nvPr/>
        </p:nvSpPr>
        <p:spPr>
          <a:xfrm>
            <a:off x="6446000" y="3552100"/>
            <a:ext cx="2220000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agents.md to have Copilot write the </a:t>
            </a:r>
            <a:r>
              <a:rPr lang="en-US" sz="1700" i="1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scripts/03_forecast.R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script.</a:t>
            </a:r>
          </a:p>
        </p:txBody>
      </p:sp>
      <p:sp>
        <p:nvSpPr>
          <p:cNvPr id="144" name="Card4Desc"/>
          <p:cNvSpPr/>
          <p:nvPr/>
        </p:nvSpPr>
        <p:spPr>
          <a:xfrm>
            <a:off x="9366000" y="3552100"/>
            <a:ext cx="2220000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it, check the figure and </a:t>
            </a:r>
            <a:r>
              <a:rPr lang="en-US" sz="1700" dirty="0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flusight_forecasts.csv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then commit your results to GitHub.</a:t>
            </a:r>
          </a:p>
        </p:txBody>
      </p:sp>
      <p:sp>
        <p:nvSpPr>
          <p:cNvPr id="160" name="Framer"/>
          <p:cNvSpPr/>
          <p:nvPr/>
        </p:nvSpPr>
        <p:spPr>
          <a:xfrm>
            <a:off x="436000" y="5652100"/>
            <a:ext cx="11320000" cy="560000"/>
          </a:xfrm>
          <a:prstGeom prst="rect">
            <a:avLst/>
          </a:prstGeom>
          <a:solidFill>
            <a:srgbClr val="EAEAEA"/>
          </a:solidFill>
          <a:ln/>
        </p:spPr>
        <p:txBody>
          <a:bodyPr wrap="square" lIns="91440" tIns="0" rIns="91440" bIns="0" rtlCol="0" anchor="ctr"/>
          <a:lstStyle/>
          <a:p>
            <a:pPr algn="ctr"/>
            <a:r>
              <a:rPr lang="en-US" sz="26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Vague rules = vague output.</a:t>
            </a:r>
            <a:r>
              <a:rPr lang="en-US" sz="26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precise about every detail.</a:t>
            </a:r>
          </a:p>
        </p:txBody>
      </p:sp>
    </p:spTree>
    <p:extLst>
      <p:ext uri="{BB962C8B-B14F-4D97-AF65-F5344CB8AC3E}">
        <p14:creationId xmlns:p14="http://schemas.microsoft.com/office/powerpoint/2010/main" val="299683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00C1-BD6A-D367-BE03-DC02A621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Task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3D021-3291-F8EE-43B3-C66F6EC7F58D}"/>
              </a:ext>
            </a:extLst>
          </p:cNvPr>
          <p:cNvSpPr txBox="1"/>
          <p:nvPr/>
        </p:nvSpPr>
        <p:spPr>
          <a:xfrm>
            <a:off x="838200" y="1532102"/>
            <a:ext cx="10515600" cy="1280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We will write forecasting rules for the six tasks (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), then use them to generate the agent, the </a:t>
            </a:r>
            <a:r>
              <a:rPr lang="en-US" sz="2500" i="1" dirty="0">
                <a:latin typeface="Arial" panose="020B0604020202020204" pitchFamily="34" charset="0"/>
                <a:cs typeface="Arial" panose="020B0604020202020204" pitchFamily="34" charset="0"/>
              </a:rPr>
              <a:t>03_forecast.R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script, forecast file (CSV) and figure.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4700" y="3046100"/>
          <a:ext cx="106426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 Output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Forecasting rules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Tasks 0 - 5 — model details, forecasting, data &amp; figure format.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agents.md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Regenerated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your updated rules so the agent follows your new instructions.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scripts/03_forecast.R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 code Copilot (or AI of your choosing) writes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the agent to build the figure and forecast file.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figure + flusight_forecasts.csv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finished outputs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forecast_vs_observed.png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</a:t>
                      </a:r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flusight_forecasts.csv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CC0AF3F-5972-9E6A-4E9A-DB5BBB0F2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1869" y="176520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5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DCD5-706F-53C8-2F9C-AB2C54A9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D3B7-1771-E07E-4FD8-20DCD357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344204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C04B-7E9E-ADB2-A666-C9712AFD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8D2DF-8A67-BA4F-1C07-2692441E6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68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are going to focus on calculating some of the primary metrics used by the </a:t>
            </a:r>
            <a:r>
              <a:rPr lang="en-US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FluSight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challenge, and commonly throughout forecast evaluation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includes, but is not limited to, mean absolute error (MAE), 95% prediction interval (PI) coverage, and weighted interval score (WIS)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 that the metrics come with their own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represent only a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minuscule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portion of the evaluation approaches available </a:t>
            </a:r>
          </a:p>
        </p:txBody>
      </p:sp>
    </p:spTree>
    <p:extLst>
      <p:ext uri="{BB962C8B-B14F-4D97-AF65-F5344CB8AC3E}">
        <p14:creationId xmlns:p14="http://schemas.microsoft.com/office/powerpoint/2010/main" val="26769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FDF5-37DF-8B87-DE93-8FA3D6A62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BA0A-56BD-0723-4B79-7511193D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Absolute Error (MAE)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FA6B4-04E0-D49C-3D07-87D77F566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974"/>
            <a:ext cx="10515600" cy="1141391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Measure of how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point (single value per time point) forecasts are (i.e.,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far the model's predictions fall from the observed admission counts).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74FC49-1B83-94E1-7D58-3AB18E17317D}"/>
                  </a:ext>
                </a:extLst>
              </p:cNvPr>
              <p:cNvSpPr txBox="1"/>
              <p:nvPr/>
            </p:nvSpPr>
            <p:spPr>
              <a:xfrm>
                <a:off x="4246520" y="2912708"/>
                <a:ext cx="3698961" cy="1488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E101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𝑀𝐴𝐸</m:t>
                      </m:r>
                      <m:r>
                        <a:rPr lang="en-US" sz="2800" i="1" smtClean="0">
                          <a:solidFill>
                            <a:srgbClr val="0E101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800" b="0" i="1" smtClean="0">
                                      <a:solidFill>
                                        <a:srgbClr val="0E101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E101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2700" b="0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74FC49-1B83-94E1-7D58-3AB18E173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520" y="2912708"/>
                <a:ext cx="3698961" cy="14885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15AAE869-737E-4B6B-A9C3-4E98AFE0B57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4612600"/>
              <a:ext cx="10766612" cy="12288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observations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Observed value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E101A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b="0" i="1" smtClean="0">
                                            <a:solidFill>
                                              <a:srgbClr val="0E101A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rgbClr val="0E101A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E101A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Predicted value (e.g., median forecast value)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15AAE869-737E-4B6B-A9C3-4E98AFE0B5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011466"/>
                  </p:ext>
                </p:extLst>
              </p:nvPr>
            </p:nvGraphicFramePr>
            <p:xfrm>
              <a:off x="838200" y="4612600"/>
              <a:ext cx="10766612" cy="12288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7692" r="-197000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observations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95890" r="-197000" b="-1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Observed value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220000" r="-197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Predicted value (e.g., median forecast value)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024A1B-892A-00E4-28EF-B06F61AA65D3}"/>
              </a:ext>
            </a:extLst>
          </p:cNvPr>
          <p:cNvSpPr txBox="1">
            <a:spLocks/>
          </p:cNvSpPr>
          <p:nvPr/>
        </p:nvSpPr>
        <p:spPr>
          <a:xfrm>
            <a:off x="838200" y="6180632"/>
            <a:ext cx="10515600" cy="624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Ideal Value: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Lower is better! </a:t>
            </a:r>
          </a:p>
        </p:txBody>
      </p:sp>
    </p:spTree>
    <p:extLst>
      <p:ext uri="{BB962C8B-B14F-4D97-AF65-F5344CB8AC3E}">
        <p14:creationId xmlns:p14="http://schemas.microsoft.com/office/powerpoint/2010/main" val="55423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4E86CE-EC07-5055-1D73-8A4554646C79}"/>
              </a:ext>
            </a:extLst>
          </p:cNvPr>
          <p:cNvSpPr/>
          <p:nvPr/>
        </p:nvSpPr>
        <p:spPr>
          <a:xfrm>
            <a:off x="772297" y="1303638"/>
            <a:ext cx="10416746" cy="753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Mean Squared Error : Overview, Examples, Concepts and More | Simplilearn">
            <a:extLst>
              <a:ext uri="{FF2B5EF4-FFF2-40B4-BE49-F238E27FC236}">
                <a16:creationId xmlns:a16="http://schemas.microsoft.com/office/drawing/2014/main" id="{3731D230-5FD7-C726-9D80-2565B6D43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655" y="462221"/>
            <a:ext cx="5664029" cy="567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999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D2F2-C365-4373-F283-AAF37B78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6619-3C07-DE17-7A51-E8993D95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 Prediction Interval (PI) Coverage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69172-84EF-A3BC-74B6-AF5E6BC45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014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easures how often the observed value is captured within the bounds of the 95% prediction interval (i.e., measure of how well the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captures uncertainty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8B66CBB-6DA7-249B-4BC2-3589D4C82F4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3983354"/>
              <a:ext cx="10766612" cy="166526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observations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∙)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Indicator (1 if the observation falls in the interval, 0 otherwise)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9001902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Observed value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Lower/Upper bounds of the 95% PI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8B66CBB-6DA7-249B-4BC2-3589D4C82F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1054359"/>
                  </p:ext>
                </p:extLst>
              </p:nvPr>
            </p:nvGraphicFramePr>
            <p:xfrm>
              <a:off x="838200" y="3983354"/>
              <a:ext cx="10766612" cy="166526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7692" r="-197000" b="-3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observations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97222" r="-197000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Indicator (1 if the observation falls in the interval, 0 otherwise)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9001902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197222" r="-197000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Observed value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329231" r="-197000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Lower/Upper bounds of the 95% PI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B52306-0829-3837-0868-4B9DF84E52F6}"/>
                  </a:ext>
                </a:extLst>
              </p:cNvPr>
              <p:cNvSpPr txBox="1"/>
              <p:nvPr/>
            </p:nvSpPr>
            <p:spPr>
              <a:xfrm>
                <a:off x="2789582" y="2579276"/>
                <a:ext cx="6612836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95%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𝐶𝑜𝑣𝑒𝑟𝑎𝑔𝑒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800" b="1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B52306-0829-3837-0868-4B9DF84E5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582" y="2579276"/>
                <a:ext cx="6612836" cy="1211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556244-8BBE-FD5F-B1EE-59EFA9A53DCC}"/>
              </a:ext>
            </a:extLst>
          </p:cNvPr>
          <p:cNvSpPr txBox="1">
            <a:spLocks/>
          </p:cNvSpPr>
          <p:nvPr/>
        </p:nvSpPr>
        <p:spPr>
          <a:xfrm>
            <a:off x="838200" y="5954496"/>
            <a:ext cx="10515600" cy="6248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Ideal Value: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~95%; Below 95% = intervals too narrow (overconfident); above 95% = too wide (underconfident).</a:t>
            </a:r>
          </a:p>
        </p:txBody>
      </p:sp>
    </p:spTree>
    <p:extLst>
      <p:ext uri="{BB962C8B-B14F-4D97-AF65-F5344CB8AC3E}">
        <p14:creationId xmlns:p14="http://schemas.microsoft.com/office/powerpoint/2010/main" val="193754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B4E0C9C-8E58-C039-5D28-375288B2A4D3}"/>
              </a:ext>
            </a:extLst>
          </p:cNvPr>
          <p:cNvSpPr/>
          <p:nvPr/>
        </p:nvSpPr>
        <p:spPr>
          <a:xfrm rot="20253485">
            <a:off x="904180" y="2643637"/>
            <a:ext cx="6803107" cy="2393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06F5DF-ABE3-8475-9CC3-87EB1CA823CD}"/>
              </a:ext>
            </a:extLst>
          </p:cNvPr>
          <p:cNvSpPr/>
          <p:nvPr/>
        </p:nvSpPr>
        <p:spPr>
          <a:xfrm>
            <a:off x="342900" y="3649582"/>
            <a:ext cx="581025" cy="1562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4E78F8-B1C2-E66A-E0DE-DCE709CDE98A}"/>
              </a:ext>
            </a:extLst>
          </p:cNvPr>
          <p:cNvCxnSpPr>
            <a:cxnSpLocks/>
          </p:cNvCxnSpPr>
          <p:nvPr/>
        </p:nvCxnSpPr>
        <p:spPr>
          <a:xfrm>
            <a:off x="571500" y="263444"/>
            <a:ext cx="0" cy="49482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CE8C59D-BFA8-A5AD-D3BC-F8B27915ED56}"/>
              </a:ext>
            </a:extLst>
          </p:cNvPr>
          <p:cNvSpPr/>
          <p:nvPr/>
        </p:nvSpPr>
        <p:spPr>
          <a:xfrm rot="5002338">
            <a:off x="3125966" y="1901164"/>
            <a:ext cx="1679063" cy="6407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EFCD65-5CBC-7AA5-64FD-4EAEF9AF4808}"/>
              </a:ext>
            </a:extLst>
          </p:cNvPr>
          <p:cNvCxnSpPr>
            <a:cxnSpLocks/>
          </p:cNvCxnSpPr>
          <p:nvPr/>
        </p:nvCxnSpPr>
        <p:spPr>
          <a:xfrm flipH="1">
            <a:off x="542925" y="5221207"/>
            <a:ext cx="64008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487684-7245-B0D1-2CF4-7E715B638099}"/>
              </a:ext>
            </a:extLst>
          </p:cNvPr>
          <p:cNvCxnSpPr>
            <a:cxnSpLocks/>
          </p:cNvCxnSpPr>
          <p:nvPr/>
        </p:nvCxnSpPr>
        <p:spPr>
          <a:xfrm flipV="1">
            <a:off x="952500" y="2658982"/>
            <a:ext cx="6000750" cy="16144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980EFC-2488-661A-6F89-FE4FFDF570B2}"/>
              </a:ext>
            </a:extLst>
          </p:cNvPr>
          <p:cNvCxnSpPr>
            <a:cxnSpLocks/>
          </p:cNvCxnSpPr>
          <p:nvPr/>
        </p:nvCxnSpPr>
        <p:spPr>
          <a:xfrm flipV="1">
            <a:off x="942975" y="1401682"/>
            <a:ext cx="6000750" cy="249555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67788C-4262-6962-0A3F-626C7AB29181}"/>
              </a:ext>
            </a:extLst>
          </p:cNvPr>
          <p:cNvCxnSpPr>
            <a:cxnSpLocks/>
          </p:cNvCxnSpPr>
          <p:nvPr/>
        </p:nvCxnSpPr>
        <p:spPr>
          <a:xfrm flipV="1">
            <a:off x="942975" y="3944857"/>
            <a:ext cx="6000750" cy="695325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0F42043-D565-A024-616C-C8B235A72A28}"/>
              </a:ext>
            </a:extLst>
          </p:cNvPr>
          <p:cNvSpPr/>
          <p:nvPr/>
        </p:nvSpPr>
        <p:spPr>
          <a:xfrm>
            <a:off x="7010400" y="1201656"/>
            <a:ext cx="1400175" cy="3724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A8904F5-9D8A-5A9C-654B-1BA7FDDE3771}"/>
              </a:ext>
            </a:extLst>
          </p:cNvPr>
          <p:cNvSpPr/>
          <p:nvPr/>
        </p:nvSpPr>
        <p:spPr>
          <a:xfrm>
            <a:off x="1266825" y="3963907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2BECA6-AB10-D84D-F6D4-3FE9C2888B5E}"/>
              </a:ext>
            </a:extLst>
          </p:cNvPr>
          <p:cNvSpPr/>
          <p:nvPr/>
        </p:nvSpPr>
        <p:spPr>
          <a:xfrm>
            <a:off x="2758441" y="3548022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7E0DCAF-C3F3-2DF3-C000-0CB16A4F4B59}"/>
              </a:ext>
            </a:extLst>
          </p:cNvPr>
          <p:cNvSpPr/>
          <p:nvPr/>
        </p:nvSpPr>
        <p:spPr>
          <a:xfrm>
            <a:off x="6244591" y="260278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987C360-1CCF-4798-BE40-007D37BD6702}"/>
              </a:ext>
            </a:extLst>
          </p:cNvPr>
          <p:cNvSpPr/>
          <p:nvPr/>
        </p:nvSpPr>
        <p:spPr>
          <a:xfrm>
            <a:off x="4491991" y="3080995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4643811-76A4-7215-BA41-8DA9C9EEB346}"/>
              </a:ext>
            </a:extLst>
          </p:cNvPr>
          <p:cNvSpPr/>
          <p:nvPr/>
        </p:nvSpPr>
        <p:spPr>
          <a:xfrm>
            <a:off x="1285875" y="4764007"/>
            <a:ext cx="276225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D2A67DE-45F1-A535-A1E7-C6BDF0607B5A}"/>
              </a:ext>
            </a:extLst>
          </p:cNvPr>
          <p:cNvSpPr/>
          <p:nvPr/>
        </p:nvSpPr>
        <p:spPr>
          <a:xfrm>
            <a:off x="2803208" y="3210187"/>
            <a:ext cx="276225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96111F3-E76D-E7B8-8EF5-FAC2BD74B32B}"/>
              </a:ext>
            </a:extLst>
          </p:cNvPr>
          <p:cNvSpPr/>
          <p:nvPr/>
        </p:nvSpPr>
        <p:spPr>
          <a:xfrm>
            <a:off x="4536758" y="3714206"/>
            <a:ext cx="276225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F3CC288-3516-184F-A042-B748BB62EA6E}"/>
              </a:ext>
            </a:extLst>
          </p:cNvPr>
          <p:cNvSpPr/>
          <p:nvPr/>
        </p:nvSpPr>
        <p:spPr>
          <a:xfrm>
            <a:off x="6266499" y="1037589"/>
            <a:ext cx="276225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F50CB5-0D9B-00D9-44E1-0DB315EE0063}"/>
              </a:ext>
            </a:extLst>
          </p:cNvPr>
          <p:cNvSpPr txBox="1"/>
          <p:nvPr/>
        </p:nvSpPr>
        <p:spPr>
          <a:xfrm rot="16200000">
            <a:off x="-1324456" y="2639963"/>
            <a:ext cx="3277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Influenza Admissions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853A89-B37E-73C5-583B-DF392FBC0484}"/>
              </a:ext>
            </a:extLst>
          </p:cNvPr>
          <p:cNvSpPr txBox="1"/>
          <p:nvPr/>
        </p:nvSpPr>
        <p:spPr>
          <a:xfrm>
            <a:off x="3381299" y="5312051"/>
            <a:ext cx="1034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Weeks 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4A3110B4-2428-0120-8C8A-4EB857F86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06037"/>
              </p:ext>
            </p:extLst>
          </p:nvPr>
        </p:nvGraphicFramePr>
        <p:xfrm>
          <a:off x="952500" y="350770"/>
          <a:ext cx="3833378" cy="1696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0856">
                  <a:extLst>
                    <a:ext uri="{9D8B030D-6E8A-4147-A177-3AD203B41FA5}">
                      <a16:colId xmlns:a16="http://schemas.microsoft.com/office/drawing/2014/main" val="2345712236"/>
                    </a:ext>
                  </a:extLst>
                </a:gridCol>
                <a:gridCol w="2442522">
                  <a:extLst>
                    <a:ext uri="{9D8B030D-6E8A-4147-A177-3AD203B41FA5}">
                      <a16:colId xmlns:a16="http://schemas.microsoft.com/office/drawing/2014/main" val="267319641"/>
                    </a:ext>
                  </a:extLst>
                </a:gridCol>
              </a:tblGrid>
              <a:tr h="424147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05611"/>
                  </a:ext>
                </a:extLst>
              </a:tr>
              <a:tr h="4241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858866"/>
                  </a:ext>
                </a:extLst>
              </a:tr>
              <a:tr h="4241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Forecasted Median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459112"/>
                  </a:ext>
                </a:extLst>
              </a:tr>
              <a:tr h="4241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PI Bounds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48356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49213478-0198-7F63-BCBC-BAACD17591F2}"/>
              </a:ext>
            </a:extLst>
          </p:cNvPr>
          <p:cNvSpPr/>
          <p:nvPr/>
        </p:nvSpPr>
        <p:spPr>
          <a:xfrm>
            <a:off x="1529370" y="858842"/>
            <a:ext cx="254662" cy="2647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8631F3-CB56-7C6F-CC77-57E25C174B4A}"/>
              </a:ext>
            </a:extLst>
          </p:cNvPr>
          <p:cNvCxnSpPr>
            <a:cxnSpLocks/>
          </p:cNvCxnSpPr>
          <p:nvPr/>
        </p:nvCxnSpPr>
        <p:spPr>
          <a:xfrm>
            <a:off x="1296162" y="1414357"/>
            <a:ext cx="701814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AFD1A46-9958-F9C5-586A-A8BB68F4D8E2}"/>
              </a:ext>
            </a:extLst>
          </p:cNvPr>
          <p:cNvSpPr/>
          <p:nvPr/>
        </p:nvSpPr>
        <p:spPr>
          <a:xfrm>
            <a:off x="1488757" y="1233990"/>
            <a:ext cx="337208" cy="3529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FE4F0CF-9421-179F-D65E-4B657635EC9A}"/>
              </a:ext>
            </a:extLst>
          </p:cNvPr>
          <p:cNvCxnSpPr>
            <a:cxnSpLocks/>
          </p:cNvCxnSpPr>
          <p:nvPr/>
        </p:nvCxnSpPr>
        <p:spPr>
          <a:xfrm>
            <a:off x="1310068" y="1856555"/>
            <a:ext cx="701814" cy="0"/>
          </a:xfrm>
          <a:prstGeom prst="line">
            <a:avLst/>
          </a:prstGeom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0F14429-6E45-E8D4-3FD2-72F996D5F923}"/>
              </a:ext>
            </a:extLst>
          </p:cNvPr>
          <p:cNvSpPr txBox="1"/>
          <p:nvPr/>
        </p:nvSpPr>
        <p:spPr>
          <a:xfrm>
            <a:off x="7253189" y="1333283"/>
            <a:ext cx="4597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Calculating the 95% PI Coverage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54E99A5-B1C2-4AA0-60F3-77E28B5D76C4}"/>
                  </a:ext>
                </a:extLst>
              </p:cNvPr>
              <p:cNvSpPr txBox="1"/>
              <p:nvPr/>
            </p:nvSpPr>
            <p:spPr>
              <a:xfrm>
                <a:off x="7389299" y="1884835"/>
                <a:ext cx="4083430" cy="3153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 are working with four dates of data (N = 4). </a:t>
                </a:r>
              </a:p>
              <a:p>
                <a:pPr marL="342900" indent="-342900">
                  <a:spcAft>
                    <a:spcPts val="18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2 of those 4 dates, the observed data falls within the bounds.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𝑂𝑏𝑠𝑒𝑟𝑣𝑒𝑑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𝑑𝑎𝑡𝑒𝑠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𝑤𝑖𝑡h𝑖𝑛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𝑏𝑜𝑢𝑛𝑑𝑠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𝐷𝑎𝑡𝑒𝑠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𝑷𝑰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𝑪𝒐𝒗𝒆𝒓𝒂𝒈𝒆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54E99A5-B1C2-4AA0-60F3-77E28B5D7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299" y="1884835"/>
                <a:ext cx="4083430" cy="3153492"/>
              </a:xfrm>
              <a:prstGeom prst="rect">
                <a:avLst/>
              </a:prstGeom>
              <a:blipFill>
                <a:blip r:embed="rId3"/>
                <a:stretch>
                  <a:fillRect l="-1343" t="-774" r="-7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7A8BB570-42AA-DB16-9D68-D8C868A207FE}"/>
              </a:ext>
            </a:extLst>
          </p:cNvPr>
          <p:cNvSpPr/>
          <p:nvPr/>
        </p:nvSpPr>
        <p:spPr>
          <a:xfrm>
            <a:off x="7190423" y="1075952"/>
            <a:ext cx="4792057" cy="418846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652A6-98AA-61E6-4CAB-2FE089EEC3A7}"/>
              </a:ext>
            </a:extLst>
          </p:cNvPr>
          <p:cNvSpPr txBox="1"/>
          <p:nvPr/>
        </p:nvSpPr>
        <p:spPr>
          <a:xfrm>
            <a:off x="259065" y="5868685"/>
            <a:ext cx="1167386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50% is far below the nominal 95%, so these intervals are too narrow — the model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overconfident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417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618E-22F7-E67B-E464-622EBBA5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7AE5-82A9-AC85-29AB-1B209CA0E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Interval Score (IS)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AC6F-1487-022A-EE66-EDA91EB41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24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Measures how well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single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prediction interval performs, rewarding intervals that are narrow but penalizing ones that the observed value falls outside, in the units of the observed data.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16DFA5E-1FCE-EC7D-A818-994CD66CBB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93955"/>
                  </p:ext>
                </p:extLst>
              </p:nvPr>
            </p:nvGraphicFramePr>
            <p:xfrm>
              <a:off x="838200" y="4713494"/>
              <a:ext cx="10766612" cy="12288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𝑙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Lower/Upper bounds of prediction interval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Observed value </a:t>
                          </a:r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∙)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Equals 1 when the stated condition is TRUE, 0 otherwise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16DFA5E-1FCE-EC7D-A818-994CD66CBB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93955"/>
                  </p:ext>
                </p:extLst>
              </p:nvPr>
            </p:nvGraphicFramePr>
            <p:xfrm>
              <a:off x="838200" y="4713494"/>
              <a:ext cx="10766612" cy="12288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7692" r="-197000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Lower/Upper bounds of prediction interval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97222" r="-197000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Observed value </a:t>
                          </a:r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218462" r="-197000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Equals 1 when the stated condition is TRUE, 0 otherwise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1446A5-AC2F-AF0A-8EBD-AA1545A8F0FD}"/>
              </a:ext>
            </a:extLst>
          </p:cNvPr>
          <p:cNvSpPr txBox="1">
            <a:spLocks/>
          </p:cNvSpPr>
          <p:nvPr/>
        </p:nvSpPr>
        <p:spPr>
          <a:xfrm>
            <a:off x="838200" y="6233167"/>
            <a:ext cx="10515600" cy="624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Ideal Value: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Lower is better!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C51796-179C-F323-85CF-A50D6B0CA370}"/>
                  </a:ext>
                </a:extLst>
              </p:cNvPr>
              <p:cNvSpPr txBox="1"/>
              <p:nvPr/>
            </p:nvSpPr>
            <p:spPr>
              <a:xfrm>
                <a:off x="2443137" y="3135172"/>
                <a:ext cx="6661375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C51796-179C-F323-85CF-A50D6B0CA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137" y="3135172"/>
                <a:ext cx="6661375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55D45413-7C3F-83E1-620D-B0376CB687BC}"/>
              </a:ext>
            </a:extLst>
          </p:cNvPr>
          <p:cNvSpPr/>
          <p:nvPr/>
        </p:nvSpPr>
        <p:spPr>
          <a:xfrm rot="16200000" flipH="1">
            <a:off x="3862231" y="3344141"/>
            <a:ext cx="304029" cy="683487"/>
          </a:xfrm>
          <a:prstGeom prst="rightBrace">
            <a:avLst/>
          </a:prstGeom>
          <a:noFill/>
          <a:ln w="38100">
            <a:solidFill>
              <a:srgbClr val="F66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7049C2D-BC26-D3A5-BC8C-FE1504C07E45}"/>
              </a:ext>
            </a:extLst>
          </p:cNvPr>
          <p:cNvSpPr/>
          <p:nvPr/>
        </p:nvSpPr>
        <p:spPr>
          <a:xfrm rot="5400000" flipH="1" flipV="1">
            <a:off x="5522467" y="1955610"/>
            <a:ext cx="304029" cy="2202870"/>
          </a:xfrm>
          <a:prstGeom prst="rightBrace">
            <a:avLst/>
          </a:prstGeom>
          <a:ln w="38100">
            <a:solidFill>
              <a:srgbClr val="F66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EECE05F-92BC-742C-FA54-223655DA9B80}"/>
              </a:ext>
            </a:extLst>
          </p:cNvPr>
          <p:cNvSpPr/>
          <p:nvPr/>
        </p:nvSpPr>
        <p:spPr>
          <a:xfrm rot="16200000" flipH="1">
            <a:off x="7832021" y="2662114"/>
            <a:ext cx="304029" cy="2111431"/>
          </a:xfrm>
          <a:prstGeom prst="rightBrace">
            <a:avLst/>
          </a:prstGeom>
          <a:ln w="38100">
            <a:solidFill>
              <a:srgbClr val="F66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FDA78-424A-D729-4128-8024EFF3B632}"/>
              </a:ext>
            </a:extLst>
          </p:cNvPr>
          <p:cNvSpPr txBox="1"/>
          <p:nvPr/>
        </p:nvSpPr>
        <p:spPr>
          <a:xfrm>
            <a:off x="3316901" y="3897370"/>
            <a:ext cx="1394687" cy="369332"/>
          </a:xfrm>
          <a:prstGeom prst="rect">
            <a:avLst/>
          </a:prstGeom>
          <a:noFill/>
          <a:ln w="28575">
            <a:solidFill>
              <a:srgbClr val="522D8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22D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Dispersion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CC4C51-A0E5-593C-DE85-A8B3BA5BC25D}"/>
              </a:ext>
            </a:extLst>
          </p:cNvPr>
          <p:cNvSpPr txBox="1"/>
          <p:nvPr/>
        </p:nvSpPr>
        <p:spPr>
          <a:xfrm>
            <a:off x="4698890" y="2466103"/>
            <a:ext cx="1930509" cy="369332"/>
          </a:xfrm>
          <a:prstGeom prst="rect">
            <a:avLst/>
          </a:prstGeom>
          <a:noFill/>
          <a:ln w="28575">
            <a:solidFill>
              <a:srgbClr val="522D8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22D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Overprediction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FD9427-C33F-4975-6129-555C3DECA2E5}"/>
              </a:ext>
            </a:extLst>
          </p:cNvPr>
          <p:cNvSpPr txBox="1"/>
          <p:nvPr/>
        </p:nvSpPr>
        <p:spPr>
          <a:xfrm>
            <a:off x="7047931" y="3900429"/>
            <a:ext cx="1872208" cy="369332"/>
          </a:xfrm>
          <a:prstGeom prst="rect">
            <a:avLst/>
          </a:prstGeom>
          <a:noFill/>
          <a:ln w="28575">
            <a:solidFill>
              <a:srgbClr val="522D8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22D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Underprediction</a:t>
            </a:r>
          </a:p>
        </p:txBody>
      </p:sp>
    </p:spTree>
    <p:extLst>
      <p:ext uri="{BB962C8B-B14F-4D97-AF65-F5344CB8AC3E}">
        <p14:creationId xmlns:p14="http://schemas.microsoft.com/office/powerpoint/2010/main" val="72168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A285-A9A9-47A8-BE3A-091B78DF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19309-7AFB-F4AD-6839-6F0C4A167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903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Interval Score (WIS)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01A2-164C-D0DC-DFE2-6A5579FFC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37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Measures overall forecast quality, focusing on how close the whole predicted distribution is to the observed value, in the units of the observed data. It rewards forecasts that are both </a:t>
            </a: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appropriately confident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3613E1-B83F-C6D0-B991-AEC2AF6FFD93}"/>
                  </a:ext>
                </a:extLst>
              </p:cNvPr>
              <p:cNvSpPr txBox="1"/>
              <p:nvPr/>
            </p:nvSpPr>
            <p:spPr>
              <a:xfrm>
                <a:off x="1888598" y="2484881"/>
                <a:ext cx="8113888" cy="151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𝑊𝐼𝑆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+0.5</m:t>
                          </m:r>
                        </m:den>
                      </m:f>
                      <m:r>
                        <a:rPr lang="en-US" sz="2500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sSub>
                                <m:sSub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500" b="0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3613E1-B83F-C6D0-B991-AEC2AF6FF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598" y="2484881"/>
                <a:ext cx="8113888" cy="1515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51AAE1C-0E27-8727-0D44-8535E1D5A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2545260"/>
                  </p:ext>
                </p:extLst>
              </p:nvPr>
            </p:nvGraphicFramePr>
            <p:xfrm>
              <a:off x="838200" y="4025812"/>
              <a:ext cx="10766612" cy="2151147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Prediction Intervals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Observed value </a:t>
                          </a:r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0E101A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Forecasted Median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Weight Assigned to each interval;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sz="2000" b="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5749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Interval score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7486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51AAE1C-0E27-8727-0D44-8535E1D5A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2545260"/>
                  </p:ext>
                </p:extLst>
              </p:nvPr>
            </p:nvGraphicFramePr>
            <p:xfrm>
              <a:off x="838200" y="4025812"/>
              <a:ext cx="10766612" cy="2151147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7692" r="-197000" b="-46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Prediction Intervals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97222" r="-197000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Observed value </a:t>
                          </a:r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218462" r="-197000" b="-25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Forecasted Median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  <a:tr h="4977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252439" r="-197000" b="-1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1842" t="-252439" r="-1285" b="-103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5749803"/>
                      </a:ext>
                    </a:extLst>
                  </a:tr>
                  <a:tr h="4245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412857" r="-197000" b="-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Interval score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7486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8F0604-9245-FFF1-D73F-8CCE2482928B}"/>
              </a:ext>
            </a:extLst>
          </p:cNvPr>
          <p:cNvSpPr txBox="1">
            <a:spLocks/>
          </p:cNvSpPr>
          <p:nvPr/>
        </p:nvSpPr>
        <p:spPr>
          <a:xfrm>
            <a:off x="838200" y="6337944"/>
            <a:ext cx="10515600" cy="624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Ideal Value: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Lower is better! </a:t>
            </a:r>
          </a:p>
        </p:txBody>
      </p:sp>
    </p:spTree>
    <p:extLst>
      <p:ext uri="{BB962C8B-B14F-4D97-AF65-F5344CB8AC3E}">
        <p14:creationId xmlns:p14="http://schemas.microsoft.com/office/powerpoint/2010/main" val="160314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C1D4-1187-2544-E93F-C07FB6875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scoringutils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Package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F560A-55C5-ABC0-589B-8EB80EE4A3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should we use to calculate the metrics?</a:t>
            </a:r>
          </a:p>
        </p:txBody>
      </p:sp>
    </p:spTree>
    <p:extLst>
      <p:ext uri="{BB962C8B-B14F-4D97-AF65-F5344CB8AC3E}">
        <p14:creationId xmlns:p14="http://schemas.microsoft.com/office/powerpoint/2010/main" val="821285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9292-22EC-43B2-2B79-709FE018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7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Formulas to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E244A-162D-FE0A-36B9-6CEB32469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305"/>
            <a:ext cx="10515600" cy="5096311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scoringutils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an R package that provides multiple built-in metrics and proper scoring rules to simplify the process of evaluating probabilistic forecasts against true observed values. 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It’s easy to implement (three steps):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work through each step together (and with AI) to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our ARIMA models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from the last activity. </a:t>
            </a:r>
          </a:p>
          <a:p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1BAFF0B-6EB6-8758-EE8D-699DD7DFD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522468"/>
              </p:ext>
            </p:extLst>
          </p:nvPr>
        </p:nvGraphicFramePr>
        <p:xfrm>
          <a:off x="1435100" y="2689044"/>
          <a:ext cx="9321800" cy="3050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451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9D82F-30BA-C88C-7D2A-85332703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F7F7-8B7E-B0D6-5026-6A9806C31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1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 Data Format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113D4-4373-D814-76EF-F7CB4BFC3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387"/>
            <a:ext cx="10515600" cy="2650666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It expects at least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observed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predicted,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quantile_level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columns. However, it can take ‘grouping’ variables as well (e.g., location, horizon) that can be used to group and summarize scores. 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Our current set-up maps to the package requirements as follows: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608A54-2042-03C9-BBD9-868159618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998414"/>
              </p:ext>
            </p:extLst>
          </p:nvPr>
        </p:nvGraphicFramePr>
        <p:xfrm>
          <a:off x="941848" y="3162105"/>
          <a:ext cx="10308303" cy="3235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4512">
                  <a:extLst>
                    <a:ext uri="{9D8B030D-6E8A-4147-A177-3AD203B41FA5}">
                      <a16:colId xmlns:a16="http://schemas.microsoft.com/office/drawing/2014/main" val="3571650573"/>
                    </a:ext>
                  </a:extLst>
                </a:gridCol>
                <a:gridCol w="3497690">
                  <a:extLst>
                    <a:ext uri="{9D8B030D-6E8A-4147-A177-3AD203B41FA5}">
                      <a16:colId xmlns:a16="http://schemas.microsoft.com/office/drawing/2014/main" val="4187246535"/>
                    </a:ext>
                  </a:extLst>
                </a:gridCol>
                <a:gridCol w="3436101">
                  <a:extLst>
                    <a:ext uri="{9D8B030D-6E8A-4147-A177-3AD203B41FA5}">
                      <a16:colId xmlns:a16="http://schemas.microsoft.com/office/drawing/2014/main" val="4036031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 Package Format</a:t>
                      </a:r>
                    </a:p>
                  </a:txBody>
                  <a:tcPr anchor="ctr">
                    <a:solidFill>
                      <a:srgbClr val="F0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</a:t>
                      </a:r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Hubverse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terms</a:t>
                      </a:r>
                    </a:p>
                  </a:txBody>
                  <a:tcPr anchor="ctr">
                    <a:solidFill>
                      <a:srgbClr val="F0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5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forecast_unit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location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reference_date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horizon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target_end_date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model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columns that uniquely identify one forecast; also used for later summarization.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508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cleaned_flu_admissions.csv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observed truth; we will join the truth data with the forecast file.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539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predicted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forecasted value.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470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quantile_level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output_type_id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quantile the value corresponds to (0 to 1). 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7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563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3BB9-5ACD-D537-89BB-47ED6DE1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42741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4554-C9D1-6D26-E137-2C0E0721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B0B14-0022-A27B-FBD1-5249F4E76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977"/>
            <a:ext cx="10515600" cy="2510427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Rather than hand-coding the evaluation, we'll write rules in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rules.md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an AI uses to build the script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04_evaluation.R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covering the whole pipeline, from preparing the data to writing the output tables. </a:t>
            </a:r>
          </a:p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Our end goal is two tables: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one with forecast-by-forecast performance (Rule 3), and one with summary metrics by horizon (Rule 4).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D63E26D-B467-A2F8-B76B-547C4BA315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0441030"/>
              </p:ext>
            </p:extLst>
          </p:nvPr>
        </p:nvGraphicFramePr>
        <p:xfrm>
          <a:off x="1031977" y="4159045"/>
          <a:ext cx="10321823" cy="2415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Graphic 4" descr="Presentation with pie chart with solid fill">
            <a:extLst>
              <a:ext uri="{FF2B5EF4-FFF2-40B4-BE49-F238E27FC236}">
                <a16:creationId xmlns:a16="http://schemas.microsoft.com/office/drawing/2014/main" id="{7338FB8E-2B80-1FDE-429F-9190280AD0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1869" y="176520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9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FB3D-180C-36BF-5B4E-95851698D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08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Set-Up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39B10-5DCF-A627-2B6B-66247C5B4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536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Prior to specifying Rules 1 - 4 for evaluating forecasts, we need to do some initial set-up like we have done for other activities (e.g., headers, file paths, etc.).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Given we specifically want to use the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package for the entire pipeline, we want to make sure this is clear and respected by the AI. Therefore, we are going to add a global rule specifying this. </a:t>
            </a:r>
          </a:p>
          <a:p>
            <a:endParaRPr lang="en-US" dirty="0"/>
          </a:p>
        </p:txBody>
      </p:sp>
      <p:pic>
        <p:nvPicPr>
          <p:cNvPr id="4" name="Picture 3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4C2DD83F-7C80-CDCB-A6D7-5EC93AA55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055" y="87087"/>
            <a:ext cx="1314402" cy="131440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FB09E2-DBEF-0B02-0E01-50226A515888}"/>
              </a:ext>
            </a:extLst>
          </p:cNvPr>
          <p:cNvSpPr/>
          <p:nvPr/>
        </p:nvSpPr>
        <p:spPr>
          <a:xfrm>
            <a:off x="898071" y="3842657"/>
            <a:ext cx="10395858" cy="2786742"/>
          </a:xfrm>
          <a:prstGeom prst="round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Forecast Evaluation</a:t>
            </a:r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 all code in this section to `output/scripts/04_evaluation.R`. If the folder path is not present, create it before saving the script.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the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package to compute the metrics — do not hand-code the scoring formulas.</a:t>
            </a:r>
          </a:p>
        </p:txBody>
      </p:sp>
    </p:spTree>
    <p:extLst>
      <p:ext uri="{BB962C8B-B14F-4D97-AF65-F5344CB8AC3E}">
        <p14:creationId xmlns:p14="http://schemas.microsoft.com/office/powerpoint/2010/main" val="324361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BE48-99C1-B04A-B86C-4BE790A1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26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 the Data (</a:t>
            </a:r>
            <a:r>
              <a:rPr lang="en-US" sz="43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1. Input Data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52F36-ECB8-DC0D-3B72-F9A13B419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654"/>
            <a:ext cx="10515600" cy="4351338"/>
          </a:xfrm>
        </p:spPr>
        <p:txBody>
          <a:bodyPr/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We need to be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explicit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about what files we want to include as part of the evaluation.</a:t>
            </a:r>
          </a:p>
          <a:p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requires both forecasts and observed data in a single data frame; we need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load the files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prior to merging them. 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74AFB1B-D109-15F4-E920-AE02B7171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688016"/>
              </p:ext>
            </p:extLst>
          </p:nvPr>
        </p:nvGraphicFramePr>
        <p:xfrm>
          <a:off x="838200" y="3712029"/>
          <a:ext cx="10515600" cy="2667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601188926"/>
                    </a:ext>
                  </a:extLst>
                </a:gridCol>
                <a:gridCol w="4463143">
                  <a:extLst>
                    <a:ext uri="{9D8B030D-6E8A-4147-A177-3AD203B41FA5}">
                      <a16:colId xmlns:a16="http://schemas.microsoft.com/office/drawing/2014/main" val="2644530486"/>
                    </a:ext>
                  </a:extLst>
                </a:gridCol>
                <a:gridCol w="4452257">
                  <a:extLst>
                    <a:ext uri="{9D8B030D-6E8A-4147-A177-3AD203B41FA5}">
                      <a16:colId xmlns:a16="http://schemas.microsoft.com/office/drawing/2014/main" val="3518722892"/>
                    </a:ext>
                  </a:extLst>
                </a:gridCol>
              </a:tblGrid>
              <a:tr h="48983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Type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Observed Truth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94773"/>
                  </a:ext>
                </a:extLst>
              </a:tr>
              <a:tr h="86662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Path</a:t>
                      </a:r>
                    </a:p>
                  </a:txBody>
                  <a:tcPr anchor="ctr">
                    <a:solidFill>
                      <a:srgbClr val="FF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output/data/03_forecast/flusight_forecasts.csv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output/data/01_cleaning/cleaned_flu_admissions.csv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035203"/>
                  </a:ext>
                </a:extLst>
              </a:tr>
              <a:tr h="124341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Format</a:t>
                      </a:r>
                    </a:p>
                  </a:txBody>
                  <a:tcPr anchor="ctr">
                    <a:solidFill>
                      <a:srgbClr val="FF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reference_date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target,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horizon,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target_end_date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location,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output_type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output_type_id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location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</a:p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476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59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B394-D471-726B-970C-34CFDB0D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5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Joining Forecasts &amp; Truth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C017-5040-29FC-A039-C590B993F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3485"/>
            <a:ext cx="10515600" cy="474617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now need to join each forecast row to the observed truth by matching on a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variable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Hint: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target_end_date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week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forecasts with a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matching observed value can be scored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The 2- and 3-week-ahead targets that fall beyond the last observed week have no truth to compare against, so we drop them.</a:t>
            </a:r>
          </a:p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Including a message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how many combinations were dropped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lack of an observed target will act as a check in the code (i.e., is it functioning as it should).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77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05F0-988F-C956-ACFE-36BB498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FB8ED1-1D76-7423-C9F2-4204ED0B583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8C56837-3DF7-7263-244D-F8C899ABED78}"/>
              </a:ext>
            </a:extLst>
          </p:cNvPr>
          <p:cNvSpPr/>
          <p:nvPr/>
        </p:nvSpPr>
        <p:spPr>
          <a:xfrm>
            <a:off x="1061194" y="255547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10DC7DC-611E-7532-1E0D-A27908D84F04}"/>
              </a:ext>
            </a:extLst>
          </p:cNvPr>
          <p:cNvSpPr/>
          <p:nvPr/>
        </p:nvSpPr>
        <p:spPr>
          <a:xfrm>
            <a:off x="1061194" y="255547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A6FE9C12-60D0-3972-6888-52E77B720A1E}"/>
              </a:ext>
            </a:extLst>
          </p:cNvPr>
          <p:cNvSpPr/>
          <p:nvPr/>
        </p:nvSpPr>
        <p:spPr>
          <a:xfrm>
            <a:off x="1858754" y="2636172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1.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Data 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under the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initial set-up code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in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DE9C393-8D10-FE19-4B56-322885181485}"/>
              </a:ext>
            </a:extLst>
          </p:cNvPr>
          <p:cNvSpPr/>
          <p:nvPr/>
        </p:nvSpPr>
        <p:spPr>
          <a:xfrm>
            <a:off x="1061194" y="380685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F9BD857-BA84-C11D-F32A-07051A647BB5}"/>
              </a:ext>
            </a:extLst>
          </p:cNvPr>
          <p:cNvSpPr/>
          <p:nvPr/>
        </p:nvSpPr>
        <p:spPr>
          <a:xfrm>
            <a:off x="1061194" y="380685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2938122-D479-0A36-B3BE-8B4086758EEE}"/>
              </a:ext>
            </a:extLst>
          </p:cNvPr>
          <p:cNvSpPr/>
          <p:nvPr/>
        </p:nvSpPr>
        <p:spPr>
          <a:xfrm>
            <a:off x="1858754" y="351011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load the two needed files (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provide the file paths for the forecasts &amp; observed data), merge them on a common key, and drop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targets with no observed value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A33B472-B40C-9373-BC7B-750540BA9722}"/>
              </a:ext>
            </a:extLst>
          </p:cNvPr>
          <p:cNvSpPr/>
          <p:nvPr/>
        </p:nvSpPr>
        <p:spPr>
          <a:xfrm>
            <a:off x="1061194" y="486974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1D583B3-C336-DA8B-88C5-894413F9F978}"/>
              </a:ext>
            </a:extLst>
          </p:cNvPr>
          <p:cNvSpPr/>
          <p:nvPr/>
        </p:nvSpPr>
        <p:spPr>
          <a:xfrm>
            <a:off x="1061194" y="48697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1F9A2D6-A353-8075-592E-702652DE952D}"/>
              </a:ext>
            </a:extLst>
          </p:cNvPr>
          <p:cNvSpPr/>
          <p:nvPr/>
        </p:nvSpPr>
        <p:spPr>
          <a:xfrm>
            <a:off x="1061194" y="5853681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C41C54A-EC12-B568-573D-DA1C7E43E3F6}"/>
              </a:ext>
            </a:extLst>
          </p:cNvPr>
          <p:cNvSpPr/>
          <p:nvPr/>
        </p:nvSpPr>
        <p:spPr>
          <a:xfrm>
            <a:off x="1061194" y="5853681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0F48C97-4061-DA24-C161-4A21C8A287FE}"/>
              </a:ext>
            </a:extLst>
          </p:cNvPr>
          <p:cNvSpPr/>
          <p:nvPr/>
        </p:nvSpPr>
        <p:spPr>
          <a:xfrm>
            <a:off x="1858754" y="5755509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Copilot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(or your preferred AI)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4_evaluation.R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ECB80F1-E93A-8BA8-1B3F-871CBEF37678}"/>
              </a:ext>
            </a:extLst>
          </p:cNvPr>
          <p:cNvSpPr/>
          <p:nvPr/>
        </p:nvSpPr>
        <p:spPr>
          <a:xfrm>
            <a:off x="800100" y="1031561"/>
            <a:ext cx="10591800" cy="136727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use the previous two slides to specify rules to load the proper data files and merge them on a common key (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target_end_date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week)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7588462-654B-7B88-F421-8246A9A018F9}"/>
              </a:ext>
            </a:extLst>
          </p:cNvPr>
          <p:cNvSpPr/>
          <p:nvPr/>
        </p:nvSpPr>
        <p:spPr>
          <a:xfrm>
            <a:off x="1858754" y="4976420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ED3FCFC-79A2-DA57-7738-9EA32C099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4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D295-BEFF-4F08-E730-556F8F22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23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Shaping the Data (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2. Scoring with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8CF8-70C4-9DBD-21EE-626D9FDA0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395"/>
            <a:ext cx="10515600" cy="4651375"/>
          </a:xfrm>
        </p:spPr>
        <p:txBody>
          <a:bodyPr>
            <a:normAutofit fontScale="925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only recognizes its own column names, so before scoring we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relabel the joined 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match its conventions. 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FluSight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is already long (one row per quantile), so this is a rename, not a reshape.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pivoting needed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we're relabeling columns, not restructuring rows. </a:t>
            </a:r>
          </a:p>
          <a:p>
            <a:pPr>
              <a:spcAft>
                <a:spcPts val="1200"/>
              </a:spcAft>
              <a:buClr>
                <a:schemeClr val="tx1"/>
              </a:buClr>
            </a:pP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renames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output_type_id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quantile_level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predicted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the joined truth value →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observed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spcAft>
                <a:spcPts val="1200"/>
              </a:spcAft>
              <a:buClr>
                <a:schemeClr val="tx1"/>
              </a:buClr>
            </a:pP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 constant model column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(e.g. "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arima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").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built to compare models, so it expects a model label; with only one model we still include it, since it's part of the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forecast unit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spcAft>
                <a:spcPts val="1200"/>
              </a:spcAft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30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6A58-B8F3-A384-A6EC-0E2D9C6B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54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 the 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3F60-3FEF-F1F0-A3C2-5FF5FF38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426"/>
            <a:ext cx="10515600" cy="497794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Prior to scoring the forecast (i.e., evaluating the forecasts), we convert our new data frame to a </a:t>
            </a:r>
            <a:r>
              <a:rPr lang="en-US" sz="2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 object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(data table with class of forecast). </a:t>
            </a:r>
          </a:p>
          <a:p>
            <a:pPr>
              <a:spcAft>
                <a:spcPts val="1200"/>
              </a:spcAft>
            </a:pP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as_forecast_quantile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creates the forecast object; we </a:t>
            </a:r>
            <a:r>
              <a:rPr lang="en-US" sz="2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 the forecast unit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(what defines a unique forecast). This allows each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× horizon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combination to be evaluated as its own forecast. </a:t>
            </a:r>
          </a:p>
          <a:p>
            <a:pPr lvl="1">
              <a:spcAft>
                <a:spcPts val="1800"/>
              </a:spcAft>
            </a:pPr>
            <a:r>
              <a:rPr lang="en-US" sz="2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 unit: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horizon,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target_end_date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location, model</a:t>
            </a:r>
          </a:p>
          <a:p>
            <a:pPr>
              <a:spcAft>
                <a:spcPts val="1200"/>
              </a:spcAft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Finally, we call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::score()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on our forecast object.</a:t>
            </a:r>
          </a:p>
        </p:txBody>
      </p:sp>
    </p:spTree>
    <p:extLst>
      <p:ext uri="{BB962C8B-B14F-4D97-AF65-F5344CB8AC3E}">
        <p14:creationId xmlns:p14="http://schemas.microsoft.com/office/powerpoint/2010/main" val="22000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C8A1-29CA-30E3-6B80-CFBF225F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6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Extracting the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9BBCF-AA14-D74D-3E21-DE7EDDF65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591"/>
            <a:ext cx="10515600" cy="5199969"/>
          </a:xfrm>
        </p:spPr>
        <p:txBody>
          <a:bodyPr>
            <a:normAutofit/>
          </a:bodyPr>
          <a:lstStyle/>
          <a:p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provides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plethora of metrics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We can provide rules to make sure that the AI extracts (or calculates) only the metrics we want:</a:t>
            </a:r>
          </a:p>
          <a:p>
            <a:pPr marL="0" indent="0"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1800"/>
              </a:spcBef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As a precaution, we can give back up options (think substitute options) in case a metric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 be extracted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For example, for 95% PI coverage: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0B7AB3-B7A6-88BB-46C9-7E2BB6405C06}"/>
              </a:ext>
            </a:extLst>
          </p:cNvPr>
          <p:cNvSpPr/>
          <p:nvPr/>
        </p:nvSpPr>
        <p:spPr>
          <a:xfrm>
            <a:off x="838200" y="2174770"/>
            <a:ext cx="10515600" cy="535773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WIS: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column returned by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score()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0EFDCD-3339-22F5-3D04-418664A45A87}"/>
              </a:ext>
            </a:extLst>
          </p:cNvPr>
          <p:cNvSpPr/>
          <p:nvPr/>
        </p:nvSpPr>
        <p:spPr>
          <a:xfrm>
            <a:off x="838200" y="2835887"/>
            <a:ext cx="10515600" cy="654162"/>
          </a:xfrm>
          <a:prstGeom prst="rect">
            <a:avLst/>
          </a:prstGeom>
          <a:solidFill>
            <a:srgbClr val="FFF4EC"/>
          </a:solidFill>
          <a:ln>
            <a:solidFill>
              <a:srgbClr val="FFF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AE: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ae_median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(absolute error of the median); averaged across reference dates it becomes MAE (Rule 4).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9388B9-5754-3D84-2894-7CE72F05D97E}"/>
              </a:ext>
            </a:extLst>
          </p:cNvPr>
          <p:cNvSpPr/>
          <p:nvPr/>
        </p:nvSpPr>
        <p:spPr>
          <a:xfrm>
            <a:off x="838200" y="3640602"/>
            <a:ext cx="10515600" cy="535773"/>
          </a:xfrm>
          <a:prstGeom prst="rect">
            <a:avLst/>
          </a:prstGeom>
          <a:solidFill>
            <a:srgbClr val="F0ECF8"/>
          </a:solidFill>
          <a:ln>
            <a:solidFill>
              <a:srgbClr val="F0E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 PI coverage: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95% interval coverage metric.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0EE439-9E87-D0F5-1298-4F84EA604C46}"/>
              </a:ext>
            </a:extLst>
          </p:cNvPr>
          <p:cNvSpPr/>
          <p:nvPr/>
        </p:nvSpPr>
        <p:spPr>
          <a:xfrm>
            <a:off x="838200" y="5254394"/>
            <a:ext cx="10515600" cy="1135519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score()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’s defaults do not already include it, add it via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interval-coverage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 at the 95% range (e.g. supply a custom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interval_coverage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metric with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interval range set to 95).</a:t>
            </a:r>
          </a:p>
        </p:txBody>
      </p:sp>
    </p:spTree>
    <p:extLst>
      <p:ext uri="{BB962C8B-B14F-4D97-AF65-F5344CB8AC3E}">
        <p14:creationId xmlns:p14="http://schemas.microsoft.com/office/powerpoint/2010/main" val="328756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05F0-988F-C956-ACFE-36BB498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FB8ED1-1D76-7423-C9F2-4204ED0B583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8C56837-3DF7-7263-244D-F8C899ABED78}"/>
              </a:ext>
            </a:extLst>
          </p:cNvPr>
          <p:cNvSpPr/>
          <p:nvPr/>
        </p:nvSpPr>
        <p:spPr>
          <a:xfrm>
            <a:off x="1061194" y="244661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10DC7DC-611E-7532-1E0D-A27908D84F04}"/>
              </a:ext>
            </a:extLst>
          </p:cNvPr>
          <p:cNvSpPr/>
          <p:nvPr/>
        </p:nvSpPr>
        <p:spPr>
          <a:xfrm>
            <a:off x="1061194" y="244661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A6FE9C12-60D0-3972-6888-52E77B720A1E}"/>
              </a:ext>
            </a:extLst>
          </p:cNvPr>
          <p:cNvSpPr/>
          <p:nvPr/>
        </p:nvSpPr>
        <p:spPr>
          <a:xfrm>
            <a:off x="1858754" y="247361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## 2. Scoring with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in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rules.md.</a:t>
            </a:r>
            <a:endParaRPr lang="en-US" sz="25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DE9C393-8D10-FE19-4B56-322885181485}"/>
              </a:ext>
            </a:extLst>
          </p:cNvPr>
          <p:cNvSpPr/>
          <p:nvPr/>
        </p:nvSpPr>
        <p:spPr>
          <a:xfrm>
            <a:off x="1061194" y="364356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F9BD857-BA84-C11D-F32A-07051A647BB5}"/>
              </a:ext>
            </a:extLst>
          </p:cNvPr>
          <p:cNvSpPr/>
          <p:nvPr/>
        </p:nvSpPr>
        <p:spPr>
          <a:xfrm>
            <a:off x="1061194" y="364356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2938122-D479-0A36-B3BE-8B4086758EEE}"/>
              </a:ext>
            </a:extLst>
          </p:cNvPr>
          <p:cNvSpPr/>
          <p:nvPr/>
        </p:nvSpPr>
        <p:spPr>
          <a:xfrm>
            <a:off x="1858754" y="3390370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shape the data, score the forecast, and extract the metrics of interest (e.g., AE, WIS, 95% PI coverage).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A33B472-B40C-9373-BC7B-750540BA9722}"/>
              </a:ext>
            </a:extLst>
          </p:cNvPr>
          <p:cNvSpPr/>
          <p:nvPr/>
        </p:nvSpPr>
        <p:spPr>
          <a:xfrm>
            <a:off x="1061194" y="471733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1D583B3-C336-DA8B-88C5-894413F9F978}"/>
              </a:ext>
            </a:extLst>
          </p:cNvPr>
          <p:cNvSpPr/>
          <p:nvPr/>
        </p:nvSpPr>
        <p:spPr>
          <a:xfrm>
            <a:off x="1061194" y="4717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1F9A2D6-A353-8075-592E-702652DE952D}"/>
              </a:ext>
            </a:extLst>
          </p:cNvPr>
          <p:cNvSpPr/>
          <p:nvPr/>
        </p:nvSpPr>
        <p:spPr>
          <a:xfrm>
            <a:off x="1061194" y="57557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C41C54A-EC12-B568-573D-DA1C7E43E3F6}"/>
              </a:ext>
            </a:extLst>
          </p:cNvPr>
          <p:cNvSpPr/>
          <p:nvPr/>
        </p:nvSpPr>
        <p:spPr>
          <a:xfrm>
            <a:off x="1061194" y="57557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0F48C97-4061-DA24-C161-4A21C8A287FE}"/>
              </a:ext>
            </a:extLst>
          </p:cNvPr>
          <p:cNvSpPr/>
          <p:nvPr/>
        </p:nvSpPr>
        <p:spPr>
          <a:xfrm>
            <a:off x="1858754" y="565753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Copilot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(or your preferred AI)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4_evaluation.R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ECB80F1-E93A-8BA8-1B3F-871CBEF37678}"/>
              </a:ext>
            </a:extLst>
          </p:cNvPr>
          <p:cNvSpPr/>
          <p:nvPr/>
        </p:nvSpPr>
        <p:spPr>
          <a:xfrm>
            <a:off x="800100" y="117455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document. </a:t>
            </a:r>
            <a:endParaRPr lang="en-US" sz="25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7588462-654B-7B88-F421-8246A9A018F9}"/>
              </a:ext>
            </a:extLst>
          </p:cNvPr>
          <p:cNvSpPr/>
          <p:nvPr/>
        </p:nvSpPr>
        <p:spPr>
          <a:xfrm>
            <a:off x="1858754" y="4856674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ED3FCFC-79A2-DA57-7738-9EA32C099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5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F259-810F-1A37-0996-7F52FEE1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3. Output Table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A70A1-EFDB-856E-ABE5-DD9C38B30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32"/>
            <a:ext cx="10515600" cy="4638675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Now that we have extracted our metrics, we can begin to prepare the output table(s).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First, we want a table with one row per evaluated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combination, with columns for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target_end_date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observed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WIS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AE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coverage_95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F118FF-B89E-3546-61D5-666A1997C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011363"/>
              </p:ext>
            </p:extLst>
          </p:nvPr>
        </p:nvGraphicFramePr>
        <p:xfrm>
          <a:off x="838197" y="4483599"/>
          <a:ext cx="1051560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3489">
                  <a:extLst>
                    <a:ext uri="{9D8B030D-6E8A-4147-A177-3AD203B41FA5}">
                      <a16:colId xmlns:a16="http://schemas.microsoft.com/office/drawing/2014/main" val="746242848"/>
                    </a:ext>
                  </a:extLst>
                </a:gridCol>
                <a:gridCol w="1153885">
                  <a:extLst>
                    <a:ext uri="{9D8B030D-6E8A-4147-A177-3AD203B41FA5}">
                      <a16:colId xmlns:a16="http://schemas.microsoft.com/office/drawing/2014/main" val="537600894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3347165531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323848048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759031465"/>
                    </a:ext>
                  </a:extLst>
                </a:gridCol>
                <a:gridCol w="1328058">
                  <a:extLst>
                    <a:ext uri="{9D8B030D-6E8A-4147-A177-3AD203B41FA5}">
                      <a16:colId xmlns:a16="http://schemas.microsoft.com/office/drawing/2014/main" val="201915418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53382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reference_date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target_end_date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coverage_95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9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2025-09-27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209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2025-09-27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744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2025-09-27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5911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F2F00F-5324-8A4E-D105-0A3E62939DEC}"/>
              </a:ext>
            </a:extLst>
          </p:cNvPr>
          <p:cNvSpPr txBox="1"/>
          <p:nvPr/>
        </p:nvSpPr>
        <p:spPr>
          <a:xfrm>
            <a:off x="805536" y="4016293"/>
            <a:ext cx="11039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 Table: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Sorted ascending by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then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Metrics rounded to one decimal.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13CB6-CF5A-8B65-CE45-B9B3614920BE}"/>
              </a:ext>
            </a:extLst>
          </p:cNvPr>
          <p:cNvSpPr txBox="1"/>
          <p:nvPr/>
        </p:nvSpPr>
        <p:spPr>
          <a:xfrm>
            <a:off x="805536" y="6064528"/>
            <a:ext cx="11039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File path to save 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`output/data/04_evaluation/forecast_scores.csv` (create the folder if absent).</a:t>
            </a:r>
          </a:p>
        </p:txBody>
      </p:sp>
    </p:spTree>
    <p:extLst>
      <p:ext uri="{BB962C8B-B14F-4D97-AF65-F5344CB8AC3E}">
        <p14:creationId xmlns:p14="http://schemas.microsoft.com/office/powerpoint/2010/main" val="393689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40A63-7C4A-0255-A5BA-D707F61D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9AD3C3-BA07-3B6B-24A9-ACDC0D21141D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E33A9CC-B8D0-9584-B677-084C4568280C}"/>
              </a:ext>
            </a:extLst>
          </p:cNvPr>
          <p:cNvSpPr/>
          <p:nvPr/>
        </p:nvSpPr>
        <p:spPr>
          <a:xfrm>
            <a:off x="963221" y="274053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14C1DC2-2C94-6404-293F-47DDFBB99C41}"/>
              </a:ext>
            </a:extLst>
          </p:cNvPr>
          <p:cNvSpPr/>
          <p:nvPr/>
        </p:nvSpPr>
        <p:spPr>
          <a:xfrm>
            <a:off x="963221" y="274053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C6A2AAB-6E6D-9664-1255-3D6BDF5C7893}"/>
              </a:ext>
            </a:extLst>
          </p:cNvPr>
          <p:cNvSpPr/>
          <p:nvPr/>
        </p:nvSpPr>
        <p:spPr>
          <a:xfrm>
            <a:off x="1760781" y="2766804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3.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Table 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under the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2. Scoring with </a:t>
            </a:r>
            <a:r>
              <a:rPr lang="en-US" sz="2500" dirty="0" err="1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scoringutils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 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B1E015E-893B-101E-CC57-FFE68CCE2508}"/>
              </a:ext>
            </a:extLst>
          </p:cNvPr>
          <p:cNvSpPr/>
          <p:nvPr/>
        </p:nvSpPr>
        <p:spPr>
          <a:xfrm>
            <a:off x="963221" y="413335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84A9270-CC88-30E4-584C-B046FA829CFB}"/>
              </a:ext>
            </a:extLst>
          </p:cNvPr>
          <p:cNvSpPr/>
          <p:nvPr/>
        </p:nvSpPr>
        <p:spPr>
          <a:xfrm>
            <a:off x="963221" y="413335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B6540AB-4203-44B6-677C-252A24677F39}"/>
              </a:ext>
            </a:extLst>
          </p:cNvPr>
          <p:cNvSpPr/>
          <p:nvPr/>
        </p:nvSpPr>
        <p:spPr>
          <a:xfrm>
            <a:off x="1760781" y="3836620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create the first output table (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refer to previous slide for format), sort by reference date and then horizon, round the metrics to one decimal, and print &amp; save the table.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0C2197DB-63C8-4E2E-DA6F-0180C83DEA73}"/>
              </a:ext>
            </a:extLst>
          </p:cNvPr>
          <p:cNvSpPr/>
          <p:nvPr/>
        </p:nvSpPr>
        <p:spPr>
          <a:xfrm>
            <a:off x="963221" y="557724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3E482E0-865A-9A77-5FA9-B6DF9B361600}"/>
              </a:ext>
            </a:extLst>
          </p:cNvPr>
          <p:cNvSpPr/>
          <p:nvPr/>
        </p:nvSpPr>
        <p:spPr>
          <a:xfrm>
            <a:off x="963221" y="55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34A2984A-F68D-65BA-164F-DD3DB78BB56E}"/>
              </a:ext>
            </a:extLst>
          </p:cNvPr>
          <p:cNvSpPr/>
          <p:nvPr/>
        </p:nvSpPr>
        <p:spPr>
          <a:xfrm>
            <a:off x="1760781" y="5577240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</a:t>
            </a:r>
            <a:r>
              <a:rPr lang="en-US" sz="2500" noProof="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 it and Copilot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(or your preferred AI)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4_evaluation.R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66D6B5C-1C3D-15CA-3C38-CDBEF3F488C9}"/>
              </a:ext>
            </a:extLst>
          </p:cNvPr>
          <p:cNvSpPr/>
          <p:nvPr/>
        </p:nvSpPr>
        <p:spPr>
          <a:xfrm>
            <a:off x="800100" y="1031561"/>
            <a:ext cx="10591800" cy="136727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use the previous slides to specify rules to format the first of two output tables (Hint: your only task is to reformat the results we already have). 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7EE65E1D-95FA-9592-7602-0DC0E87AD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0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5C9549-59F1-8562-D22F-6CADB0A7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581" y="1298506"/>
            <a:ext cx="7330837" cy="492812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C8A828C-0A95-3325-CA32-C9DDFBF6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3787951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1190-2E45-0EF1-ABF8-F5B53EE3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4. Summary by Horizon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5C49D-82F3-318D-B1AE-31199585F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per-forecast scores become forecast </a:t>
            </a:r>
            <a:r>
              <a:rPr lang="en-US" sz="23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each horizon's scores across all its reference dates shows how accuracy changes with lead time. </a:t>
            </a:r>
          </a:p>
          <a:p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one row per horizon: 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WIS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coverage_95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</a:t>
            </a: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min/max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WIS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(# reference dates). The mean of the 0/1 coverage </a:t>
            </a:r>
            <a:r>
              <a:rPr lang="en-US" sz="2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empirical 95% coverage rate</a:t>
            </a:r>
            <a:endParaRPr lang="en-US" sz="2300" dirty="0"/>
          </a:p>
          <a:p>
            <a:endParaRPr lang="en-US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F26712A8-0971-7059-5407-BF3D63447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305160"/>
              </p:ext>
            </p:extLst>
          </p:nvPr>
        </p:nvGraphicFramePr>
        <p:xfrm>
          <a:off x="482516" y="4088674"/>
          <a:ext cx="11226968" cy="2011680"/>
        </p:xfrm>
        <a:graphic>
          <a:graphicData uri="http://schemas.openxmlformats.org/drawingml/2006/table">
            <a:tbl>
              <a:tblPr/>
              <a:tblGrid>
                <a:gridCol w="101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6109">
                  <a:extLst>
                    <a:ext uri="{9D8B030D-6E8A-4147-A177-3AD203B41FA5}">
                      <a16:colId xmlns:a16="http://schemas.microsoft.com/office/drawing/2014/main" val="1564557968"/>
                    </a:ext>
                  </a:extLst>
                </a:gridCol>
                <a:gridCol w="1496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2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5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21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WIS_mean</a:t>
                      </a:r>
                      <a:endParaRPr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WIS_min</a:t>
                      </a:r>
                      <a:endParaRPr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WIS_max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MAE_mean</a:t>
                      </a:r>
                      <a:endParaRPr lang="en-US" sz="1800" b="1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MAE_min</a:t>
                      </a:r>
                      <a:endParaRPr lang="en-US" sz="1800" b="1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MAE_max</a:t>
                      </a:r>
                      <a:endParaRPr lang="en-US" sz="1800" b="1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coverage_95_mean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1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245.8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88.4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512.6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168.3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42.0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388.0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0.92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2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431.5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190.2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803.1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236.7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95.0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511.0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0.82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charset="0"/>
                          <a:cs typeface="Arial" panose="020B0604020202020204" pitchFamily="34" charset="0"/>
                        </a:rPr>
                        <a:t>34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612.9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268.7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1094.4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331.4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99.0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702.0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0.70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>
            <a:extLst>
              <a:ext uri="{FF2B5EF4-FFF2-40B4-BE49-F238E27FC236}">
                <a16:creationId xmlns:a16="http://schemas.microsoft.com/office/drawing/2014/main" id="{BE9482E1-D59E-EE25-6EC3-8084B6362058}"/>
              </a:ext>
            </a:extLst>
          </p:cNvPr>
          <p:cNvSpPr/>
          <p:nvPr/>
        </p:nvSpPr>
        <p:spPr>
          <a:xfrm>
            <a:off x="376646" y="368347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Example Table: 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sorted ascending by </a:t>
            </a:r>
            <a:r>
              <a:rPr lang="en-US" sz="1600" dirty="0"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horizon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  </a:t>
            </a:r>
            <a:r>
              <a:rPr lang="en-US" sz="1600" dirty="0"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WIS_*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and </a:t>
            </a:r>
            <a:r>
              <a:rPr lang="en-US" sz="1600" dirty="0"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MAE_*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rounded to one decimal, </a:t>
            </a:r>
            <a:r>
              <a:rPr lang="en-US" sz="1600" dirty="0"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coverage_95_mean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to two.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D8035-711E-7EBA-A8A6-61149D6F6FAA}"/>
              </a:ext>
            </a:extLst>
          </p:cNvPr>
          <p:cNvSpPr txBox="1"/>
          <p:nvPr/>
        </p:nvSpPr>
        <p:spPr>
          <a:xfrm>
            <a:off x="0" y="6173897"/>
            <a:ext cx="11039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File path to save to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`</a:t>
            </a:r>
            <a:r>
              <a:rPr lang="en-US" sz="1600" dirty="0"/>
              <a:t>output/data/04_evaluation/forecast_scores_by_horizon.csv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` (create the folder if absent).</a:t>
            </a:r>
          </a:p>
        </p:txBody>
      </p:sp>
    </p:spTree>
    <p:extLst>
      <p:ext uri="{BB962C8B-B14F-4D97-AF65-F5344CB8AC3E}">
        <p14:creationId xmlns:p14="http://schemas.microsoft.com/office/powerpoint/2010/main" val="368252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DF951-5B63-07AD-71FE-E50DA430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64C59C-B3CF-3523-8C6E-582F2EF4D083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2F1F471-F343-ECA1-6965-2B58A39B8348}"/>
              </a:ext>
            </a:extLst>
          </p:cNvPr>
          <p:cNvSpPr/>
          <p:nvPr/>
        </p:nvSpPr>
        <p:spPr>
          <a:xfrm>
            <a:off x="963221" y="274053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6302305-5530-FCD4-B4D3-A323C8E7A438}"/>
              </a:ext>
            </a:extLst>
          </p:cNvPr>
          <p:cNvSpPr/>
          <p:nvPr/>
        </p:nvSpPr>
        <p:spPr>
          <a:xfrm>
            <a:off x="963221" y="274053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0D5991F-3CEE-7186-6591-B124347DE52B}"/>
              </a:ext>
            </a:extLst>
          </p:cNvPr>
          <p:cNvSpPr/>
          <p:nvPr/>
        </p:nvSpPr>
        <p:spPr>
          <a:xfrm>
            <a:off x="1760781" y="2766804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## 4. Summary by Horizon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section header under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## 3. Output Table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header in 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rules.md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B871FE2-31B2-7CE1-870C-83DF078D0740}"/>
              </a:ext>
            </a:extLst>
          </p:cNvPr>
          <p:cNvSpPr/>
          <p:nvPr/>
        </p:nvSpPr>
        <p:spPr>
          <a:xfrm>
            <a:off x="963221" y="415512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29DC7E5-64A9-90DF-8BDC-E000651BB945}"/>
              </a:ext>
            </a:extLst>
          </p:cNvPr>
          <p:cNvSpPr/>
          <p:nvPr/>
        </p:nvSpPr>
        <p:spPr>
          <a:xfrm>
            <a:off x="963221" y="415512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407C487-1306-13EE-57AD-73A196EE9623}"/>
              </a:ext>
            </a:extLst>
          </p:cNvPr>
          <p:cNvSpPr/>
          <p:nvPr/>
        </p:nvSpPr>
        <p:spPr>
          <a:xfrm>
            <a:off x="1760781" y="3858392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detailed rules to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create the second output table (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refer to previous slide for format). Group by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compute the mean of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WIS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coverage_95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plus the min/max of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WIS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sort ascending by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round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WIS/MAE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to one decimal and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coverage_95_mean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two, then print &amp; save the table.</a:t>
            </a: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0C117AF9-AC64-29CC-CBE3-A294114604F2}"/>
              </a:ext>
            </a:extLst>
          </p:cNvPr>
          <p:cNvSpPr/>
          <p:nvPr/>
        </p:nvSpPr>
        <p:spPr>
          <a:xfrm>
            <a:off x="963221" y="557724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9DB0845-8619-274B-83C7-8DAAABE50241}"/>
              </a:ext>
            </a:extLst>
          </p:cNvPr>
          <p:cNvSpPr/>
          <p:nvPr/>
        </p:nvSpPr>
        <p:spPr>
          <a:xfrm>
            <a:off x="963221" y="55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F4BB9F5-5636-3301-19E0-0CC2D5095803}"/>
              </a:ext>
            </a:extLst>
          </p:cNvPr>
          <p:cNvSpPr/>
          <p:nvPr/>
        </p:nvSpPr>
        <p:spPr>
          <a:xfrm>
            <a:off x="1760781" y="5479068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agents.md and </a:t>
            </a:r>
            <a:r>
              <a:rPr lang="en-US" sz="2200" noProof="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 it and Copilot</a:t>
            </a:r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(or your preferred AI)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generate </a:t>
            </a: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4_evaluation.R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2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B5858C6B-2638-A03C-F7ED-8BBF7BD49097}"/>
              </a:ext>
            </a:extLst>
          </p:cNvPr>
          <p:cNvSpPr/>
          <p:nvPr/>
        </p:nvSpPr>
        <p:spPr>
          <a:xfrm>
            <a:off x="800100" y="1031561"/>
            <a:ext cx="10591800" cy="136727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use the previous slides to specify rules to format the second of two output tables (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your only task is to reformat the results we already have). 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5E8A9866-F0E5-5F98-20F8-704FAA286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3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DA7F1-C4B0-4FA4-BB79-5123DF569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6E54BB8-AC0A-FCA0-611D-66475C33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BB2C7-A8CF-5788-2A19-6FADA0345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16" y="2766218"/>
            <a:ext cx="1130216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90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3756</Words>
  <Application>Microsoft Office PowerPoint</Application>
  <PresentationFormat>Widescreen</PresentationFormat>
  <Paragraphs>411</Paragraphs>
  <Slides>32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Cambria Math</vt:lpstr>
      <vt:lpstr>Courier New</vt:lpstr>
      <vt:lpstr>Trebuchet MS</vt:lpstr>
      <vt:lpstr>Office Theme</vt:lpstr>
      <vt:lpstr>Activity 04: Evaluation</vt:lpstr>
      <vt:lpstr>PowerPoint Presentation</vt:lpstr>
      <vt:lpstr>PowerPoint Presentation</vt:lpstr>
      <vt:lpstr>PowerPoint Presentation</vt:lpstr>
      <vt:lpstr>Your Task</vt:lpstr>
      <vt:lpstr>Evaluation Metrics</vt:lpstr>
      <vt:lpstr>Overview </vt:lpstr>
      <vt:lpstr>Mean Absolute Error (MAE)</vt:lpstr>
      <vt:lpstr>PowerPoint Presentation</vt:lpstr>
      <vt:lpstr>95% Prediction Interval (PI) Coverage </vt:lpstr>
      <vt:lpstr>PowerPoint Presentation</vt:lpstr>
      <vt:lpstr>Interval Score (IS)</vt:lpstr>
      <vt:lpstr>Weighted Interval Score (WIS)</vt:lpstr>
      <vt:lpstr>scoringutils Package</vt:lpstr>
      <vt:lpstr>From Formulas to Code </vt:lpstr>
      <vt:lpstr>Required Data Format </vt:lpstr>
      <vt:lpstr>Implementation</vt:lpstr>
      <vt:lpstr>Overview</vt:lpstr>
      <vt:lpstr>Initial Set-Up</vt:lpstr>
      <vt:lpstr>Loading the Data (## 1. Input Data)</vt:lpstr>
      <vt:lpstr>Joining Forecasts &amp; Truth Data</vt:lpstr>
      <vt:lpstr>PowerPoint Presentation</vt:lpstr>
      <vt:lpstr>Shaping the Data (## 2. Scoring with scoringutils)</vt:lpstr>
      <vt:lpstr>Scoring the Forecast</vt:lpstr>
      <vt:lpstr>Extracting the Metrics</vt:lpstr>
      <vt:lpstr>PowerPoint Presentation</vt:lpstr>
      <vt:lpstr>## 3. Output Table </vt:lpstr>
      <vt:lpstr>PowerPoint Presentation</vt:lpstr>
      <vt:lpstr>Expected Output</vt:lpstr>
      <vt:lpstr>## 4. Summary by Horizon</vt:lpstr>
      <vt:lpstr>PowerPoint Presentation</vt:lpstr>
      <vt:lpstr>Expected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26</cp:revision>
  <dcterms:created xsi:type="dcterms:W3CDTF">2026-07-12T22:53:29Z</dcterms:created>
  <dcterms:modified xsi:type="dcterms:W3CDTF">2026-07-13T12:32:32Z</dcterms:modified>
</cp:coreProperties>
</file>